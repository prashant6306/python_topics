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l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c</a:t>
            </a:r>
            <a:r>
              <a:rPr b="0" lang="en-IN" sz="2000" spc="-1" strike="noStrike">
                <a:latin typeface="Arial"/>
              </a:rPr>
              <a:t>k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d</a:t>
            </a:r>
            <a:r>
              <a:rPr b="0" lang="en-IN" sz="2000" spc="-1" strike="noStrike">
                <a:latin typeface="Arial"/>
              </a:rPr>
              <a:t>i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h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n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t</a:t>
            </a:r>
            <a:r>
              <a:rPr b="0" lang="en-IN" sz="2000" spc="-1" strike="noStrike">
                <a:latin typeface="Arial"/>
              </a:rPr>
              <a:t>e</a:t>
            </a:r>
            <a:r>
              <a:rPr b="0" lang="en-IN" sz="2000" spc="-1" strike="noStrike">
                <a:latin typeface="Arial"/>
              </a:rPr>
              <a:t>s</a:t>
            </a:r>
            <a:r>
              <a:rPr b="0" lang="en-IN" sz="2000" spc="-1" strike="noStrike">
                <a:latin typeface="Arial"/>
              </a:rPr>
              <a:t> </a:t>
            </a:r>
            <a:r>
              <a:rPr b="0" lang="en-IN" sz="2000" spc="-1" strike="noStrike">
                <a:latin typeface="Arial"/>
              </a:rPr>
              <a:t>f</a:t>
            </a:r>
            <a:r>
              <a:rPr b="0" lang="en-IN" sz="2000" spc="-1" strike="noStrike">
                <a:latin typeface="Arial"/>
              </a:rPr>
              <a:t>o</a:t>
            </a:r>
            <a:r>
              <a:rPr b="0" lang="en-IN" sz="2000" spc="-1" strike="noStrike">
                <a:latin typeface="Arial"/>
              </a:rPr>
              <a:t>r</a:t>
            </a:r>
            <a:r>
              <a:rPr b="0" lang="en-IN" sz="2000" spc="-1" strike="noStrike">
                <a:latin typeface="Arial"/>
              </a:rPr>
              <a:t>m</a:t>
            </a:r>
            <a:r>
              <a:rPr b="0" lang="en-IN" sz="2000" spc="-1" strike="noStrike">
                <a:latin typeface="Arial"/>
              </a:rPr>
              <a:t>a</a:t>
            </a:r>
            <a:r>
              <a:rPr b="0" lang="en-IN" sz="2000" spc="-1" strike="noStrike">
                <a:latin typeface="Arial"/>
              </a:rPr>
              <a:t>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1103A33-7BA3-4F05-938C-E62B33B9F3A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A768F0B-0635-41AE-BD74-4F3929313D0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32E6DD-16D9-4398-8B44-A46B849ED9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1B1A19-E417-4E86-A66C-0F5999A4CC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C767B7-787E-4BFB-849F-F462E85AB9B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E0C5C2-708F-41BD-B41F-F51E0647CC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2933D1-C2EA-4AB1-AD09-730DDFE9F5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B3AF9F-BF0D-4066-B771-B3123EE69A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AE8997-478D-4BA9-A9DD-18FA9ABCF9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109692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365760" y="4572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Python Namespaces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65760" y="594360"/>
            <a:ext cx="841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4b5fd"/>
                </a:solidFill>
                <a:latin typeface="Calibri"/>
                <a:ea typeface="Calibri"/>
              </a:rPr>
              <a:t>Part 3: Scope &amp; the LEGB Rule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914400" y="1417320"/>
            <a:ext cx="1279800" cy="127980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914400" y="1463040"/>
            <a:ext cx="1279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5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L</a:t>
            </a:r>
            <a:endParaRPr b="0" lang="en-IN" sz="55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22960" y="2788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Calibri"/>
                <a:ea typeface="Calibri"/>
              </a:rPr>
              <a:t>Local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2926080" y="1417320"/>
            <a:ext cx="1279800" cy="1279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2926080" y="1463040"/>
            <a:ext cx="1279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5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E</a:t>
            </a:r>
            <a:endParaRPr b="0" lang="en-IN" sz="55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2834640" y="2788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59e0b"/>
                </a:solidFill>
                <a:latin typeface="Calibri"/>
                <a:ea typeface="Calibri"/>
              </a:rPr>
              <a:t>Enclosing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937760" y="1417320"/>
            <a:ext cx="1279800" cy="12798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4937760" y="1463040"/>
            <a:ext cx="1279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5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G</a:t>
            </a:r>
            <a:endParaRPr b="0" lang="en-IN" sz="55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846320" y="2788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Calibri"/>
                <a:ea typeface="Calibri"/>
              </a:rPr>
              <a:t>Global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6949440" y="1417320"/>
            <a:ext cx="1279800" cy="12798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13"/>
          <p:cNvSpPr/>
          <p:nvPr/>
        </p:nvSpPr>
        <p:spPr>
          <a:xfrm>
            <a:off x="6949440" y="1463040"/>
            <a:ext cx="1279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500" spc="-1" strike="noStrike">
                <a:solidFill>
                  <a:srgbClr val="ffffff"/>
                </a:solidFill>
                <a:latin typeface="Calibri Black"/>
                <a:ea typeface="Calibri Black"/>
              </a:rPr>
              <a:t>B</a:t>
            </a:r>
            <a:endParaRPr b="0" lang="en-IN" sz="5500" spc="-1" strike="noStrike"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6858000" y="2788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3b82f6"/>
                </a:solidFill>
                <a:latin typeface="Calibri"/>
                <a:ea typeface="Calibri"/>
              </a:rPr>
              <a:t>Built-in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457200" y="3291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4b5fd"/>
                </a:solidFill>
                <a:latin typeface="Calibri"/>
                <a:ea typeface="Calibri"/>
              </a:rPr>
              <a:t>"Where does Python look for a name? It follows the LEGB rule — in order!"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457200" y="3858840"/>
            <a:ext cx="8229240" cy="45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17"/>
          <p:cNvSpPr/>
          <p:nvPr/>
        </p:nvSpPr>
        <p:spPr>
          <a:xfrm>
            <a:off x="457200" y="40233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54488"/>
                </a:solidFill>
                <a:latin typeface="Calibri"/>
                <a:ea typeface="Calibri"/>
              </a:rPr>
              <a:t>Chapter 17 | Let Us Python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21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The Four Scope Levels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182880" y="914400"/>
            <a:ext cx="42516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Shape 3"/>
          <p:cNvSpPr/>
          <p:nvPr/>
        </p:nvSpPr>
        <p:spPr>
          <a:xfrm>
            <a:off x="182880" y="914400"/>
            <a:ext cx="4251600" cy="4568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4"/>
          <p:cNvSpPr/>
          <p:nvPr/>
        </p:nvSpPr>
        <p:spPr>
          <a:xfrm>
            <a:off x="292680" y="94176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L  —  Local Scope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320040" y="1444680"/>
            <a:ext cx="3977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Calibri"/>
                <a:ea typeface="Calibri"/>
              </a:rPr>
              <a:t>Variables created inside a function. They exist only while the function runs and are destroyed when it returns.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320040" y="2103120"/>
            <a:ext cx="3977280" cy="63972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7"/>
          <p:cNvSpPr/>
          <p:nvPr/>
        </p:nvSpPr>
        <p:spPr>
          <a:xfrm>
            <a:off x="384120" y="2130480"/>
            <a:ext cx="3849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calc():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result = 42  # LOCAL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print(result)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4709160" y="914400"/>
            <a:ext cx="42516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9"/>
          <p:cNvSpPr/>
          <p:nvPr/>
        </p:nvSpPr>
        <p:spPr>
          <a:xfrm>
            <a:off x="4709160" y="914400"/>
            <a:ext cx="4251600" cy="4568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0"/>
          <p:cNvSpPr/>
          <p:nvPr/>
        </p:nvSpPr>
        <p:spPr>
          <a:xfrm>
            <a:off x="4818960" y="94176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  —  Enclosing Scope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4846320" y="1444680"/>
            <a:ext cx="3977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Calibri"/>
                <a:ea typeface="Calibri"/>
              </a:rPr>
              <a:t>Variables in an outer (enclosing) function's scope. Accessible to inner (nested) functions but not created locally.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846320" y="2103120"/>
            <a:ext cx="3977280" cy="63972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13"/>
          <p:cNvSpPr/>
          <p:nvPr/>
        </p:nvSpPr>
        <p:spPr>
          <a:xfrm>
            <a:off x="4910400" y="2130480"/>
            <a:ext cx="3849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outer():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msg = 'hi'  # ENCLOSING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inner():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print(msg)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182880" y="2971800"/>
            <a:ext cx="42516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Shape 15"/>
          <p:cNvSpPr/>
          <p:nvPr/>
        </p:nvSpPr>
        <p:spPr>
          <a:xfrm>
            <a:off x="182880" y="2971800"/>
            <a:ext cx="4251600" cy="4568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6"/>
          <p:cNvSpPr/>
          <p:nvPr/>
        </p:nvSpPr>
        <p:spPr>
          <a:xfrm>
            <a:off x="292680" y="299916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G  —  Global Scope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320040" y="3502080"/>
            <a:ext cx="3977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Calibri"/>
                <a:ea typeface="Calibri"/>
              </a:rPr>
              <a:t>Variables created at the top level of a script or module. Available throughout the entire file.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320040" y="4160520"/>
            <a:ext cx="3977280" cy="63972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9"/>
          <p:cNvSpPr/>
          <p:nvPr/>
        </p:nvSpPr>
        <p:spPr>
          <a:xfrm>
            <a:off x="384120" y="4187880"/>
            <a:ext cx="3849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MAX_SPEED = 120  # GLOBAL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drive():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print(MAX_SPEED)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4709160" y="2971800"/>
            <a:ext cx="42516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21"/>
          <p:cNvSpPr/>
          <p:nvPr/>
        </p:nvSpPr>
        <p:spPr>
          <a:xfrm>
            <a:off x="4709160" y="2971800"/>
            <a:ext cx="4251600" cy="45684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2"/>
          <p:cNvSpPr/>
          <p:nvPr/>
        </p:nvSpPr>
        <p:spPr>
          <a:xfrm>
            <a:off x="4818960" y="299916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  —  Built-in Scope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4846320" y="3502080"/>
            <a:ext cx="39772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Calibri"/>
                <a:ea typeface="Calibri"/>
              </a:rPr>
              <a:t>Python's built-in names: print, len, range, int, str, etc. Available everywhere without any import.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6" name="Shape 24"/>
          <p:cNvSpPr/>
          <p:nvPr/>
        </p:nvSpPr>
        <p:spPr>
          <a:xfrm>
            <a:off x="4846320" y="4160520"/>
            <a:ext cx="3977280" cy="63972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5"/>
          <p:cNvSpPr/>
          <p:nvPr/>
        </p:nvSpPr>
        <p:spPr>
          <a:xfrm>
            <a:off x="4910400" y="4187880"/>
            <a:ext cx="3849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# BUILT-IN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print(len('hello'))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print(range(5))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print(type(42))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457200" y="484632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d28d9"/>
                </a:solidFill>
                <a:latin typeface="Calibri"/>
                <a:ea typeface="Calibri"/>
              </a:rPr>
              <a:t>← </a:t>
            </a:r>
            <a:r>
              <a:rPr b="0" i="1" lang="en-US" sz="1200" spc="-1" strike="noStrike">
                <a:solidFill>
                  <a:srgbClr val="6d28d9"/>
                </a:solidFill>
                <a:latin typeface="Calibri"/>
                <a:ea typeface="Calibri"/>
              </a:rPr>
              <a:t>More specific   LEGB lookup order   More general →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a0e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LEGB — How Python Finds a Name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274320" y="914400"/>
            <a:ext cx="2011320" cy="1234080"/>
          </a:xfrm>
          <a:prstGeom prst="rect">
            <a:avLst/>
          </a:prstGeom>
          <a:solidFill>
            <a:srgbClr val="ef4444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" name="Text 3"/>
          <p:cNvSpPr/>
          <p:nvPr/>
        </p:nvSpPr>
        <p:spPr>
          <a:xfrm>
            <a:off x="365760" y="9874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1. LOCAL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347400" y="1417320"/>
            <a:ext cx="186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Is it defined in the current function?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2286000" y="1517760"/>
            <a:ext cx="365760" cy="360"/>
          </a:xfrm>
          <a:prstGeom prst="line">
            <a:avLst/>
          </a:prstGeom>
          <a:ln w="3175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6"/>
          <p:cNvSpPr/>
          <p:nvPr/>
        </p:nvSpPr>
        <p:spPr>
          <a:xfrm>
            <a:off x="2514600" y="14083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8888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2377440" y="914400"/>
            <a:ext cx="2011320" cy="123408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Text 8"/>
          <p:cNvSpPr/>
          <p:nvPr/>
        </p:nvSpPr>
        <p:spPr>
          <a:xfrm>
            <a:off x="2468880" y="9874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2. ENCLOSING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2450520" y="1417320"/>
            <a:ext cx="186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Is it in an outer function?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4389120" y="1517760"/>
            <a:ext cx="365760" cy="360"/>
          </a:xfrm>
          <a:prstGeom prst="line">
            <a:avLst/>
          </a:prstGeom>
          <a:ln w="3175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1"/>
          <p:cNvSpPr/>
          <p:nvPr/>
        </p:nvSpPr>
        <p:spPr>
          <a:xfrm>
            <a:off x="4617720" y="14083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8888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4480560" y="914400"/>
            <a:ext cx="2011320" cy="123408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Text 13"/>
          <p:cNvSpPr/>
          <p:nvPr/>
        </p:nvSpPr>
        <p:spPr>
          <a:xfrm>
            <a:off x="4572000" y="9874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3. GLOBAL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4553640" y="1417320"/>
            <a:ext cx="186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Is it at module/script level?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6492240" y="1517760"/>
            <a:ext cx="365760" cy="360"/>
          </a:xfrm>
          <a:prstGeom prst="line">
            <a:avLst/>
          </a:prstGeom>
          <a:ln w="3175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6"/>
          <p:cNvSpPr/>
          <p:nvPr/>
        </p:nvSpPr>
        <p:spPr>
          <a:xfrm>
            <a:off x="6720840" y="1408320"/>
            <a:ext cx="273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888888"/>
                </a:solidFill>
                <a:latin typeface="Calibri"/>
              </a:rPr>
              <a:t>▶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6583680" y="914400"/>
            <a:ext cx="2011320" cy="1234080"/>
          </a:xfrm>
          <a:prstGeom prst="rect">
            <a:avLst/>
          </a:prstGeom>
          <a:solidFill>
            <a:srgbClr val="3b82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Text 18"/>
          <p:cNvSpPr/>
          <p:nvPr/>
        </p:nvSpPr>
        <p:spPr>
          <a:xfrm>
            <a:off x="6675120" y="9874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4. BUILT-IN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19"/>
          <p:cNvSpPr/>
          <p:nvPr/>
        </p:nvSpPr>
        <p:spPr>
          <a:xfrm>
            <a:off x="6656760" y="1417320"/>
            <a:ext cx="186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Is it a Python built-in?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9" name="Shape 20"/>
          <p:cNvSpPr/>
          <p:nvPr/>
        </p:nvSpPr>
        <p:spPr>
          <a:xfrm>
            <a:off x="274320" y="2286000"/>
            <a:ext cx="8595000" cy="5025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21"/>
          <p:cNvSpPr/>
          <p:nvPr/>
        </p:nvSpPr>
        <p:spPr>
          <a:xfrm>
            <a:off x="411480" y="2331720"/>
            <a:ext cx="8320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If not found in any scope → NameError: name 'x' is not defined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274320" y="2926080"/>
            <a:ext cx="4405680" cy="2653920"/>
          </a:xfrm>
          <a:prstGeom prst="rect">
            <a:avLst/>
          </a:prstGeom>
          <a:solidFill>
            <a:srgbClr val="1a0e2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Full LEGB Demo</a:t>
            </a:r>
            <a:endParaRPr b="0" lang="en-IN" sz="12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365760" y="2944440"/>
            <a:ext cx="4114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Full LEGB Demo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365760" y="3310200"/>
            <a:ext cx="411444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country = 'Japan'  # GLOBAL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def outer_fn():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city = 'Tokyo'  # ENCLOSING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def inner_fn():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district = 'Shibuya'  # LOCAL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# LEGB: district(L) city(E) country(G) print(B)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print(district, city, country)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print(len(district))  # len is BUILT-IN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inner_fn()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9d5ff"/>
                </a:solidFill>
                <a:latin typeface="Consolas"/>
                <a:ea typeface="Consolas"/>
              </a:rPr>
              <a:t>outer_fn()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4" name="Shape 25"/>
          <p:cNvSpPr/>
          <p:nvPr/>
        </p:nvSpPr>
        <p:spPr>
          <a:xfrm>
            <a:off x="4754880" y="2926080"/>
            <a:ext cx="411444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Text 26"/>
          <p:cNvSpPr/>
          <p:nvPr/>
        </p:nvSpPr>
        <p:spPr>
          <a:xfrm>
            <a:off x="4846320" y="29444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Calibri"/>
                <a:ea typeface="Calibri"/>
              </a:rPr>
              <a:t>Name Lookup Trace inside inner_fn( 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4846320" y="3328560"/>
            <a:ext cx="1279800" cy="2556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28"/>
          <p:cNvSpPr/>
          <p:nvPr/>
        </p:nvSpPr>
        <p:spPr>
          <a:xfrm>
            <a:off x="4864680" y="333756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district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29"/>
          <p:cNvSpPr/>
          <p:nvPr/>
        </p:nvSpPr>
        <p:spPr>
          <a:xfrm>
            <a:off x="6126480" y="3456360"/>
            <a:ext cx="36576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30"/>
          <p:cNvSpPr/>
          <p:nvPr/>
        </p:nvSpPr>
        <p:spPr>
          <a:xfrm>
            <a:off x="6510600" y="333756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444"/>
                </a:solidFill>
                <a:latin typeface="Calibri"/>
                <a:ea typeface="Calibri"/>
              </a:rPr>
              <a:t>found in LOCAL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31"/>
          <p:cNvSpPr/>
          <p:nvPr/>
        </p:nvSpPr>
        <p:spPr>
          <a:xfrm>
            <a:off x="4846320" y="3694320"/>
            <a:ext cx="1279800" cy="2556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32"/>
          <p:cNvSpPr/>
          <p:nvPr/>
        </p:nvSpPr>
        <p:spPr>
          <a:xfrm>
            <a:off x="4864680" y="370332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city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2" name="Shape 33"/>
          <p:cNvSpPr/>
          <p:nvPr/>
        </p:nvSpPr>
        <p:spPr>
          <a:xfrm>
            <a:off x="6126480" y="3822120"/>
            <a:ext cx="36576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34"/>
          <p:cNvSpPr/>
          <p:nvPr/>
        </p:nvSpPr>
        <p:spPr>
          <a:xfrm>
            <a:off x="6510600" y="37033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  <a:ea typeface="Calibri"/>
              </a:rPr>
              <a:t>found in ENCLOSING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4" name="Shape 35"/>
          <p:cNvSpPr/>
          <p:nvPr/>
        </p:nvSpPr>
        <p:spPr>
          <a:xfrm>
            <a:off x="4846320" y="4060080"/>
            <a:ext cx="1279800" cy="2556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36"/>
          <p:cNvSpPr/>
          <p:nvPr/>
        </p:nvSpPr>
        <p:spPr>
          <a:xfrm>
            <a:off x="4864680" y="406908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country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Shape 37"/>
          <p:cNvSpPr/>
          <p:nvPr/>
        </p:nvSpPr>
        <p:spPr>
          <a:xfrm>
            <a:off x="6126480" y="4187880"/>
            <a:ext cx="36576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38"/>
          <p:cNvSpPr/>
          <p:nvPr/>
        </p:nvSpPr>
        <p:spPr>
          <a:xfrm>
            <a:off x="6510600" y="406908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Calibri"/>
                <a:ea typeface="Calibri"/>
              </a:rPr>
              <a:t>found in GLOBAL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Shape 39"/>
          <p:cNvSpPr/>
          <p:nvPr/>
        </p:nvSpPr>
        <p:spPr>
          <a:xfrm>
            <a:off x="4846320" y="4425840"/>
            <a:ext cx="1279800" cy="2556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40"/>
          <p:cNvSpPr/>
          <p:nvPr/>
        </p:nvSpPr>
        <p:spPr>
          <a:xfrm>
            <a:off x="4864680" y="4434840"/>
            <a:ext cx="1243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print / len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Shape 41"/>
          <p:cNvSpPr/>
          <p:nvPr/>
        </p:nvSpPr>
        <p:spPr>
          <a:xfrm>
            <a:off x="6126480" y="4553640"/>
            <a:ext cx="36576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42"/>
          <p:cNvSpPr/>
          <p:nvPr/>
        </p:nvSpPr>
        <p:spPr>
          <a:xfrm>
            <a:off x="6510600" y="443484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3b82f6"/>
                </a:solidFill>
                <a:latin typeface="Calibri"/>
                <a:ea typeface="Calibri"/>
              </a:rPr>
              <a:t>found in BUILT-IN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LEGB Rule — Annotated Code Walkthrough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274320" y="914400"/>
            <a:ext cx="4937400" cy="3931560"/>
          </a:xfrm>
          <a:prstGeom prst="rect">
            <a:avLst/>
          </a:prstGeom>
          <a:solidFill>
            <a:srgbClr val="1a0e2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Text 3"/>
          <p:cNvSpPr/>
          <p:nvPr/>
        </p:nvSpPr>
        <p:spPr>
          <a:xfrm>
            <a:off x="365760" y="9327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Annotated 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365760" y="1325880"/>
            <a:ext cx="475452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(B) Built-in: len, str, print always available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(G) Global scope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base_wage = 15.0   # global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def payroll(hours):         # outer fn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(E) Enclosing scope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overtime_rate = 1.5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def compute_pay():      # inner fn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(L) Local scope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regular = min(hours, 40) * base_wage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overtime = max(hours - 40, 0)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ot_pay  = overtime * base_wage * overtime_rate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total   = regular + ot_pay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Uses: L(regular,overtime,ot_pay,total)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      E(overtime_rate)  G(base_wage)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#       B(min, max)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print(f'Hours:    {hours}')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print(f'Regular:  $' + '{regular:.2f}')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print(f'OT Pay:   $' + '{ot_pay:.2f}')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print(f'Total:    $' + '{total:.2f}')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compute_pay()</a:t>
            </a: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8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80" spc="-1" strike="noStrike">
                <a:solidFill>
                  <a:srgbClr val="e9d5ff"/>
                </a:solidFill>
                <a:latin typeface="Consolas"/>
                <a:ea typeface="Consolas"/>
              </a:rPr>
              <a:t>payroll(50)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5394960" y="914400"/>
            <a:ext cx="347436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 6"/>
          <p:cNvSpPr/>
          <p:nvPr/>
        </p:nvSpPr>
        <p:spPr>
          <a:xfrm>
            <a:off x="5486400" y="932760"/>
            <a:ext cx="3291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Calibri"/>
                <a:ea typeface="Calibri"/>
              </a:rPr>
              <a:t>Scope Color Key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5486400" y="1334880"/>
            <a:ext cx="594000" cy="2008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8"/>
          <p:cNvSpPr/>
          <p:nvPr/>
        </p:nvSpPr>
        <p:spPr>
          <a:xfrm>
            <a:off x="5486400" y="1344240"/>
            <a:ext cx="57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L — Local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1" name="Text 9"/>
          <p:cNvSpPr/>
          <p:nvPr/>
        </p:nvSpPr>
        <p:spPr>
          <a:xfrm>
            <a:off x="6126480" y="1344240"/>
            <a:ext cx="260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Consolas"/>
                <a:ea typeface="Consolas"/>
              </a:rPr>
              <a:t>regular, overtime, ot_pay, total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5486400" y="1673280"/>
            <a:ext cx="594000" cy="2008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1"/>
          <p:cNvSpPr/>
          <p:nvPr/>
        </p:nvSpPr>
        <p:spPr>
          <a:xfrm>
            <a:off x="5486400" y="1682640"/>
            <a:ext cx="57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E — Enclosing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4" name="Text 12"/>
          <p:cNvSpPr/>
          <p:nvPr/>
        </p:nvSpPr>
        <p:spPr>
          <a:xfrm>
            <a:off x="6126480" y="1682640"/>
            <a:ext cx="260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Consolas"/>
                <a:ea typeface="Consolas"/>
              </a:rPr>
              <a:t>overtime_rate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5486400" y="2011680"/>
            <a:ext cx="594000" cy="2008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5486400" y="2020680"/>
            <a:ext cx="57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G — Global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6126480" y="2020680"/>
            <a:ext cx="260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Consolas"/>
                <a:ea typeface="Consolas"/>
              </a:rPr>
              <a:t>base_wage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5486400" y="2350080"/>
            <a:ext cx="594000" cy="200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7"/>
          <p:cNvSpPr/>
          <p:nvPr/>
        </p:nvSpPr>
        <p:spPr>
          <a:xfrm>
            <a:off x="5486400" y="2359080"/>
            <a:ext cx="57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B — Built-in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6126480" y="2359080"/>
            <a:ext cx="2605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4b5563"/>
                </a:solidFill>
                <a:latin typeface="Consolas"/>
                <a:ea typeface="Consolas"/>
              </a:rPr>
              <a:t>min, max, print, f-string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5394960" y="2880360"/>
            <a:ext cx="3474360" cy="1965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20"/>
          <p:cNvSpPr/>
          <p:nvPr/>
        </p:nvSpPr>
        <p:spPr>
          <a:xfrm>
            <a:off x="5394960" y="2880360"/>
            <a:ext cx="3474360" cy="383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21"/>
          <p:cNvSpPr/>
          <p:nvPr/>
        </p:nvSpPr>
        <p:spPr>
          <a:xfrm>
            <a:off x="5486400" y="2898720"/>
            <a:ext cx="3291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Output: payroll(50)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5394960" y="3300840"/>
            <a:ext cx="3474360" cy="150840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3"/>
          <p:cNvSpPr/>
          <p:nvPr/>
        </p:nvSpPr>
        <p:spPr>
          <a:xfrm>
            <a:off x="5486400" y="3364920"/>
            <a:ext cx="329148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onsolas"/>
                <a:ea typeface="Consolas"/>
              </a:rPr>
              <a:t>Hours:    50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onsolas"/>
                <a:ea typeface="Consolas"/>
              </a:rPr>
              <a:t>Regular:  $600.00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onsolas"/>
                <a:ea typeface="Consolas"/>
              </a:rPr>
              <a:t>OT Pay:   $150.00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65f46"/>
                </a:solidFill>
                <a:latin typeface="Consolas"/>
                <a:ea typeface="Consolas"/>
              </a:rPr>
              <a:t>Total:    $750.00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a0e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libri"/>
                <a:ea typeface="Calibri"/>
              </a:rPr>
              <a:t>Proof: Same Name, Different Scope = Different Variable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274320" y="914400"/>
            <a:ext cx="8595000" cy="54828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3"/>
          <p:cNvSpPr/>
          <p:nvPr/>
        </p:nvSpPr>
        <p:spPr>
          <a:xfrm>
            <a:off x="411480" y="95112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c1d95"/>
                </a:solidFill>
                <a:latin typeface="Calibri"/>
                <a:ea typeface="Calibri"/>
              </a:rPr>
              <a:t>💡 </a:t>
            </a:r>
            <a:r>
              <a:rPr b="0" lang="en-US" sz="1300" spc="-1" strike="noStrike">
                <a:solidFill>
                  <a:srgbClr val="4c1d95"/>
                </a:solidFill>
                <a:latin typeface="Calibri"/>
                <a:ea typeface="Calibri"/>
              </a:rPr>
              <a:t>Two variables with the same name in different scopes are completely independent objects. id() proves this — each has a unique memory address.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274320" y="1600200"/>
            <a:ext cx="4251600" cy="3245760"/>
          </a:xfrm>
          <a:prstGeom prst="rect">
            <a:avLst/>
          </a:prstGeom>
          <a:solidFill>
            <a:srgbClr val="1a0e2e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5"/>
          <p:cNvSpPr/>
          <p:nvPr/>
        </p:nvSpPr>
        <p:spPr>
          <a:xfrm>
            <a:off x="365760" y="1618560"/>
            <a:ext cx="4068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59e0b"/>
                </a:solidFill>
                <a:latin typeface="Calibri"/>
                <a:ea typeface="Calibri"/>
              </a:rPr>
              <a:t>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365760" y="2011680"/>
            <a:ext cx="4068720" cy="27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def outer():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score = 45          # outer's score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print('outer score:', score)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print('outer id:   ', id(score))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def inner():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score = 90      # inner's own score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print('inner score:', score)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print('inner id:   ', id(score))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inner()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outer()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4800600" y="1600200"/>
            <a:ext cx="4068720" cy="1691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Shape 8"/>
          <p:cNvSpPr/>
          <p:nvPr/>
        </p:nvSpPr>
        <p:spPr>
          <a:xfrm>
            <a:off x="4800600" y="1600200"/>
            <a:ext cx="4068720" cy="3837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9"/>
          <p:cNvSpPr/>
          <p:nvPr/>
        </p:nvSpPr>
        <p:spPr>
          <a:xfrm>
            <a:off x="4892040" y="1618560"/>
            <a:ext cx="3885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4800600" y="2020680"/>
            <a:ext cx="4068720" cy="1234080"/>
          </a:xfrm>
          <a:prstGeom prst="rect">
            <a:avLst/>
          </a:prstGeom>
          <a:solidFill>
            <a:srgbClr val="ede9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1"/>
          <p:cNvSpPr/>
          <p:nvPr/>
        </p:nvSpPr>
        <p:spPr>
          <a:xfrm>
            <a:off x="4892040" y="2084760"/>
            <a:ext cx="388584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c1d95"/>
                </a:solidFill>
                <a:latin typeface="Consolas"/>
                <a:ea typeface="Consolas"/>
              </a:rPr>
              <a:t>outer score: 45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c1d95"/>
                </a:solidFill>
                <a:latin typeface="Consolas"/>
                <a:ea typeface="Consolas"/>
              </a:rPr>
              <a:t>outer id:    9785984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c1d95"/>
                </a:solidFill>
                <a:latin typeface="Consolas"/>
                <a:ea typeface="Consolas"/>
              </a:rPr>
              <a:t>inner score: 90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c1d95"/>
                </a:solidFill>
                <a:latin typeface="Consolas"/>
                <a:ea typeface="Consolas"/>
              </a:rPr>
              <a:t>inner id:    9787424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4800600" y="3429000"/>
            <a:ext cx="4068720" cy="1416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Shape 13"/>
          <p:cNvSpPr/>
          <p:nvPr/>
        </p:nvSpPr>
        <p:spPr>
          <a:xfrm>
            <a:off x="4800600" y="3429000"/>
            <a:ext cx="63720" cy="14169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4"/>
          <p:cNvSpPr/>
          <p:nvPr/>
        </p:nvSpPr>
        <p:spPr>
          <a:xfrm>
            <a:off x="4956120" y="3474720"/>
            <a:ext cx="3794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Calibri"/>
                <a:ea typeface="Calibri"/>
              </a:rPr>
              <a:t>What This Proves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4956120" y="3840480"/>
            <a:ext cx="3794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Calibri"/>
                <a:ea typeface="Calibri"/>
              </a:rPr>
              <a:t>The different id() values confirm that outer's 'score' and inner's 'score' are entirely separate objects in memory. Changing one has zero effect on the other.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6854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274320" y="64080"/>
            <a:ext cx="8595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LEGB — The Lookup Funnel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274320" y="822960"/>
            <a:ext cx="8595000" cy="4160160"/>
          </a:xfrm>
          <a:prstGeom prst="rect">
            <a:avLst/>
          </a:prstGeom>
          <a:solidFill>
            <a:srgbClr val="1a3a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"/>
          <p:cNvSpPr/>
          <p:nvPr/>
        </p:nvSpPr>
        <p:spPr>
          <a:xfrm>
            <a:off x="411480" y="868680"/>
            <a:ext cx="8320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93c5fd"/>
                </a:solidFill>
                <a:latin typeface="Calibri"/>
                <a:ea typeface="Calibri"/>
              </a:rPr>
              <a:t>BUILT-IN  (print, len, range, int, str, type, …)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685800" y="1280160"/>
            <a:ext cx="7772040" cy="3474360"/>
          </a:xfrm>
          <a:prstGeom prst="rect">
            <a:avLst/>
          </a:prstGeom>
          <a:solidFill>
            <a:srgbClr val="1a3a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5"/>
          <p:cNvSpPr/>
          <p:nvPr/>
        </p:nvSpPr>
        <p:spPr>
          <a:xfrm>
            <a:off x="822960" y="1325880"/>
            <a:ext cx="7497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6ee7b7"/>
                </a:solidFill>
                <a:latin typeface="Calibri"/>
                <a:ea typeface="Calibri"/>
              </a:rPr>
              <a:t>GLOBAL  (module-level variables and functions)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1280160" y="1737360"/>
            <a:ext cx="6583320" cy="2788560"/>
          </a:xfrm>
          <a:prstGeom prst="rect">
            <a:avLst/>
          </a:prstGeom>
          <a:solidFill>
            <a:srgbClr val="3b22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7"/>
          <p:cNvSpPr/>
          <p:nvPr/>
        </p:nvSpPr>
        <p:spPr>
          <a:xfrm>
            <a:off x="1417320" y="178308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cd34d"/>
                </a:solidFill>
                <a:latin typeface="Calibri"/>
                <a:ea typeface="Calibri"/>
              </a:rPr>
              <a:t>ENCLOSING  (outer function's variables — for nested fns)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2194560" y="2212920"/>
            <a:ext cx="4754520" cy="2084400"/>
          </a:xfrm>
          <a:prstGeom prst="rect">
            <a:avLst/>
          </a:prstGeom>
          <a:solidFill>
            <a:srgbClr val="3b0a0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9"/>
          <p:cNvSpPr/>
          <p:nvPr/>
        </p:nvSpPr>
        <p:spPr>
          <a:xfrm>
            <a:off x="2331720" y="22586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ca5a5"/>
                </a:solidFill>
                <a:latin typeface="Calibri"/>
                <a:ea typeface="Calibri"/>
              </a:rPr>
              <a:t>LOCAL  (current function's variables)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2423160" y="2633400"/>
            <a:ext cx="4297320" cy="63972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1"/>
          <p:cNvSpPr/>
          <p:nvPr/>
        </p:nvSpPr>
        <p:spPr>
          <a:xfrm>
            <a:off x="2514600" y="267912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9d5ff"/>
                </a:solidFill>
                <a:latin typeface="Consolas"/>
                <a:ea typeface="Consolas"/>
              </a:rPr>
              <a:t>result = 0   # LOCAL → found here first!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2286000" y="33375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c4b5fd"/>
                </a:solidFill>
                <a:latin typeface="Calibri"/>
                <a:ea typeface="Calibri"/>
              </a:rPr>
              <a:t>Python searches from the innermost box outward 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274320" y="475488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4b5fd"/>
                </a:solidFill>
                <a:latin typeface="Calibri"/>
                <a:ea typeface="Calibri"/>
              </a:rPr>
              <a:t>L  →  E  →  G  →  B  (stops at first match)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a0e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Common Scope Mistakes &amp; How to Fix Them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274320" y="960120"/>
            <a:ext cx="8595000" cy="1663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Text 3"/>
          <p:cNvSpPr/>
          <p:nvPr/>
        </p:nvSpPr>
        <p:spPr>
          <a:xfrm>
            <a:off x="365760" y="1014840"/>
            <a:ext cx="8320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4444"/>
                </a:solidFill>
                <a:latin typeface="Calibri"/>
                <a:ea typeface="Calibri"/>
              </a:rPr>
              <a:t>Mistake 1: Forgetting global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365760" y="1380600"/>
            <a:ext cx="3474360" cy="91404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5"/>
          <p:cNvSpPr/>
          <p:nvPr/>
        </p:nvSpPr>
        <p:spPr>
          <a:xfrm>
            <a:off x="457200" y="14173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total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def add_item(n):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total += n  # UnboundLocalError!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add_item(5)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2" name="Shape 6"/>
          <p:cNvSpPr/>
          <p:nvPr/>
        </p:nvSpPr>
        <p:spPr>
          <a:xfrm>
            <a:off x="384120" y="1380600"/>
            <a:ext cx="72720" cy="914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7"/>
          <p:cNvSpPr/>
          <p:nvPr/>
        </p:nvSpPr>
        <p:spPr>
          <a:xfrm>
            <a:off x="3950280" y="16002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4343400" y="1380600"/>
            <a:ext cx="3474360" cy="91404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9"/>
          <p:cNvSpPr/>
          <p:nvPr/>
        </p:nvSpPr>
        <p:spPr>
          <a:xfrm>
            <a:off x="4434840" y="14173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total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add_item(n):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global total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total += n  # Works now!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add_item(5)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4343400" y="1380600"/>
            <a:ext cx="72720" cy="914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1"/>
          <p:cNvSpPr/>
          <p:nvPr/>
        </p:nvSpPr>
        <p:spPr>
          <a:xfrm>
            <a:off x="7909560" y="1380600"/>
            <a:ext cx="868320" cy="914040"/>
          </a:xfrm>
          <a:prstGeom prst="rect">
            <a:avLst/>
          </a:prstGeom>
          <a:solidFill>
            <a:srgbClr val="fff9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12"/>
          <p:cNvSpPr/>
          <p:nvPr/>
        </p:nvSpPr>
        <p:spPr>
          <a:xfrm>
            <a:off x="7936920" y="139896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d4037"/>
                </a:solidFill>
                <a:latin typeface="Calibri"/>
                <a:ea typeface="Calibri"/>
              </a:rPr>
              <a:t>💡 </a:t>
            </a:r>
            <a:r>
              <a:rPr b="0" lang="en-US" sz="850" spc="-1" strike="noStrike">
                <a:solidFill>
                  <a:srgbClr val="5d4037"/>
                </a:solidFill>
                <a:latin typeface="Calibri"/>
                <a:ea typeface="Calibri"/>
              </a:rPr>
              <a:t>Python sees 'total +=' as an assignment, so it thinks 'total' is local — but it hasn't been assigned yet.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274320" y="2788920"/>
            <a:ext cx="8595000" cy="1663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0" name="Text 14"/>
          <p:cNvSpPr/>
          <p:nvPr/>
        </p:nvSpPr>
        <p:spPr>
          <a:xfrm>
            <a:off x="365760" y="2843640"/>
            <a:ext cx="8320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f4444"/>
                </a:solidFill>
                <a:latin typeface="Calibri"/>
                <a:ea typeface="Calibri"/>
              </a:rPr>
              <a:t>❌ </a:t>
            </a:r>
            <a:r>
              <a:rPr b="1" lang="en-US" sz="1400" spc="-1" strike="noStrike">
                <a:solidFill>
                  <a:srgbClr val="ef4444"/>
                </a:solidFill>
                <a:latin typeface="Calibri"/>
                <a:ea typeface="Calibri"/>
              </a:rPr>
              <a:t>Mistake 2: Expecting inner fn to modify outer var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365760" y="3209400"/>
            <a:ext cx="3474360" cy="91404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6"/>
          <p:cNvSpPr/>
          <p:nvPr/>
        </p:nvSpPr>
        <p:spPr>
          <a:xfrm>
            <a:off x="457200" y="32461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def outer():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counter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def inner():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counter += 1  # UnboundLocalError!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8080"/>
                </a:solidFill>
                <a:latin typeface="Consolas"/>
                <a:ea typeface="Consolas"/>
              </a:rPr>
              <a:t>inner()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384120" y="3209400"/>
            <a:ext cx="72720" cy="914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8"/>
          <p:cNvSpPr/>
          <p:nvPr/>
        </p:nvSpPr>
        <p:spPr>
          <a:xfrm>
            <a:off x="3950280" y="34290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✅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4343400" y="3209400"/>
            <a:ext cx="3474360" cy="914040"/>
          </a:xfrm>
          <a:prstGeom prst="rect">
            <a:avLst/>
          </a:prstGeom>
          <a:solidFill>
            <a:srgbClr val="1a0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20"/>
          <p:cNvSpPr/>
          <p:nvPr/>
        </p:nvSpPr>
        <p:spPr>
          <a:xfrm>
            <a:off x="4434840" y="32461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outer():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counter = 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def inner():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nonlocal counter  # fix!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counter += 1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9d5ff"/>
                </a:solidFill>
                <a:latin typeface="Consolas"/>
                <a:ea typeface="Consolas"/>
              </a:rPr>
              <a:t>inner()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7" name="Shape 21"/>
          <p:cNvSpPr/>
          <p:nvPr/>
        </p:nvSpPr>
        <p:spPr>
          <a:xfrm>
            <a:off x="4343400" y="3209400"/>
            <a:ext cx="72720" cy="914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22"/>
          <p:cNvSpPr/>
          <p:nvPr/>
        </p:nvSpPr>
        <p:spPr>
          <a:xfrm>
            <a:off x="7909560" y="3209400"/>
            <a:ext cx="868320" cy="914040"/>
          </a:xfrm>
          <a:prstGeom prst="rect">
            <a:avLst/>
          </a:prstGeom>
          <a:solidFill>
            <a:srgbClr val="fff9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23"/>
          <p:cNvSpPr/>
          <p:nvPr/>
        </p:nvSpPr>
        <p:spPr>
          <a:xfrm>
            <a:off x="7936920" y="322776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5d4037"/>
                </a:solidFill>
                <a:latin typeface="Calibri"/>
                <a:ea typeface="Calibri"/>
              </a:rPr>
              <a:t>💡 </a:t>
            </a:r>
            <a:r>
              <a:rPr b="0" lang="en-US" sz="850" spc="-1" strike="noStrike">
                <a:solidFill>
                  <a:srgbClr val="5d4037"/>
                </a:solidFill>
                <a:latin typeface="Calibri"/>
                <a:ea typeface="Calibri"/>
              </a:rPr>
              <a:t>Use 'nonlocal' to tell Python you want to modify the enclosing function's variable, not create a new local.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Part 3 — 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274320" y="96012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3"/>
          <p:cNvSpPr/>
          <p:nvPr/>
        </p:nvSpPr>
        <p:spPr>
          <a:xfrm>
            <a:off x="274320" y="960120"/>
            <a:ext cx="63720" cy="1170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4"/>
          <p:cNvSpPr/>
          <p:nvPr/>
        </p:nvSpPr>
        <p:spPr>
          <a:xfrm>
            <a:off x="45720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🎯 </a:t>
            </a: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Scope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5" name="Text 5"/>
          <p:cNvSpPr/>
          <p:nvPr/>
        </p:nvSpPr>
        <p:spPr>
          <a:xfrm>
            <a:off x="45720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Defines where an identifier is visible and accessible. Prevents naming conflicts across your program.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274320" y="225864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7"/>
          <p:cNvSpPr/>
          <p:nvPr/>
        </p:nvSpPr>
        <p:spPr>
          <a:xfrm>
            <a:off x="274320" y="2258640"/>
            <a:ext cx="63720" cy="1170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8"/>
          <p:cNvSpPr/>
          <p:nvPr/>
        </p:nvSpPr>
        <p:spPr>
          <a:xfrm>
            <a:off x="45720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L Local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45720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Created inside a function. Destroyed when the function returns. Most narrow scope.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274320" y="355716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11"/>
          <p:cNvSpPr/>
          <p:nvPr/>
        </p:nvSpPr>
        <p:spPr>
          <a:xfrm>
            <a:off x="274320" y="3557160"/>
            <a:ext cx="63720" cy="117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12"/>
          <p:cNvSpPr/>
          <p:nvPr/>
        </p:nvSpPr>
        <p:spPr>
          <a:xfrm>
            <a:off x="45720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E Enclosing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3" name="Text 13"/>
          <p:cNvSpPr/>
          <p:nvPr/>
        </p:nvSpPr>
        <p:spPr>
          <a:xfrm>
            <a:off x="45720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Outer function's vars — visible to inner (nested) functions. Requires 'nonlocal' to modify.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4" name="Shape 14"/>
          <p:cNvSpPr/>
          <p:nvPr/>
        </p:nvSpPr>
        <p:spPr>
          <a:xfrm>
            <a:off x="4709160" y="96012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Shape 15"/>
          <p:cNvSpPr/>
          <p:nvPr/>
        </p:nvSpPr>
        <p:spPr>
          <a:xfrm>
            <a:off x="4709160" y="960120"/>
            <a:ext cx="63720" cy="117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16"/>
          <p:cNvSpPr/>
          <p:nvPr/>
        </p:nvSpPr>
        <p:spPr>
          <a:xfrm>
            <a:off x="489204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G Global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7" name="Text 17"/>
          <p:cNvSpPr/>
          <p:nvPr/>
        </p:nvSpPr>
        <p:spPr>
          <a:xfrm>
            <a:off x="489204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Module-level vars. Accessible everywhere. Use 'global' keyword to modify inside a function.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Shape 18"/>
          <p:cNvSpPr/>
          <p:nvPr/>
        </p:nvSpPr>
        <p:spPr>
          <a:xfrm>
            <a:off x="4709160" y="225864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9" name="Shape 19"/>
          <p:cNvSpPr/>
          <p:nvPr/>
        </p:nvSpPr>
        <p:spPr>
          <a:xfrm>
            <a:off x="4709160" y="2258640"/>
            <a:ext cx="63720" cy="117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0"/>
          <p:cNvSpPr/>
          <p:nvPr/>
        </p:nvSpPr>
        <p:spPr>
          <a:xfrm>
            <a:off x="489204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B Built-in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1" name="Text 21"/>
          <p:cNvSpPr/>
          <p:nvPr/>
        </p:nvSpPr>
        <p:spPr>
          <a:xfrm>
            <a:off x="489204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Python's own names: print, len, range, etc. Always available, widest scope.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2" name="Shape 22"/>
          <p:cNvSpPr/>
          <p:nvPr/>
        </p:nvSpPr>
        <p:spPr>
          <a:xfrm>
            <a:off x="4709160" y="3557160"/>
            <a:ext cx="4160160" cy="1170000"/>
          </a:xfrm>
          <a:prstGeom prst="rect">
            <a:avLst/>
          </a:prstGeom>
          <a:solidFill>
            <a:srgbClr val="1a0a3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3" name="Shape 23"/>
          <p:cNvSpPr/>
          <p:nvPr/>
        </p:nvSpPr>
        <p:spPr>
          <a:xfrm>
            <a:off x="4709160" y="3557160"/>
            <a:ext cx="63720" cy="11700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4"/>
          <p:cNvSpPr/>
          <p:nvPr/>
        </p:nvSpPr>
        <p:spPr>
          <a:xfrm>
            <a:off x="489204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🔍 </a:t>
            </a:r>
            <a:r>
              <a:rPr b="1" lang="en-US" sz="1400" spc="-1" strike="noStrike">
                <a:solidFill>
                  <a:srgbClr val="c4b5fd"/>
                </a:solidFill>
                <a:latin typeface="Calibri"/>
                <a:ea typeface="Calibri"/>
              </a:rPr>
              <a:t>LEGB Rule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5" name="Text 25"/>
          <p:cNvSpPr/>
          <p:nvPr/>
        </p:nvSpPr>
        <p:spPr>
          <a:xfrm>
            <a:off x="489204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bbaadd"/>
                </a:solidFill>
                <a:latin typeface="Calibri"/>
                <a:ea typeface="Calibri"/>
              </a:rPr>
              <a:t>Python searches L → E → G → B and stops at first match. NameError if not found anywhere.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2026-03-08T03:55:09Z</dcterms:created>
  <dc:creator>PptxGenJS</dc:creator>
  <dc:description/>
  <dc:language>en-IN</dc:language>
  <cp:lastModifiedBy/>
  <dcterms:modified xsi:type="dcterms:W3CDTF">2026-03-10T21:04:28Z</dcterms:modified>
  <cp:revision>2</cp:revision>
  <dc:subject>PptxGenJS Presentation</dc:subject>
  <dc:title>Python Namespaces - Part 3: Scope and LEGB Rule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