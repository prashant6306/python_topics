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A82DAC2-4713-43E2-B5A9-0EEBAA8DEB69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B89139-4AED-4750-A34F-8201776BA6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D68B27-BFC7-4D2F-83D6-D9D0B196F3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9814AF-33CA-47E9-93D8-F6A6C35166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5D2CF6-1389-443C-9543-037AD3FD85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25D9D6-AD84-4EDC-A510-E18AA07A5A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5C394D-4533-425A-84AA-2AF9D6AB6DD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65760" y="640080"/>
            <a:ext cx="8412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Python Namespaces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65760" y="173736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f5a623"/>
                </a:solidFill>
                <a:latin typeface="Calibri"/>
                <a:ea typeface="Calibri"/>
              </a:rPr>
              <a:t>Part 1: Symbol Tables &amp; Namespaces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365760" y="2423160"/>
            <a:ext cx="5028840" cy="363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365760" y="2651760"/>
            <a:ext cx="164160" cy="1641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658440" y="26060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cddff"/>
                </a:solidFill>
                <a:latin typeface="Calibri"/>
                <a:ea typeface="Calibri"/>
              </a:rPr>
              <a:t>Symbol Table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365760" y="3154680"/>
            <a:ext cx="164160" cy="1641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658440" y="31089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cddff"/>
                </a:solidFill>
                <a:latin typeface="Calibri"/>
                <a:ea typeface="Calibri"/>
              </a:rPr>
              <a:t>Namespace Concept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365760" y="3657600"/>
            <a:ext cx="164160" cy="1641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658440" y="36118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cddff"/>
                </a:solidFill>
                <a:latin typeface="Calibri"/>
                <a:ea typeface="Calibri"/>
              </a:rPr>
              <a:t>Local vs Global Identifiers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365760" y="4160520"/>
            <a:ext cx="164160" cy="1641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658440" y="41148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cddff"/>
                </a:solidFill>
                <a:latin typeface="Calibri"/>
                <a:ea typeface="Calibri"/>
              </a:rPr>
              <a:t>Shadowing &amp; global keyword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400800" y="1097280"/>
            <a:ext cx="2285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0" spc="-1" strike="noStrike">
                <a:solidFill>
                  <a:srgbClr val="000000"/>
                </a:solidFill>
                <a:latin typeface="Calibri"/>
              </a:rPr>
              <a:t>🐍</a:t>
            </a:r>
            <a:endParaRPr b="0" lang="en-IN" sz="12000" spc="-1" strike="noStrike"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36576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67799"/>
                </a:solidFill>
                <a:latin typeface="Calibri"/>
                <a:ea typeface="Calibri"/>
              </a:rPr>
              <a:t>Chapter 17 | Let Us Python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is a Symbol Table?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274320" y="960120"/>
            <a:ext cx="41144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3"/>
          <p:cNvSpPr/>
          <p:nvPr/>
        </p:nvSpPr>
        <p:spPr>
          <a:xfrm>
            <a:off x="274320" y="960120"/>
            <a:ext cx="72720" cy="35658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4"/>
          <p:cNvSpPr/>
          <p:nvPr/>
        </p:nvSpPr>
        <p:spPr>
          <a:xfrm>
            <a:off x="502920" y="10515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Calibri"/>
                <a:ea typeface="Calibri"/>
              </a:rPr>
              <a:t>How It Works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502920" y="1572840"/>
            <a:ext cx="182520" cy="182520"/>
          </a:xfrm>
          <a:prstGeom prst="ellipse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6"/>
          <p:cNvSpPr/>
          <p:nvPr/>
        </p:nvSpPr>
        <p:spPr>
          <a:xfrm>
            <a:off x="777240" y="153612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Variable names, function names, and class names are called identifiers.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502920" y="2231280"/>
            <a:ext cx="182520" cy="182520"/>
          </a:xfrm>
          <a:prstGeom prst="ellipse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8"/>
          <p:cNvSpPr/>
          <p:nvPr/>
        </p:nvSpPr>
        <p:spPr>
          <a:xfrm>
            <a:off x="777240" y="219456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Python's interpreter builds a symbol table as it reads your program.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502920" y="2889360"/>
            <a:ext cx="182520" cy="182520"/>
          </a:xfrm>
          <a:prstGeom prst="ellipse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0"/>
          <p:cNvSpPr/>
          <p:nvPr/>
        </p:nvSpPr>
        <p:spPr>
          <a:xfrm>
            <a:off x="777240" y="285300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Each entry stores: the identifier's name, its type, its scope level, and its memory address.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502920" y="3547800"/>
            <a:ext cx="182520" cy="182520"/>
          </a:xfrm>
          <a:prstGeom prst="ellipse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2"/>
          <p:cNvSpPr/>
          <p:nvPr/>
        </p:nvSpPr>
        <p:spPr>
          <a:xfrm>
            <a:off x="777240" y="35114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The interpreter uses this table to decide if operations on identifiers are valid.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4754880" y="960120"/>
            <a:ext cx="41144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Text 14"/>
          <p:cNvSpPr/>
          <p:nvPr/>
        </p:nvSpPr>
        <p:spPr>
          <a:xfrm>
            <a:off x="4937760" y="10515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Calibri"/>
                <a:ea typeface="Calibri"/>
              </a:rPr>
              <a:t>Symbol Table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4937760" y="1508760"/>
            <a:ext cx="3748680" cy="63972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6"/>
          <p:cNvSpPr/>
          <p:nvPr/>
        </p:nvSpPr>
        <p:spPr>
          <a:xfrm>
            <a:off x="5029200" y="15361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score = 95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name = 'Alice'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coords = (10, 20)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75" name="Table 0"/>
          <p:cNvGraphicFramePr/>
          <p:nvPr/>
        </p:nvGraphicFramePr>
        <p:xfrm>
          <a:off x="4937760" y="2240280"/>
          <a:ext cx="3748680" cy="1279800"/>
        </p:xfrm>
        <a:graphic>
          <a:graphicData uri="http://schemas.openxmlformats.org/drawingml/2006/table">
            <a:tbl>
              <a:tblPr/>
              <a:tblGrid>
                <a:gridCol w="937080"/>
                <a:gridCol w="937080"/>
                <a:gridCol w="937080"/>
                <a:gridCol w="93744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Identifier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Memory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score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int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global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0x7f1a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name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str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global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0x7f2b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coords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tuple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global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0x7f3c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</a:lnL>
                    <a:lnR w="12240">
                      <a:solidFill>
                        <a:srgbClr val="cccccc"/>
                      </a:solidFill>
                    </a:lnR>
                    <a:lnT w="12240">
                      <a:solidFill>
                        <a:srgbClr val="cccccc"/>
                      </a:solidFill>
                    </a:lnT>
                    <a:lnB w="12240">
                      <a:solidFill>
                        <a:srgbClr val="cccccc"/>
                      </a:solidFill>
                    </a:lnB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  <p:sp>
        <p:nvSpPr>
          <p:cNvPr id="76" name="Shape 17"/>
          <p:cNvSpPr/>
          <p:nvPr/>
        </p:nvSpPr>
        <p:spPr>
          <a:xfrm>
            <a:off x="4937760" y="3566160"/>
            <a:ext cx="3748680" cy="868320"/>
          </a:xfrm>
          <a:prstGeom prst="rect">
            <a:avLst/>
          </a:prstGeom>
          <a:solidFill>
            <a:srgbClr val="fff3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8"/>
          <p:cNvSpPr/>
          <p:nvPr/>
        </p:nvSpPr>
        <p:spPr>
          <a:xfrm>
            <a:off x="5029200" y="3611880"/>
            <a:ext cx="3565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5800"/>
                </a:solidFill>
                <a:latin typeface="Calibri"/>
                <a:ea typeface="Calibri"/>
              </a:rPr>
              <a:t>⚠️ </a:t>
            </a:r>
            <a:r>
              <a:rPr b="0" lang="en-US" sz="1100" spc="-1" strike="noStrike">
                <a:solidFill>
                  <a:srgbClr val="7b5800"/>
                </a:solidFill>
                <a:latin typeface="Calibri"/>
                <a:ea typeface="Calibri"/>
              </a:rPr>
              <a:t>Example: If coords is marked 'tuple' in the symbol table, attempting coords[0] = 5 raises a TypeError — tuples are immutable!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274320" y="475488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899aa"/>
                </a:solidFill>
                <a:latin typeface="Calibri"/>
                <a:ea typeface="Calibri"/>
              </a:rPr>
              <a:t>Symbol Table — The backbone of Python's type system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Namespaces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274320" y="914400"/>
            <a:ext cx="8595000" cy="776880"/>
          </a:xfrm>
          <a:prstGeom prst="rect">
            <a:avLst/>
          </a:prstGeom>
          <a:solidFill>
            <a:srgbClr val="e94560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Text 3"/>
          <p:cNvSpPr/>
          <p:nvPr/>
        </p:nvSpPr>
        <p:spPr>
          <a:xfrm>
            <a:off x="457200" y="9601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 namespace is a container that holds identifier names (keys) mapped to their objects (values) — essentially a dictionary.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274320" y="1874520"/>
            <a:ext cx="4160160" cy="3017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5"/>
          <p:cNvSpPr/>
          <p:nvPr/>
        </p:nvSpPr>
        <p:spPr>
          <a:xfrm>
            <a:off x="274320" y="1874520"/>
            <a:ext cx="4160160" cy="4568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6"/>
          <p:cNvSpPr/>
          <p:nvPr/>
        </p:nvSpPr>
        <p:spPr>
          <a:xfrm>
            <a:off x="365760" y="1901880"/>
            <a:ext cx="3977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🏠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Local Namespace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11480" y="242316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Created when a function or method is called. Contains identifiers defined inside that function.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11480" y="3063240"/>
            <a:ext cx="3885840" cy="169128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9"/>
          <p:cNvSpPr/>
          <p:nvPr/>
        </p:nvSpPr>
        <p:spPr>
          <a:xfrm>
            <a:off x="502920" y="3127320"/>
            <a:ext cx="3702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def greet():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msg = 'Hello!'   # 'msg' lives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print(msg)       # in local NS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4709160" y="1874520"/>
            <a:ext cx="4160160" cy="3017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Shape 11"/>
          <p:cNvSpPr/>
          <p:nvPr/>
        </p:nvSpPr>
        <p:spPr>
          <a:xfrm>
            <a:off x="4709160" y="1874520"/>
            <a:ext cx="4160160" cy="45684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2"/>
          <p:cNvSpPr/>
          <p:nvPr/>
        </p:nvSpPr>
        <p:spPr>
          <a:xfrm>
            <a:off x="4800600" y="1901880"/>
            <a:ext cx="39772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🌍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Global Namespace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4846320" y="242316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Created when the module loads. Contains identifiers defined at the top level of a script.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4846320" y="3063240"/>
            <a:ext cx="3885840" cy="169128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5"/>
          <p:cNvSpPr/>
          <p:nvPr/>
        </p:nvSpPr>
        <p:spPr>
          <a:xfrm>
            <a:off x="4937760" y="3127320"/>
            <a:ext cx="37029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language = 'Python'  # lives in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version  = 3.11     # global NS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ff78"/>
                </a:solidFill>
                <a:latin typeface="Consolas"/>
                <a:ea typeface="Consolas"/>
              </a:rPr>
              <a:t>print(language)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Shadowing &amp; the global Keyword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274320" y="914400"/>
            <a:ext cx="8595000" cy="502560"/>
          </a:xfrm>
          <a:prstGeom prst="rect">
            <a:avLst/>
          </a:prstGeom>
          <a:solidFill>
            <a:srgbClr val="fff9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3"/>
          <p:cNvSpPr/>
          <p:nvPr/>
        </p:nvSpPr>
        <p:spPr>
          <a:xfrm>
            <a:off x="411480" y="941760"/>
            <a:ext cx="8320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d4037"/>
                </a:solidFill>
                <a:latin typeface="Calibri"/>
                <a:ea typeface="Calibri"/>
              </a:rPr>
              <a:t>📌 </a:t>
            </a:r>
            <a:r>
              <a:rPr b="0" lang="en-US" sz="1300" spc="-1" strike="noStrike">
                <a:solidFill>
                  <a:srgbClr val="5d4037"/>
                </a:solidFill>
                <a:latin typeface="Calibri"/>
                <a:ea typeface="Calibri"/>
              </a:rPr>
              <a:t>Rule: If a local and global identifier share the same name, the local one shadows (hides) the global one inside the function.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274320" y="1554480"/>
            <a:ext cx="4023000" cy="3337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Shape 5"/>
          <p:cNvSpPr/>
          <p:nvPr/>
        </p:nvSpPr>
        <p:spPr>
          <a:xfrm>
            <a:off x="274320" y="1554480"/>
            <a:ext cx="402300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6"/>
          <p:cNvSpPr/>
          <p:nvPr/>
        </p:nvSpPr>
        <p:spPr>
          <a:xfrm>
            <a:off x="365760" y="15818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Shadowing Example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274320" y="2011680"/>
            <a:ext cx="4023000" cy="191988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8"/>
          <p:cNvSpPr/>
          <p:nvPr/>
        </p:nvSpPr>
        <p:spPr>
          <a:xfrm>
            <a:off x="365760" y="205740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count = 100        # global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def show_count():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count = 999    # local — shadows global!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print(count)   # prints 999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show_count()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print(count)       # prints 100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320040" y="3977640"/>
            <a:ext cx="3931560" cy="776880"/>
          </a:xfrm>
          <a:prstGeom prst="rect">
            <a:avLst/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0"/>
          <p:cNvSpPr/>
          <p:nvPr/>
        </p:nvSpPr>
        <p:spPr>
          <a:xfrm>
            <a:off x="411480" y="400500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b71c1c"/>
                </a:solidFill>
                <a:latin typeface="Calibri"/>
                <a:ea typeface="Calibri"/>
              </a:rPr>
              <a:t>Inside show_count(), Python creates a NEW local 'count' — the global one is untouched. Two separate variables!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4846320" y="1554480"/>
            <a:ext cx="4023000" cy="3337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Shape 12"/>
          <p:cNvSpPr/>
          <p:nvPr/>
        </p:nvSpPr>
        <p:spPr>
          <a:xfrm>
            <a:off x="4846320" y="1554480"/>
            <a:ext cx="4023000" cy="4111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3"/>
          <p:cNvSpPr/>
          <p:nvPr/>
        </p:nvSpPr>
        <p:spPr>
          <a:xfrm>
            <a:off x="4937760" y="15818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Using global Keyword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4846320" y="2011680"/>
            <a:ext cx="4023000" cy="1919880"/>
          </a:xfrm>
          <a:prstGeom prst="rect">
            <a:avLst/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5"/>
          <p:cNvSpPr/>
          <p:nvPr/>
        </p:nvSpPr>
        <p:spPr>
          <a:xfrm>
            <a:off x="4937760" y="205740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count = 100         # global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def update_count():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global count    # tell Python: use global!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count = 999     # modifies global!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print(count)    # 999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update_count()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8ff78"/>
                </a:solidFill>
                <a:latin typeface="Consolas"/>
                <a:ea typeface="Consolas"/>
              </a:rPr>
              <a:t>print(count)        # 999 ✅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4892040" y="3977640"/>
            <a:ext cx="3931560" cy="77688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7"/>
          <p:cNvSpPr/>
          <p:nvPr/>
        </p:nvSpPr>
        <p:spPr>
          <a:xfrm>
            <a:off x="4983480" y="400500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b5e20"/>
                </a:solidFill>
                <a:latin typeface="Calibri"/>
                <a:ea typeface="Calibri"/>
              </a:rPr>
              <a:t>Using 'global count' tells Python to look up and modify the global variable, not create a new local one.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Namespace as a Dictionary — Visualized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274320" y="914400"/>
            <a:ext cx="3977280" cy="397728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Text 3"/>
          <p:cNvSpPr/>
          <p:nvPr/>
        </p:nvSpPr>
        <p:spPr>
          <a:xfrm>
            <a:off x="320040" y="914400"/>
            <a:ext cx="3885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a623"/>
                </a:solidFill>
                <a:latin typeface="Calibri"/>
                <a:ea typeface="Calibri"/>
              </a:rPr>
              <a:t>Program Code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365760" y="1325880"/>
            <a:ext cx="37944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player = 'Bob'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high_score = 4200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level = 7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def play_level():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bonus = 500        # local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global high_score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high_score += bonus  # modify global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print(player)      # reads global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print(high_score)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8ff78"/>
                </a:solidFill>
                <a:latin typeface="Consolas"/>
                <a:ea typeface="Consolas"/>
              </a:rPr>
              <a:t>play_level()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4343400" y="2834640"/>
            <a:ext cx="502920" cy="360"/>
          </a:xfrm>
          <a:prstGeom prst="line">
            <a:avLst/>
          </a:prstGeom>
          <a:ln w="381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6"/>
          <p:cNvSpPr/>
          <p:nvPr/>
        </p:nvSpPr>
        <p:spPr>
          <a:xfrm>
            <a:off x="4572000" y="26974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94560"/>
                </a:solidFill>
                <a:latin typeface="Calibri"/>
              </a:rPr>
              <a:t>▶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4754880" y="914400"/>
            <a:ext cx="41144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Shape 8"/>
          <p:cNvSpPr/>
          <p:nvPr/>
        </p:nvSpPr>
        <p:spPr>
          <a:xfrm>
            <a:off x="4754880" y="914400"/>
            <a:ext cx="4114440" cy="3654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9"/>
          <p:cNvSpPr/>
          <p:nvPr/>
        </p:nvSpPr>
        <p:spPr>
          <a:xfrm>
            <a:off x="4846320" y="9327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🌍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Global Namespace (dict)</a:t>
            </a:r>
            <a:endParaRPr b="0" lang="en-IN" sz="1300" spc="-1" strike="noStrike">
              <a:latin typeface="Arial"/>
            </a:endParaRPr>
          </a:p>
        </p:txBody>
      </p:sp>
      <p:graphicFrame>
        <p:nvGraphicFramePr>
          <p:cNvPr id="123" name="Table 0"/>
          <p:cNvGraphicFramePr/>
          <p:nvPr/>
        </p:nvGraphicFramePr>
        <p:xfrm>
          <a:off x="4846320" y="1325880"/>
          <a:ext cx="3931560" cy="1371240"/>
        </p:xfrm>
        <a:graphic>
          <a:graphicData uri="http://schemas.openxmlformats.org/drawingml/2006/table">
            <a:tbl>
              <a:tblPr/>
              <a:tblGrid>
                <a:gridCol w="1310400"/>
                <a:gridCol w="1310400"/>
                <a:gridCol w="131076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Key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Type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c8e6c9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'player'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'Bob'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str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'high_score'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4700 (updated)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'level'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'play_level'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i="1" lang="en-US" sz="1050" spc="-1" strike="noStrike">
                          <a:solidFill>
                            <a:srgbClr val="7b1fa2"/>
                          </a:solidFill>
                          <a:latin typeface="Calibri"/>
                        </a:rPr>
                        <a:t>&lt;function&gt;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func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4" name="Shape 10"/>
          <p:cNvSpPr/>
          <p:nvPr/>
        </p:nvSpPr>
        <p:spPr>
          <a:xfrm>
            <a:off x="4754880" y="2880360"/>
            <a:ext cx="41144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Shape 11"/>
          <p:cNvSpPr/>
          <p:nvPr/>
        </p:nvSpPr>
        <p:spPr>
          <a:xfrm>
            <a:off x="4754880" y="2880360"/>
            <a:ext cx="4114440" cy="36540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2"/>
          <p:cNvSpPr/>
          <p:nvPr/>
        </p:nvSpPr>
        <p:spPr>
          <a:xfrm>
            <a:off x="4846320" y="289872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🏠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Local Namespace of play_level()</a:t>
            </a:r>
            <a:endParaRPr b="0" lang="en-IN" sz="1200" spc="-1" strike="noStrike">
              <a:latin typeface="Arial"/>
            </a:endParaRPr>
          </a:p>
        </p:txBody>
      </p:sp>
      <p:graphicFrame>
        <p:nvGraphicFramePr>
          <p:cNvPr id="127" name="Table 1"/>
          <p:cNvGraphicFramePr/>
          <p:nvPr/>
        </p:nvGraphicFramePr>
        <p:xfrm>
          <a:off x="4846320" y="3291840"/>
          <a:ext cx="3931560" cy="776880"/>
        </p:xfrm>
        <a:graphic>
          <a:graphicData uri="http://schemas.openxmlformats.org/drawingml/2006/table">
            <a:tbl>
              <a:tblPr/>
              <a:tblGrid>
                <a:gridCol w="1310400"/>
                <a:gridCol w="1310400"/>
                <a:gridCol w="1310760"/>
              </a:tblGrid>
              <a:tr h="388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Key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Value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Type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bbdefb"/>
                    </a:solidFill>
                  </a:tcPr>
                </a:tc>
              </a:tr>
              <a:tr h="388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'bonus'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8" name="Shape 13"/>
          <p:cNvSpPr/>
          <p:nvPr/>
        </p:nvSpPr>
        <p:spPr>
          <a:xfrm>
            <a:off x="4846320" y="4160520"/>
            <a:ext cx="3931560" cy="59400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4"/>
          <p:cNvSpPr/>
          <p:nvPr/>
        </p:nvSpPr>
        <p:spPr>
          <a:xfrm>
            <a:off x="4937760" y="417888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65100"/>
                </a:solidFill>
                <a:latin typeface="Calibri"/>
                <a:ea typeface="Calibri"/>
              </a:rPr>
              <a:t>'bonus' exists only during the call. Once play_level() returns, this local namespace is destroyed.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274320" y="960120"/>
            <a:ext cx="4160160" cy="1170000"/>
          </a:xfrm>
          <a:prstGeom prst="rect">
            <a:avLst/>
          </a:prstGeom>
          <a:solidFill>
            <a:srgbClr val="1e2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3"/>
          <p:cNvSpPr/>
          <p:nvPr/>
        </p:nvSpPr>
        <p:spPr>
          <a:xfrm>
            <a:off x="274320" y="960120"/>
            <a:ext cx="63720" cy="117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4"/>
          <p:cNvSpPr/>
          <p:nvPr/>
        </p:nvSpPr>
        <p:spPr>
          <a:xfrm>
            <a:off x="45720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📋 </a:t>
            </a: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Symbol Table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457200" y="14173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Python builds an internal table mapping identifiers to their type, scope, and memory location.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274320" y="2258640"/>
            <a:ext cx="4160160" cy="1170000"/>
          </a:xfrm>
          <a:prstGeom prst="rect">
            <a:avLst/>
          </a:prstGeom>
          <a:solidFill>
            <a:srgbClr val="1e2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7" name="Shape 7"/>
          <p:cNvSpPr/>
          <p:nvPr/>
        </p:nvSpPr>
        <p:spPr>
          <a:xfrm>
            <a:off x="274320" y="2258640"/>
            <a:ext cx="63720" cy="117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8"/>
          <p:cNvSpPr/>
          <p:nvPr/>
        </p:nvSpPr>
        <p:spPr>
          <a:xfrm>
            <a:off x="457200" y="23500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📦 </a:t>
            </a: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Namespace = Dictionary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457200" y="27158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A namespace stores {identifier: object} pairs, making lookup fast and organized.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274320" y="3557160"/>
            <a:ext cx="4160160" cy="1170000"/>
          </a:xfrm>
          <a:prstGeom prst="rect">
            <a:avLst/>
          </a:prstGeom>
          <a:solidFill>
            <a:srgbClr val="1e2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11"/>
          <p:cNvSpPr/>
          <p:nvPr/>
        </p:nvSpPr>
        <p:spPr>
          <a:xfrm>
            <a:off x="274320" y="3557160"/>
            <a:ext cx="63720" cy="117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2"/>
          <p:cNvSpPr/>
          <p:nvPr/>
        </p:nvSpPr>
        <p:spPr>
          <a:xfrm>
            <a:off x="457200" y="3648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🏠 </a:t>
            </a: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Local Namespace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457200" y="401436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Lives inside a function. Created on call, destroyed on return.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4709160" y="960120"/>
            <a:ext cx="4160160" cy="1170000"/>
          </a:xfrm>
          <a:prstGeom prst="rect">
            <a:avLst/>
          </a:prstGeom>
          <a:solidFill>
            <a:srgbClr val="1e2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Shape 15"/>
          <p:cNvSpPr/>
          <p:nvPr/>
        </p:nvSpPr>
        <p:spPr>
          <a:xfrm>
            <a:off x="4709160" y="960120"/>
            <a:ext cx="63720" cy="117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6"/>
          <p:cNvSpPr/>
          <p:nvPr/>
        </p:nvSpPr>
        <p:spPr>
          <a:xfrm>
            <a:off x="489204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🌍 </a:t>
            </a: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Global Namespace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4892040" y="14173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Lives at module level. Available throughout the entire script.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18"/>
          <p:cNvSpPr/>
          <p:nvPr/>
        </p:nvSpPr>
        <p:spPr>
          <a:xfrm>
            <a:off x="4709160" y="2258640"/>
            <a:ext cx="4160160" cy="1170000"/>
          </a:xfrm>
          <a:prstGeom prst="rect">
            <a:avLst/>
          </a:prstGeom>
          <a:solidFill>
            <a:srgbClr val="1e2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19"/>
          <p:cNvSpPr/>
          <p:nvPr/>
        </p:nvSpPr>
        <p:spPr>
          <a:xfrm>
            <a:off x="4709160" y="2258640"/>
            <a:ext cx="63720" cy="117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0"/>
          <p:cNvSpPr/>
          <p:nvPr/>
        </p:nvSpPr>
        <p:spPr>
          <a:xfrm>
            <a:off x="4892040" y="23500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👻 </a:t>
            </a: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Shadowing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4892040" y="27158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A local identifier with the same name as a global one hides the global inside the function.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22"/>
          <p:cNvSpPr/>
          <p:nvPr/>
        </p:nvSpPr>
        <p:spPr>
          <a:xfrm>
            <a:off x="4709160" y="3557160"/>
            <a:ext cx="4160160" cy="1170000"/>
          </a:xfrm>
          <a:prstGeom prst="rect">
            <a:avLst/>
          </a:prstGeom>
          <a:solidFill>
            <a:srgbClr val="1e2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23"/>
          <p:cNvSpPr/>
          <p:nvPr/>
        </p:nvSpPr>
        <p:spPr>
          <a:xfrm>
            <a:off x="4709160" y="3557160"/>
            <a:ext cx="63720" cy="117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4"/>
          <p:cNvSpPr/>
          <p:nvPr/>
        </p:nvSpPr>
        <p:spPr>
          <a:xfrm>
            <a:off x="4892040" y="3648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🔑 </a:t>
            </a: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global keyword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4892040" y="401436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Declare 'global x' inside a function to read/modify the global variable x directly.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2026-03-08T03:51:09Z</dcterms:created>
  <dc:creator>PptxGenJS</dc:creator>
  <dc:description/>
  <dc:language>en-IN</dc:language>
  <cp:lastModifiedBy/>
  <dcterms:modified xsi:type="dcterms:W3CDTF">2026-03-10T22:36:13Z</dcterms:modified>
  <cp:revision>2</cp:revision>
  <dc:subject>PptxGenJS Presentation</dc:subject>
  <dc:title>Python Namespaces - Part 1: Symbol Table &amp; Namespace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