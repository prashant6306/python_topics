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5779C4D-5447-4667-A18F-CB613A0F08FB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E1F8CA-3C52-4B15-8CCA-BAB8932B0D3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C5358E-7E0F-43D5-9A1F-4F9D2FB237E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F303C6-C7F7-4E4D-8EA9-44075104804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9058E2-3EA5-4BBB-820F-280410B36E4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57F955-15F2-40D6-B81C-91B1FF0C077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2454A4-3EA1-496C-B335-C58064D4824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65AD56-8428-4FFD-B3E3-51C08BD4E65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457200" y="64008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  <a:ea typeface="Calibri"/>
              </a:rPr>
              <a:t>Python Namespaces</a:t>
            </a:r>
            <a:endParaRPr b="0" lang="en-IN" sz="46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57200" y="169164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90e0ef"/>
                </a:solidFill>
                <a:latin typeface="Calibri"/>
                <a:ea typeface="Calibri"/>
              </a:rPr>
              <a:t>Part 2: globals( ), locals( ) &amp; Inner Functions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457200" y="2423160"/>
            <a:ext cx="5486040" cy="453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5"/>
          <p:cNvSpPr/>
          <p:nvPr/>
        </p:nvSpPr>
        <p:spPr>
          <a:xfrm>
            <a:off x="548640" y="2633400"/>
            <a:ext cx="594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b0d4ff"/>
                </a:solidFill>
                <a:latin typeface="Calibri"/>
                <a:ea typeface="Calibri"/>
              </a:rPr>
              <a:t>▸ </a:t>
            </a:r>
            <a:r>
              <a:rPr b="0" lang="en-US" sz="1450" spc="-1" strike="noStrike">
                <a:solidFill>
                  <a:srgbClr val="b0d4ff"/>
                </a:solidFill>
                <a:latin typeface="Calibri"/>
                <a:ea typeface="Calibri"/>
              </a:rPr>
              <a:t>globals() — access the global namespace dictionary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548640" y="3090600"/>
            <a:ext cx="594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b0d4ff"/>
                </a:solidFill>
                <a:latin typeface="Calibri"/>
                <a:ea typeface="Calibri"/>
              </a:rPr>
              <a:t>▸ </a:t>
            </a:r>
            <a:r>
              <a:rPr b="0" lang="en-US" sz="1450" spc="-1" strike="noStrike">
                <a:solidFill>
                  <a:srgbClr val="b0d4ff"/>
                </a:solidFill>
                <a:latin typeface="Calibri"/>
                <a:ea typeface="Calibri"/>
              </a:rPr>
              <a:t>locals() — access the local namespace dictionary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548640" y="3547800"/>
            <a:ext cx="594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b0d4ff"/>
                </a:solidFill>
                <a:latin typeface="Calibri"/>
                <a:ea typeface="Calibri"/>
              </a:rPr>
              <a:t>▸ </a:t>
            </a:r>
            <a:r>
              <a:rPr b="0" lang="en-US" sz="1450" spc="-1" strike="noStrike">
                <a:solidFill>
                  <a:srgbClr val="b0d4ff"/>
                </a:solidFill>
                <a:latin typeface="Calibri"/>
                <a:ea typeface="Calibri"/>
              </a:rPr>
              <a:t>Dynamic variable access using strings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548640" y="4005000"/>
            <a:ext cx="5943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b0d4ff"/>
                </a:solidFill>
                <a:latin typeface="Calibri"/>
                <a:ea typeface="Calibri"/>
              </a:rPr>
              <a:t>▸ </a:t>
            </a:r>
            <a:r>
              <a:rPr b="0" lang="en-US" sz="1450" spc="-1" strike="noStrike">
                <a:solidFill>
                  <a:srgbClr val="b0d4ff"/>
                </a:solidFill>
                <a:latin typeface="Calibri"/>
                <a:ea typeface="Calibri"/>
              </a:rPr>
              <a:t>Inner Functions — functions inside functions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6858000" y="1371600"/>
            <a:ext cx="1828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0" spc="-1" strike="noStrike">
                <a:solidFill>
                  <a:srgbClr val="000000"/>
                </a:solidFill>
                <a:latin typeface="Calibri"/>
              </a:rPr>
              <a:t>⚙️</a:t>
            </a:r>
            <a:endParaRPr b="0" lang="en-IN" sz="10000" spc="-1" strike="noStrike"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457200" y="4754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46688"/>
                </a:solidFill>
                <a:latin typeface="Calibri"/>
                <a:ea typeface="Calibri"/>
              </a:rPr>
              <a:t>Chapter 17 | Let Us Python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globals( ) and locals( ) — Built-in Functions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274320" y="914400"/>
            <a:ext cx="4160160" cy="3977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" name="Shape 3"/>
          <p:cNvSpPr/>
          <p:nvPr/>
        </p:nvSpPr>
        <p:spPr>
          <a:xfrm>
            <a:off x="274320" y="914400"/>
            <a:ext cx="4160160" cy="50256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4"/>
          <p:cNvSpPr/>
          <p:nvPr/>
        </p:nvSpPr>
        <p:spPr>
          <a:xfrm>
            <a:off x="384120" y="941760"/>
            <a:ext cx="3931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globals( 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411480" y="1508760"/>
            <a:ext cx="3885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a5568"/>
                </a:solidFill>
                <a:latin typeface="Calibri"/>
                <a:ea typeface="Calibri"/>
              </a:rPr>
              <a:t>Returns a dictionary containing all identifiers in the global namespace. Callable from anywhere — inside or outside a function.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411480" y="2286000"/>
            <a:ext cx="3885840" cy="548280"/>
          </a:xfrm>
          <a:prstGeom prst="rect">
            <a:avLst/>
          </a:prstGeom>
          <a:solidFill>
            <a:srgbClr val="e0f2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7"/>
          <p:cNvSpPr/>
          <p:nvPr/>
        </p:nvSpPr>
        <p:spPr>
          <a:xfrm>
            <a:off x="457200" y="230436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00695c"/>
                </a:solidFill>
                <a:latin typeface="Calibri"/>
                <a:ea typeface="Calibri"/>
              </a:rPr>
              <a:t>💡 </a:t>
            </a:r>
            <a:r>
              <a:rPr b="0" i="1" lang="en-US" sz="1150" spc="-1" strike="noStrike">
                <a:solidFill>
                  <a:srgbClr val="00695c"/>
                </a:solidFill>
                <a:latin typeface="Calibri"/>
                <a:ea typeface="Calibri"/>
              </a:rPr>
              <a:t>At the module level: globals() and locals() return the same dictionary.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3" name="Shape 8"/>
          <p:cNvSpPr/>
          <p:nvPr/>
        </p:nvSpPr>
        <p:spPr>
          <a:xfrm>
            <a:off x="411480" y="2926080"/>
            <a:ext cx="3885840" cy="456840"/>
          </a:xfrm>
          <a:prstGeom prst="rect">
            <a:avLst/>
          </a:prstGeom>
          <a:solidFill>
            <a:srgbClr val="0d21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9"/>
          <p:cNvSpPr/>
          <p:nvPr/>
        </p:nvSpPr>
        <p:spPr>
          <a:xfrm>
            <a:off x="502920" y="297180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ffd4"/>
                </a:solidFill>
                <a:latin typeface="Consolas"/>
                <a:ea typeface="Consolas"/>
              </a:rPr>
              <a:t>globals()   →   returns a dict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411480" y="349308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When to use: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6" name="Text 11"/>
          <p:cNvSpPr/>
          <p:nvPr/>
        </p:nvSpPr>
        <p:spPr>
          <a:xfrm>
            <a:off x="411480" y="3767400"/>
            <a:ext cx="3885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Debugging: see all variables at any point</a:t>
            </a:r>
            <a:endParaRPr b="0" lang="en-IN" sz="1150" spc="-1" strike="noStrike">
              <a:latin typeface="Arial"/>
            </a:endParaRPr>
          </a:p>
          <a:p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Dynamic access by variable name (as a string)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Introspection and meta-programming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7" name="Shape 12"/>
          <p:cNvSpPr/>
          <p:nvPr/>
        </p:nvSpPr>
        <p:spPr>
          <a:xfrm>
            <a:off x="4709160" y="914400"/>
            <a:ext cx="4160160" cy="3977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13"/>
          <p:cNvSpPr/>
          <p:nvPr/>
        </p:nvSpPr>
        <p:spPr>
          <a:xfrm>
            <a:off x="4709160" y="914400"/>
            <a:ext cx="4160160" cy="50256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4"/>
          <p:cNvSpPr/>
          <p:nvPr/>
        </p:nvSpPr>
        <p:spPr>
          <a:xfrm>
            <a:off x="4818960" y="941760"/>
            <a:ext cx="3931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onsolas"/>
                <a:ea typeface="Consolas"/>
              </a:rPr>
              <a:t>locals( 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" name="Text 15"/>
          <p:cNvSpPr/>
          <p:nvPr/>
        </p:nvSpPr>
        <p:spPr>
          <a:xfrm>
            <a:off x="4846320" y="1508760"/>
            <a:ext cx="3885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4a5568"/>
                </a:solidFill>
                <a:latin typeface="Calibri"/>
                <a:ea typeface="Calibri"/>
              </a:rPr>
              <a:t>Returns a dictionary containing identifiers accessible in the current local scope. Inside a function, it shows only local variables.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71" name="Shape 16"/>
          <p:cNvSpPr/>
          <p:nvPr/>
        </p:nvSpPr>
        <p:spPr>
          <a:xfrm>
            <a:off x="4846320" y="2286000"/>
            <a:ext cx="3885840" cy="54828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Text 17"/>
          <p:cNvSpPr/>
          <p:nvPr/>
        </p:nvSpPr>
        <p:spPr>
          <a:xfrm>
            <a:off x="4892040" y="230436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1565c0"/>
                </a:solidFill>
                <a:latin typeface="Calibri"/>
                <a:ea typeface="Calibri"/>
              </a:rPr>
              <a:t>💡 </a:t>
            </a:r>
            <a:r>
              <a:rPr b="0" i="1" lang="en-US" sz="1150" spc="-1" strike="noStrike">
                <a:solidFill>
                  <a:srgbClr val="1565c0"/>
                </a:solidFill>
                <a:latin typeface="Calibri"/>
                <a:ea typeface="Calibri"/>
              </a:rPr>
              <a:t>Inside a function: locals() shows only variables local to that function.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73" name="Shape 18"/>
          <p:cNvSpPr/>
          <p:nvPr/>
        </p:nvSpPr>
        <p:spPr>
          <a:xfrm>
            <a:off x="4846320" y="2926080"/>
            <a:ext cx="3885840" cy="456840"/>
          </a:xfrm>
          <a:prstGeom prst="rect">
            <a:avLst/>
          </a:prstGeom>
          <a:solidFill>
            <a:srgbClr val="0d21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4" name="Text 19"/>
          <p:cNvSpPr/>
          <p:nvPr/>
        </p:nvSpPr>
        <p:spPr>
          <a:xfrm>
            <a:off x="4937760" y="2971800"/>
            <a:ext cx="3702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fffd4"/>
                </a:solidFill>
                <a:latin typeface="Consolas"/>
                <a:ea typeface="Consolas"/>
              </a:rPr>
              <a:t>locals()   →   returns a dict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" name="Text 20"/>
          <p:cNvSpPr/>
          <p:nvPr/>
        </p:nvSpPr>
        <p:spPr>
          <a:xfrm>
            <a:off x="4846320" y="349308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Calibri"/>
              </a:rPr>
              <a:t>When to use: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6" name="Text 21"/>
          <p:cNvSpPr/>
          <p:nvPr/>
        </p:nvSpPr>
        <p:spPr>
          <a:xfrm>
            <a:off x="4846320" y="3767400"/>
            <a:ext cx="3885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Debugging: see all variables at any point</a:t>
            </a:r>
            <a:endParaRPr b="0" lang="en-IN" sz="1150" spc="-1" strike="noStrike">
              <a:latin typeface="Arial"/>
            </a:endParaRPr>
          </a:p>
          <a:p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Dynamic access by variable name (as a string)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• </a:t>
            </a: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Introspection and meta-programming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globals( ) &amp; locals( ) — Live Example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274320" y="914400"/>
            <a:ext cx="4205880" cy="4023000"/>
          </a:xfrm>
          <a:prstGeom prst="rect">
            <a:avLst/>
          </a:prstGeom>
          <a:solidFill>
            <a:srgbClr val="0d2137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0" name="Text 3"/>
          <p:cNvSpPr/>
          <p:nvPr/>
        </p:nvSpPr>
        <p:spPr>
          <a:xfrm>
            <a:off x="365760" y="93276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77f00"/>
                </a:solidFill>
                <a:latin typeface="Calibri"/>
                <a:ea typeface="Calibri"/>
              </a:rPr>
              <a:t>Code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365760" y="1325880"/>
            <a:ext cx="402300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city = 'Paris'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population = 2_200_000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country = 'France'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def city_info():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district = 'Marais'    # local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global population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population += 50_000   # modify global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print(locals())        # only local vars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print(globals())       # global vars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print(locals())  # same as globals() here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print(globals())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city_info()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4754880" y="914400"/>
            <a:ext cx="4114440" cy="18284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Shape 6"/>
          <p:cNvSpPr/>
          <p:nvPr/>
        </p:nvSpPr>
        <p:spPr>
          <a:xfrm>
            <a:off x="4754880" y="914400"/>
            <a:ext cx="4114440" cy="36540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7"/>
          <p:cNvSpPr/>
          <p:nvPr/>
        </p:nvSpPr>
        <p:spPr>
          <a:xfrm>
            <a:off x="4846320" y="93276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Output: locals()/globals() at module level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4754880" y="1316880"/>
            <a:ext cx="4114440" cy="1389600"/>
          </a:xfrm>
          <a:prstGeom prst="rect">
            <a:avLst/>
          </a:prstGeom>
          <a:solidFill>
            <a:srgbClr val="f1fb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9"/>
          <p:cNvSpPr/>
          <p:nvPr/>
        </p:nvSpPr>
        <p:spPr>
          <a:xfrm>
            <a:off x="4846320" y="1371600"/>
            <a:ext cx="39315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4d40"/>
                </a:solidFill>
                <a:latin typeface="Consolas"/>
                <a:ea typeface="Consolas"/>
              </a:rPr>
              <a:t>{'city': 'Paris', 'population': 2200000,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4d40"/>
                </a:solidFill>
                <a:latin typeface="Consolas"/>
                <a:ea typeface="Consolas"/>
              </a:rPr>
              <a:t> </a:t>
            </a:r>
            <a:r>
              <a:rPr b="0" lang="en-US" sz="1050" spc="-1" strike="noStrike">
                <a:solidFill>
                  <a:srgbClr val="004d40"/>
                </a:solidFill>
                <a:latin typeface="Consolas"/>
                <a:ea typeface="Consolas"/>
              </a:rPr>
              <a:t>'country': 'France', 'city_info': &lt;func&gt;}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4d40"/>
                </a:solidFill>
                <a:latin typeface="Consolas"/>
                <a:ea typeface="Consolas"/>
              </a:rPr>
              <a:t>(Both locals() and globals() return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04d40"/>
                </a:solidFill>
                <a:latin typeface="Consolas"/>
                <a:ea typeface="Consolas"/>
              </a:rPr>
              <a:t>the same dict at module level)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4754880" y="2834640"/>
            <a:ext cx="4114440" cy="2102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8" name="Shape 11"/>
          <p:cNvSpPr/>
          <p:nvPr/>
        </p:nvSpPr>
        <p:spPr>
          <a:xfrm>
            <a:off x="4754880" y="2834640"/>
            <a:ext cx="4114440" cy="36540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Text 12"/>
          <p:cNvSpPr/>
          <p:nvPr/>
        </p:nvSpPr>
        <p:spPr>
          <a:xfrm>
            <a:off x="4846320" y="285300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Output: inside city_info( 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4754880" y="3237120"/>
            <a:ext cx="4114440" cy="1663920"/>
          </a:xfrm>
          <a:prstGeom prst="rect">
            <a:avLst/>
          </a:prstGeom>
          <a:solidFill>
            <a:srgbClr val="ebf5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14"/>
          <p:cNvSpPr/>
          <p:nvPr/>
        </p:nvSpPr>
        <p:spPr>
          <a:xfrm>
            <a:off x="4846320" y="3291840"/>
            <a:ext cx="39315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d3b6e"/>
                </a:solidFill>
                <a:latin typeface="Consolas"/>
                <a:ea typeface="Consolas"/>
              </a:rPr>
              <a:t>locals():  {'district': 'Marais'}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d3b6e"/>
                </a:solidFill>
                <a:latin typeface="Consolas"/>
                <a:ea typeface="Consolas"/>
              </a:rPr>
              <a:t>globals(): {'city': 'Paris',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d3b6e"/>
                </a:solidFill>
                <a:latin typeface="Consolas"/>
                <a:ea typeface="Consolas"/>
              </a:rPr>
              <a:t>            </a:t>
            </a:r>
            <a:r>
              <a:rPr b="0" lang="en-US" sz="1050" spc="-1" strike="noStrike">
                <a:solidFill>
                  <a:srgbClr val="0d3b6e"/>
                </a:solidFill>
                <a:latin typeface="Consolas"/>
                <a:ea typeface="Consolas"/>
              </a:rPr>
              <a:t>'population': 2250000,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0d3b6e"/>
                </a:solidFill>
                <a:latin typeface="Consolas"/>
                <a:ea typeface="Consolas"/>
              </a:rPr>
              <a:t>            </a:t>
            </a:r>
            <a:r>
              <a:rPr b="0" lang="en-US" sz="1050" spc="-1" strike="noStrike">
                <a:solidFill>
                  <a:srgbClr val="0d3b6e"/>
                </a:solidFill>
                <a:latin typeface="Consolas"/>
                <a:ea typeface="Consolas"/>
              </a:rPr>
              <a:t>'country': 'France', ...}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Dynamic Variable Access with globals( )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94" name="Shape 2"/>
          <p:cNvSpPr/>
          <p:nvPr/>
        </p:nvSpPr>
        <p:spPr>
          <a:xfrm>
            <a:off x="274320" y="914400"/>
            <a:ext cx="8595000" cy="594000"/>
          </a:xfrm>
          <a:prstGeom prst="rect">
            <a:avLst/>
          </a:prstGeom>
          <a:solidFill>
            <a:srgbClr val="fff9c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3"/>
          <p:cNvSpPr/>
          <p:nvPr/>
        </p:nvSpPr>
        <p:spPr>
          <a:xfrm>
            <a:off x="411480" y="951120"/>
            <a:ext cx="83206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5d4037"/>
                </a:solidFill>
                <a:latin typeface="Calibri"/>
                <a:ea typeface="Calibri"/>
              </a:rPr>
              <a:t>💡 </a:t>
            </a:r>
            <a:r>
              <a:rPr b="0" lang="en-US" sz="1300" spc="-1" strike="noStrike">
                <a:solidFill>
                  <a:srgbClr val="5d4037"/>
                </a:solidFill>
                <a:latin typeface="Calibri"/>
                <a:ea typeface="Calibri"/>
              </a:rPr>
              <a:t>Since globals() returns a dictionary, you can use a string as a key to look up a variable by name — very powerful for dynamic programming!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6" name="Shape 4"/>
          <p:cNvSpPr/>
          <p:nvPr/>
        </p:nvSpPr>
        <p:spPr>
          <a:xfrm>
            <a:off x="274320" y="1645920"/>
            <a:ext cx="4160160" cy="3200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7" name="Shape 5"/>
          <p:cNvSpPr/>
          <p:nvPr/>
        </p:nvSpPr>
        <p:spPr>
          <a:xfrm>
            <a:off x="274320" y="1645920"/>
            <a:ext cx="4160160" cy="4111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6"/>
          <p:cNvSpPr/>
          <p:nvPr/>
        </p:nvSpPr>
        <p:spPr>
          <a:xfrm>
            <a:off x="365760" y="167328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Example 1: Access Variables by Name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9" name="Shape 7"/>
          <p:cNvSpPr/>
          <p:nvPr/>
        </p:nvSpPr>
        <p:spPr>
          <a:xfrm>
            <a:off x="365760" y="2103120"/>
            <a:ext cx="3931560" cy="1508400"/>
          </a:xfrm>
          <a:prstGeom prst="rect">
            <a:avLst/>
          </a:prstGeom>
          <a:solidFill>
            <a:srgbClr val="0d21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" name="Text 8"/>
          <p:cNvSpPr/>
          <p:nvPr/>
        </p:nvSpPr>
        <p:spPr>
          <a:xfrm>
            <a:off x="457200" y="2148840"/>
            <a:ext cx="374868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jan_sales = 1500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feb_sales = 2200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mar_sales = 1800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months = ['jan_sales', 'feb_sales', 'mar_sales']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for m in months: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print(m, '=', globals()[m])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1" name="Shape 9"/>
          <p:cNvSpPr/>
          <p:nvPr/>
        </p:nvSpPr>
        <p:spPr>
          <a:xfrm>
            <a:off x="365760" y="3657600"/>
            <a:ext cx="3931560" cy="822600"/>
          </a:xfrm>
          <a:prstGeom prst="rect">
            <a:avLst/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10"/>
          <p:cNvSpPr/>
          <p:nvPr/>
        </p:nvSpPr>
        <p:spPr>
          <a:xfrm>
            <a:off x="457200" y="3703320"/>
            <a:ext cx="37486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b5e20"/>
                </a:solidFill>
                <a:latin typeface="Consolas"/>
                <a:ea typeface="Consolas"/>
              </a:rPr>
              <a:t>Output: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b5e20"/>
                </a:solidFill>
                <a:latin typeface="Consolas"/>
                <a:ea typeface="Consolas"/>
              </a:rPr>
              <a:t>jan_sales = 1500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b5e20"/>
                </a:solidFill>
                <a:latin typeface="Consolas"/>
                <a:ea typeface="Consolas"/>
              </a:rPr>
              <a:t>feb_sales = 2200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b5e20"/>
                </a:solidFill>
                <a:latin typeface="Consolas"/>
                <a:ea typeface="Consolas"/>
              </a:rPr>
              <a:t>mar_sales = 1800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4709160" y="1645920"/>
            <a:ext cx="4160160" cy="3200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Shape 12"/>
          <p:cNvSpPr/>
          <p:nvPr/>
        </p:nvSpPr>
        <p:spPr>
          <a:xfrm>
            <a:off x="4709160" y="1645920"/>
            <a:ext cx="4160160" cy="411120"/>
          </a:xfrm>
          <a:prstGeom prst="rect">
            <a:avLst/>
          </a:prstGeom>
          <a:solidFill>
            <a:srgbClr val="f77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Text 13"/>
          <p:cNvSpPr/>
          <p:nvPr/>
        </p:nvSpPr>
        <p:spPr>
          <a:xfrm>
            <a:off x="4800600" y="167328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Example 2: Call Functions Dynamically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6" name="Shape 14"/>
          <p:cNvSpPr/>
          <p:nvPr/>
        </p:nvSpPr>
        <p:spPr>
          <a:xfrm>
            <a:off x="4800600" y="2103120"/>
            <a:ext cx="3931560" cy="1919880"/>
          </a:xfrm>
          <a:prstGeom prst="rect">
            <a:avLst/>
          </a:prstGeom>
          <a:solidFill>
            <a:srgbClr val="0d21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 15"/>
          <p:cNvSpPr/>
          <p:nvPr/>
        </p:nvSpPr>
        <p:spPr>
          <a:xfrm>
            <a:off x="4892040" y="2148840"/>
            <a:ext cx="37486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def add(x, y): return x + y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def multiply(x, y): return x * y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def subtract(x, y): return x - y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operations = ['add', 'multiply', 'subtract']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for op in operations: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result = globals()[op](10, 3)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7fffd4"/>
                </a:solidFill>
                <a:latin typeface="Consolas"/>
                <a:ea typeface="Consolas"/>
              </a:rPr>
              <a:t>print(f"{op}(10,3) = {result}")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8" name="Shape 16"/>
          <p:cNvSpPr/>
          <p:nvPr/>
        </p:nvSpPr>
        <p:spPr>
          <a:xfrm>
            <a:off x="4800600" y="4069080"/>
            <a:ext cx="3931560" cy="658080"/>
          </a:xfrm>
          <a:prstGeom prst="rect">
            <a:avLst/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17"/>
          <p:cNvSpPr/>
          <p:nvPr/>
        </p:nvSpPr>
        <p:spPr>
          <a:xfrm>
            <a:off x="4892040" y="4114800"/>
            <a:ext cx="3748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65100"/>
                </a:solidFill>
                <a:latin typeface="Consolas"/>
                <a:ea typeface="Consolas"/>
              </a:rPr>
              <a:t>Output: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65100"/>
                </a:solidFill>
                <a:latin typeface="Consolas"/>
                <a:ea typeface="Consolas"/>
              </a:rPr>
              <a:t>add(10,3) = 13   multiply(10,3) = 30   subtract(10,3) = 7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1b28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Inner Functions — Functions Inside Functions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12" name="Shape 2"/>
          <p:cNvSpPr/>
          <p:nvPr/>
        </p:nvSpPr>
        <p:spPr>
          <a:xfrm>
            <a:off x="274320" y="914400"/>
            <a:ext cx="8595000" cy="5482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3"/>
          <p:cNvSpPr/>
          <p:nvPr/>
        </p:nvSpPr>
        <p:spPr>
          <a:xfrm>
            <a:off x="411480" y="951120"/>
            <a:ext cx="83206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An inner (nested) function is defined inside another function. It is only callable from within its enclosing (outer) function — it's encapsulated.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274320" y="1600200"/>
            <a:ext cx="4205880" cy="3291480"/>
          </a:xfrm>
          <a:prstGeom prst="rect">
            <a:avLst/>
          </a:prstGeom>
          <a:solidFill>
            <a:srgbClr val="0d2137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Text 5"/>
          <p:cNvSpPr/>
          <p:nvPr/>
        </p:nvSpPr>
        <p:spPr>
          <a:xfrm>
            <a:off x="365760" y="1618560"/>
            <a:ext cx="40230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77f00"/>
                </a:solidFill>
                <a:latin typeface="Calibri"/>
                <a:ea typeface="Calibri"/>
              </a:rPr>
              <a:t>Code Example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365760" y="2011680"/>
            <a:ext cx="4023000" cy="27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# Outer function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def order_summary():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item = 'Coffee'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price = 4.50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print('--- Order Summary ---')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# Inner function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def show_receipt():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tax = price * 0.10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total = price + tax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print(f'Item:  {item}')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print(f'Price: $' + '{price:.2f}')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print(f'Tax:   $' + '{tax:.2f}')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print(f'Total: $' + '{total:.2f}')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show_receipt()  # called inside outer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order_summary()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# show_receipt() &lt;- ERROR: not accessible!</a:t>
            </a:r>
            <a:endParaRPr b="0" lang="en-IN" sz="1020" spc="-1" strike="noStrike"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4754880" y="1600200"/>
            <a:ext cx="4114440" cy="17827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Shape 8"/>
          <p:cNvSpPr/>
          <p:nvPr/>
        </p:nvSpPr>
        <p:spPr>
          <a:xfrm>
            <a:off x="4754880" y="1600200"/>
            <a:ext cx="4114440" cy="365400"/>
          </a:xfrm>
          <a:prstGeom prst="rect">
            <a:avLst/>
          </a:prstGeom>
          <a:solidFill>
            <a:srgbClr val="1565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9"/>
          <p:cNvSpPr/>
          <p:nvPr/>
        </p:nvSpPr>
        <p:spPr>
          <a:xfrm>
            <a:off x="4846320" y="161856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Output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0" name="Shape 10"/>
          <p:cNvSpPr/>
          <p:nvPr/>
        </p:nvSpPr>
        <p:spPr>
          <a:xfrm>
            <a:off x="4754880" y="2002680"/>
            <a:ext cx="4114440" cy="1343880"/>
          </a:xfrm>
          <a:prstGeom prst="rect">
            <a:avLst/>
          </a:prstGeom>
          <a:solidFill>
            <a:srgbClr val="ebf5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 11"/>
          <p:cNvSpPr/>
          <p:nvPr/>
        </p:nvSpPr>
        <p:spPr>
          <a:xfrm>
            <a:off x="4846320" y="2057400"/>
            <a:ext cx="3931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d3b6e"/>
                </a:solidFill>
                <a:latin typeface="Consolas"/>
                <a:ea typeface="Consolas"/>
              </a:rPr>
              <a:t>--- Order Summary ---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d3b6e"/>
                </a:solidFill>
                <a:latin typeface="Consolas"/>
                <a:ea typeface="Consolas"/>
              </a:rPr>
              <a:t>Item:  Coffee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d3b6e"/>
                </a:solidFill>
                <a:latin typeface="Consolas"/>
                <a:ea typeface="Consolas"/>
              </a:rPr>
              <a:t>Price: $4.50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d3b6e"/>
                </a:solidFill>
                <a:latin typeface="Consolas"/>
                <a:ea typeface="Consolas"/>
              </a:rPr>
              <a:t>Tax:   $0.45</a:t>
            </a:r>
            <a:endParaRPr b="0" lang="en-IN" sz="11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0d3b6e"/>
                </a:solidFill>
                <a:latin typeface="Consolas"/>
                <a:ea typeface="Consolas"/>
              </a:rPr>
              <a:t>Total: $4.95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2" name="Shape 12"/>
          <p:cNvSpPr/>
          <p:nvPr/>
        </p:nvSpPr>
        <p:spPr>
          <a:xfrm>
            <a:off x="4754880" y="3493080"/>
            <a:ext cx="4114440" cy="1398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3" name="Shape 13"/>
          <p:cNvSpPr/>
          <p:nvPr/>
        </p:nvSpPr>
        <p:spPr>
          <a:xfrm>
            <a:off x="4754880" y="3493080"/>
            <a:ext cx="4114440" cy="365400"/>
          </a:xfrm>
          <a:prstGeom prst="rect">
            <a:avLst/>
          </a:prstGeom>
          <a:solidFill>
            <a:srgbClr val="0069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4"/>
          <p:cNvSpPr/>
          <p:nvPr/>
        </p:nvSpPr>
        <p:spPr>
          <a:xfrm>
            <a:off x="4846320" y="3511440"/>
            <a:ext cx="39315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Key Rules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4846320" y="3931920"/>
            <a:ext cx="136800" cy="1368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16"/>
          <p:cNvSpPr/>
          <p:nvPr/>
        </p:nvSpPr>
        <p:spPr>
          <a:xfrm>
            <a:off x="5074920" y="39045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Inner function can READ outer variables (enclosing scope)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7" name="Shape 17"/>
          <p:cNvSpPr/>
          <p:nvPr/>
        </p:nvSpPr>
        <p:spPr>
          <a:xfrm>
            <a:off x="4846320" y="4233600"/>
            <a:ext cx="136800" cy="1368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18"/>
          <p:cNvSpPr/>
          <p:nvPr/>
        </p:nvSpPr>
        <p:spPr>
          <a:xfrm>
            <a:off x="5074920" y="42062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It cannot MODIFY outer variables (without 'nonlocal')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9" name="Shape 19"/>
          <p:cNvSpPr/>
          <p:nvPr/>
        </p:nvSpPr>
        <p:spPr>
          <a:xfrm>
            <a:off x="4846320" y="4535280"/>
            <a:ext cx="136800" cy="1368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0"/>
          <p:cNvSpPr/>
          <p:nvPr/>
        </p:nvSpPr>
        <p:spPr>
          <a:xfrm>
            <a:off x="5074920" y="45079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a5568"/>
                </a:solidFill>
                <a:latin typeface="Calibri"/>
                <a:ea typeface="Calibri"/>
              </a:rPr>
              <a:t>It is only visible inside the outer function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300" spc="-1" strike="noStrike">
                <a:solidFill>
                  <a:srgbClr val="ffffff"/>
                </a:solidFill>
                <a:latin typeface="Calibri"/>
                <a:ea typeface="Calibri"/>
              </a:rPr>
              <a:t>Inner Function Variable Scope — Visual Breakdown</a:t>
            </a:r>
            <a:endParaRPr b="0" lang="en-IN" sz="2300" spc="-1" strike="noStrike"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274320" y="914400"/>
            <a:ext cx="4205880" cy="3977280"/>
          </a:xfrm>
          <a:prstGeom prst="rect">
            <a:avLst/>
          </a:prstGeom>
          <a:solidFill>
            <a:srgbClr val="e3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3"/>
          <p:cNvSpPr/>
          <p:nvPr/>
        </p:nvSpPr>
        <p:spPr>
          <a:xfrm>
            <a:off x="411480" y="96012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565c0"/>
                </a:solidFill>
                <a:latin typeface="Calibri"/>
                <a:ea typeface="Calibri"/>
              </a:rPr>
              <a:t>🌍 </a:t>
            </a:r>
            <a:r>
              <a:rPr b="1" lang="en-US" sz="1200" spc="-1" strike="noStrike">
                <a:solidFill>
                  <a:srgbClr val="1565c0"/>
                </a:solidFill>
                <a:latin typeface="Calibri"/>
                <a:ea typeface="Calibri"/>
              </a:rPr>
              <a:t>Global Scope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502920" y="12985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565c0"/>
                </a:solidFill>
                <a:latin typeface="Consolas"/>
                <a:ea typeface="Consolas"/>
              </a:rPr>
              <a:t>tax_rate = 0.18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6" name="Shape 5"/>
          <p:cNvSpPr/>
          <p:nvPr/>
        </p:nvSpPr>
        <p:spPr>
          <a:xfrm>
            <a:off x="502920" y="1627560"/>
            <a:ext cx="3748680" cy="3062880"/>
          </a:xfrm>
          <a:prstGeom prst="rect">
            <a:avLst/>
          </a:prstGeom>
          <a:solidFill>
            <a:srgbClr val="e8f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6"/>
          <p:cNvSpPr/>
          <p:nvPr/>
        </p:nvSpPr>
        <p:spPr>
          <a:xfrm>
            <a:off x="594360" y="167328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2e7d32"/>
                </a:solidFill>
                <a:latin typeface="Calibri"/>
                <a:ea typeface="Calibri"/>
              </a:rPr>
              <a:t>🏠 </a:t>
            </a:r>
            <a:r>
              <a:rPr b="1" lang="en-US" sz="1150" spc="-1" strike="noStrike">
                <a:solidFill>
                  <a:srgbClr val="2e7d32"/>
                </a:solidFill>
                <a:latin typeface="Calibri"/>
                <a:ea typeface="Calibri"/>
              </a:rPr>
              <a:t>Enclosing Scope (calc_price)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685800" y="2011680"/>
            <a:ext cx="25599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base = 100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e7d32"/>
                </a:solidFill>
                <a:latin typeface="Consolas"/>
                <a:ea typeface="Consolas"/>
              </a:rPr>
              <a:t>discount = 10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777240" y="2523600"/>
            <a:ext cx="3291480" cy="2057040"/>
          </a:xfrm>
          <a:prstGeom prst="rect">
            <a:avLst/>
          </a:prstGeom>
          <a:solidFill>
            <a:srgbClr val="fff3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9"/>
          <p:cNvSpPr/>
          <p:nvPr/>
        </p:nvSpPr>
        <p:spPr>
          <a:xfrm>
            <a:off x="868680" y="25693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e65100"/>
                </a:solidFill>
                <a:latin typeface="Calibri"/>
                <a:ea typeface="Calibri"/>
              </a:rPr>
              <a:t>📦 </a:t>
            </a:r>
            <a:r>
              <a:rPr b="1" lang="en-US" sz="1100" spc="-1" strike="noStrike">
                <a:solidFill>
                  <a:srgbClr val="e65100"/>
                </a:solidFill>
                <a:latin typeface="Calibri"/>
                <a:ea typeface="Calibri"/>
              </a:rPr>
              <a:t>Local Scope (apply_tax)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868680" y="2926080"/>
            <a:ext cx="310860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bf360c"/>
                </a:solidFill>
                <a:latin typeface="Consolas"/>
                <a:ea typeface="Consolas"/>
              </a:rPr>
              <a:t># CAN read: base, discount, tax_rate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bf360c"/>
                </a:solidFill>
                <a:latin typeface="Consolas"/>
                <a:ea typeface="Consolas"/>
              </a:rPr>
              <a:t>final = (base - discount) * (1 + tax_rate)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bf360c"/>
                </a:solidFill>
                <a:latin typeface="Consolas"/>
                <a:ea typeface="Consolas"/>
              </a:rPr>
              <a:t># final is LOCAL only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822960" y="3520440"/>
            <a:ext cx="3200040" cy="822600"/>
          </a:xfrm>
          <a:prstGeom prst="rect">
            <a:avLst/>
          </a:prstGeom>
          <a:solidFill>
            <a:srgbClr val="ffccb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12"/>
          <p:cNvSpPr/>
          <p:nvPr/>
        </p:nvSpPr>
        <p:spPr>
          <a:xfrm>
            <a:off x="914400" y="356616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bf360c"/>
                </a:solidFill>
                <a:latin typeface="Calibri"/>
                <a:ea typeface="Calibri"/>
              </a:rPr>
              <a:t>⚠️ </a:t>
            </a:r>
            <a:r>
              <a:rPr b="0" lang="en-US" sz="1000" spc="-1" strike="noStrike">
                <a:solidFill>
                  <a:srgbClr val="bf360c"/>
                </a:solidFill>
                <a:latin typeface="Calibri"/>
                <a:ea typeface="Calibri"/>
              </a:rPr>
              <a:t>If apply_tax tries: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bf360c"/>
                </a:solidFill>
                <a:latin typeface="Calibri"/>
                <a:ea typeface="Calibri"/>
              </a:rPr>
              <a:t>  </a:t>
            </a:r>
            <a:r>
              <a:rPr b="0" lang="en-US" sz="1000" spc="-1" strike="noStrike">
                <a:solidFill>
                  <a:srgbClr val="bf360c"/>
                </a:solidFill>
                <a:latin typeface="Calibri"/>
                <a:ea typeface="Calibri"/>
              </a:rPr>
              <a:t>base = 50  → creates NEW local, doesn't affect outer's base!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Shape 13"/>
          <p:cNvSpPr/>
          <p:nvPr/>
        </p:nvSpPr>
        <p:spPr>
          <a:xfrm>
            <a:off x="4846320" y="914400"/>
            <a:ext cx="4023000" cy="3977280"/>
          </a:xfrm>
          <a:prstGeom prst="rect">
            <a:avLst/>
          </a:prstGeom>
          <a:solidFill>
            <a:srgbClr val="0d2137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5" name="Text 14"/>
          <p:cNvSpPr/>
          <p:nvPr/>
        </p:nvSpPr>
        <p:spPr>
          <a:xfrm>
            <a:off x="4937760" y="9327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77f00"/>
                </a:solidFill>
                <a:latin typeface="Calibri"/>
                <a:ea typeface="Calibri"/>
              </a:rPr>
              <a:t>Full Code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4937760" y="1325880"/>
            <a:ext cx="3840120" cy="347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tax_rate = 0.18   # global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def calc_price():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base = 100        # enclosing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discount = 10     # enclosing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def apply_tax():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# reads from enclosing + global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after_disc = base - discount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final = after_disc * (1 + tax_rate)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print(f'After discount: {after_disc}')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print(f'Final price:    {final:.2f}')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    </a:t>
            </a: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apply_tax()  # call inner fn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calc_price()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# Output: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# After discount: 90</a:t>
            </a:r>
            <a:endParaRPr b="0" lang="en-IN" sz="102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20" spc="-1" strike="noStrike">
                <a:solidFill>
                  <a:srgbClr val="7fffd4"/>
                </a:solidFill>
                <a:latin typeface="Consolas"/>
                <a:ea typeface="Consolas"/>
              </a:rPr>
              <a:t># Final price:    106.20</a:t>
            </a:r>
            <a:endParaRPr b="0" lang="en-IN" sz="102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"/>
          <p:cNvSpPr/>
          <p:nvPr/>
        </p:nvSpPr>
        <p:spPr>
          <a:xfrm>
            <a:off x="274320" y="91440"/>
            <a:ext cx="8595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0d1b2a"/>
                </a:solidFill>
                <a:latin typeface="Calibri"/>
                <a:ea typeface="Calibri"/>
              </a:rPr>
              <a:t>Part 2 — Key Takeaways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9" name="Shape 2"/>
          <p:cNvSpPr/>
          <p:nvPr/>
        </p:nvSpPr>
        <p:spPr>
          <a:xfrm>
            <a:off x="274320" y="960120"/>
            <a:ext cx="4160160" cy="1170000"/>
          </a:xfrm>
          <a:prstGeom prst="rect">
            <a:avLst/>
          </a:prstGeom>
          <a:solidFill>
            <a:srgbClr val="0d2a3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0" name="Shape 3"/>
          <p:cNvSpPr/>
          <p:nvPr/>
        </p:nvSpPr>
        <p:spPr>
          <a:xfrm>
            <a:off x="274320" y="960120"/>
            <a:ext cx="63720" cy="1170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4"/>
          <p:cNvSpPr/>
          <p:nvPr/>
        </p:nvSpPr>
        <p:spPr>
          <a:xfrm>
            <a:off x="457200" y="10515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🔍 </a:t>
            </a:r>
            <a:r>
              <a:rPr b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globals( 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457200" y="141732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ac8dd"/>
                </a:solidFill>
                <a:latin typeface="Calibri"/>
                <a:ea typeface="Calibri"/>
              </a:rPr>
              <a:t>Returns a dict of all global identifiers. Same as locals() at module scope.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274320" y="2258640"/>
            <a:ext cx="4160160" cy="1170000"/>
          </a:xfrm>
          <a:prstGeom prst="rect">
            <a:avLst/>
          </a:prstGeom>
          <a:solidFill>
            <a:srgbClr val="0d2a3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4" name="Shape 7"/>
          <p:cNvSpPr/>
          <p:nvPr/>
        </p:nvSpPr>
        <p:spPr>
          <a:xfrm>
            <a:off x="274320" y="2258640"/>
            <a:ext cx="63720" cy="1170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8"/>
          <p:cNvSpPr/>
          <p:nvPr/>
        </p:nvSpPr>
        <p:spPr>
          <a:xfrm>
            <a:off x="457200" y="23500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📍 </a:t>
            </a:r>
            <a:r>
              <a:rPr b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locals( 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457200" y="271584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ac8dd"/>
                </a:solidFill>
                <a:latin typeface="Calibri"/>
                <a:ea typeface="Calibri"/>
              </a:rPr>
              <a:t>Returns a dict of local identifiers. Inside a function, shows only local vars.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7" name="Shape 10"/>
          <p:cNvSpPr/>
          <p:nvPr/>
        </p:nvSpPr>
        <p:spPr>
          <a:xfrm>
            <a:off x="274320" y="3557160"/>
            <a:ext cx="4160160" cy="1170000"/>
          </a:xfrm>
          <a:prstGeom prst="rect">
            <a:avLst/>
          </a:prstGeom>
          <a:solidFill>
            <a:srgbClr val="0d2a3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8" name="Shape 11"/>
          <p:cNvSpPr/>
          <p:nvPr/>
        </p:nvSpPr>
        <p:spPr>
          <a:xfrm>
            <a:off x="274320" y="3557160"/>
            <a:ext cx="63720" cy="1170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12"/>
          <p:cNvSpPr/>
          <p:nvPr/>
        </p:nvSpPr>
        <p:spPr>
          <a:xfrm>
            <a:off x="457200" y="36486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⚡ </a:t>
            </a:r>
            <a:r>
              <a:rPr b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Dynamic Access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457200" y="401436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ac8dd"/>
                </a:solidFill>
                <a:latin typeface="Calibri"/>
                <a:ea typeface="Calibri"/>
              </a:rPr>
              <a:t>globals()['var_name'] lets you access or call any identifier using a string — powerful for loops and meta-programming.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1" name="Shape 14"/>
          <p:cNvSpPr/>
          <p:nvPr/>
        </p:nvSpPr>
        <p:spPr>
          <a:xfrm>
            <a:off x="4709160" y="960120"/>
            <a:ext cx="4160160" cy="1170000"/>
          </a:xfrm>
          <a:prstGeom prst="rect">
            <a:avLst/>
          </a:prstGeom>
          <a:solidFill>
            <a:srgbClr val="0d2a3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Shape 15"/>
          <p:cNvSpPr/>
          <p:nvPr/>
        </p:nvSpPr>
        <p:spPr>
          <a:xfrm>
            <a:off x="4709160" y="960120"/>
            <a:ext cx="63720" cy="1170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16"/>
          <p:cNvSpPr/>
          <p:nvPr/>
        </p:nvSpPr>
        <p:spPr>
          <a:xfrm>
            <a:off x="4892040" y="10515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🪆 </a:t>
            </a:r>
            <a:r>
              <a:rPr b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Inner Functions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4" name="Text 17"/>
          <p:cNvSpPr/>
          <p:nvPr/>
        </p:nvSpPr>
        <p:spPr>
          <a:xfrm>
            <a:off x="4892040" y="141732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ac8dd"/>
                </a:solidFill>
                <a:latin typeface="Calibri"/>
                <a:ea typeface="Calibri"/>
              </a:rPr>
              <a:t>A function defined inside another function. Encapsulated — only callable from the outer function.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5" name="Shape 18"/>
          <p:cNvSpPr/>
          <p:nvPr/>
        </p:nvSpPr>
        <p:spPr>
          <a:xfrm>
            <a:off x="4709160" y="2258640"/>
            <a:ext cx="4160160" cy="1170000"/>
          </a:xfrm>
          <a:prstGeom prst="rect">
            <a:avLst/>
          </a:prstGeom>
          <a:solidFill>
            <a:srgbClr val="0d2a3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Shape 19"/>
          <p:cNvSpPr/>
          <p:nvPr/>
        </p:nvSpPr>
        <p:spPr>
          <a:xfrm>
            <a:off x="4709160" y="2258640"/>
            <a:ext cx="63720" cy="1170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20"/>
          <p:cNvSpPr/>
          <p:nvPr/>
        </p:nvSpPr>
        <p:spPr>
          <a:xfrm>
            <a:off x="4892040" y="235008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👁️ </a:t>
            </a:r>
            <a:r>
              <a:rPr b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Enclosing Scope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8" name="Text 21"/>
          <p:cNvSpPr/>
          <p:nvPr/>
        </p:nvSpPr>
        <p:spPr>
          <a:xfrm>
            <a:off x="4892040" y="271584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ac8dd"/>
                </a:solidFill>
                <a:latin typeface="Calibri"/>
                <a:ea typeface="Calibri"/>
              </a:rPr>
              <a:t>Inner functions can READ variables from the outer function (enclosing scope), but cannot modify them by default.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9" name="Shape 22"/>
          <p:cNvSpPr/>
          <p:nvPr/>
        </p:nvSpPr>
        <p:spPr>
          <a:xfrm>
            <a:off x="4709160" y="3557160"/>
            <a:ext cx="4160160" cy="1170000"/>
          </a:xfrm>
          <a:prstGeom prst="rect">
            <a:avLst/>
          </a:prstGeom>
          <a:solidFill>
            <a:srgbClr val="0d2a3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0" name="Shape 23"/>
          <p:cNvSpPr/>
          <p:nvPr/>
        </p:nvSpPr>
        <p:spPr>
          <a:xfrm>
            <a:off x="4709160" y="3557160"/>
            <a:ext cx="63720" cy="117000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24"/>
          <p:cNvSpPr/>
          <p:nvPr/>
        </p:nvSpPr>
        <p:spPr>
          <a:xfrm>
            <a:off x="4892040" y="364860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🔒 </a:t>
            </a:r>
            <a:r>
              <a:rPr b="1" lang="en-US" sz="1400" spc="-1" strike="noStrike">
                <a:solidFill>
                  <a:srgbClr val="90e0ef"/>
                </a:solidFill>
                <a:latin typeface="Calibri"/>
                <a:ea typeface="Calibri"/>
              </a:rPr>
              <a:t>Encapsulation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2" name="Text 25"/>
          <p:cNvSpPr/>
          <p:nvPr/>
        </p:nvSpPr>
        <p:spPr>
          <a:xfrm>
            <a:off x="4892040" y="4014360"/>
            <a:ext cx="3840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ac8dd"/>
                </a:solidFill>
                <a:latin typeface="Calibri"/>
                <a:ea typeface="Calibri"/>
              </a:rPr>
              <a:t>Use inner functions to hide helper logic, keeping the outer function's interface clean.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2026-03-08T03:53:00Z</dcterms:created>
  <dc:creator>PptxGenJS</dc:creator>
  <dc:description/>
  <dc:language>en-IN</dc:language>
  <cp:lastModifiedBy>PptxGenJS</cp:lastModifiedBy>
  <dcterms:modified xsi:type="dcterms:W3CDTF">2026-03-08T03:53:00Z</dcterms:modified>
  <cp:revision>1</cp:revision>
  <dc:subject>PptxGenJS Presentation</dc:subject>
  <dc:title>Python Namespaces - Part 2: globals() locals() &amp; Inner Functions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