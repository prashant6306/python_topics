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slide16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D161727-F589-414B-B515-24CC235B73A3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6D22E9-348A-4020-BCD8-1E04E504484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DDE2D6-A82F-4E0B-817E-A26579DFD08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1BF9F7C-2567-4D66-B0A7-C0AC21A88B7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730A81-5618-4CDA-B61A-974B3170391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3EDE3D-B11B-494C-8E0B-FAC8EAEF18A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F5C4AB-BABC-4163-9EA6-6B45BA7CEAA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2DFF28-0865-4F97-ACAF-BC144D4E70F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3E0051-844F-49A8-9D96-A28EAAFE4C9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40425E4-98DD-4319-8893-19F3F53820F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8F6BB3-FCDA-4824-B6F6-D411D8C7115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B4FB70-F675-47E0-A5B3-CA7C7EBAEED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CFA05C-DB2B-43A3-8ED2-3B166D9C7D2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1639ECE-443A-494E-A6FC-8FFB48258E1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BF156B-E7FE-46A2-8F3F-1A63216FCBF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D85DC9-6130-40EA-BD81-1CD52B0877D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38B2A8-1991-4213-9A61-2060C5E831B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C4CEFB-ECB6-430B-925F-D92DBBC00BD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30C8094-56A2-406C-AC5A-B8967A5EA9F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C0B524-7327-4064-964D-D1E1D042FF6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26E08E-3D19-41B6-9190-7FE154B19F9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FC43C9-30F2-44B4-9CAD-A7A45189F7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5B0B41-F7A5-4648-BE25-5C997BD61D3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EF2F81-B90C-488E-A5E6-DA3D57982D3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64DCF58-A302-4E5D-A977-EE61D56D156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5B9C34E-C69A-4847-B3AF-91C31B7402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7910378-5BD1-4EB7-9A5E-0B389C1E145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2560" cy="7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5943600" y="-457200"/>
            <a:ext cx="4570560" cy="4570560"/>
          </a:xfrm>
          <a:prstGeom prst="ellipse">
            <a:avLst/>
          </a:prstGeom>
          <a:solidFill>
            <a:srgbClr val="0f3460">
              <a:alpha val="60000"/>
            </a:srgbClr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6858000" y="457200"/>
            <a:ext cx="2741760" cy="274176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548640" y="914400"/>
            <a:ext cx="7770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OOP in Python — Part 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548640" y="1463040"/>
            <a:ext cx="777096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Class Relationships,</a:t>
            </a:r>
            <a:endParaRPr b="0" lang="en-IN" sz="4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Aggregation &amp; Inheritance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548640" y="3108960"/>
            <a:ext cx="109584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548640" y="3291840"/>
            <a:ext cx="7313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90e0ef"/>
                </a:solidFill>
                <a:latin typeface="Calibri"/>
                <a:ea typeface="Calibri"/>
              </a:rPr>
              <a:t>Comprehensive Study Notes — Part 1 of 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0" y="4937760"/>
            <a:ext cx="9142560" cy="204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365760" y="4956120"/>
            <a:ext cx="82281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alibri"/>
                <a:ea typeface="Calibri"/>
              </a:rPr>
              <a:t>Class Relationships · Aggregation · Inheritance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Class Relationships in OOP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3"/>
          <p:cNvSpPr/>
          <p:nvPr/>
        </p:nvSpPr>
        <p:spPr>
          <a:xfrm>
            <a:off x="365760" y="914400"/>
            <a:ext cx="4021920" cy="12787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Shape 4"/>
          <p:cNvSpPr/>
          <p:nvPr/>
        </p:nvSpPr>
        <p:spPr>
          <a:xfrm>
            <a:off x="365760" y="914400"/>
            <a:ext cx="108360" cy="127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5"/>
          <p:cNvSpPr/>
          <p:nvPr/>
        </p:nvSpPr>
        <p:spPr>
          <a:xfrm>
            <a:off x="567000" y="1024200"/>
            <a:ext cx="37292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Real-world Context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567000" y="1280160"/>
            <a:ext cx="37292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In any application (e-commerce, social media, etc.), multiple classes exist and must communicate with each other.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365760" y="2377440"/>
            <a:ext cx="4021920" cy="137016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8"/>
          <p:cNvSpPr/>
          <p:nvPr/>
        </p:nvSpPr>
        <p:spPr>
          <a:xfrm>
            <a:off x="548640" y="2468880"/>
            <a:ext cx="3656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1. AGGREGATION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548640" y="2788920"/>
            <a:ext cx="36561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HAS-A Relationship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One class owns another class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4754880" y="2377440"/>
            <a:ext cx="4021920" cy="1370160"/>
          </a:xfrm>
          <a:prstGeom prst="rect">
            <a:avLst/>
          </a:prstGeom>
          <a:solidFill>
            <a:srgbClr val="0f3460"/>
          </a:solidFill>
          <a:ln w="1905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1"/>
          <p:cNvSpPr/>
          <p:nvPr/>
        </p:nvSpPr>
        <p:spPr>
          <a:xfrm>
            <a:off x="4937760" y="2468880"/>
            <a:ext cx="3656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d166"/>
                </a:solidFill>
                <a:latin typeface="Calibri"/>
                <a:ea typeface="Calibri"/>
              </a:rPr>
              <a:t>2. INHERITANCE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4937760" y="2788920"/>
            <a:ext cx="36561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IS-A Relationship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One class extends another class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4754880" y="914400"/>
            <a:ext cx="4021920" cy="12787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Shape 14"/>
          <p:cNvSpPr/>
          <p:nvPr/>
        </p:nvSpPr>
        <p:spPr>
          <a:xfrm>
            <a:off x="4754880" y="914400"/>
            <a:ext cx="108360" cy="1278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5"/>
          <p:cNvSpPr/>
          <p:nvPr/>
        </p:nvSpPr>
        <p:spPr>
          <a:xfrm>
            <a:off x="4956120" y="1024200"/>
            <a:ext cx="37292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d166"/>
                </a:solidFill>
                <a:latin typeface="Calibri"/>
                <a:ea typeface="Calibri"/>
              </a:rPr>
              <a:t>Example: Swiggy-like App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4956120" y="1280160"/>
            <a:ext cx="37292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User  ·  Restaurant  ·  Payment  ·  Delivery  — all these classes need to interact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227160" cy="5142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1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2"/>
          <p:cNvSpPr/>
          <p:nvPr/>
        </p:nvSpPr>
        <p:spPr>
          <a:xfrm>
            <a:off x="548640" y="1097280"/>
            <a:ext cx="7770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e0ef"/>
                </a:solidFill>
                <a:latin typeface="Calibri"/>
                <a:ea typeface="Calibri"/>
              </a:rPr>
              <a:t>Section 01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548640" y="1554480"/>
            <a:ext cx="77709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Aggregation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48640" y="3017520"/>
            <a:ext cx="73137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Calibri"/>
              </a:rPr>
              <a:t>HAS-A Relationship between classes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is Aggregation?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Shape 3"/>
          <p:cNvSpPr/>
          <p:nvPr/>
        </p:nvSpPr>
        <p:spPr>
          <a:xfrm>
            <a:off x="365760" y="914400"/>
            <a:ext cx="8411040" cy="100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Shape 4"/>
          <p:cNvSpPr/>
          <p:nvPr/>
        </p:nvSpPr>
        <p:spPr>
          <a:xfrm>
            <a:off x="365760" y="91440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5"/>
          <p:cNvSpPr/>
          <p:nvPr/>
        </p:nvSpPr>
        <p:spPr>
          <a:xfrm>
            <a:off x="567000" y="1024200"/>
            <a:ext cx="8118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567000" y="1280160"/>
            <a:ext cx="81183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Aggregation is a type of class relationship where one class owns another class as its property.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365760" y="2103120"/>
            <a:ext cx="8411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0b4d8"/>
                </a:solidFill>
                <a:latin typeface="Calibri"/>
                <a:ea typeface="Calibri"/>
              </a:rPr>
              <a:t>Key Examples: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365760" y="2468880"/>
            <a:ext cx="84110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e8f4f8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e8f4f8"/>
                </a:solidFill>
                <a:latin typeface="Calibri"/>
                <a:ea typeface="Calibri"/>
              </a:rPr>
              <a:t>Customer  HAS-A  Address  →  Address is a property of Customer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8f4f8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e8f4f8"/>
                </a:solidFill>
                <a:latin typeface="Calibri"/>
                <a:ea typeface="Calibri"/>
              </a:rPr>
              <a:t>Restaurant  HAS-A  Menu  →  Menu belongs to the Restaurant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8f4f8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e8f4f8"/>
                </a:solidFill>
                <a:latin typeface="Calibri"/>
                <a:ea typeface="Calibri"/>
              </a:rPr>
              <a:t>Order  HAS-A  PaymentDetails  →  Payment info is part of Order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Aggregation — Address &amp; Customer Classes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3"/>
          <p:cNvSpPr/>
          <p:nvPr/>
        </p:nvSpPr>
        <p:spPr>
          <a:xfrm>
            <a:off x="851400" y="822960"/>
            <a:ext cx="4242240" cy="64846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# example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class Customer: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def __init__(self,name,gender,address):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self.name = name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self.gender = gender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self.address = address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def print_address(self):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print(self.address.city,self.address.pin,self.address.state)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def edit_profile(self,new_name,new_city,new_pin,new_state):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self.name = new_name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self.address.edit_address(new_city,new_pin,new_state)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class Address: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def __init__(self,city,pin,state):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self.city = city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self.pin = pin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self.state = state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def get_city(self):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return self.city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def edit_address(self,new_city,new_pin,new_state):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self.city = new_city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self.pin = new_pin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    </a:t>
            </a: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self.state = new_state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add1 = Address('gurgaon',122011,'haryana')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cust = Customer('nitish','male',add1)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cust.print_address()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cust.edit_profile('ankit','mumbai',111111,'maharastra')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eeeeee"/>
                </a:solidFill>
                <a:latin typeface="Arial"/>
              </a:rPr>
              <a:t>cust.print_address()</a:t>
            </a: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88" name="Text 4"/>
          <p:cNvSpPr/>
          <p:nvPr/>
        </p:nvSpPr>
        <p:spPr>
          <a:xfrm>
            <a:off x="502920" y="932760"/>
            <a:ext cx="6516720" cy="39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5"/>
          <p:cNvSpPr/>
          <p:nvPr/>
        </p:nvSpPr>
        <p:spPr>
          <a:xfrm>
            <a:off x="5577840" y="914400"/>
            <a:ext cx="32904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How It Works: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5577840" y="1325880"/>
            <a:ext cx="272880" cy="36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7"/>
          <p:cNvSpPr/>
          <p:nvPr/>
        </p:nvSpPr>
        <p:spPr>
          <a:xfrm>
            <a:off x="5943600" y="1325880"/>
            <a:ext cx="2833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1. Create a Location object (town, postal, region)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5577840" y="1965960"/>
            <a:ext cx="272880" cy="36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9"/>
          <p:cNvSpPr/>
          <p:nvPr/>
        </p:nvSpPr>
        <p:spPr>
          <a:xfrm>
            <a:off x="5943600" y="1965960"/>
            <a:ext cx="2833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2. Pass it as argument while creating Client object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5577840" y="2606040"/>
            <a:ext cx="272880" cy="36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1"/>
          <p:cNvSpPr/>
          <p:nvPr/>
        </p:nvSpPr>
        <p:spPr>
          <a:xfrm>
            <a:off x="5943600" y="2606040"/>
            <a:ext cx="2833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3. Client stores it as self.location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Shape 12"/>
          <p:cNvSpPr/>
          <p:nvPr/>
        </p:nvSpPr>
        <p:spPr>
          <a:xfrm>
            <a:off x="5577840" y="3246120"/>
            <a:ext cx="272880" cy="36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3"/>
          <p:cNvSpPr/>
          <p:nvPr/>
        </p:nvSpPr>
        <p:spPr>
          <a:xfrm>
            <a:off x="5943600" y="3246120"/>
            <a:ext cx="2833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4. Access location data via self.location.town etc.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5578560" y="5143680"/>
            <a:ext cx="3241080" cy="17812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DejaVu Sans"/>
              </a:rPr>
              <a:t>gurgaon 122011 haryana</a:t>
            </a:r>
            <a:endParaRPr b="0" lang="en-IN" sz="1200" spc="-1" strike="noStrike">
              <a:highlight>
                <a:srgbClr val="ffffff"/>
              </a:highlight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DejaVu Sans"/>
              </a:rPr>
              <a:t>mumbai 111111 maharastra</a:t>
            </a:r>
            <a:endParaRPr b="0" lang="en-IN" sz="1200" spc="-1" strike="noStrike"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Private Variables in Aggregation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3"/>
          <p:cNvSpPr/>
          <p:nvPr/>
        </p:nvSpPr>
        <p:spPr>
          <a:xfrm>
            <a:off x="365760" y="868680"/>
            <a:ext cx="8411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90e0ef"/>
                </a:solidFill>
                <a:latin typeface="Calibri"/>
                <a:ea typeface="Calibri"/>
              </a:rPr>
              <a:t>Can the owning class access private attributes of the owned class?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365760" y="1371600"/>
            <a:ext cx="3930480" cy="912960"/>
          </a:xfrm>
          <a:prstGeom prst="rect">
            <a:avLst/>
          </a:prstGeom>
          <a:solidFill>
            <a:srgbClr val="2d1b1b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5"/>
          <p:cNvSpPr/>
          <p:nvPr/>
        </p:nvSpPr>
        <p:spPr>
          <a:xfrm>
            <a:off x="548640" y="1417320"/>
            <a:ext cx="36561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❌ </a:t>
            </a: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NO — Private attributes (double underscore __) are NOT accessible from outside the class, even via aggregation.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5" name="Shape 6"/>
          <p:cNvSpPr/>
          <p:nvPr/>
        </p:nvSpPr>
        <p:spPr>
          <a:xfrm>
            <a:off x="4572000" y="1371600"/>
            <a:ext cx="4204800" cy="912960"/>
          </a:xfrm>
          <a:prstGeom prst="rect">
            <a:avLst/>
          </a:prstGeom>
          <a:solidFill>
            <a:srgbClr val="0d2b1a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7"/>
          <p:cNvSpPr/>
          <p:nvPr/>
        </p:nvSpPr>
        <p:spPr>
          <a:xfrm>
            <a:off x="4754880" y="1417320"/>
            <a:ext cx="38390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✅ </a:t>
            </a: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Solution — Create a getter method in the owned class and access private data through it.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>
            <a:off x="365760" y="2423160"/>
            <a:ext cx="8411040" cy="24674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9"/>
          <p:cNvSpPr/>
          <p:nvPr/>
        </p:nvSpPr>
        <p:spPr>
          <a:xfrm>
            <a:off x="502920" y="2532960"/>
            <a:ext cx="8136720" cy="22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Location: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town, postal, region):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self.__town = town      # private variable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self.postal = postal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self.region = region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get_town(self):         # getter 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return self.__town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Client: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show_location(self):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print(self.location.get_town())   # use getter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print(self.location.postal)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227160" cy="5142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Shape 1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2"/>
          <p:cNvSpPr/>
          <p:nvPr/>
        </p:nvSpPr>
        <p:spPr>
          <a:xfrm>
            <a:off x="548640" y="1097280"/>
            <a:ext cx="7770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e0ef"/>
                </a:solidFill>
                <a:latin typeface="Calibri"/>
                <a:ea typeface="Calibri"/>
              </a:rPr>
              <a:t>Section 02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548640" y="1554480"/>
            <a:ext cx="77709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Inheritance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548640" y="3017520"/>
            <a:ext cx="73137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Calibri"/>
              </a:rPr>
              <a:t>IS-A Relationship — Code Reusability via Parent &amp; Child Classes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is Inheritance?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hape 3"/>
          <p:cNvSpPr/>
          <p:nvPr/>
        </p:nvSpPr>
        <p:spPr>
          <a:xfrm>
            <a:off x="365760" y="914400"/>
            <a:ext cx="8411040" cy="100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Shape 4"/>
          <p:cNvSpPr/>
          <p:nvPr/>
        </p:nvSpPr>
        <p:spPr>
          <a:xfrm>
            <a:off x="365760" y="91440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5"/>
          <p:cNvSpPr/>
          <p:nvPr/>
        </p:nvSpPr>
        <p:spPr>
          <a:xfrm>
            <a:off x="567000" y="1024200"/>
            <a:ext cx="8118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567000" y="1280160"/>
            <a:ext cx="81183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Inheritance allows a child class to acquire the attributes and methods of a parent class — just like a child inherits properties from parents in real life.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365760" y="2103120"/>
            <a:ext cx="2650320" cy="155304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8"/>
          <p:cNvSpPr/>
          <p:nvPr/>
        </p:nvSpPr>
        <p:spPr>
          <a:xfrm>
            <a:off x="502920" y="2240280"/>
            <a:ext cx="2376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0b4d8"/>
                </a:solidFill>
                <a:latin typeface="Calibri"/>
                <a:ea typeface="Calibri"/>
              </a:rPr>
              <a:t>Parent Class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502920" y="2606040"/>
            <a:ext cx="23760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Base Class / Super Class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The one that gives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4" name="Shape 10"/>
          <p:cNvSpPr/>
          <p:nvPr/>
        </p:nvSpPr>
        <p:spPr>
          <a:xfrm>
            <a:off x="3200400" y="2103120"/>
            <a:ext cx="2650320" cy="1553040"/>
          </a:xfrm>
          <a:prstGeom prst="rect">
            <a:avLst/>
          </a:prstGeom>
          <a:solidFill>
            <a:srgbClr val="0f3460"/>
          </a:solidFill>
          <a:ln w="1905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1"/>
          <p:cNvSpPr/>
          <p:nvPr/>
        </p:nvSpPr>
        <p:spPr>
          <a:xfrm>
            <a:off x="3337560" y="2240280"/>
            <a:ext cx="2376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d166"/>
                </a:solidFill>
                <a:latin typeface="Calibri"/>
                <a:ea typeface="Calibri"/>
              </a:rPr>
              <a:t>Child Class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3337560" y="2606040"/>
            <a:ext cx="23760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Derived Class / Sub Class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The one that receives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7" name="Shape 13"/>
          <p:cNvSpPr/>
          <p:nvPr/>
        </p:nvSpPr>
        <p:spPr>
          <a:xfrm>
            <a:off x="6035040" y="2103120"/>
            <a:ext cx="2650320" cy="1553040"/>
          </a:xfrm>
          <a:prstGeom prst="rect">
            <a:avLst/>
          </a:prstGeom>
          <a:solidFill>
            <a:srgbClr val="0f3460"/>
          </a:solidFill>
          <a:ln w="1905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14"/>
          <p:cNvSpPr/>
          <p:nvPr/>
        </p:nvSpPr>
        <p:spPr>
          <a:xfrm>
            <a:off x="6172200" y="2240280"/>
            <a:ext cx="2376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Benefit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9" name="Text 15"/>
          <p:cNvSpPr/>
          <p:nvPr/>
        </p:nvSpPr>
        <p:spPr>
          <a:xfrm>
            <a:off x="6172200" y="2606040"/>
            <a:ext cx="23760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Code Reusability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DRY — Don't Repeat Yourself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567000" y="3950280"/>
            <a:ext cx="8118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d166"/>
                </a:solidFill>
                <a:latin typeface="Calibri"/>
                <a:ea typeface="Calibri"/>
              </a:rPr>
              <a:t>UML Notation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Why Inheritance? — Solving the DRY Violation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"/>
          <p:cNvSpPr/>
          <p:nvPr/>
        </p:nvSpPr>
        <p:spPr>
          <a:xfrm>
            <a:off x="365760" y="914400"/>
            <a:ext cx="4113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❌ </a:t>
            </a: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Without Inheritance — BAD (Violates DRY)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365760" y="1371600"/>
            <a:ext cx="4113360" cy="25588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5"/>
          <p:cNvSpPr/>
          <p:nvPr/>
        </p:nvSpPr>
        <p:spPr>
          <a:xfrm>
            <a:off x="502920" y="1481400"/>
            <a:ext cx="3839040" cy="23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Learner: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login(self): ...     # REPEATED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register(self): ...  # REPEATED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enroll(self):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give_feedback(self):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Mentor: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login(self): ...     # REPEATED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register(self): ...  # REPEATED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create_course(self):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answer_queries(self): ...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4663440" y="914400"/>
            <a:ext cx="4113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With Inheritance — GOOD (DRY followed)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8" name="Shape 7"/>
          <p:cNvSpPr/>
          <p:nvPr/>
        </p:nvSpPr>
        <p:spPr>
          <a:xfrm>
            <a:off x="4663440" y="1371600"/>
            <a:ext cx="4113360" cy="25588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8"/>
          <p:cNvSpPr/>
          <p:nvPr/>
        </p:nvSpPr>
        <p:spPr>
          <a:xfrm>
            <a:off x="4800600" y="1481400"/>
            <a:ext cx="3839040" cy="23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AppUser:              # Parent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login(self):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register(self):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Learner(AppUser):     # Child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enroll(self):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give_feedback(self):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Mentor(AppUser):      # Child 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create_course(self):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answer_queries(self): ...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0" name="Shape 9"/>
          <p:cNvSpPr/>
          <p:nvPr/>
        </p:nvSpPr>
        <p:spPr>
          <a:xfrm>
            <a:off x="365760" y="4069080"/>
            <a:ext cx="8411040" cy="8215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Shape 10"/>
          <p:cNvSpPr/>
          <p:nvPr/>
        </p:nvSpPr>
        <p:spPr>
          <a:xfrm>
            <a:off x="365760" y="4069080"/>
            <a:ext cx="108360" cy="82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1"/>
          <p:cNvSpPr/>
          <p:nvPr/>
        </p:nvSpPr>
        <p:spPr>
          <a:xfrm>
            <a:off x="567000" y="4178880"/>
            <a:ext cx="8118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DRY Principle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567000" y="4434840"/>
            <a:ext cx="8118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Don't Repeat Yourself — login() and register() are written ONCE in AppUser and shared by all child classes.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Inheritance Syntax in Python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Shape 3"/>
          <p:cNvSpPr/>
          <p:nvPr/>
        </p:nvSpPr>
        <p:spPr>
          <a:xfrm>
            <a:off x="365760" y="822960"/>
            <a:ext cx="8411040" cy="31989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4"/>
          <p:cNvSpPr/>
          <p:nvPr/>
        </p:nvSpPr>
        <p:spPr>
          <a:xfrm>
            <a:off x="502920" y="932760"/>
            <a:ext cx="8136720" cy="29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AppUser:                       # Parent Class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username):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self.username = username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login(self):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print(f"{self.username} logged in!")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Learner(AppUser):              # Child inherits from AppUser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roll_num):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self.roll_num = roll_num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enroll(self):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print("Enrolled in course!")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Child object can access parent's methods: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 = Learner(101)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s.enroll()                           # Own 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s.login() → works if parent constructor was called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365760" y="4160520"/>
            <a:ext cx="40219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A Child Class Can Access: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389520" y="4454280"/>
            <a:ext cx="841104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lvl="1" marL="685800" indent="-343080">
              <a:lnSpc>
                <a:spcPct val="100000"/>
              </a:lnSpc>
              <a:buClr>
                <a:srgbClr val="e8f4f8"/>
              </a:buClr>
              <a:buFont typeface="Symbol"/>
              <a:buChar char=""/>
            </a:pPr>
            <a:r>
              <a:rPr b="1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Parent's non-private attributes (instance variables)</a:t>
            </a:r>
            <a:endParaRPr b="0" lang="en-IN" sz="1300" spc="-1" strike="noStrike">
              <a:latin typeface="Arial"/>
            </a:endParaRPr>
          </a:p>
          <a:p>
            <a:pPr lvl="1" marL="685800" indent="-343080">
              <a:lnSpc>
                <a:spcPct val="100000"/>
              </a:lnSpc>
              <a:buClr>
                <a:srgbClr val="e8f4f8"/>
              </a:buClr>
              <a:buFont typeface="Symbol"/>
              <a:buChar char=""/>
            </a:pPr>
            <a:r>
              <a:rPr b="1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Parent's non-private methods</a:t>
            </a:r>
            <a:endParaRPr b="0" lang="en-IN" sz="1300" spc="-1" strike="noStrike">
              <a:latin typeface="Arial"/>
            </a:endParaRPr>
          </a:p>
          <a:p>
            <a:pPr lvl="1" marL="685800" indent="-343080">
              <a:lnSpc>
                <a:spcPct val="100000"/>
              </a:lnSpc>
              <a:buClr>
                <a:srgbClr val="e8f4f8"/>
              </a:buClr>
              <a:buFont typeface="Symbol"/>
              <a:buChar char=""/>
            </a:pPr>
            <a:r>
              <a:rPr b="1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Parent's constructor (under specific conditions)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Does Child Inherit? — Constructor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3"/>
          <p:cNvSpPr/>
          <p:nvPr/>
        </p:nvSpPr>
        <p:spPr>
          <a:xfrm>
            <a:off x="365760" y="868680"/>
            <a:ext cx="8411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d166"/>
                </a:solidFill>
                <a:latin typeface="Calibri"/>
                <a:ea typeface="Calibri"/>
              </a:rPr>
              <a:t>RULE: Python looks for constructor in child first → if not found, uses parent's constructor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365760" y="1417320"/>
            <a:ext cx="40219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Case 1: Child has NO constructor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365760" y="1828800"/>
            <a:ext cx="4113360" cy="22845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6"/>
          <p:cNvSpPr/>
          <p:nvPr/>
        </p:nvSpPr>
        <p:spPr>
          <a:xfrm>
            <a:off x="502920" y="1938600"/>
            <a:ext cx="3839040" cy="20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price, brand):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self.price = price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self.brand = brand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pass              # No constructor here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 = SmartDevice(25000, "Samsung")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print(d.price)        # 25000  ← parent's __init__ used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print(d.brand)        # Samsung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4663440" y="1417320"/>
            <a:ext cx="40219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Case 2: Child HAS its own constructor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4663440" y="1828800"/>
            <a:ext cx="4113360" cy="22845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9"/>
          <p:cNvSpPr/>
          <p:nvPr/>
        </p:nvSpPr>
        <p:spPr>
          <a:xfrm>
            <a:off x="4800600" y="1938600"/>
            <a:ext cx="3839040" cy="20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price, brand):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self.price = price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os, ram):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self.os  = os   # Only this runs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self.ram = ram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 = SmartDevice("Android", 8)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print(d.price)  # ❌ AttributeError!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Device.__init__ was NEVER called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1" name="Shape 10"/>
          <p:cNvSpPr/>
          <p:nvPr/>
        </p:nvSpPr>
        <p:spPr>
          <a:xfrm>
            <a:off x="365760" y="4251960"/>
            <a:ext cx="8453160" cy="786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Shape 11"/>
          <p:cNvSpPr/>
          <p:nvPr/>
        </p:nvSpPr>
        <p:spPr>
          <a:xfrm>
            <a:off x="365760" y="4251960"/>
            <a:ext cx="108360" cy="6386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12"/>
          <p:cNvSpPr/>
          <p:nvPr/>
        </p:nvSpPr>
        <p:spPr>
          <a:xfrm>
            <a:off x="567000" y="4244400"/>
            <a:ext cx="8118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77f00"/>
                </a:solidFill>
                <a:latin typeface="Calibri"/>
                <a:ea typeface="Calibri"/>
              </a:rPr>
              <a:t>Constructor Overriding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567000" y="4500000"/>
            <a:ext cx="81183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When child defines its own constructor, it overrides the parent's constructor — parent's constructor never runs automatically.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super() Keyword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Shape 3"/>
          <p:cNvSpPr/>
          <p:nvPr/>
        </p:nvSpPr>
        <p:spPr>
          <a:xfrm>
            <a:off x="365760" y="868680"/>
            <a:ext cx="8411040" cy="91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9" name="Shape 4"/>
          <p:cNvSpPr/>
          <p:nvPr/>
        </p:nvSpPr>
        <p:spPr>
          <a:xfrm>
            <a:off x="365760" y="868680"/>
            <a:ext cx="108360" cy="91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5"/>
          <p:cNvSpPr/>
          <p:nvPr/>
        </p:nvSpPr>
        <p:spPr>
          <a:xfrm>
            <a:off x="567000" y="978480"/>
            <a:ext cx="8118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Problem &amp; Solution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567000" y="1234440"/>
            <a:ext cx="8118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When child has its own constructor, parent's constructor doesn't run. Use super().__init__() inside child's constructor to explicitly call parent's constructor.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365760" y="1920240"/>
            <a:ext cx="8411040" cy="28332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8"/>
          <p:cNvSpPr/>
          <p:nvPr/>
        </p:nvSpPr>
        <p:spPr>
          <a:xfrm>
            <a:off x="502920" y="2030040"/>
            <a:ext cx="8136720" cy="26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price, brand, camera):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print("Inside Device constructor")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self.price  = price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self.brand  = brand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self.camera = camera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price, brand, camera, os, ram):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print("Inside SmartDevice constructor")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super().__init__(price, brand, camera)  # Call parent's constructor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self.os  = os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self.ram = ram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 = SmartDevice(20000, "OnePlus", 50, "Android", 8)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print(d.price)   # 20000 ← initialized in parent's constructor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print(d.os)      # Android ← initialized in child's constructor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365760" y="4827960"/>
            <a:ext cx="8411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d166"/>
                </a:solidFill>
                <a:latin typeface="Courier New"/>
                <a:ea typeface="Courier New"/>
              </a:rPr>
              <a:t>Output: Inside SmartDevice constructor → Inside Device constructor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super() — Execution Flow Explained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77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3"/>
          <p:cNvSpPr/>
          <p:nvPr/>
        </p:nvSpPr>
        <p:spPr>
          <a:xfrm>
            <a:off x="365760" y="960120"/>
            <a:ext cx="410040" cy="3826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4"/>
          <p:cNvSpPr/>
          <p:nvPr/>
        </p:nvSpPr>
        <p:spPr>
          <a:xfrm>
            <a:off x="365760" y="969120"/>
            <a:ext cx="410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914400" y="978480"/>
            <a:ext cx="7862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SmartDevice object created → enters SmartDevice's constructor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1" name="Shape 6"/>
          <p:cNvSpPr/>
          <p:nvPr/>
        </p:nvSpPr>
        <p:spPr>
          <a:xfrm>
            <a:off x="365760" y="1618560"/>
            <a:ext cx="410040" cy="3826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7"/>
          <p:cNvSpPr/>
          <p:nvPr/>
        </p:nvSpPr>
        <p:spPr>
          <a:xfrm>
            <a:off x="365760" y="1627560"/>
            <a:ext cx="410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3" name="Text 8"/>
          <p:cNvSpPr/>
          <p:nvPr/>
        </p:nvSpPr>
        <p:spPr>
          <a:xfrm>
            <a:off x="914400" y="1636920"/>
            <a:ext cx="7862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Prints: 'Inside SmartDevice constructor'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4" name="Shape 9"/>
          <p:cNvSpPr/>
          <p:nvPr/>
        </p:nvSpPr>
        <p:spPr>
          <a:xfrm>
            <a:off x="365760" y="2277000"/>
            <a:ext cx="410040" cy="3826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10"/>
          <p:cNvSpPr/>
          <p:nvPr/>
        </p:nvSpPr>
        <p:spPr>
          <a:xfrm>
            <a:off x="365760" y="2286000"/>
            <a:ext cx="410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d166"/>
                </a:solidFill>
                <a:latin typeface="Calibri"/>
                <a:ea typeface="Calibri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6" name="Text 11"/>
          <p:cNvSpPr/>
          <p:nvPr/>
        </p:nvSpPr>
        <p:spPr>
          <a:xfrm>
            <a:off x="914400" y="2295000"/>
            <a:ext cx="7862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super().__init__() called → jumps to Device's constructor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7" name="Shape 12"/>
          <p:cNvSpPr/>
          <p:nvPr/>
        </p:nvSpPr>
        <p:spPr>
          <a:xfrm>
            <a:off x="365760" y="2935080"/>
            <a:ext cx="410040" cy="3826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3"/>
          <p:cNvSpPr/>
          <p:nvPr/>
        </p:nvSpPr>
        <p:spPr>
          <a:xfrm>
            <a:off x="365760" y="2944440"/>
            <a:ext cx="410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d166"/>
                </a:solidFill>
                <a:latin typeface="Calibri"/>
                <a:ea typeface="Calibri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9" name="Text 14"/>
          <p:cNvSpPr/>
          <p:nvPr/>
        </p:nvSpPr>
        <p:spPr>
          <a:xfrm>
            <a:off x="914400" y="2953440"/>
            <a:ext cx="7862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Prints: 'Inside Device constructor' → price, brand, camera initialized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0" name="Shape 15"/>
          <p:cNvSpPr/>
          <p:nvPr/>
        </p:nvSpPr>
        <p:spPr>
          <a:xfrm>
            <a:off x="365760" y="3593520"/>
            <a:ext cx="410040" cy="3826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16"/>
          <p:cNvSpPr/>
          <p:nvPr/>
        </p:nvSpPr>
        <p:spPr>
          <a:xfrm>
            <a:off x="365760" y="3602880"/>
            <a:ext cx="410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2" name="Text 17"/>
          <p:cNvSpPr/>
          <p:nvPr/>
        </p:nvSpPr>
        <p:spPr>
          <a:xfrm>
            <a:off x="914400" y="3611880"/>
            <a:ext cx="7862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Returns to SmartDevice constructor → os, ram initialized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3" name="Shape 18"/>
          <p:cNvSpPr/>
          <p:nvPr/>
        </p:nvSpPr>
        <p:spPr>
          <a:xfrm>
            <a:off x="365760" y="4251960"/>
            <a:ext cx="410040" cy="3826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9"/>
          <p:cNvSpPr/>
          <p:nvPr/>
        </p:nvSpPr>
        <p:spPr>
          <a:xfrm>
            <a:off x="365760" y="4260960"/>
            <a:ext cx="410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5" name="Text 20"/>
          <p:cNvSpPr/>
          <p:nvPr/>
        </p:nvSpPr>
        <p:spPr>
          <a:xfrm>
            <a:off x="914400" y="4270320"/>
            <a:ext cx="7862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All attributes (price, brand, camera, os, ram) are now available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6" name="Shape 21"/>
          <p:cNvSpPr/>
          <p:nvPr/>
        </p:nvSpPr>
        <p:spPr>
          <a:xfrm>
            <a:off x="365760" y="4773240"/>
            <a:ext cx="8411040" cy="199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22"/>
          <p:cNvSpPr/>
          <p:nvPr/>
        </p:nvSpPr>
        <p:spPr>
          <a:xfrm>
            <a:off x="457200" y="4773240"/>
            <a:ext cx="82281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0e0ef"/>
                </a:solidFill>
                <a:latin typeface="Calibri"/>
                <a:ea typeface="Calibri"/>
              </a:rPr>
              <a:t>super() can also call parent's regular methods: super().method_name()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super() — Rules &amp; Restrictions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Shape 3"/>
          <p:cNvSpPr/>
          <p:nvPr/>
        </p:nvSpPr>
        <p:spPr>
          <a:xfrm>
            <a:off x="365760" y="932760"/>
            <a:ext cx="8411040" cy="657000"/>
          </a:xfrm>
          <a:prstGeom prst="rect">
            <a:avLst/>
          </a:prstGeom>
          <a:solidFill>
            <a:srgbClr val="0d281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4"/>
          <p:cNvSpPr/>
          <p:nvPr/>
        </p:nvSpPr>
        <p:spPr>
          <a:xfrm>
            <a:off x="548640" y="978480"/>
            <a:ext cx="34732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Used INSIDE the class only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548640" y="1307520"/>
            <a:ext cx="8045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super() cannot be used outside class definitions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4" name="Shape 6"/>
          <p:cNvSpPr/>
          <p:nvPr/>
        </p:nvSpPr>
        <p:spPr>
          <a:xfrm>
            <a:off x="365760" y="1710000"/>
            <a:ext cx="8411040" cy="657000"/>
          </a:xfrm>
          <a:prstGeom prst="rect">
            <a:avLst/>
          </a:prstGeom>
          <a:solidFill>
            <a:srgbClr val="0d281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7"/>
          <p:cNvSpPr/>
          <p:nvPr/>
        </p:nvSpPr>
        <p:spPr>
          <a:xfrm>
            <a:off x="548640" y="1755720"/>
            <a:ext cx="34732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Used inside the CHILD class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6" name="Text 8"/>
          <p:cNvSpPr/>
          <p:nvPr/>
        </p:nvSpPr>
        <p:spPr>
          <a:xfrm>
            <a:off x="548640" y="2084760"/>
            <a:ext cx="8045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Specifically to call parent's methods or constructor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7" name="Shape 9"/>
          <p:cNvSpPr/>
          <p:nvPr/>
        </p:nvSpPr>
        <p:spPr>
          <a:xfrm>
            <a:off x="365760" y="2487240"/>
            <a:ext cx="8411040" cy="657000"/>
          </a:xfrm>
          <a:prstGeom prst="rect">
            <a:avLst/>
          </a:prstGeom>
          <a:solidFill>
            <a:srgbClr val="2d1010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10"/>
          <p:cNvSpPr/>
          <p:nvPr/>
        </p:nvSpPr>
        <p:spPr>
          <a:xfrm>
            <a:off x="548640" y="2532960"/>
            <a:ext cx="34732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❌ </a:t>
            </a: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Cannot access attributes directly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9" name="Text 11"/>
          <p:cNvSpPr/>
          <p:nvPr/>
        </p:nvSpPr>
        <p:spPr>
          <a:xfrm>
            <a:off x="548640" y="2862000"/>
            <a:ext cx="8045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super().price won't work — super() is for methods only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0" name="Shape 12"/>
          <p:cNvSpPr/>
          <p:nvPr/>
        </p:nvSpPr>
        <p:spPr>
          <a:xfrm>
            <a:off x="365760" y="3264480"/>
            <a:ext cx="8411040" cy="657000"/>
          </a:xfrm>
          <a:prstGeom prst="rect">
            <a:avLst/>
          </a:prstGeom>
          <a:solidFill>
            <a:srgbClr val="2d1010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13"/>
          <p:cNvSpPr/>
          <p:nvPr/>
        </p:nvSpPr>
        <p:spPr>
          <a:xfrm>
            <a:off x="548640" y="3310200"/>
            <a:ext cx="34732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❌ </a:t>
            </a: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No self with super()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2" name="Text 14"/>
          <p:cNvSpPr/>
          <p:nvPr/>
        </p:nvSpPr>
        <p:spPr>
          <a:xfrm>
            <a:off x="548640" y="3639240"/>
            <a:ext cx="8045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super() is a built-in function, not an instance — don't use super(self)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3" name="Shape 15"/>
          <p:cNvSpPr/>
          <p:nvPr/>
        </p:nvSpPr>
        <p:spPr>
          <a:xfrm>
            <a:off x="365760" y="4041720"/>
            <a:ext cx="8411040" cy="657000"/>
          </a:xfrm>
          <a:prstGeom prst="rect">
            <a:avLst/>
          </a:prstGeom>
          <a:solidFill>
            <a:srgbClr val="0d281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6"/>
          <p:cNvSpPr/>
          <p:nvPr/>
        </p:nvSpPr>
        <p:spPr>
          <a:xfrm>
            <a:off x="548640" y="4087440"/>
            <a:ext cx="34732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Can call parent's methods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5" name="Text 17"/>
          <p:cNvSpPr/>
          <p:nvPr/>
        </p:nvSpPr>
        <p:spPr>
          <a:xfrm>
            <a:off x="548640" y="4416480"/>
            <a:ext cx="8045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super().buy()  or  super().__init__()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Method Overriding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3"/>
          <p:cNvSpPr/>
          <p:nvPr/>
        </p:nvSpPr>
        <p:spPr>
          <a:xfrm>
            <a:off x="365760" y="868680"/>
            <a:ext cx="8411040" cy="91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0" name="Shape 4"/>
          <p:cNvSpPr/>
          <p:nvPr/>
        </p:nvSpPr>
        <p:spPr>
          <a:xfrm>
            <a:off x="365760" y="868680"/>
            <a:ext cx="108360" cy="91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5"/>
          <p:cNvSpPr/>
          <p:nvPr/>
        </p:nvSpPr>
        <p:spPr>
          <a:xfrm>
            <a:off x="567000" y="978480"/>
            <a:ext cx="8118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567000" y="1234440"/>
            <a:ext cx="8118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When both parent and child class define a method with the same name, the child's version runs when called on the child object. The parent's version is overridden.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365760" y="1874520"/>
            <a:ext cx="84110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d166"/>
                </a:solidFill>
                <a:latin typeface="Calibri"/>
                <a:ea typeface="Calibri"/>
              </a:rPr>
              <a:t>🎯 </a:t>
            </a:r>
            <a:r>
              <a:rPr b="0" i="1" lang="en-US" sz="1300" spc="-1" strike="noStrike">
                <a:solidFill>
                  <a:srgbClr val="ffd166"/>
                </a:solidFill>
                <a:latin typeface="Calibri"/>
                <a:ea typeface="Calibri"/>
              </a:rPr>
              <a:t>Analogy: Just like a child overrides a parent's career wishes with their own — the child's version always wins!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365760" y="2423160"/>
            <a:ext cx="8411040" cy="22845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9"/>
          <p:cNvSpPr/>
          <p:nvPr/>
        </p:nvSpPr>
        <p:spPr>
          <a:xfrm>
            <a:off x="502920" y="2532960"/>
            <a:ext cx="8136720" cy="20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a device")        # Parent's 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a smart device")  # Child's 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 = SmartDevice(20000, "OnePlus", 50)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d.buy()   # OUTPUT: Buying a smart device  ← Child's version runs!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6" name="Shape 10"/>
          <p:cNvSpPr/>
          <p:nvPr/>
        </p:nvSpPr>
        <p:spPr>
          <a:xfrm>
            <a:off x="365760" y="4827960"/>
            <a:ext cx="8411040" cy="181440"/>
          </a:xfrm>
          <a:prstGeom prst="rect">
            <a:avLst/>
          </a:prstGeom>
          <a:solidFill>
            <a:srgbClr val="1a3a1a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11"/>
          <p:cNvSpPr/>
          <p:nvPr/>
        </p:nvSpPr>
        <p:spPr>
          <a:xfrm>
            <a:off x="457200" y="4837320"/>
            <a:ext cx="82281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Python always executes the most specific (child) version of an overridden method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super() with Method Overriding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30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3"/>
          <p:cNvSpPr/>
          <p:nvPr/>
        </p:nvSpPr>
        <p:spPr>
          <a:xfrm>
            <a:off x="365760" y="868680"/>
            <a:ext cx="8453160" cy="3990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4"/>
          <p:cNvSpPr/>
          <p:nvPr/>
        </p:nvSpPr>
        <p:spPr>
          <a:xfrm>
            <a:off x="502920" y="978480"/>
            <a:ext cx="8136720" cy="34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price, brand, camera):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self.price  = price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self.brand  = brand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self.camera = camera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a device")        # Parent's 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price, brand, camera, os, ram):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super().__init__(price, brand, camera)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self.os  = os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self.ram = ram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a smart device")  # Child's 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super().buy()                   # Also calls parent's 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 = SmartDevice(20000, "OnePlus", 50, "Android", 8)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d.buy()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Buying a smart device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Buying a device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3" name="Shape 5"/>
          <p:cNvSpPr/>
          <p:nvPr/>
        </p:nvSpPr>
        <p:spPr>
          <a:xfrm>
            <a:off x="360000" y="5440320"/>
            <a:ext cx="8458920" cy="678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4" name="Shape 6"/>
          <p:cNvSpPr/>
          <p:nvPr/>
        </p:nvSpPr>
        <p:spPr>
          <a:xfrm>
            <a:off x="360000" y="5580000"/>
            <a:ext cx="108360" cy="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7"/>
          <p:cNvSpPr/>
          <p:nvPr/>
        </p:nvSpPr>
        <p:spPr>
          <a:xfrm>
            <a:off x="540000" y="5400000"/>
            <a:ext cx="8118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d166"/>
                </a:solidFill>
                <a:latin typeface="Calibri"/>
                <a:ea typeface="Calibri"/>
              </a:rPr>
              <a:t>Important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6" name="Text 8"/>
          <p:cNvSpPr/>
          <p:nvPr/>
        </p:nvSpPr>
        <p:spPr>
          <a:xfrm>
            <a:off x="340560" y="5580000"/>
            <a:ext cx="811836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6080" bIns="1360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Using super().buy() inside the child's buy() method calls the parent's buy() as well. Both execute in sequence.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227160" cy="5142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1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2"/>
          <p:cNvSpPr/>
          <p:nvPr/>
        </p:nvSpPr>
        <p:spPr>
          <a:xfrm>
            <a:off x="548640" y="1097280"/>
            <a:ext cx="7770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e0ef"/>
                </a:solidFill>
                <a:latin typeface="Calibri"/>
                <a:ea typeface="Calibri"/>
              </a:rPr>
              <a:t>Section 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548640" y="1554480"/>
            <a:ext cx="77709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Types of Inheritance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41" name="Text 4"/>
          <p:cNvSpPr/>
          <p:nvPr/>
        </p:nvSpPr>
        <p:spPr>
          <a:xfrm>
            <a:off x="548640" y="3017520"/>
            <a:ext cx="73137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Calibri"/>
              </a:rPr>
              <a:t>Single · Multi-Level · Hierarchical · Multiple · MRO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5 Types of Inheritance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44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Shape 3"/>
          <p:cNvSpPr/>
          <p:nvPr/>
        </p:nvSpPr>
        <p:spPr>
          <a:xfrm>
            <a:off x="365760" y="914400"/>
            <a:ext cx="4021920" cy="105012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4"/>
          <p:cNvSpPr/>
          <p:nvPr/>
        </p:nvSpPr>
        <p:spPr>
          <a:xfrm>
            <a:off x="530280" y="1005840"/>
            <a:ext cx="3656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b4d8"/>
                </a:solidFill>
                <a:latin typeface="Calibri"/>
                <a:ea typeface="Calibri"/>
              </a:rPr>
              <a:t>Single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47" name="Text 5"/>
          <p:cNvSpPr/>
          <p:nvPr/>
        </p:nvSpPr>
        <p:spPr>
          <a:xfrm>
            <a:off x="530280" y="132588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1 parent → 1 child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8" name="Text 6"/>
          <p:cNvSpPr/>
          <p:nvPr/>
        </p:nvSpPr>
        <p:spPr>
          <a:xfrm>
            <a:off x="530280" y="1600200"/>
            <a:ext cx="3656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Device → SmartDevice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9" name="Shape 7"/>
          <p:cNvSpPr/>
          <p:nvPr/>
        </p:nvSpPr>
        <p:spPr>
          <a:xfrm>
            <a:off x="365760" y="2194560"/>
            <a:ext cx="4021920" cy="1050120"/>
          </a:xfrm>
          <a:prstGeom prst="rect">
            <a:avLst/>
          </a:prstGeom>
          <a:solidFill>
            <a:srgbClr val="0f3460"/>
          </a:solidFill>
          <a:ln w="1905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8"/>
          <p:cNvSpPr/>
          <p:nvPr/>
        </p:nvSpPr>
        <p:spPr>
          <a:xfrm>
            <a:off x="530280" y="2286000"/>
            <a:ext cx="3656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d166"/>
                </a:solidFill>
                <a:latin typeface="Calibri"/>
                <a:ea typeface="Calibri"/>
              </a:rPr>
              <a:t>Multi-Level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1" name="Text 9"/>
          <p:cNvSpPr/>
          <p:nvPr/>
        </p:nvSpPr>
        <p:spPr>
          <a:xfrm>
            <a:off x="530280" y="260604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Chain: A → B → C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2" name="Text 10"/>
          <p:cNvSpPr/>
          <p:nvPr/>
        </p:nvSpPr>
        <p:spPr>
          <a:xfrm>
            <a:off x="530280" y="2880360"/>
            <a:ext cx="3656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Device → SmartDevice → FoldablePhone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3" name="Shape 11"/>
          <p:cNvSpPr/>
          <p:nvPr/>
        </p:nvSpPr>
        <p:spPr>
          <a:xfrm>
            <a:off x="365760" y="3474720"/>
            <a:ext cx="4021920" cy="1050120"/>
          </a:xfrm>
          <a:prstGeom prst="rect">
            <a:avLst/>
          </a:prstGeom>
          <a:solidFill>
            <a:srgbClr val="0f3460"/>
          </a:solidFill>
          <a:ln w="1905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12"/>
          <p:cNvSpPr/>
          <p:nvPr/>
        </p:nvSpPr>
        <p:spPr>
          <a:xfrm>
            <a:off x="530280" y="3566160"/>
            <a:ext cx="3656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d6a0"/>
                </a:solidFill>
                <a:latin typeface="Calibri"/>
                <a:ea typeface="Calibri"/>
              </a:rPr>
              <a:t>Hierarchical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5" name="Text 13"/>
          <p:cNvSpPr/>
          <p:nvPr/>
        </p:nvSpPr>
        <p:spPr>
          <a:xfrm>
            <a:off x="530280" y="388620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1 parent → many children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6" name="Text 14"/>
          <p:cNvSpPr/>
          <p:nvPr/>
        </p:nvSpPr>
        <p:spPr>
          <a:xfrm>
            <a:off x="530280" y="4160520"/>
            <a:ext cx="3656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Device → SmartDevice, FeaturePhone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7" name="Shape 15"/>
          <p:cNvSpPr/>
          <p:nvPr/>
        </p:nvSpPr>
        <p:spPr>
          <a:xfrm>
            <a:off x="4709160" y="914400"/>
            <a:ext cx="4021920" cy="1050120"/>
          </a:xfrm>
          <a:prstGeom prst="rect">
            <a:avLst/>
          </a:prstGeom>
          <a:solidFill>
            <a:srgbClr val="0f3460"/>
          </a:solidFill>
          <a:ln w="1905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16"/>
          <p:cNvSpPr/>
          <p:nvPr/>
        </p:nvSpPr>
        <p:spPr>
          <a:xfrm>
            <a:off x="4873680" y="1005840"/>
            <a:ext cx="3656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77f00"/>
                </a:solidFill>
                <a:latin typeface="Calibri"/>
                <a:ea typeface="Calibri"/>
              </a:rPr>
              <a:t>Multiple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9" name="Text 17"/>
          <p:cNvSpPr/>
          <p:nvPr/>
        </p:nvSpPr>
        <p:spPr>
          <a:xfrm>
            <a:off x="4873680" y="132588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Many parents → 1 child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0" name="Text 18"/>
          <p:cNvSpPr/>
          <p:nvPr/>
        </p:nvSpPr>
        <p:spPr>
          <a:xfrm>
            <a:off x="4873680" y="1600200"/>
            <a:ext cx="3656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(Product, Device) → SmartDevice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1" name="Shape 19"/>
          <p:cNvSpPr/>
          <p:nvPr/>
        </p:nvSpPr>
        <p:spPr>
          <a:xfrm>
            <a:off x="4709160" y="2194560"/>
            <a:ext cx="4021920" cy="1050120"/>
          </a:xfrm>
          <a:prstGeom prst="rect">
            <a:avLst/>
          </a:prstGeom>
          <a:solidFill>
            <a:srgbClr val="0f3460"/>
          </a:solidFill>
          <a:ln w="1905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20"/>
          <p:cNvSpPr/>
          <p:nvPr/>
        </p:nvSpPr>
        <p:spPr>
          <a:xfrm>
            <a:off x="4873680" y="2286000"/>
            <a:ext cx="3656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f233c"/>
                </a:solidFill>
                <a:latin typeface="Calibri"/>
                <a:ea typeface="Calibri"/>
              </a:rPr>
              <a:t>Diamond Problem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63" name="Text 21"/>
          <p:cNvSpPr/>
          <p:nvPr/>
        </p:nvSpPr>
        <p:spPr>
          <a:xfrm>
            <a:off x="4873680" y="260604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MRO resolves ambiguity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4" name="Text 22"/>
          <p:cNvSpPr/>
          <p:nvPr/>
        </p:nvSpPr>
        <p:spPr>
          <a:xfrm>
            <a:off x="4873680" y="2880360"/>
            <a:ext cx="3656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Python: first-listed parent wins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Single &amp; Multi-Level Inheritance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67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3"/>
          <p:cNvSpPr/>
          <p:nvPr/>
        </p:nvSpPr>
        <p:spPr>
          <a:xfrm>
            <a:off x="365760" y="914400"/>
            <a:ext cx="40219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Single Inheritance — 1 parent, 1 child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9" name="Shape 4"/>
          <p:cNvSpPr/>
          <p:nvPr/>
        </p:nvSpPr>
        <p:spPr>
          <a:xfrm>
            <a:off x="365760" y="1371600"/>
            <a:ext cx="4021920" cy="22845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5"/>
          <p:cNvSpPr/>
          <p:nvPr/>
        </p:nvSpPr>
        <p:spPr>
          <a:xfrm>
            <a:off x="502920" y="1481400"/>
            <a:ext cx="3747600" cy="20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 device")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activate_5g(self):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print("5G activated")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sd = SmartDevice(...)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sd.buy()           # Parent's 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sd.activate_5g()   # Own method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1" name="Text 6"/>
          <p:cNvSpPr/>
          <p:nvPr/>
        </p:nvSpPr>
        <p:spPr>
          <a:xfrm>
            <a:off x="4754880" y="914400"/>
            <a:ext cx="4113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d166"/>
                </a:solidFill>
                <a:latin typeface="Calibri"/>
                <a:ea typeface="Calibri"/>
              </a:rPr>
              <a:t>Multi-Level — Chain of inheritance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2" name="Shape 7"/>
          <p:cNvSpPr/>
          <p:nvPr/>
        </p:nvSpPr>
        <p:spPr>
          <a:xfrm>
            <a:off x="4754880" y="1371600"/>
            <a:ext cx="4113360" cy="26503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8"/>
          <p:cNvSpPr/>
          <p:nvPr/>
        </p:nvSpPr>
        <p:spPr>
          <a:xfrm>
            <a:off x="4892040" y="1481400"/>
            <a:ext cx="3839040" cy="24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         # Grandparent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review(self):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print("Reviewing device")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 # Parent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smart device")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FoldablePhone(SmartDevice): # Child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pass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fp = FoldablePhone(...)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fp.buy()     # Parent's 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fp.review()  # Grandparent's method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4" name="Shape 9"/>
          <p:cNvSpPr/>
          <p:nvPr/>
        </p:nvSpPr>
        <p:spPr>
          <a:xfrm>
            <a:off x="365760" y="4160520"/>
            <a:ext cx="8411040" cy="73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5" name="Shape 10"/>
          <p:cNvSpPr/>
          <p:nvPr/>
        </p:nvSpPr>
        <p:spPr>
          <a:xfrm>
            <a:off x="365760" y="4160520"/>
            <a:ext cx="108360" cy="73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11"/>
          <p:cNvSpPr/>
          <p:nvPr/>
        </p:nvSpPr>
        <p:spPr>
          <a:xfrm>
            <a:off x="567000" y="4270320"/>
            <a:ext cx="8118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Multi-Level Key Point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7" name="Text 12"/>
          <p:cNvSpPr/>
          <p:nvPr/>
        </p:nvSpPr>
        <p:spPr>
          <a:xfrm>
            <a:off x="567000" y="4526280"/>
            <a:ext cx="8118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A child class can access methods from its direct parent AND grandparent (and beyond). It searches upward through the chain.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Multiple Inheritance &amp; Method Resolution Order (MRO)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80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3"/>
          <p:cNvSpPr/>
          <p:nvPr/>
        </p:nvSpPr>
        <p:spPr>
          <a:xfrm>
            <a:off x="365760" y="868680"/>
            <a:ext cx="8411040" cy="28332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4"/>
          <p:cNvSpPr/>
          <p:nvPr/>
        </p:nvSpPr>
        <p:spPr>
          <a:xfrm>
            <a:off x="502920" y="978480"/>
            <a:ext cx="8136720" cy="26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Product: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from Product class")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from Device class")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SmartDevice(Product, Device):   # Multiple parents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pass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sd = SmartDevice()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sd.buy()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OUTPUT: Buying from Product class  ← Product listed first!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3" name="Shape 5"/>
          <p:cNvSpPr/>
          <p:nvPr/>
        </p:nvSpPr>
        <p:spPr>
          <a:xfrm>
            <a:off x="365760" y="3794760"/>
            <a:ext cx="4021920" cy="1095840"/>
          </a:xfrm>
          <a:prstGeom prst="rect">
            <a:avLst/>
          </a:prstGeom>
          <a:solidFill>
            <a:srgbClr val="0f3460"/>
          </a:solidFill>
          <a:ln w="1905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6"/>
          <p:cNvSpPr/>
          <p:nvPr/>
        </p:nvSpPr>
        <p:spPr>
          <a:xfrm>
            <a:off x="548640" y="3886200"/>
            <a:ext cx="3656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77f00"/>
                </a:solidFill>
                <a:latin typeface="Calibri"/>
                <a:ea typeface="Calibri"/>
              </a:rPr>
              <a:t>MRO Rule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5" name="Text 7"/>
          <p:cNvSpPr/>
          <p:nvPr/>
        </p:nvSpPr>
        <p:spPr>
          <a:xfrm>
            <a:off x="548640" y="4206240"/>
            <a:ext cx="3656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The FIRST parent listed in brackets takes priority when both have the same method name.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6" name="Shape 8"/>
          <p:cNvSpPr/>
          <p:nvPr/>
        </p:nvSpPr>
        <p:spPr>
          <a:xfrm>
            <a:off x="4754880" y="3794760"/>
            <a:ext cx="4113360" cy="1095840"/>
          </a:xfrm>
          <a:prstGeom prst="rect">
            <a:avLst/>
          </a:prstGeom>
          <a:solidFill>
            <a:srgbClr val="0f3460"/>
          </a:solidFill>
          <a:ln w="1905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9"/>
          <p:cNvSpPr/>
          <p:nvPr/>
        </p:nvSpPr>
        <p:spPr>
          <a:xfrm>
            <a:off x="4937760" y="388620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Diamond Problem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8" name="Text 10"/>
          <p:cNvSpPr/>
          <p:nvPr/>
        </p:nvSpPr>
        <p:spPr>
          <a:xfrm>
            <a:off x="4937760" y="4206240"/>
            <a:ext cx="374760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When two parent classes have same method — ambiguity arises. Java avoids it by not supporting Multiple Inheritance. Python resolves via MRO.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0" y="0"/>
            <a:ext cx="227160" cy="5142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Shape 1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2"/>
          <p:cNvSpPr/>
          <p:nvPr/>
        </p:nvSpPr>
        <p:spPr>
          <a:xfrm>
            <a:off x="548640" y="1097280"/>
            <a:ext cx="7770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e0ef"/>
                </a:solidFill>
                <a:latin typeface="Calibri"/>
                <a:ea typeface="Calibri"/>
              </a:rPr>
              <a:t>Section 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548640" y="1554480"/>
            <a:ext cx="77709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Practice Scenarios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548640" y="3017520"/>
            <a:ext cx="73137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Calibri"/>
              </a:rPr>
              <a:t>Output Prediction &amp; Key Scenarios to Master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Scenario 1 &amp; 2 — Constructor Behavior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6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3"/>
          <p:cNvSpPr/>
          <p:nvPr/>
        </p:nvSpPr>
        <p:spPr>
          <a:xfrm>
            <a:off x="365760" y="914400"/>
            <a:ext cx="40219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Scenario 1: Child has NO constructor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8" name="Shape 4"/>
          <p:cNvSpPr/>
          <p:nvPr/>
        </p:nvSpPr>
        <p:spPr>
          <a:xfrm>
            <a:off x="365760" y="1325880"/>
            <a:ext cx="4021920" cy="2010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5"/>
          <p:cNvSpPr/>
          <p:nvPr/>
        </p:nvSpPr>
        <p:spPr>
          <a:xfrm>
            <a:off x="502920" y="1435680"/>
            <a:ext cx="3747600" cy="179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Parent: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val):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self.val = val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Child(Parent):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pass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 = Child(42)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print(obj.val)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OUTPUT: 42  ← Parent's constructor used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365760" y="3410640"/>
            <a:ext cx="40219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Parent's __init__ runs → obj.val = 42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1" name="Text 7"/>
          <p:cNvSpPr/>
          <p:nvPr/>
        </p:nvSpPr>
        <p:spPr>
          <a:xfrm>
            <a:off x="4663440" y="914400"/>
            <a:ext cx="41133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f233c"/>
                </a:solidFill>
                <a:latin typeface="Calibri"/>
                <a:ea typeface="Calibri"/>
              </a:rPr>
              <a:t>Scenario 2: Child HAS its own constructor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4663440" y="1325880"/>
            <a:ext cx="4113360" cy="2010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9"/>
          <p:cNvSpPr/>
          <p:nvPr/>
        </p:nvSpPr>
        <p:spPr>
          <a:xfrm>
            <a:off x="4800600" y="1435680"/>
            <a:ext cx="3839040" cy="179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Parent: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val):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self.val = val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Child(Parent):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num):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self.num = num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 = Child(42)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print(obj.val)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OUTPUT: AttributeError!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4" name="Text 10"/>
          <p:cNvSpPr/>
          <p:nvPr/>
        </p:nvSpPr>
        <p:spPr>
          <a:xfrm>
            <a:off x="4663440" y="3410640"/>
            <a:ext cx="4113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f233c"/>
                </a:solidFill>
                <a:latin typeface="Calibri"/>
                <a:ea typeface="Calibri"/>
              </a:rPr>
              <a:t>❌ </a:t>
            </a:r>
            <a:r>
              <a:rPr b="0" lang="en-US" sz="1200" spc="-1" strike="noStrike">
                <a:solidFill>
                  <a:srgbClr val="ef233c"/>
                </a:solidFill>
                <a:latin typeface="Calibri"/>
                <a:ea typeface="Calibri"/>
              </a:rPr>
              <a:t>Parent's __init__ never called → obj.val doesn't exist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5" name="Shape 11"/>
          <p:cNvSpPr/>
          <p:nvPr/>
        </p:nvSpPr>
        <p:spPr>
          <a:xfrm>
            <a:off x="365760" y="3822120"/>
            <a:ext cx="8411040" cy="8031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6" name="Shape 12"/>
          <p:cNvSpPr/>
          <p:nvPr/>
        </p:nvSpPr>
        <p:spPr>
          <a:xfrm>
            <a:off x="365760" y="3822120"/>
            <a:ext cx="108360" cy="803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13"/>
          <p:cNvSpPr/>
          <p:nvPr/>
        </p:nvSpPr>
        <p:spPr>
          <a:xfrm>
            <a:off x="567000" y="3931920"/>
            <a:ext cx="8118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Fix for Scenario 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567000" y="4187880"/>
            <a:ext cx="81183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Add super().__init__(val) inside Child's constructor to initialize both parent and child attributes.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Scenario 3 &amp; 4 — super() and Method Overriding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11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3"/>
          <p:cNvSpPr/>
          <p:nvPr/>
        </p:nvSpPr>
        <p:spPr>
          <a:xfrm>
            <a:off x="365760" y="914400"/>
            <a:ext cx="40219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Scenario 3: Using super() in constructor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3" name="Shape 4"/>
          <p:cNvSpPr/>
          <p:nvPr/>
        </p:nvSpPr>
        <p:spPr>
          <a:xfrm>
            <a:off x="365760" y="1325880"/>
            <a:ext cx="4021920" cy="22845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5"/>
          <p:cNvSpPr/>
          <p:nvPr/>
        </p:nvSpPr>
        <p:spPr>
          <a:xfrm>
            <a:off x="502920" y="1435680"/>
            <a:ext cx="3747600" cy="20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Parent: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val):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self.val = val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Child(Parent):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val, num):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super().__init__(val)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self.num = num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 = Child(10, 20)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print(obj.val)   # 10 ← from parent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print(obj.num)   # 20 ← from child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5" name="Text 6"/>
          <p:cNvSpPr/>
          <p:nvPr/>
        </p:nvSpPr>
        <p:spPr>
          <a:xfrm>
            <a:off x="365760" y="3675960"/>
            <a:ext cx="40219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Both constructors run — all attributes initialized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6" name="Text 7"/>
          <p:cNvSpPr/>
          <p:nvPr/>
        </p:nvSpPr>
        <p:spPr>
          <a:xfrm>
            <a:off x="4663440" y="914400"/>
            <a:ext cx="41133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d166"/>
                </a:solidFill>
                <a:latin typeface="Calibri"/>
                <a:ea typeface="Calibri"/>
              </a:rPr>
              <a:t>Scenario 4: Method Overriding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7" name="Shape 8"/>
          <p:cNvSpPr/>
          <p:nvPr/>
        </p:nvSpPr>
        <p:spPr>
          <a:xfrm>
            <a:off x="4663440" y="1325880"/>
            <a:ext cx="4113360" cy="22845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9"/>
          <p:cNvSpPr/>
          <p:nvPr/>
        </p:nvSpPr>
        <p:spPr>
          <a:xfrm>
            <a:off x="4800600" y="1435680"/>
            <a:ext cx="3839040" cy="20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Parent: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greet(self):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print("Hello from Parent")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Child(Parent):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greet(self):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print("Hello from Child")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 = Child()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obj.greet()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OUTPUT: Hello from Child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        ← Child's version runs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9" name="Text 10"/>
          <p:cNvSpPr/>
          <p:nvPr/>
        </p:nvSpPr>
        <p:spPr>
          <a:xfrm>
            <a:off x="4663440" y="3675960"/>
            <a:ext cx="4113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Child's greet() overrides Parent's greet()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0" name="Shape 11"/>
          <p:cNvSpPr/>
          <p:nvPr/>
        </p:nvSpPr>
        <p:spPr>
          <a:xfrm>
            <a:off x="365760" y="4069080"/>
            <a:ext cx="8411040" cy="8031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1" name="Shape 12"/>
          <p:cNvSpPr/>
          <p:nvPr/>
        </p:nvSpPr>
        <p:spPr>
          <a:xfrm>
            <a:off x="365760" y="4069080"/>
            <a:ext cx="108360" cy="803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13"/>
          <p:cNvSpPr/>
          <p:nvPr/>
        </p:nvSpPr>
        <p:spPr>
          <a:xfrm>
            <a:off x="567000" y="4178880"/>
            <a:ext cx="8118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super() in method overriding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3" name="Text 14"/>
          <p:cNvSpPr/>
          <p:nvPr/>
        </p:nvSpPr>
        <p:spPr>
          <a:xfrm>
            <a:off x="567000" y="4434840"/>
            <a:ext cx="81183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Inside Child's overridden method, call super().greet() to execute the parent's version as well.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⚠️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Beware — Infinite Recursion with Method Overriding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6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Shape 3"/>
          <p:cNvSpPr/>
          <p:nvPr/>
        </p:nvSpPr>
        <p:spPr>
          <a:xfrm>
            <a:off x="365760" y="868680"/>
            <a:ext cx="8411040" cy="100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8" name="Shape 4"/>
          <p:cNvSpPr/>
          <p:nvPr/>
        </p:nvSpPr>
        <p:spPr>
          <a:xfrm>
            <a:off x="365760" y="868680"/>
            <a:ext cx="108360" cy="10044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5"/>
          <p:cNvSpPr/>
          <p:nvPr/>
        </p:nvSpPr>
        <p:spPr>
          <a:xfrm>
            <a:off x="567000" y="978480"/>
            <a:ext cx="81183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233c"/>
                </a:solidFill>
                <a:latin typeface="Calibri"/>
                <a:ea typeface="Calibri"/>
              </a:rPr>
              <a:t>Warning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567000" y="1234440"/>
            <a:ext cx="81183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If inside a child's overridden method you call self.method_name() — it calls the child's own version again (not parent). This creates an infinite loop → RecursionError!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1" name="Shape 7"/>
          <p:cNvSpPr/>
          <p:nvPr/>
        </p:nvSpPr>
        <p:spPr>
          <a:xfrm>
            <a:off x="365760" y="2011680"/>
            <a:ext cx="8411040" cy="25588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8"/>
          <p:cNvSpPr/>
          <p:nvPr/>
        </p:nvSpPr>
        <p:spPr>
          <a:xfrm>
            <a:off x="502920" y="2121480"/>
            <a:ext cx="8136720" cy="23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Parent: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m1(self):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print("Parent m1")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Child(Parent):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m1(self):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print("Child m1")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self.m1()    # ❌ WRONG! Calls Child's m1() again (not Parent's)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     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→ Infinite recursion → RecursionError!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 = Child()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obj.m1()  # RecursionError: maximum recursion depth exceeded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3" name="Shape 9"/>
          <p:cNvSpPr/>
          <p:nvPr/>
        </p:nvSpPr>
        <p:spPr>
          <a:xfrm>
            <a:off x="365760" y="4663440"/>
            <a:ext cx="4021920" cy="318600"/>
          </a:xfrm>
          <a:prstGeom prst="rect">
            <a:avLst/>
          </a:prstGeom>
          <a:solidFill>
            <a:srgbClr val="2d1010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10"/>
          <p:cNvSpPr/>
          <p:nvPr/>
        </p:nvSpPr>
        <p:spPr>
          <a:xfrm>
            <a:off x="457200" y="4681800"/>
            <a:ext cx="38390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f233c"/>
                </a:solidFill>
                <a:latin typeface="Courier New"/>
                <a:ea typeface="Courier New"/>
              </a:rPr>
              <a:t>self.m1() → calls Child's m1 → calls self.m1() → ∞ loop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5" name="Shape 11"/>
          <p:cNvSpPr/>
          <p:nvPr/>
        </p:nvSpPr>
        <p:spPr>
          <a:xfrm>
            <a:off x="4754880" y="4663440"/>
            <a:ext cx="4113360" cy="318600"/>
          </a:xfrm>
          <a:prstGeom prst="rect">
            <a:avLst/>
          </a:prstGeom>
          <a:solidFill>
            <a:srgbClr val="0d281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12"/>
          <p:cNvSpPr/>
          <p:nvPr/>
        </p:nvSpPr>
        <p:spPr>
          <a:xfrm>
            <a:off x="4846320" y="4681800"/>
            <a:ext cx="38390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ourier New"/>
                <a:ea typeface="Courier New"/>
              </a:rPr>
              <a:t>Fix: use super().m1() to call Parent's version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0"/>
          <p:cNvSpPr/>
          <p:nvPr/>
        </p:nvSpPr>
        <p:spPr>
          <a:xfrm>
            <a:off x="0" y="0"/>
            <a:ext cx="9142560" cy="5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1"/>
          <p:cNvSpPr/>
          <p:nvPr/>
        </p:nvSpPr>
        <p:spPr>
          <a:xfrm>
            <a:off x="365760" y="16452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Inheritance — Key Takeaways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39" name="Shape 2"/>
          <p:cNvSpPr/>
          <p:nvPr/>
        </p:nvSpPr>
        <p:spPr>
          <a:xfrm>
            <a:off x="365760" y="704160"/>
            <a:ext cx="8411040" cy="2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Shape 3"/>
          <p:cNvSpPr/>
          <p:nvPr/>
        </p:nvSpPr>
        <p:spPr>
          <a:xfrm>
            <a:off x="365760" y="914400"/>
            <a:ext cx="4159080" cy="839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Shape 4"/>
          <p:cNvSpPr/>
          <p:nvPr/>
        </p:nvSpPr>
        <p:spPr>
          <a:xfrm>
            <a:off x="365760" y="914400"/>
            <a:ext cx="108360" cy="839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Text 5"/>
          <p:cNvSpPr/>
          <p:nvPr/>
        </p:nvSpPr>
        <p:spPr>
          <a:xfrm>
            <a:off x="594360" y="960120"/>
            <a:ext cx="376596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Syntax: class Child(Parent): — child gains access to parent's non-private attributes and methods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3" name="Shape 6"/>
          <p:cNvSpPr/>
          <p:nvPr/>
        </p:nvSpPr>
        <p:spPr>
          <a:xfrm>
            <a:off x="365760" y="1920240"/>
            <a:ext cx="4159080" cy="839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Shape 7"/>
          <p:cNvSpPr/>
          <p:nvPr/>
        </p:nvSpPr>
        <p:spPr>
          <a:xfrm>
            <a:off x="365760" y="1920240"/>
            <a:ext cx="108360" cy="839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Text 8"/>
          <p:cNvSpPr/>
          <p:nvPr/>
        </p:nvSpPr>
        <p:spPr>
          <a:xfrm>
            <a:off x="594360" y="1965960"/>
            <a:ext cx="376596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If child has NO constructor → parent's constructor runs automatically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6" name="Shape 9"/>
          <p:cNvSpPr/>
          <p:nvPr/>
        </p:nvSpPr>
        <p:spPr>
          <a:xfrm>
            <a:off x="365760" y="2926080"/>
            <a:ext cx="4159080" cy="839880"/>
          </a:xfrm>
          <a:prstGeom prst="rect">
            <a:avLst/>
          </a:prstGeom>
          <a:solidFill>
            <a:srgbClr val="0f3460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Shape 10"/>
          <p:cNvSpPr/>
          <p:nvPr/>
        </p:nvSpPr>
        <p:spPr>
          <a:xfrm>
            <a:off x="365760" y="2926080"/>
            <a:ext cx="108360" cy="839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Text 11"/>
          <p:cNvSpPr/>
          <p:nvPr/>
        </p:nvSpPr>
        <p:spPr>
          <a:xfrm>
            <a:off x="594360" y="2971800"/>
            <a:ext cx="376596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If child HAS its own constructor → parent's constructor does NOT run (use super())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9" name="Shape 12"/>
          <p:cNvSpPr/>
          <p:nvPr/>
        </p:nvSpPr>
        <p:spPr>
          <a:xfrm>
            <a:off x="365760" y="3931920"/>
            <a:ext cx="4159080" cy="839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Shape 13"/>
          <p:cNvSpPr/>
          <p:nvPr/>
        </p:nvSpPr>
        <p:spPr>
          <a:xfrm>
            <a:off x="365760" y="3931920"/>
            <a:ext cx="108360" cy="839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14"/>
          <p:cNvSpPr/>
          <p:nvPr/>
        </p:nvSpPr>
        <p:spPr>
          <a:xfrm>
            <a:off x="594360" y="3977640"/>
            <a:ext cx="376596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super().__init__() — calls parent's constructor from inside child's constructor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2" name="Shape 15"/>
          <p:cNvSpPr/>
          <p:nvPr/>
        </p:nvSpPr>
        <p:spPr>
          <a:xfrm>
            <a:off x="4800600" y="914400"/>
            <a:ext cx="4159080" cy="839880"/>
          </a:xfrm>
          <a:prstGeom prst="rect">
            <a:avLst/>
          </a:prstGeom>
          <a:solidFill>
            <a:srgbClr val="0f346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Shape 16"/>
          <p:cNvSpPr/>
          <p:nvPr/>
        </p:nvSpPr>
        <p:spPr>
          <a:xfrm>
            <a:off x="4800600" y="914400"/>
            <a:ext cx="108360" cy="8398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Text 17"/>
          <p:cNvSpPr/>
          <p:nvPr/>
        </p:nvSpPr>
        <p:spPr>
          <a:xfrm>
            <a:off x="5029200" y="960120"/>
            <a:ext cx="376596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Method Overriding — child's version of a method runs instead of parent's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5" name="Shape 18"/>
          <p:cNvSpPr/>
          <p:nvPr/>
        </p:nvSpPr>
        <p:spPr>
          <a:xfrm>
            <a:off x="4800600" y="1920240"/>
            <a:ext cx="4159080" cy="839880"/>
          </a:xfrm>
          <a:prstGeom prst="rect">
            <a:avLst/>
          </a:prstGeom>
          <a:solidFill>
            <a:srgbClr val="0f3460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Shape 19"/>
          <p:cNvSpPr/>
          <p:nvPr/>
        </p:nvSpPr>
        <p:spPr>
          <a:xfrm>
            <a:off x="4800600" y="1920240"/>
            <a:ext cx="108360" cy="83988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Text 20"/>
          <p:cNvSpPr/>
          <p:nvPr/>
        </p:nvSpPr>
        <p:spPr>
          <a:xfrm>
            <a:off x="5029200" y="1965960"/>
            <a:ext cx="376596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Inheritance is ONE-WAY — parent cannot access child's data/methods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8" name="Shape 21"/>
          <p:cNvSpPr/>
          <p:nvPr/>
        </p:nvSpPr>
        <p:spPr>
          <a:xfrm>
            <a:off x="4800600" y="2926080"/>
            <a:ext cx="4159080" cy="839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Shape 22"/>
          <p:cNvSpPr/>
          <p:nvPr/>
        </p:nvSpPr>
        <p:spPr>
          <a:xfrm>
            <a:off x="4800600" y="2926080"/>
            <a:ext cx="108360" cy="839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23"/>
          <p:cNvSpPr/>
          <p:nvPr/>
        </p:nvSpPr>
        <p:spPr>
          <a:xfrm>
            <a:off x="5029200" y="2971800"/>
            <a:ext cx="376596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MRO — in Multiple Inheritance, first-listed parent's method takes priority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1" name="Shape 24"/>
          <p:cNvSpPr/>
          <p:nvPr/>
        </p:nvSpPr>
        <p:spPr>
          <a:xfrm>
            <a:off x="4800600" y="3931920"/>
            <a:ext cx="4159080" cy="839880"/>
          </a:xfrm>
          <a:prstGeom prst="rect">
            <a:avLst/>
          </a:prstGeom>
          <a:solidFill>
            <a:srgbClr val="0f3460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Shape 25"/>
          <p:cNvSpPr/>
          <p:nvPr/>
        </p:nvSpPr>
        <p:spPr>
          <a:xfrm>
            <a:off x="4800600" y="3931920"/>
            <a:ext cx="108360" cy="839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26"/>
          <p:cNvSpPr/>
          <p:nvPr/>
        </p:nvSpPr>
        <p:spPr>
          <a:xfrm>
            <a:off x="5029200" y="3977640"/>
            <a:ext cx="376596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Diamond Problem — ambiguity in Multiple Inheritance; Python resolves via MRO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9142560" cy="7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Shape 1"/>
          <p:cNvSpPr/>
          <p:nvPr/>
        </p:nvSpPr>
        <p:spPr>
          <a:xfrm>
            <a:off x="5486400" y="-457200"/>
            <a:ext cx="4570560" cy="4570560"/>
          </a:xfrm>
          <a:prstGeom prst="ellipse">
            <a:avLst/>
          </a:prstGeom>
          <a:solidFill>
            <a:srgbClr val="0f3460">
              <a:alpha val="60000"/>
            </a:srgbClr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Text 2"/>
          <p:cNvSpPr/>
          <p:nvPr/>
        </p:nvSpPr>
        <p:spPr>
          <a:xfrm>
            <a:off x="548640" y="548640"/>
            <a:ext cx="50277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b4d8"/>
                </a:solidFill>
                <a:latin typeface="Calibri"/>
                <a:ea typeface="Calibri"/>
              </a:rPr>
              <a:t>Topics Covered ✅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67" name="Text 3"/>
          <p:cNvSpPr/>
          <p:nvPr/>
        </p:nvSpPr>
        <p:spPr>
          <a:xfrm>
            <a:off x="548640" y="1051560"/>
            <a:ext cx="50277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Aggregation (HAS-A)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548640" y="1554480"/>
            <a:ext cx="50277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Inheritance (IS-A)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9" name="Text 5"/>
          <p:cNvSpPr/>
          <p:nvPr/>
        </p:nvSpPr>
        <p:spPr>
          <a:xfrm>
            <a:off x="548640" y="2057400"/>
            <a:ext cx="50277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super() keyword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70" name="Text 6"/>
          <p:cNvSpPr/>
          <p:nvPr/>
        </p:nvSpPr>
        <p:spPr>
          <a:xfrm>
            <a:off x="548640" y="2560320"/>
            <a:ext cx="50277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Method Overriding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71" name="Text 7"/>
          <p:cNvSpPr/>
          <p:nvPr/>
        </p:nvSpPr>
        <p:spPr>
          <a:xfrm>
            <a:off x="548640" y="3063240"/>
            <a:ext cx="50277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Types of Inheritance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72" name="Text 8"/>
          <p:cNvSpPr/>
          <p:nvPr/>
        </p:nvSpPr>
        <p:spPr>
          <a:xfrm>
            <a:off x="548640" y="3566160"/>
            <a:ext cx="50277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MRO &amp; Diamond Problem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73" name="Text 9"/>
          <p:cNvSpPr/>
          <p:nvPr/>
        </p:nvSpPr>
        <p:spPr>
          <a:xfrm>
            <a:off x="548640" y="3886200"/>
            <a:ext cx="50277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d166"/>
                </a:solidFill>
                <a:latin typeface="Calibri"/>
                <a:ea typeface="Calibri"/>
              </a:rPr>
              <a:t>Up Next — Part 2 🚀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74" name="Text 10"/>
          <p:cNvSpPr/>
          <p:nvPr/>
        </p:nvSpPr>
        <p:spPr>
          <a:xfrm>
            <a:off x="548640" y="4389120"/>
            <a:ext cx="5027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▶ </a:t>
            </a: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Polymorphism (3 types)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5" name="Text 11"/>
          <p:cNvSpPr/>
          <p:nvPr/>
        </p:nvSpPr>
        <p:spPr>
          <a:xfrm>
            <a:off x="548640" y="4572000"/>
            <a:ext cx="5027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▶ </a:t>
            </a: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Method Overloading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6" name="Text 12"/>
          <p:cNvSpPr/>
          <p:nvPr/>
        </p:nvSpPr>
        <p:spPr>
          <a:xfrm>
            <a:off x="548640" y="4754880"/>
            <a:ext cx="5027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▶ </a:t>
            </a: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Operator Overloading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7" name="Text 13"/>
          <p:cNvSpPr/>
          <p:nvPr/>
        </p:nvSpPr>
        <p:spPr>
          <a:xfrm>
            <a:off x="548640" y="4937760"/>
            <a:ext cx="5027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▶ </a:t>
            </a: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Practice Questions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8" name="Shape 14"/>
          <p:cNvSpPr/>
          <p:nvPr/>
        </p:nvSpPr>
        <p:spPr>
          <a:xfrm>
            <a:off x="0" y="4937760"/>
            <a:ext cx="9142560" cy="204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Text 15"/>
          <p:cNvSpPr/>
          <p:nvPr/>
        </p:nvSpPr>
        <p:spPr>
          <a:xfrm>
            <a:off x="365760" y="4956120"/>
            <a:ext cx="82281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alibri"/>
                <a:ea typeface="Calibri"/>
              </a:rPr>
              <a:t>OOP in Python — Part 3 | Notes Part 1 of 2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2026-03-02T09:56:03Z</dcterms:created>
  <dc:creator>PptxGenJS</dc:creator>
  <dc:description/>
  <dc:language>en-IN</dc:language>
  <cp:lastModifiedBy/>
  <dcterms:modified xsi:type="dcterms:W3CDTF">2026-03-07T14:48:28Z</dcterms:modified>
  <cp:revision>7</cp:revision>
  <dc:subject>PptxGenJS Presentation</dc:subject>
  <dc:title>OOP in Python — Part 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28</vt:i4>
  </property>
  <property fmtid="{D5CDD505-2E9C-101B-9397-08002B2CF9AE}" pid="3" name="PresentationFormat">
    <vt:lpwstr>On-screen Show (16:9)</vt:lpwstr>
  </property>
  <property fmtid="{D5CDD505-2E9C-101B-9397-08002B2CF9AE}" pid="4" name="Slides">
    <vt:i4>28</vt:i4>
  </property>
</Properties>
</file>