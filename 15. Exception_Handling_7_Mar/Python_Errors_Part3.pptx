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811B814-8AE3-43F3-B1F2-2292D63AF15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823C05-6BE0-4752-B9BD-D14DD5E7E5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86F006-CDFF-453C-BAF3-DBA1DA8B9B9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A57700-A2C6-4535-BBE2-85B37455EAB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9B364E-130A-4330-9D28-07C55CB9811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26DF67-1C0F-49A9-A062-CCE965F349D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A7B32F-D681-4B81-AA8A-08DEE3EDDE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43D4C5-3FA0-4EF2-90C5-4603F3E257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CE451C-719E-4C94-94DB-80F5447636B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0526AD-7544-4FF6-BFBA-D10858F2837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1A7F6B-A847-4712-BA92-57E26D03608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9BA5855-9175-4473-BA70-29AC75079A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A89077-5410-48CE-BE8F-EE9EE45EF5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32649F-1ABF-4214-BF55-A85F11BB87D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411480" y="411480"/>
            <a:ext cx="959760" cy="959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411480" y="411480"/>
            <a:ext cx="959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Pt.3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155448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4884a"/>
                </a:solidFill>
                <a:latin typeface="Calibri"/>
              </a:rPr>
              <a:t>Python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457200" y="188352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Exception</a:t>
            </a:r>
            <a:endParaRPr b="0" lang="en-IN" sz="4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Handling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32918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4884a"/>
                </a:solidFill>
                <a:latin typeface="Calibri"/>
              </a:rPr>
              <a:t>Import · Runtime · Unicode · System Errors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57200" y="37490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Shape 7"/>
          <p:cNvSpPr/>
          <p:nvPr/>
        </p:nvSpPr>
        <p:spPr>
          <a:xfrm>
            <a:off x="457200" y="37490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585360" y="37490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ImportError — cannot import from module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800600" y="37490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0"/>
          <p:cNvSpPr/>
          <p:nvPr/>
        </p:nvSpPr>
        <p:spPr>
          <a:xfrm>
            <a:off x="4800600" y="37490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4928760" y="37490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ModuleNotFoundError — module not installed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457200" y="426096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13"/>
          <p:cNvSpPr/>
          <p:nvPr/>
        </p:nvSpPr>
        <p:spPr>
          <a:xfrm>
            <a:off x="457200" y="426096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4"/>
          <p:cNvSpPr/>
          <p:nvPr/>
        </p:nvSpPr>
        <p:spPr>
          <a:xfrm>
            <a:off x="585360" y="426096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RecursionError — stack depth exceeded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4800600" y="426096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16"/>
          <p:cNvSpPr/>
          <p:nvPr/>
        </p:nvSpPr>
        <p:spPr>
          <a:xfrm>
            <a:off x="4800600" y="426096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7"/>
          <p:cNvSpPr/>
          <p:nvPr/>
        </p:nvSpPr>
        <p:spPr>
          <a:xfrm>
            <a:off x="4928760" y="426096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MemoryError — RAM exhausted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457200" y="47732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Shape 19"/>
          <p:cNvSpPr/>
          <p:nvPr/>
        </p:nvSpPr>
        <p:spPr>
          <a:xfrm>
            <a:off x="457200" y="47732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20"/>
          <p:cNvSpPr/>
          <p:nvPr/>
        </p:nvSpPr>
        <p:spPr>
          <a:xfrm>
            <a:off x="585360" y="47732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AssertionError — assert condition failed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4800600" y="47732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22"/>
          <p:cNvSpPr/>
          <p:nvPr/>
        </p:nvSpPr>
        <p:spPr>
          <a:xfrm>
            <a:off x="4800600" y="47732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3"/>
          <p:cNvSpPr/>
          <p:nvPr/>
        </p:nvSpPr>
        <p:spPr>
          <a:xfrm>
            <a:off x="4928760" y="47732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UnicodeDecodeError / EncodeError — encoding mismatch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b27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0" y="12801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📦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914400" y="228600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Import Errors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9144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aaaaa"/>
                </a:solidFill>
                <a:latin typeface="Calibri"/>
              </a:rPr>
              <a:t>When Python cannot find or load a module or a specific name from a module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IMPORT ERRORS   ›   ModuleNotFoundError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ModuleNotFoundError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Python cannot locate the module you are trying to import (not installed or misspelled).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274320" y="1325880"/>
            <a:ext cx="5668920" cy="5115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package not installed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pandas_xl           # does not exist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ModuleNotFoundError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print('Not found:',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print('Hint: pip install pandas-xl')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typo in module name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numppy              # misspelled numpy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ModuleNotFoundError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print('Not found:',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numpy as np         # correct spelling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print('numpy version:', np.__version__)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optional dependency pattern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4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5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ujson as json       # fast JSON library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6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print('Using ujson (fast)')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7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ModuleNotFoundError: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json                # stdlib fallback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9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print('Using stdlib json (fallback)')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0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data = json.dumps({'key': 'value'})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2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print('JSON output:', data)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3" name="Shape 32"/>
          <p:cNvSpPr/>
          <p:nvPr/>
        </p:nvSpPr>
        <p:spPr>
          <a:xfrm>
            <a:off x="6126480" y="1325880"/>
            <a:ext cx="2742840" cy="51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33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34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6" name="Text 35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Install missing packages: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07" name="Text 36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pip install &lt;package&gt;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8" name="Text 37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38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installed packages: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10" name="Text 39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pip list | grep name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1" name="Text 40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41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optional fallback: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13" name="Text 42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try: import fast_lib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4" name="Text 43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except: import std_lib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5" name="Text 44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45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Pin versions in: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17" name="Text 46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requirements.txt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8" name="Text 47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to avoid surprises.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9" name="Shape 48"/>
          <p:cNvSpPr/>
          <p:nvPr/>
        </p:nvSpPr>
        <p:spPr>
          <a:xfrm>
            <a:off x="274320" y="6624720"/>
            <a:ext cx="8595000" cy="152676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Text 49"/>
          <p:cNvSpPr/>
          <p:nvPr/>
        </p:nvSpPr>
        <p:spPr>
          <a:xfrm>
            <a:off x="438840" y="66798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1" name="Text 50"/>
          <p:cNvSpPr/>
          <p:nvPr/>
        </p:nvSpPr>
        <p:spPr>
          <a:xfrm>
            <a:off x="438840" y="68990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Not found: No module named 'pandas_xl'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2" name="Text 51"/>
          <p:cNvSpPr/>
          <p:nvPr/>
        </p:nvSpPr>
        <p:spPr>
          <a:xfrm>
            <a:off x="438840" y="70956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Hint: pip install pandas-xl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3" name="Text 52"/>
          <p:cNvSpPr/>
          <p:nvPr/>
        </p:nvSpPr>
        <p:spPr>
          <a:xfrm>
            <a:off x="438840" y="72925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Not found: No module named 'numppy'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4" name="Text 53"/>
          <p:cNvSpPr/>
          <p:nvPr/>
        </p:nvSpPr>
        <p:spPr>
          <a:xfrm>
            <a:off x="438840" y="74890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numpy version: 1.26.0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5" name="Text 54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Using stdlib json (fallback)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6" name="Text 55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JSON output: {"key": "value"}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IMPORT ERRORS   ›   ImportError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ImportError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the module exists but the specific name you are importing from it cannot be found.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274320" y="1325880"/>
            <a:ext cx="5668920" cy="5902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importing a name that doesn't exist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from os.path import split_extension  # wrong name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ImportError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print('ImportError:',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from os.path import splitext          # correct name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name, ext = splitext('photo.jpg')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print(f'Name: {name}  Ext: {ext}')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circular import (common in larger projects)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File a.py imports b.py which imports a.py → circular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Solution: move shared code to a third module c.py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__all__ restricts what can be imported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8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Suppose mymodule defines __all__ = ['public_fn']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Then: from mymodule import private_fn → ImportError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4 — safe dynamic import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2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safe_import(module_name, attr_name):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4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importlib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mod = importlib.import_module(module_name)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getattr(mod, attr_name, None)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ImportError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8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print(f'Import failed: {err}')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None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438840" y="6546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34"/>
          <p:cNvSpPr/>
          <p:nvPr/>
        </p:nvSpPr>
        <p:spPr>
          <a:xfrm>
            <a:off x="438840" y="6743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fn = safe_import('math', 'sqrt')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2" name="Text 35"/>
          <p:cNvSpPr/>
          <p:nvPr/>
        </p:nvSpPr>
        <p:spPr>
          <a:xfrm>
            <a:off x="438840" y="6940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print('Imported fn result:', fn(25) if fn else 'unavailable')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3" name="Shape 36"/>
          <p:cNvSpPr/>
          <p:nvPr/>
        </p:nvSpPr>
        <p:spPr>
          <a:xfrm>
            <a:off x="6126480" y="1325880"/>
            <a:ext cx="2742840" cy="59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4" name="Shape 37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38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module's docs for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67" name="Text 40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exact exported names.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68" name="Text 41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42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help(module) or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70" name="Text 43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dir(module)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1" name="Text 44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to list all available names.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72" name="Text 45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46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Avoid circular imports —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74" name="Text 47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reorganize into smaller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75" name="Text 48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independent modules.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76" name="Text 49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50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importlib for dynamic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78" name="Text 51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imports safely.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79" name="Shape 52"/>
          <p:cNvSpPr/>
          <p:nvPr/>
        </p:nvSpPr>
        <p:spPr>
          <a:xfrm>
            <a:off x="274320" y="7411320"/>
            <a:ext cx="8595000" cy="93708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0" name="Text 53"/>
          <p:cNvSpPr/>
          <p:nvPr/>
        </p:nvSpPr>
        <p:spPr>
          <a:xfrm>
            <a:off x="438840" y="746604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1" name="Text 54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ImportError: cannot import name 'split_extension' from 'posixpath'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2" name="Text 55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Name: photo  Ext: .jpg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3" name="Text 56"/>
          <p:cNvSpPr/>
          <p:nvPr/>
        </p:nvSpPr>
        <p:spPr>
          <a:xfrm>
            <a:off x="438840" y="80787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Imported fn result: 5.0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0" y="12801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⚙️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914400" y="228600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Runtime Resource Errors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9144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aaaaa"/>
                </a:solidFill>
                <a:latin typeface="Calibri"/>
              </a:rPr>
              <a:t>Errors caused by exhausting system resources — call stack or memory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RUNTIME ERRORS   ›   RecursionError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RecursionError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the call stack exceeds Python's recursion depth limit (default: 1000 levels).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274320" y="1325880"/>
            <a:ext cx="5668920" cy="5902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sys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print('Default recursion limit:', sys.getrecursionlimit())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infinite recursion (no base case)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count_down(n):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count_down(n - 1)    # never stops!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count_down(5000)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RecursionError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print('RecursionError:',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correct recursion (has a base case)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7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factorial(n):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if n &lt;= 1:          # ← base case stops recursion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0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n * factorial(n - 1)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print('5! =', factorial(5))     # 120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print('10! =', factorial(10))   # 3628800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4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depth guard for deep inputs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6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safe_factorial(n, depth=0):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7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if depth &gt; 900: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8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raise RecursionError('Input too large for recursion')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9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if n &lt;= 1: return 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0" name="Text 33"/>
          <p:cNvSpPr/>
          <p:nvPr/>
        </p:nvSpPr>
        <p:spPr>
          <a:xfrm>
            <a:off x="438840" y="6546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n * safe_factorial(n - 1, depth + 1)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1" name="Text 34"/>
          <p:cNvSpPr/>
          <p:nvPr/>
        </p:nvSpPr>
        <p:spPr>
          <a:xfrm>
            <a:off x="438840" y="6743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35"/>
          <p:cNvSpPr/>
          <p:nvPr/>
        </p:nvSpPr>
        <p:spPr>
          <a:xfrm>
            <a:off x="438840" y="6940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print('20! =', safe_factorial(20))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3" name="Shape 36"/>
          <p:cNvSpPr/>
          <p:nvPr/>
        </p:nvSpPr>
        <p:spPr>
          <a:xfrm>
            <a:off x="6126480" y="1325880"/>
            <a:ext cx="2742840" cy="59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37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38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6" name="Text 39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Always define a base case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27" name="Text 40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that stops the recursion.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28" name="Text 41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42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For deep inputs convert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30" name="Text 43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to an iterative loop: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31" name="Text 44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while n &gt; 1: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2" name="Text 45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result *= 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3" name="Text 46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n -= 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4" name="Text 47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48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Increase limit cautiously: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36" name="Text 49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sys.setrecursionlimit(2000)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7" name="Text 50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(risk: stack overflow crash)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38" name="Text 51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52"/>
          <p:cNvSpPr/>
          <p:nvPr/>
        </p:nvSpPr>
        <p:spPr>
          <a:xfrm>
            <a:off x="6254640" y="42840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Add a depth counter guard.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40" name="Shape 53"/>
          <p:cNvSpPr/>
          <p:nvPr/>
        </p:nvSpPr>
        <p:spPr>
          <a:xfrm>
            <a:off x="274320" y="7411320"/>
            <a:ext cx="8595000" cy="133020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1" name="Text 54"/>
          <p:cNvSpPr/>
          <p:nvPr/>
        </p:nvSpPr>
        <p:spPr>
          <a:xfrm>
            <a:off x="438840" y="746604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2" name="Text 55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Default recursion limit: 1000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3" name="Text 56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RecursionError: maximum recursion depth exceeded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4" name="Text 57"/>
          <p:cNvSpPr/>
          <p:nvPr/>
        </p:nvSpPr>
        <p:spPr>
          <a:xfrm>
            <a:off x="438840" y="80787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5! = 120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5" name="Text 58"/>
          <p:cNvSpPr/>
          <p:nvPr/>
        </p:nvSpPr>
        <p:spPr>
          <a:xfrm>
            <a:off x="438840" y="82753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10! = 3628800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6" name="Text 59"/>
          <p:cNvSpPr/>
          <p:nvPr/>
        </p:nvSpPr>
        <p:spPr>
          <a:xfrm>
            <a:off x="438840" y="84718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20! = 2432902008176640000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RUNTIME ERRORS   ›   MemoryError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MemoryError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Python cannot allocate enough RAM to fulfill a request — the system is out of memory.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2" name="Shape 5"/>
          <p:cNvSpPr/>
          <p:nvPr/>
        </p:nvSpPr>
        <p:spPr>
          <a:xfrm>
            <a:off x="274320" y="1325880"/>
            <a:ext cx="5668920" cy="5312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sys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allocating a gigantic list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enormous = [0] * (10 ** 10)   # ~80 GB RAM!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print(len(enormous))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MemoryError: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print('MemoryError: not enough RAM for that list')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memory-efficient alternative (generator)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4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BAD  — loads everything into RAM at once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5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big_list = [x * 2 for x in range(10_000_000)]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6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GOOD — generator yields one item at a time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8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doubled_range(n):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9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for x in range(n):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yield x * 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1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gen = doubled_range(10_000_000)   # uses almost no RAM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3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print('First 5:', [next(gen) for _ in range(5)])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4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check memory usage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6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small_list  = list(range(1000))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7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print('List size :', sys.getsizeof(small_list), 'bytes')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8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small_gen   = (x for x in range(1000))   # generator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9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print('Generator :', sys.getsizeof(small_gen), 'bytes')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0" name="Shape 33"/>
          <p:cNvSpPr/>
          <p:nvPr/>
        </p:nvSpPr>
        <p:spPr>
          <a:xfrm>
            <a:off x="6126480" y="1325880"/>
            <a:ext cx="2742840" cy="5312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1" name="Shape 34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35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3" name="Text 36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generators instead of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84" name="Text 37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loading all data at once.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85" name="Text 38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39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Process files in chunks: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87" name="Text 40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for chunk in pd.read_csv(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8" name="Text 41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f, chunksize=1000):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9" name="Text 42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43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Delete large objects when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1" name="Text 44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done:  del big_obj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2" name="Text 45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Then:  gc.collect()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3" name="Text 46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47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numpy arrays — far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5" name="Text 48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more memory-efficient than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6" name="Text 49"/>
          <p:cNvSpPr/>
          <p:nvPr/>
        </p:nvSpPr>
        <p:spPr>
          <a:xfrm>
            <a:off x="6254640" y="42840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Python lists of numbers.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97" name="Shape 50"/>
          <p:cNvSpPr/>
          <p:nvPr/>
        </p:nvSpPr>
        <p:spPr>
          <a:xfrm>
            <a:off x="274320" y="6821280"/>
            <a:ext cx="8595000" cy="113364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8" name="Text 51"/>
          <p:cNvSpPr/>
          <p:nvPr/>
        </p:nvSpPr>
        <p:spPr>
          <a:xfrm>
            <a:off x="438840" y="687636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9" name="Text 52"/>
          <p:cNvSpPr/>
          <p:nvPr/>
        </p:nvSpPr>
        <p:spPr>
          <a:xfrm>
            <a:off x="438840" y="70956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MemoryError: not enough RAM for that list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0" name="Text 53"/>
          <p:cNvSpPr/>
          <p:nvPr/>
        </p:nvSpPr>
        <p:spPr>
          <a:xfrm>
            <a:off x="438840" y="72925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First 5: [0, 2, 4, 6, 8]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1" name="Text 54"/>
          <p:cNvSpPr/>
          <p:nvPr/>
        </p:nvSpPr>
        <p:spPr>
          <a:xfrm>
            <a:off x="438840" y="74890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List size : 8056 bytes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2" name="Text 55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Generator : 200 bytes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/>
          <p:nvPr/>
        </p:nvSpPr>
        <p:spPr>
          <a:xfrm>
            <a:off x="0" y="12801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🔒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914400" y="228600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Assertion &amp; Unicode Errors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9144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aaaaa"/>
                </a:solidFill>
                <a:latin typeface="Calibri"/>
              </a:rPr>
              <a:t>Contract violations, encoding mismatches, and developer-intent errors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ASSERTION ERRORS   ›   AssertionError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AssertionError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an assert statement's condition evaluates to False — used to enforce contracts.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1" name="Shape 5"/>
          <p:cNvSpPr/>
          <p:nvPr/>
        </p:nvSpPr>
        <p:spPr>
          <a:xfrm>
            <a:off x="274320" y="1325880"/>
            <a:ext cx="5668920" cy="5115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13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validating function preconditions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4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compute_bmi(weight_kg, height_m):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assert weight_kg &gt; 0, f'Weight must be positive, got {weight_kg}'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6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assert height_m  &gt; 0, f'Height must be positive, got {height_m}'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7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assert height_m  &lt; 3, f'Height {height_m}m is unrealistic'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8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round(weight_kg / height_m ** 2, 2)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9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1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bmi = compute_bmi(-70, 1.75)   # negative weight!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2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AssertionError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3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print('AssertionError:',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4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6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bmi = compute_bmi(70, 0)       # zero height!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7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AssertionError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8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print('AssertionError:',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9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Correct call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1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bmi = compute_bmi(70, 1.75)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2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print('BMI:', bmi)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3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unit test style assertion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5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result = 2 + 2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6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assert result == 4, f'Expected 4 but got {result}'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7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print('Test passed: 2 + 2 == 4')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8" name="Shape 32"/>
          <p:cNvSpPr/>
          <p:nvPr/>
        </p:nvSpPr>
        <p:spPr>
          <a:xfrm>
            <a:off x="6126480" y="1325880"/>
            <a:ext cx="2742840" cy="51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9" name="Shape 33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34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When to use assert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1" name="Text 35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assert for developer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42" name="Text 36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contracts and unit tests.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43" name="Text 37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38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For user-facing validation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45" name="Text 39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raise ValueError instead: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46" name="Text 40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weight &lt;= 0: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47" name="Text 41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raise ValueError(...)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48" name="Text 42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43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Note: assert statements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0" name="Text 44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are DISABLED when Python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1" name="Text 45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runs with -O (optimise)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2" name="Text 46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flag — don't rely on them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3" name="Text 47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for security checks.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4" name="Shape 48"/>
          <p:cNvSpPr/>
          <p:nvPr/>
        </p:nvSpPr>
        <p:spPr>
          <a:xfrm>
            <a:off x="274320" y="6624720"/>
            <a:ext cx="8595000" cy="113364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5" name="Text 49"/>
          <p:cNvSpPr/>
          <p:nvPr/>
        </p:nvSpPr>
        <p:spPr>
          <a:xfrm>
            <a:off x="438840" y="66798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6" name="Text 50"/>
          <p:cNvSpPr/>
          <p:nvPr/>
        </p:nvSpPr>
        <p:spPr>
          <a:xfrm>
            <a:off x="438840" y="68990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AssertionError: Weight must be positive, got -70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7" name="Text 51"/>
          <p:cNvSpPr/>
          <p:nvPr/>
        </p:nvSpPr>
        <p:spPr>
          <a:xfrm>
            <a:off x="438840" y="70956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AssertionError: Height must be positive, got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8" name="Text 52"/>
          <p:cNvSpPr/>
          <p:nvPr/>
        </p:nvSpPr>
        <p:spPr>
          <a:xfrm>
            <a:off x="438840" y="72925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BMI: 22.86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9" name="Text 53"/>
          <p:cNvSpPr/>
          <p:nvPr/>
        </p:nvSpPr>
        <p:spPr>
          <a:xfrm>
            <a:off x="438840" y="74890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Test passed: 2 + 2 == 4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UNICODE ERRORS   ›   UnicodeDecodeError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2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UnicodeDecodeError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4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bytes cannot be decoded into a string using the specified encoding (e.g. UTF-8).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5" name="Shape 5"/>
          <p:cNvSpPr/>
          <p:nvPr/>
        </p:nvSpPr>
        <p:spPr>
          <a:xfrm>
            <a:off x="274320" y="1325880"/>
            <a:ext cx="5668920" cy="491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6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67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Latin-1 byte decoded as UTF-8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8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raw = b'Caf\xe9'        # é encoded in Latin-1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9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0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text = raw.decode('utf-8')    # UTF-8 can't read 0xe9 alone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1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UnicodeDecodeError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2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print('UnicodeDecodeError:',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3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text = raw.decode('latin-1')  # correct encoding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4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print('Decoded correctly:', text)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5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reading a file with wrong encoding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7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Create a Latin-1 file first (simulation)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8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open('/tmp/latin1_file.txt', 'wb')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9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f.write('Héllo Wörld'.encode('latin-1'))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0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2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open('/tmp/latin1_file.txt', 'r',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3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encoding='utf-8')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4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content = f.read()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5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UnicodeDecodeError: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6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print('Encoding mismatch — retrying with latin-1')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7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open('/tmp/latin1_file.txt', 'r',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8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encoding='latin-1')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9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content = f.read()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0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print('File content:', content)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1" name="Shape 31"/>
          <p:cNvSpPr/>
          <p:nvPr/>
        </p:nvSpPr>
        <p:spPr>
          <a:xfrm>
            <a:off x="6126480" y="1325880"/>
            <a:ext cx="2742840" cy="491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2" name="Shape 32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Text 33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4" name="Text 34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Always specify encoding: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95" name="Text 35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open(f, encoding='utf-8')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96" name="Text 36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Text 37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errors='replace' to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98" name="Text 38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tolerate bad bytes: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99" name="Text 39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.decode('utf-8',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00" name="Text 40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errors='replace')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01" name="Text 41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Text 42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Or errors='ignore' to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03" name="Text 43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silently skip bad bytes.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04" name="Text 44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45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UTF-8 is the modern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06" name="Text 46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standard — use it for all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07" name="Text 47"/>
          <p:cNvSpPr/>
          <p:nvPr/>
        </p:nvSpPr>
        <p:spPr>
          <a:xfrm>
            <a:off x="6254640" y="42840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new files and APIs.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08" name="Shape 48"/>
          <p:cNvSpPr/>
          <p:nvPr/>
        </p:nvSpPr>
        <p:spPr>
          <a:xfrm>
            <a:off x="274320" y="6428160"/>
            <a:ext cx="8595000" cy="113364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9" name="Text 49"/>
          <p:cNvSpPr/>
          <p:nvPr/>
        </p:nvSpPr>
        <p:spPr>
          <a:xfrm>
            <a:off x="438840" y="648324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10" name="Text 50"/>
          <p:cNvSpPr/>
          <p:nvPr/>
        </p:nvSpPr>
        <p:spPr>
          <a:xfrm>
            <a:off x="438840" y="67024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UnicodeDecodeError: 'utf-8' codec can't decode byte 0xe9 in position 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1" name="Text 51"/>
          <p:cNvSpPr/>
          <p:nvPr/>
        </p:nvSpPr>
        <p:spPr>
          <a:xfrm>
            <a:off x="438840" y="68990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Decoded correctly: Café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2" name="Text 52"/>
          <p:cNvSpPr/>
          <p:nvPr/>
        </p:nvSpPr>
        <p:spPr>
          <a:xfrm>
            <a:off x="438840" y="70956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Encoding mismatch — retrying with latin-1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3" name="Text 53"/>
          <p:cNvSpPr/>
          <p:nvPr/>
        </p:nvSpPr>
        <p:spPr>
          <a:xfrm>
            <a:off x="438840" y="72925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File content: Héllo Wörld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UNICODE ERRORS   ›   UnicodeEncodeError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6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UnicodeEncodeError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18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 Python string cannot be encoded into bytes using the specified encoding.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19" name="Shape 5"/>
          <p:cNvSpPr/>
          <p:nvPr/>
        </p:nvSpPr>
        <p:spPr>
          <a:xfrm>
            <a:off x="274320" y="1325880"/>
            <a:ext cx="5668920" cy="55090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0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21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emoji cannot be encoded in ASCII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2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greeting = 'Hello 🌍'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3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4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encoded = greeting.encode('ascii')  # ASCII has no emoji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5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UnicodeEncodeError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6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print('UnicodeEncodeError:',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7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encoded = greeting.encode('utf-8')  # UTF-8 handles all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8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print('UTF-8 encoded, bytes:', len(encoded))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9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writing emoji to an ASCII file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1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2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open('/tmp/test_ascii.txt', 'w',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3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encoding='ascii')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4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f.write('Score: 95 ✅')     # ✅ not in ASCII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5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UnicodeEncodeError: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6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print('Cannot write emoji to ASCII file')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7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with open('/tmp/test_utf8.txt', 'w',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8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encoding='utf-8') as f: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9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f.write('Score: 95 ✅')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0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print('Written to UTF-8 file successfully')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1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encode with replace/ignore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3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msg = 'Résumé: señor'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4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safe = msg.encode('ascii', errors='replace').decode()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5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print('ASCII-safe (replace):', safe)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6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safe2 = msg.encode('ascii', errors='ignore').decode()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7" name="Text 33"/>
          <p:cNvSpPr/>
          <p:nvPr/>
        </p:nvSpPr>
        <p:spPr>
          <a:xfrm>
            <a:off x="438840" y="6546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print('ASCII-safe (ignore) :', safe2)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8" name="Shape 34"/>
          <p:cNvSpPr/>
          <p:nvPr/>
        </p:nvSpPr>
        <p:spPr>
          <a:xfrm>
            <a:off x="6126480" y="1325880"/>
            <a:ext cx="2742840" cy="550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9" name="Shape 35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 36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51" name="Text 37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UTF-8 everywhere: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52" name="Text 38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open(f, encoding='utf-8')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3" name="Text 39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Text 40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For ASCII-only systems use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55" name="Text 41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errors='replace'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6" name="Text 42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or errors='ignore'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57" name="Text 43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to handle special chars.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58" name="Text 44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45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Set default encoding in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60" name="Text 46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your Python environment: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61" name="Text 47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PYTHONIOENCODING=utf-8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62" name="Text 48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49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Avoid mixing encodings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64" name="Text 50"/>
          <p:cNvSpPr/>
          <p:nvPr/>
        </p:nvSpPr>
        <p:spPr>
          <a:xfrm>
            <a:off x="6254640" y="42840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in the same data pipeline.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465" name="Shape 51"/>
          <p:cNvSpPr/>
          <p:nvPr/>
        </p:nvSpPr>
        <p:spPr>
          <a:xfrm>
            <a:off x="274320" y="7018200"/>
            <a:ext cx="8595000" cy="152676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6" name="Text 52"/>
          <p:cNvSpPr/>
          <p:nvPr/>
        </p:nvSpPr>
        <p:spPr>
          <a:xfrm>
            <a:off x="438840" y="70729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67" name="Text 53"/>
          <p:cNvSpPr/>
          <p:nvPr/>
        </p:nvSpPr>
        <p:spPr>
          <a:xfrm>
            <a:off x="438840" y="72925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UnicodeEncodeError: 'ascii' codec can't encode character '\U0001f30d' (ordinal 127757)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68" name="Text 54"/>
          <p:cNvSpPr/>
          <p:nvPr/>
        </p:nvSpPr>
        <p:spPr>
          <a:xfrm>
            <a:off x="438840" y="74890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UTF-8 encoded, bytes: 11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69" name="Text 55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Cannot write emoji to ASCII file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0" name="Text 56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Written to UTF-8 file successfully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1" name="Text 57"/>
          <p:cNvSpPr/>
          <p:nvPr/>
        </p:nvSpPr>
        <p:spPr>
          <a:xfrm>
            <a:off x="438840" y="80787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ASCII-safe (replace): R?sum?: se?or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2" name="Text 58"/>
          <p:cNvSpPr/>
          <p:nvPr/>
        </p:nvSpPr>
        <p:spPr>
          <a:xfrm>
            <a:off x="438840" y="82753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ASCII-safe (ignore) : Rsum: seor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SYSTEM ERRORS   ›   KeyboardInterrupt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75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KeyboardInterrupt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77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the user presses Ctrl+C to interrupt a running program. Inherits from BaseException, not Exception.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78" name="Shape 5"/>
          <p:cNvSpPr/>
          <p:nvPr/>
        </p:nvSpPr>
        <p:spPr>
          <a:xfrm>
            <a:off x="274320" y="1325880"/>
            <a:ext cx="5668920" cy="5705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9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80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time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1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long-running loop with graceful exit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3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print('Server running... Press Ctrl+C to stop')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4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tick =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5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6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while True: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7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print(f'  Processing tick {tick}...')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8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time.sleep(1)    # simulates work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9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tick += 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0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if tick == 3:    # simulate Ctrl+C for demo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1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raise KeyboardInterrupt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2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KeyboardInterrupt: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3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print('\nCtrl+C received — shutting down gracefully')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4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print(f'Processed {tick} ticks before stopping')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5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finally: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6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print('Cleanup complete — goodbye!')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7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why bare except misses 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9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0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    ...long task...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1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except Exception:         # ← does NOT catch KeyboardInterrupt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2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    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3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Correct — catch BaseException if you need 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5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except BaseException as 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6" name="Text 33"/>
          <p:cNvSpPr/>
          <p:nvPr/>
        </p:nvSpPr>
        <p:spPr>
          <a:xfrm>
            <a:off x="438840" y="6546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    if isinstance(e, KeyboardInterrupt): cleanup()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7" name="Text 34"/>
          <p:cNvSpPr/>
          <p:nvPr/>
        </p:nvSpPr>
        <p:spPr>
          <a:xfrm>
            <a:off x="438840" y="6743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    raise   # always re-raise after cleanup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8" name="Shape 35"/>
          <p:cNvSpPr/>
          <p:nvPr/>
        </p:nvSpPr>
        <p:spPr>
          <a:xfrm>
            <a:off x="6126480" y="1325880"/>
            <a:ext cx="2742840" cy="5705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9" name="Shape 36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37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Best Practice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1" name="Text 38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Always use finally: for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12" name="Text 39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cleanup (files, sockets).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13" name="Text 40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41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Never suppress Ctrl+C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15" name="Text 42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completely — users need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16" name="Text 43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 way to stop programs.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17" name="Text 44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Text 45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KeyboardInterrupt inherits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19" name="Text 46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from BaseException, NOT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20" name="Text 47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Exception — so bare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21" name="Text 48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except Exception: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22" name="Text 49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will NOT catch it.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23" name="Text 50"/>
          <p:cNvSpPr/>
          <p:nvPr/>
        </p:nvSpPr>
        <p:spPr>
          <a:xfrm>
            <a:off x="6254640" y="40874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Text 51"/>
          <p:cNvSpPr/>
          <p:nvPr/>
        </p:nvSpPr>
        <p:spPr>
          <a:xfrm>
            <a:off x="6254640" y="42840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Re-raise after cleanup.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25" name="Shape 52"/>
          <p:cNvSpPr/>
          <p:nvPr/>
        </p:nvSpPr>
        <p:spPr>
          <a:xfrm>
            <a:off x="274320" y="7214760"/>
            <a:ext cx="8595000" cy="172332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6" name="Text 53"/>
          <p:cNvSpPr/>
          <p:nvPr/>
        </p:nvSpPr>
        <p:spPr>
          <a:xfrm>
            <a:off x="438840" y="726948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27" name="Text 54"/>
          <p:cNvSpPr/>
          <p:nvPr/>
        </p:nvSpPr>
        <p:spPr>
          <a:xfrm>
            <a:off x="438840" y="74890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Server running... Press Ctrl+C to stop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28" name="Text 55"/>
          <p:cNvSpPr/>
          <p:nvPr/>
        </p:nvSpPr>
        <p:spPr>
          <a:xfrm>
            <a:off x="438840" y="76856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Processing tick 0...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29" name="Text 56"/>
          <p:cNvSpPr/>
          <p:nvPr/>
        </p:nvSpPr>
        <p:spPr>
          <a:xfrm>
            <a:off x="438840" y="78822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Processing tick 1...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30" name="Text 57"/>
          <p:cNvSpPr/>
          <p:nvPr/>
        </p:nvSpPr>
        <p:spPr>
          <a:xfrm>
            <a:off x="438840" y="80787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Processing tick 2...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31" name="Text 58"/>
          <p:cNvSpPr/>
          <p:nvPr/>
        </p:nvSpPr>
        <p:spPr>
          <a:xfrm>
            <a:off x="438840" y="82753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Ctrl+C received — shutting down gracefully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32" name="Text 59"/>
          <p:cNvSpPr/>
          <p:nvPr/>
        </p:nvSpPr>
        <p:spPr>
          <a:xfrm>
            <a:off x="438840" y="84718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Processed 3 ticks before stopping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33" name="Text 60"/>
          <p:cNvSpPr/>
          <p:nvPr/>
        </p:nvSpPr>
        <p:spPr>
          <a:xfrm>
            <a:off x="438840" y="86684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Cleanup complete — goodbye!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Shape 0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Text 1"/>
          <p:cNvSpPr/>
          <p:nvPr/>
        </p:nvSpPr>
        <p:spPr>
          <a:xfrm>
            <a:off x="41148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Key Takeaways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536" name="Shape 2"/>
          <p:cNvSpPr/>
          <p:nvPr/>
        </p:nvSpPr>
        <p:spPr>
          <a:xfrm>
            <a:off x="411480" y="100584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Shape 3"/>
          <p:cNvSpPr/>
          <p:nvPr/>
        </p:nvSpPr>
        <p:spPr>
          <a:xfrm>
            <a:off x="411480" y="111564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Text 4"/>
          <p:cNvSpPr/>
          <p:nvPr/>
        </p:nvSpPr>
        <p:spPr>
          <a:xfrm>
            <a:off x="411480" y="1115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39" name="Text 5"/>
          <p:cNvSpPr/>
          <p:nvPr/>
        </p:nvSpPr>
        <p:spPr>
          <a:xfrm>
            <a:off x="868680" y="100584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ModuleNotFoundError — install with pip; use try/except for optional dependencies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0" name="Shape 6"/>
          <p:cNvSpPr/>
          <p:nvPr/>
        </p:nvSpPr>
        <p:spPr>
          <a:xfrm>
            <a:off x="411480" y="171900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Shape 7"/>
          <p:cNvSpPr/>
          <p:nvPr/>
        </p:nvSpPr>
        <p:spPr>
          <a:xfrm>
            <a:off x="411480" y="182880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Text 8"/>
          <p:cNvSpPr/>
          <p:nvPr/>
        </p:nvSpPr>
        <p:spPr>
          <a:xfrm>
            <a:off x="411480" y="1828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3" name="Text 9"/>
          <p:cNvSpPr/>
          <p:nvPr/>
        </p:nvSpPr>
        <p:spPr>
          <a:xfrm>
            <a:off x="868680" y="171900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ImportError — check exact names with dir(module); avoid circular imports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4" name="Shape 10"/>
          <p:cNvSpPr/>
          <p:nvPr/>
        </p:nvSpPr>
        <p:spPr>
          <a:xfrm>
            <a:off x="411480" y="243216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5" name="Shape 11"/>
          <p:cNvSpPr/>
          <p:nvPr/>
        </p:nvSpPr>
        <p:spPr>
          <a:xfrm>
            <a:off x="411480" y="254196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Text 12"/>
          <p:cNvSpPr/>
          <p:nvPr/>
        </p:nvSpPr>
        <p:spPr>
          <a:xfrm>
            <a:off x="411480" y="25419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7" name="Text 13"/>
          <p:cNvSpPr/>
          <p:nvPr/>
        </p:nvSpPr>
        <p:spPr>
          <a:xfrm>
            <a:off x="868680" y="243216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RecursionError — always define a base case; prefer iterative solutions for deep inputs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8" name="Shape 14"/>
          <p:cNvSpPr/>
          <p:nvPr/>
        </p:nvSpPr>
        <p:spPr>
          <a:xfrm>
            <a:off x="411480" y="314568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9" name="Shape 15"/>
          <p:cNvSpPr/>
          <p:nvPr/>
        </p:nvSpPr>
        <p:spPr>
          <a:xfrm>
            <a:off x="411480" y="325512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Text 16"/>
          <p:cNvSpPr/>
          <p:nvPr/>
        </p:nvSpPr>
        <p:spPr>
          <a:xfrm>
            <a:off x="411480" y="32551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1" name="Text 17"/>
          <p:cNvSpPr/>
          <p:nvPr/>
        </p:nvSpPr>
        <p:spPr>
          <a:xfrm>
            <a:off x="868680" y="314568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MemoryError — use generators and chunked processing instead of huge in-memory lists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2" name="Shape 18"/>
          <p:cNvSpPr/>
          <p:nvPr/>
        </p:nvSpPr>
        <p:spPr>
          <a:xfrm>
            <a:off x="411480" y="385884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Shape 19"/>
          <p:cNvSpPr/>
          <p:nvPr/>
        </p:nvSpPr>
        <p:spPr>
          <a:xfrm>
            <a:off x="411480" y="396864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Text 20"/>
          <p:cNvSpPr/>
          <p:nvPr/>
        </p:nvSpPr>
        <p:spPr>
          <a:xfrm>
            <a:off x="411480" y="3968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5" name="Text 21"/>
          <p:cNvSpPr/>
          <p:nvPr/>
        </p:nvSpPr>
        <p:spPr>
          <a:xfrm>
            <a:off x="868680" y="385884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AssertionError — great for developer contracts/tests; use ValueError for user validation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6" name="Shape 22"/>
          <p:cNvSpPr/>
          <p:nvPr/>
        </p:nvSpPr>
        <p:spPr>
          <a:xfrm>
            <a:off x="411480" y="457200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Shape 23"/>
          <p:cNvSpPr/>
          <p:nvPr/>
        </p:nvSpPr>
        <p:spPr>
          <a:xfrm>
            <a:off x="411480" y="468180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Text 24"/>
          <p:cNvSpPr/>
          <p:nvPr/>
        </p:nvSpPr>
        <p:spPr>
          <a:xfrm>
            <a:off x="411480" y="4681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9" name="Text 25"/>
          <p:cNvSpPr/>
          <p:nvPr/>
        </p:nvSpPr>
        <p:spPr>
          <a:xfrm>
            <a:off x="868680" y="457200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UnicodeErrors — always specify encoding='utf-8'; use errors='replace' for tolerance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0" name="Text 26"/>
          <p:cNvSpPr/>
          <p:nvPr/>
        </p:nvSpPr>
        <p:spPr>
          <a:xfrm>
            <a:off x="457200" y="47548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4884a"/>
                </a:solidFill>
                <a:latin typeface="Calibri"/>
              </a:rPr>
              <a:t>"Write code that expects the unexpected."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2026-03-07T14:53:36Z</dcterms:created>
  <dc:creator>PptxGenJS</dc:creator>
  <dc:description/>
  <dc:language>en-IN</dc:language>
  <cp:lastModifiedBy>PptxGenJS</cp:lastModifiedBy>
  <dcterms:modified xsi:type="dcterms:W3CDTF">2026-03-07T14:53:36Z</dcterms:modified>
  <cp:revision>1</cp:revision>
  <dc:subject>PptxGenJS Presentation</dc:subject>
  <dc:title>Python Errors Part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