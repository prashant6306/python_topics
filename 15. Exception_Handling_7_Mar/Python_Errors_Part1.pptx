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9BE4C25-ADCE-439E-ACFD-D66510B7CDDE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1EA95AC-4410-4987-95D3-10C05B3D10F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C4B60A8-F33F-4487-8081-7C50EF835A2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920D7A9-19E2-4356-9705-85B1638B75E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3529985-8BB0-4B5B-8F87-6B33D466B16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D9FD660-CBE5-4DE1-900A-E2AF6535E6F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2B0569A-BC85-493D-BB3B-CFD9B6E9B49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D8B6584-8D6F-4A55-91D8-92EAF5D7B58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BA43EAA-2263-40A5-ACB3-84E4A47E551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9CF15CA-1E00-4063-BAAB-626EE927716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2FBC370-D67C-4A49-9D67-D5B323A4FDA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42A76FF-BE1B-4FC5-94BA-85B72F7DFFE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82520" cy="514332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411480" y="411480"/>
            <a:ext cx="959760" cy="95976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411480" y="411480"/>
            <a:ext cx="9597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Pt.1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457200" y="1554480"/>
            <a:ext cx="8229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4884a"/>
                </a:solidFill>
                <a:latin typeface="Calibri"/>
              </a:rPr>
              <a:t>Python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457200" y="188352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Calibri"/>
                <a:ea typeface="Calibri"/>
              </a:rPr>
              <a:t>Exception</a:t>
            </a:r>
            <a:endParaRPr b="0" lang="en-IN" sz="4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Calibri"/>
                <a:ea typeface="Calibri"/>
              </a:rPr>
              <a:t>Handling</a:t>
            </a:r>
            <a:endParaRPr b="0" lang="en-IN" sz="46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457200" y="329184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f4884a"/>
                </a:solidFill>
                <a:latin typeface="Calibri"/>
              </a:rPr>
              <a:t>Arithmetic · Type · Value · Name Errors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457200" y="3749040"/>
            <a:ext cx="4068720" cy="38376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Shape 7"/>
          <p:cNvSpPr/>
          <p:nvPr/>
        </p:nvSpPr>
        <p:spPr>
          <a:xfrm>
            <a:off x="457200" y="3749040"/>
            <a:ext cx="45360" cy="38376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8"/>
          <p:cNvSpPr/>
          <p:nvPr/>
        </p:nvSpPr>
        <p:spPr>
          <a:xfrm>
            <a:off x="585360" y="374904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</a:rPr>
              <a:t>ZeroDivisionError — dividing by zero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4800600" y="3749040"/>
            <a:ext cx="4068720" cy="38376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Shape 10"/>
          <p:cNvSpPr/>
          <p:nvPr/>
        </p:nvSpPr>
        <p:spPr>
          <a:xfrm>
            <a:off x="4800600" y="3749040"/>
            <a:ext cx="45360" cy="38376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11"/>
          <p:cNvSpPr/>
          <p:nvPr/>
        </p:nvSpPr>
        <p:spPr>
          <a:xfrm>
            <a:off x="4928760" y="374904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</a:rPr>
              <a:t>OverflowError — result too large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6" name="Shape 12"/>
          <p:cNvSpPr/>
          <p:nvPr/>
        </p:nvSpPr>
        <p:spPr>
          <a:xfrm>
            <a:off x="457200" y="4260960"/>
            <a:ext cx="4068720" cy="38376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Shape 13"/>
          <p:cNvSpPr/>
          <p:nvPr/>
        </p:nvSpPr>
        <p:spPr>
          <a:xfrm>
            <a:off x="457200" y="4260960"/>
            <a:ext cx="45360" cy="38376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14"/>
          <p:cNvSpPr/>
          <p:nvPr/>
        </p:nvSpPr>
        <p:spPr>
          <a:xfrm>
            <a:off x="585360" y="426096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</a:rPr>
              <a:t>TypeError — wrong object type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9" name="Shape 15"/>
          <p:cNvSpPr/>
          <p:nvPr/>
        </p:nvSpPr>
        <p:spPr>
          <a:xfrm>
            <a:off x="4800600" y="4260960"/>
            <a:ext cx="4068720" cy="38376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Shape 16"/>
          <p:cNvSpPr/>
          <p:nvPr/>
        </p:nvSpPr>
        <p:spPr>
          <a:xfrm>
            <a:off x="4800600" y="4260960"/>
            <a:ext cx="45360" cy="38376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17"/>
          <p:cNvSpPr/>
          <p:nvPr/>
        </p:nvSpPr>
        <p:spPr>
          <a:xfrm>
            <a:off x="4928760" y="426096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</a:rPr>
              <a:t>ValueError — right type, wrong content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62" name="Shape 18"/>
          <p:cNvSpPr/>
          <p:nvPr/>
        </p:nvSpPr>
        <p:spPr>
          <a:xfrm>
            <a:off x="457200" y="4773240"/>
            <a:ext cx="4068720" cy="38376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Shape 19"/>
          <p:cNvSpPr/>
          <p:nvPr/>
        </p:nvSpPr>
        <p:spPr>
          <a:xfrm>
            <a:off x="457200" y="4773240"/>
            <a:ext cx="45360" cy="38376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ext 20"/>
          <p:cNvSpPr/>
          <p:nvPr/>
        </p:nvSpPr>
        <p:spPr>
          <a:xfrm>
            <a:off x="585360" y="477324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</a:rPr>
              <a:t>NameError — undefined variable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65" name="Shape 21"/>
          <p:cNvSpPr/>
          <p:nvPr/>
        </p:nvSpPr>
        <p:spPr>
          <a:xfrm>
            <a:off x="4800600" y="4773240"/>
            <a:ext cx="4068720" cy="38376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Shape 22"/>
          <p:cNvSpPr/>
          <p:nvPr/>
        </p:nvSpPr>
        <p:spPr>
          <a:xfrm>
            <a:off x="4800600" y="4773240"/>
            <a:ext cx="45360" cy="38376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23"/>
          <p:cNvSpPr/>
          <p:nvPr/>
        </p:nvSpPr>
        <p:spPr>
          <a:xfrm>
            <a:off x="4928760" y="477324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</a:rPr>
              <a:t>UnboundLocalError — local var used before assignment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c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0" y="1280160"/>
            <a:ext cx="9143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ffffff"/>
                </a:solidFill>
                <a:latin typeface="Calibri"/>
              </a:rPr>
              <a:t>➗</a:t>
            </a:r>
            <a:endParaRPr b="0" lang="en-IN" sz="5400" spc="-1" strike="noStrike"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914400" y="2286000"/>
            <a:ext cx="7314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Arithmetic Errors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914400" y="301752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aaaaaa"/>
                </a:solidFill>
                <a:latin typeface="Calibri"/>
              </a:rPr>
              <a:t>Operations that are mathematically impossible or exceed numeric limits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0" y="0"/>
            <a:ext cx="9143640" cy="594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1"/>
          <p:cNvSpPr/>
          <p:nvPr/>
        </p:nvSpPr>
        <p:spPr>
          <a:xfrm>
            <a:off x="320040" y="0"/>
            <a:ext cx="8503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299" strike="noStrike">
                <a:solidFill>
                  <a:srgbClr val="ffffff"/>
                </a:solidFill>
                <a:latin typeface="Calibri"/>
              </a:rPr>
              <a:t>ARITHMETIC ERRORS   ›   ZeroDivisionError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3" name="Shape 2"/>
          <p:cNvSpPr/>
          <p:nvPr/>
        </p:nvSpPr>
        <p:spPr>
          <a:xfrm>
            <a:off x="274320" y="685800"/>
            <a:ext cx="54360" cy="566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Text 3"/>
          <p:cNvSpPr/>
          <p:nvPr/>
        </p:nvSpPr>
        <p:spPr>
          <a:xfrm>
            <a:off x="411480" y="68580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b2a4a"/>
                </a:solidFill>
                <a:latin typeface="Consolas"/>
                <a:ea typeface="Consolas"/>
              </a:rPr>
              <a:t>ZeroDivisionError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75" name="Text 4"/>
          <p:cNvSpPr/>
          <p:nvPr/>
        </p:nvSpPr>
        <p:spPr>
          <a:xfrm>
            <a:off x="411480" y="98748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Raised when any number is divided (or modulo'd) by zero — integer or float.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76" name="Shape 5"/>
          <p:cNvSpPr/>
          <p:nvPr/>
        </p:nvSpPr>
        <p:spPr>
          <a:xfrm>
            <a:off x="274320" y="1325880"/>
            <a:ext cx="5668920" cy="452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7" name="Text 6"/>
          <p:cNvSpPr/>
          <p:nvPr/>
        </p:nvSpPr>
        <p:spPr>
          <a:xfrm>
            <a:off x="5120640" y="1362600"/>
            <a:ext cx="749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4b6fa5"/>
                </a:solidFill>
                <a:latin typeface="Calibri"/>
              </a:rPr>
              <a:t>Python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78" name="Text 7"/>
          <p:cNvSpPr/>
          <p:nvPr/>
        </p:nvSpPr>
        <p:spPr>
          <a:xfrm>
            <a:off x="438840" y="14356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1 — integer division by zero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9" name="Text 8"/>
          <p:cNvSpPr/>
          <p:nvPr/>
        </p:nvSpPr>
        <p:spPr>
          <a:xfrm>
            <a:off x="438840" y="16322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numerator   = 100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0" name="Text 9"/>
          <p:cNvSpPr/>
          <p:nvPr/>
        </p:nvSpPr>
        <p:spPr>
          <a:xfrm>
            <a:off x="438840" y="18288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denominator = 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1" name="Text 10"/>
          <p:cNvSpPr/>
          <p:nvPr/>
        </p:nvSpPr>
        <p:spPr>
          <a:xfrm>
            <a:off x="438840" y="20253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11"/>
          <p:cNvSpPr/>
          <p:nvPr/>
        </p:nvSpPr>
        <p:spPr>
          <a:xfrm>
            <a:off x="438840" y="2221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3" name="Text 12"/>
          <p:cNvSpPr/>
          <p:nvPr/>
        </p:nvSpPr>
        <p:spPr>
          <a:xfrm>
            <a:off x="438840" y="2418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result = numerator / denominator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4" name="Text 13"/>
          <p:cNvSpPr/>
          <p:nvPr/>
        </p:nvSpPr>
        <p:spPr>
          <a:xfrm>
            <a:off x="438840" y="2615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print('Result:', result)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5" name="Text 14"/>
          <p:cNvSpPr/>
          <p:nvPr/>
        </p:nvSpPr>
        <p:spPr>
          <a:xfrm>
            <a:off x="438840" y="2811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ZeroDivisionError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6" name="Text 15"/>
          <p:cNvSpPr/>
          <p:nvPr/>
        </p:nvSpPr>
        <p:spPr>
          <a:xfrm>
            <a:off x="438840" y="30085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print('Caught ZeroDivisionError:',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7" name="Text 16"/>
          <p:cNvSpPr/>
          <p:nvPr/>
        </p:nvSpPr>
        <p:spPr>
          <a:xfrm>
            <a:off x="438840" y="32050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Text 17"/>
          <p:cNvSpPr/>
          <p:nvPr/>
        </p:nvSpPr>
        <p:spPr>
          <a:xfrm>
            <a:off x="438840" y="34016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2 — modulo by zero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9" name="Text 18"/>
          <p:cNvSpPr/>
          <p:nvPr/>
        </p:nvSpPr>
        <p:spPr>
          <a:xfrm>
            <a:off x="438840" y="35982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0" name="Text 19"/>
          <p:cNvSpPr/>
          <p:nvPr/>
        </p:nvSpPr>
        <p:spPr>
          <a:xfrm>
            <a:off x="438840" y="37947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remainder = 17 % 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1" name="Text 20"/>
          <p:cNvSpPr/>
          <p:nvPr/>
        </p:nvSpPr>
        <p:spPr>
          <a:xfrm>
            <a:off x="438840" y="39913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ZeroDivisionError: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2" name="Text 21"/>
          <p:cNvSpPr/>
          <p:nvPr/>
        </p:nvSpPr>
        <p:spPr>
          <a:xfrm>
            <a:off x="438840" y="41878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print('Modulo by zero is also illegal!')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3" name="Text 22"/>
          <p:cNvSpPr/>
          <p:nvPr/>
        </p:nvSpPr>
        <p:spPr>
          <a:xfrm>
            <a:off x="438840" y="43844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23"/>
          <p:cNvSpPr/>
          <p:nvPr/>
        </p:nvSpPr>
        <p:spPr>
          <a:xfrm>
            <a:off x="438840" y="45810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Safe division helper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5" name="Text 24"/>
          <p:cNvSpPr/>
          <p:nvPr/>
        </p:nvSpPr>
        <p:spPr>
          <a:xfrm>
            <a:off x="438840" y="4777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def safe_div(a, b):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6" name="Text 25"/>
          <p:cNvSpPr/>
          <p:nvPr/>
        </p:nvSpPr>
        <p:spPr>
          <a:xfrm>
            <a:off x="438840" y="4974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return a / b if b != 0 else 'undefined'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7" name="Text 26"/>
          <p:cNvSpPr/>
          <p:nvPr/>
        </p:nvSpPr>
        <p:spPr>
          <a:xfrm>
            <a:off x="438840" y="5171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27"/>
          <p:cNvSpPr/>
          <p:nvPr/>
        </p:nvSpPr>
        <p:spPr>
          <a:xfrm>
            <a:off x="438840" y="53676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print(safe_div(10, 2))   # 5.0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9" name="Text 28"/>
          <p:cNvSpPr/>
          <p:nvPr/>
        </p:nvSpPr>
        <p:spPr>
          <a:xfrm>
            <a:off x="438840" y="55641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print(safe_div(10, 0))   # undefined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0" name="Shape 29"/>
          <p:cNvSpPr/>
          <p:nvPr/>
        </p:nvSpPr>
        <p:spPr>
          <a:xfrm>
            <a:off x="6126480" y="1325880"/>
            <a:ext cx="2742840" cy="452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1" name="Shape 30"/>
          <p:cNvSpPr/>
          <p:nvPr/>
        </p:nvSpPr>
        <p:spPr>
          <a:xfrm>
            <a:off x="6126480" y="1325880"/>
            <a:ext cx="2742840" cy="347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31"/>
          <p:cNvSpPr/>
          <p:nvPr/>
        </p:nvSpPr>
        <p:spPr>
          <a:xfrm>
            <a:off x="6236280" y="13258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💡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Prevention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3" name="Text 32"/>
          <p:cNvSpPr/>
          <p:nvPr/>
        </p:nvSpPr>
        <p:spPr>
          <a:xfrm>
            <a:off x="6254640" y="17283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Always guard the denominator: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04" name="Text 33"/>
          <p:cNvSpPr/>
          <p:nvPr/>
        </p:nvSpPr>
        <p:spPr>
          <a:xfrm>
            <a:off x="6254640" y="19249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if b != 0: result = a / b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05" name="Text 34"/>
          <p:cNvSpPr/>
          <p:nvPr/>
        </p:nvSpPr>
        <p:spPr>
          <a:xfrm>
            <a:off x="6254640" y="21214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35"/>
          <p:cNvSpPr/>
          <p:nvPr/>
        </p:nvSpPr>
        <p:spPr>
          <a:xfrm>
            <a:off x="6254640" y="23180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Or use a try/except block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07" name="Text 36"/>
          <p:cNvSpPr/>
          <p:nvPr/>
        </p:nvSpPr>
        <p:spPr>
          <a:xfrm>
            <a:off x="6254640" y="251460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when input comes from users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08" name="Text 37"/>
          <p:cNvSpPr/>
          <p:nvPr/>
        </p:nvSpPr>
        <p:spPr>
          <a:xfrm>
            <a:off x="6254640" y="27111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or external sources.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09" name="Text 38"/>
          <p:cNvSpPr/>
          <p:nvPr/>
        </p:nvSpPr>
        <p:spPr>
          <a:xfrm>
            <a:off x="6254640" y="29077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39"/>
          <p:cNvSpPr/>
          <p:nvPr/>
        </p:nvSpPr>
        <p:spPr>
          <a:xfrm>
            <a:off x="6254640" y="31042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→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Never assume user input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11" name="Text 40"/>
          <p:cNvSpPr/>
          <p:nvPr/>
        </p:nvSpPr>
        <p:spPr>
          <a:xfrm>
            <a:off x="6254640" y="33008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is a non-zero number.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12" name="Shape 41"/>
          <p:cNvSpPr/>
          <p:nvPr/>
        </p:nvSpPr>
        <p:spPr>
          <a:xfrm>
            <a:off x="274320" y="6035040"/>
            <a:ext cx="8595000" cy="1133640"/>
          </a:xfrm>
          <a:prstGeom prst="rect">
            <a:avLst/>
          </a:prstGeom>
          <a:solidFill>
            <a:srgbClr val="062010"/>
          </a:solidFill>
          <a:ln w="19050">
            <a:solidFill>
              <a:srgbClr val="16a34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3" name="Text 42"/>
          <p:cNvSpPr/>
          <p:nvPr/>
        </p:nvSpPr>
        <p:spPr>
          <a:xfrm>
            <a:off x="438840" y="608976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✓  </a:t>
            </a: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Program 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14" name="Text 43"/>
          <p:cNvSpPr/>
          <p:nvPr/>
        </p:nvSpPr>
        <p:spPr>
          <a:xfrm>
            <a:off x="438840" y="630936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Caught ZeroDivisionError: division by zero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5" name="Text 44"/>
          <p:cNvSpPr/>
          <p:nvPr/>
        </p:nvSpPr>
        <p:spPr>
          <a:xfrm>
            <a:off x="438840" y="650592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Modulo by zero is also illegal!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6" name="Text 45"/>
          <p:cNvSpPr/>
          <p:nvPr/>
        </p:nvSpPr>
        <p:spPr>
          <a:xfrm>
            <a:off x="438840" y="670248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5.0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7" name="Text 46"/>
          <p:cNvSpPr/>
          <p:nvPr/>
        </p:nvSpPr>
        <p:spPr>
          <a:xfrm>
            <a:off x="438840" y="689904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undefined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0"/>
          <p:cNvSpPr/>
          <p:nvPr/>
        </p:nvSpPr>
        <p:spPr>
          <a:xfrm>
            <a:off x="0" y="0"/>
            <a:ext cx="9143640" cy="594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1"/>
          <p:cNvSpPr/>
          <p:nvPr/>
        </p:nvSpPr>
        <p:spPr>
          <a:xfrm>
            <a:off x="320040" y="0"/>
            <a:ext cx="8503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299" strike="noStrike">
                <a:solidFill>
                  <a:srgbClr val="ffffff"/>
                </a:solidFill>
                <a:latin typeface="Calibri"/>
              </a:rPr>
              <a:t>ARITHMETIC ERRORS   ›   OverflowError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0" name="Shape 2"/>
          <p:cNvSpPr/>
          <p:nvPr/>
        </p:nvSpPr>
        <p:spPr>
          <a:xfrm>
            <a:off x="274320" y="685800"/>
            <a:ext cx="54360" cy="566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3"/>
          <p:cNvSpPr/>
          <p:nvPr/>
        </p:nvSpPr>
        <p:spPr>
          <a:xfrm>
            <a:off x="411480" y="68580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b2a4a"/>
                </a:solidFill>
                <a:latin typeface="Consolas"/>
                <a:ea typeface="Consolas"/>
              </a:rPr>
              <a:t>OverflowError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22" name="Text 4"/>
          <p:cNvSpPr/>
          <p:nvPr/>
        </p:nvSpPr>
        <p:spPr>
          <a:xfrm>
            <a:off x="411480" y="98748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Raised when a floating-point arithmetic result is too large to be represented.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3" name="Shape 5"/>
          <p:cNvSpPr/>
          <p:nvPr/>
        </p:nvSpPr>
        <p:spPr>
          <a:xfrm>
            <a:off x="274320" y="1325880"/>
            <a:ext cx="5668920" cy="4132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4" name="Text 6"/>
          <p:cNvSpPr/>
          <p:nvPr/>
        </p:nvSpPr>
        <p:spPr>
          <a:xfrm>
            <a:off x="5120640" y="1362600"/>
            <a:ext cx="749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4b6fa5"/>
                </a:solidFill>
                <a:latin typeface="Calibri"/>
              </a:rPr>
              <a:t>Python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438840" y="14356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import math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6" name="Text 8"/>
          <p:cNvSpPr/>
          <p:nvPr/>
        </p:nvSpPr>
        <p:spPr>
          <a:xfrm>
            <a:off x="438840" y="16322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9"/>
          <p:cNvSpPr/>
          <p:nvPr/>
        </p:nvSpPr>
        <p:spPr>
          <a:xfrm>
            <a:off x="438840" y="18288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1 — math.exp with huge value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8" name="Text 10"/>
          <p:cNvSpPr/>
          <p:nvPr/>
        </p:nvSpPr>
        <p:spPr>
          <a:xfrm>
            <a:off x="438840" y="20253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9" name="Text 11"/>
          <p:cNvSpPr/>
          <p:nvPr/>
        </p:nvSpPr>
        <p:spPr>
          <a:xfrm>
            <a:off x="438840" y="2221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huge = math.exp(1000)   # e^1000 overflows float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0" name="Text 12"/>
          <p:cNvSpPr/>
          <p:nvPr/>
        </p:nvSpPr>
        <p:spPr>
          <a:xfrm>
            <a:off x="438840" y="2418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print(huge)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1" name="Text 13"/>
          <p:cNvSpPr/>
          <p:nvPr/>
        </p:nvSpPr>
        <p:spPr>
          <a:xfrm>
            <a:off x="438840" y="2615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OverflowError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2" name="Text 14"/>
          <p:cNvSpPr/>
          <p:nvPr/>
        </p:nvSpPr>
        <p:spPr>
          <a:xfrm>
            <a:off x="438840" y="2811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print('OverflowError caught:',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3" name="Text 15"/>
          <p:cNvSpPr/>
          <p:nvPr/>
        </p:nvSpPr>
        <p:spPr>
          <a:xfrm>
            <a:off x="438840" y="30085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16"/>
          <p:cNvSpPr/>
          <p:nvPr/>
        </p:nvSpPr>
        <p:spPr>
          <a:xfrm>
            <a:off x="438840" y="32050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2 — Python integers never overflow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5" name="Text 17"/>
          <p:cNvSpPr/>
          <p:nvPr/>
        </p:nvSpPr>
        <p:spPr>
          <a:xfrm>
            <a:off x="438840" y="34016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(they grow arbitrarily large)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6" name="Text 18"/>
          <p:cNvSpPr/>
          <p:nvPr/>
        </p:nvSpPr>
        <p:spPr>
          <a:xfrm>
            <a:off x="438840" y="35982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big_int = 10 ** 500          # totally fine!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7" name="Text 19"/>
          <p:cNvSpPr/>
          <p:nvPr/>
        </p:nvSpPr>
        <p:spPr>
          <a:xfrm>
            <a:off x="438840" y="37947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print('Big int OK, digits:', len(str(big_int)))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8" name="Text 20"/>
          <p:cNvSpPr/>
          <p:nvPr/>
        </p:nvSpPr>
        <p:spPr>
          <a:xfrm>
            <a:off x="438840" y="39913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21"/>
          <p:cNvSpPr/>
          <p:nvPr/>
        </p:nvSpPr>
        <p:spPr>
          <a:xfrm>
            <a:off x="438840" y="41878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3 — float overflow via multiplication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0" name="Text 22"/>
          <p:cNvSpPr/>
          <p:nvPr/>
        </p:nvSpPr>
        <p:spPr>
          <a:xfrm>
            <a:off x="438840" y="43844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1" name="Text 23"/>
          <p:cNvSpPr/>
          <p:nvPr/>
        </p:nvSpPr>
        <p:spPr>
          <a:xfrm>
            <a:off x="438840" y="45810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x = 1.8e308 * 10        # beyond float max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2" name="Text 24"/>
          <p:cNvSpPr/>
          <p:nvPr/>
        </p:nvSpPr>
        <p:spPr>
          <a:xfrm>
            <a:off x="438840" y="4777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print(x)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3" name="Text 25"/>
          <p:cNvSpPr/>
          <p:nvPr/>
        </p:nvSpPr>
        <p:spPr>
          <a:xfrm>
            <a:off x="438840" y="4974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OverflowError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4" name="Text 26"/>
          <p:cNvSpPr/>
          <p:nvPr/>
        </p:nvSpPr>
        <p:spPr>
          <a:xfrm>
            <a:off x="438840" y="5171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print('Float overflow:',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5" name="Shape 27"/>
          <p:cNvSpPr/>
          <p:nvPr/>
        </p:nvSpPr>
        <p:spPr>
          <a:xfrm>
            <a:off x="6126480" y="1325880"/>
            <a:ext cx="2742840" cy="413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6" name="Shape 28"/>
          <p:cNvSpPr/>
          <p:nvPr/>
        </p:nvSpPr>
        <p:spPr>
          <a:xfrm>
            <a:off x="6126480" y="1325880"/>
            <a:ext cx="2742840" cy="347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29"/>
          <p:cNvSpPr/>
          <p:nvPr/>
        </p:nvSpPr>
        <p:spPr>
          <a:xfrm>
            <a:off x="6236280" y="13258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💡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Prevention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8" name="Text 30"/>
          <p:cNvSpPr/>
          <p:nvPr/>
        </p:nvSpPr>
        <p:spPr>
          <a:xfrm>
            <a:off x="6254640" y="17283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Use Python's int for big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49" name="Text 31"/>
          <p:cNvSpPr/>
          <p:nvPr/>
        </p:nvSpPr>
        <p:spPr>
          <a:xfrm>
            <a:off x="6254640" y="19249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numbers — no overflow.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50" name="Text 32"/>
          <p:cNvSpPr/>
          <p:nvPr/>
        </p:nvSpPr>
        <p:spPr>
          <a:xfrm>
            <a:off x="6254640" y="21214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33"/>
          <p:cNvSpPr/>
          <p:nvPr/>
        </p:nvSpPr>
        <p:spPr>
          <a:xfrm>
            <a:off x="6254640" y="23180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For floats, clamp inputs: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52" name="Text 34"/>
          <p:cNvSpPr/>
          <p:nvPr/>
        </p:nvSpPr>
        <p:spPr>
          <a:xfrm>
            <a:off x="6254640" y="251460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import sys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53" name="Text 35"/>
          <p:cNvSpPr/>
          <p:nvPr/>
        </p:nvSpPr>
        <p:spPr>
          <a:xfrm>
            <a:off x="6254640" y="27111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if x &gt; sys.float_info.max: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54" name="Text 36"/>
          <p:cNvSpPr/>
          <p:nvPr/>
        </p:nvSpPr>
        <p:spPr>
          <a:xfrm>
            <a:off x="6254640" y="29077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x = sys.float_info.max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55" name="Text 37"/>
          <p:cNvSpPr/>
          <p:nvPr/>
        </p:nvSpPr>
        <p:spPr>
          <a:xfrm>
            <a:off x="6254640" y="31042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38"/>
          <p:cNvSpPr/>
          <p:nvPr/>
        </p:nvSpPr>
        <p:spPr>
          <a:xfrm>
            <a:off x="6254640" y="33008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Or use the decimal module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57" name="Text 39"/>
          <p:cNvSpPr/>
          <p:nvPr/>
        </p:nvSpPr>
        <p:spPr>
          <a:xfrm>
            <a:off x="6254640" y="34977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for arbitrary precision.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58" name="Shape 40"/>
          <p:cNvSpPr/>
          <p:nvPr/>
        </p:nvSpPr>
        <p:spPr>
          <a:xfrm>
            <a:off x="274320" y="5641920"/>
            <a:ext cx="8595000" cy="937080"/>
          </a:xfrm>
          <a:prstGeom prst="rect">
            <a:avLst/>
          </a:prstGeom>
          <a:solidFill>
            <a:srgbClr val="062010"/>
          </a:solidFill>
          <a:ln w="19050">
            <a:solidFill>
              <a:srgbClr val="16a34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9" name="Text 41"/>
          <p:cNvSpPr/>
          <p:nvPr/>
        </p:nvSpPr>
        <p:spPr>
          <a:xfrm>
            <a:off x="438840" y="569664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✓  </a:t>
            </a: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Program 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60" name="Text 42"/>
          <p:cNvSpPr/>
          <p:nvPr/>
        </p:nvSpPr>
        <p:spPr>
          <a:xfrm>
            <a:off x="438840" y="591624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OverflowError caught: math range error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1" name="Text 43"/>
          <p:cNvSpPr/>
          <p:nvPr/>
        </p:nvSpPr>
        <p:spPr>
          <a:xfrm>
            <a:off x="438840" y="611280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Big int OK, digits: 501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2" name="Text 44"/>
          <p:cNvSpPr/>
          <p:nvPr/>
        </p:nvSpPr>
        <p:spPr>
          <a:xfrm>
            <a:off x="438840" y="630936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Float overflow: (34, 'Result too large')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6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0"/>
          <p:cNvSpPr/>
          <p:nvPr/>
        </p:nvSpPr>
        <p:spPr>
          <a:xfrm>
            <a:off x="0" y="1280160"/>
            <a:ext cx="9143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ffffff"/>
                </a:solidFill>
                <a:latin typeface="Calibri"/>
              </a:rPr>
              <a:t>🔤</a:t>
            </a:r>
            <a:endParaRPr b="0" lang="en-IN" sz="5400" spc="-1" strike="noStrike">
              <a:latin typeface="Arial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914400" y="2286000"/>
            <a:ext cx="7314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Type &amp; Value Errors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65" name="Text 2"/>
          <p:cNvSpPr/>
          <p:nvPr/>
        </p:nvSpPr>
        <p:spPr>
          <a:xfrm>
            <a:off x="914400" y="301752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aaaaaa"/>
                </a:solidFill>
                <a:latin typeface="Calibri"/>
              </a:rPr>
              <a:t>Using the wrong type of object, or the right type with invalid content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0"/>
          <p:cNvSpPr/>
          <p:nvPr/>
        </p:nvSpPr>
        <p:spPr>
          <a:xfrm>
            <a:off x="0" y="0"/>
            <a:ext cx="9143640" cy="59400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1"/>
          <p:cNvSpPr/>
          <p:nvPr/>
        </p:nvSpPr>
        <p:spPr>
          <a:xfrm>
            <a:off x="320040" y="0"/>
            <a:ext cx="8503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299" strike="noStrike">
                <a:solidFill>
                  <a:srgbClr val="ffffff"/>
                </a:solidFill>
                <a:latin typeface="Calibri"/>
              </a:rPr>
              <a:t>TYPE &amp; VALUE ERRORS   ›   TypeError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8" name="Shape 2"/>
          <p:cNvSpPr/>
          <p:nvPr/>
        </p:nvSpPr>
        <p:spPr>
          <a:xfrm>
            <a:off x="274320" y="685800"/>
            <a:ext cx="54360" cy="56664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Text 3"/>
          <p:cNvSpPr/>
          <p:nvPr/>
        </p:nvSpPr>
        <p:spPr>
          <a:xfrm>
            <a:off x="411480" y="68580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b2a4a"/>
                </a:solidFill>
                <a:latin typeface="Consolas"/>
                <a:ea typeface="Consolas"/>
              </a:rPr>
              <a:t>TypeError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411480" y="98748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Raised when an operation is applied to an object of an inappropriate type.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1" name="Shape 5"/>
          <p:cNvSpPr/>
          <p:nvPr/>
        </p:nvSpPr>
        <p:spPr>
          <a:xfrm>
            <a:off x="274320" y="1325880"/>
            <a:ext cx="5668920" cy="47224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2" name="Text 6"/>
          <p:cNvSpPr/>
          <p:nvPr/>
        </p:nvSpPr>
        <p:spPr>
          <a:xfrm>
            <a:off x="5120640" y="1362600"/>
            <a:ext cx="749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4b6fa5"/>
                </a:solidFill>
                <a:latin typeface="Calibri"/>
              </a:rPr>
              <a:t>Python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73" name="Text 7"/>
          <p:cNvSpPr/>
          <p:nvPr/>
        </p:nvSpPr>
        <p:spPr>
          <a:xfrm>
            <a:off x="438840" y="14356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1 — cannot concatenate str and int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4" name="Text 8"/>
          <p:cNvSpPr/>
          <p:nvPr/>
        </p:nvSpPr>
        <p:spPr>
          <a:xfrm>
            <a:off x="438840" y="16322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item  = 'Laptop'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5" name="Text 9"/>
          <p:cNvSpPr/>
          <p:nvPr/>
        </p:nvSpPr>
        <p:spPr>
          <a:xfrm>
            <a:off x="438840" y="18288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price = 999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6" name="Text 10"/>
          <p:cNvSpPr/>
          <p:nvPr/>
        </p:nvSpPr>
        <p:spPr>
          <a:xfrm>
            <a:off x="438840" y="20253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7" name="Text 11"/>
          <p:cNvSpPr/>
          <p:nvPr/>
        </p:nvSpPr>
        <p:spPr>
          <a:xfrm>
            <a:off x="438840" y="2221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label = item + price      # str + int  ← illegal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8" name="Text 12"/>
          <p:cNvSpPr/>
          <p:nvPr/>
        </p:nvSpPr>
        <p:spPr>
          <a:xfrm>
            <a:off x="438840" y="2418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TypeError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9" name="Text 13"/>
          <p:cNvSpPr/>
          <p:nvPr/>
        </p:nvSpPr>
        <p:spPr>
          <a:xfrm>
            <a:off x="438840" y="2615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print('TypeError:',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0" name="Text 14"/>
          <p:cNvSpPr/>
          <p:nvPr/>
        </p:nvSpPr>
        <p:spPr>
          <a:xfrm>
            <a:off x="438840" y="2811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label = item + str(price) # fix: convert first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1" name="Text 15"/>
          <p:cNvSpPr/>
          <p:nvPr/>
        </p:nvSpPr>
        <p:spPr>
          <a:xfrm>
            <a:off x="438840" y="30085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print('Fixed:', label)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2" name="Text 16"/>
          <p:cNvSpPr/>
          <p:nvPr/>
        </p:nvSpPr>
        <p:spPr>
          <a:xfrm>
            <a:off x="438840" y="32050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17"/>
          <p:cNvSpPr/>
          <p:nvPr/>
        </p:nvSpPr>
        <p:spPr>
          <a:xfrm>
            <a:off x="438840" y="34016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2 — len() on a non-sequence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4" name="Text 18"/>
          <p:cNvSpPr/>
          <p:nvPr/>
        </p:nvSpPr>
        <p:spPr>
          <a:xfrm>
            <a:off x="438840" y="35982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5" name="Text 19"/>
          <p:cNvSpPr/>
          <p:nvPr/>
        </p:nvSpPr>
        <p:spPr>
          <a:xfrm>
            <a:off x="438840" y="37947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size = len(42)             # int has no length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6" name="Text 20"/>
          <p:cNvSpPr/>
          <p:nvPr/>
        </p:nvSpPr>
        <p:spPr>
          <a:xfrm>
            <a:off x="438840" y="39913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TypeError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7" name="Text 21"/>
          <p:cNvSpPr/>
          <p:nvPr/>
        </p:nvSpPr>
        <p:spPr>
          <a:xfrm>
            <a:off x="438840" y="41878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print('TypeError:',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8" name="Text 22"/>
          <p:cNvSpPr/>
          <p:nvPr/>
        </p:nvSpPr>
        <p:spPr>
          <a:xfrm>
            <a:off x="438840" y="43844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Text 23"/>
          <p:cNvSpPr/>
          <p:nvPr/>
        </p:nvSpPr>
        <p:spPr>
          <a:xfrm>
            <a:off x="438840" y="45810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3 — wrong number of arguments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0" name="Text 24"/>
          <p:cNvSpPr/>
          <p:nvPr/>
        </p:nvSpPr>
        <p:spPr>
          <a:xfrm>
            <a:off x="438840" y="4777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def add(a, b):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1" name="Text 25"/>
          <p:cNvSpPr/>
          <p:nvPr/>
        </p:nvSpPr>
        <p:spPr>
          <a:xfrm>
            <a:off x="438840" y="4974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return a + b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2" name="Text 26"/>
          <p:cNvSpPr/>
          <p:nvPr/>
        </p:nvSpPr>
        <p:spPr>
          <a:xfrm>
            <a:off x="438840" y="5171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3" name="Text 27"/>
          <p:cNvSpPr/>
          <p:nvPr/>
        </p:nvSpPr>
        <p:spPr>
          <a:xfrm>
            <a:off x="438840" y="53676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result = add(1, 2, 3)     # too many args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4" name="Text 28"/>
          <p:cNvSpPr/>
          <p:nvPr/>
        </p:nvSpPr>
        <p:spPr>
          <a:xfrm>
            <a:off x="438840" y="55641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TypeError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5" name="Text 29"/>
          <p:cNvSpPr/>
          <p:nvPr/>
        </p:nvSpPr>
        <p:spPr>
          <a:xfrm>
            <a:off x="438840" y="57607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print('TypeError:',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6" name="Shape 30"/>
          <p:cNvSpPr/>
          <p:nvPr/>
        </p:nvSpPr>
        <p:spPr>
          <a:xfrm>
            <a:off x="6126480" y="1325880"/>
            <a:ext cx="2742840" cy="4722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7" name="Shape 31"/>
          <p:cNvSpPr/>
          <p:nvPr/>
        </p:nvSpPr>
        <p:spPr>
          <a:xfrm>
            <a:off x="6126480" y="1325880"/>
            <a:ext cx="2742840" cy="34704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32"/>
          <p:cNvSpPr/>
          <p:nvPr/>
        </p:nvSpPr>
        <p:spPr>
          <a:xfrm>
            <a:off x="6236280" y="13258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💡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Prevention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9" name="Text 33"/>
          <p:cNvSpPr/>
          <p:nvPr/>
        </p:nvSpPr>
        <p:spPr>
          <a:xfrm>
            <a:off x="6254640" y="17283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Convert types explicitly: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00" name="Text 34"/>
          <p:cNvSpPr/>
          <p:nvPr/>
        </p:nvSpPr>
        <p:spPr>
          <a:xfrm>
            <a:off x="6254640" y="19249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str(x)  int(x)  float(x)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01" name="Text 35"/>
          <p:cNvSpPr/>
          <p:nvPr/>
        </p:nvSpPr>
        <p:spPr>
          <a:xfrm>
            <a:off x="6254640" y="21214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36"/>
          <p:cNvSpPr/>
          <p:nvPr/>
        </p:nvSpPr>
        <p:spPr>
          <a:xfrm>
            <a:off x="6254640" y="23180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Check type before use: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03" name="Text 37"/>
          <p:cNvSpPr/>
          <p:nvPr/>
        </p:nvSpPr>
        <p:spPr>
          <a:xfrm>
            <a:off x="6254640" y="251460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if isinstance(x, int):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04" name="Text 38"/>
          <p:cNvSpPr/>
          <p:nvPr/>
        </p:nvSpPr>
        <p:spPr>
          <a:xfrm>
            <a:off x="6254640" y="27111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...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05" name="Text 39"/>
          <p:cNvSpPr/>
          <p:nvPr/>
        </p:nvSpPr>
        <p:spPr>
          <a:xfrm>
            <a:off x="6254640" y="29077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40"/>
          <p:cNvSpPr/>
          <p:nvPr/>
        </p:nvSpPr>
        <p:spPr>
          <a:xfrm>
            <a:off x="6254640" y="31042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Use type hints to catch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07" name="Text 41"/>
          <p:cNvSpPr/>
          <p:nvPr/>
        </p:nvSpPr>
        <p:spPr>
          <a:xfrm>
            <a:off x="6254640" y="33008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errors before runtime: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08" name="Text 42"/>
          <p:cNvSpPr/>
          <p:nvPr/>
        </p:nvSpPr>
        <p:spPr>
          <a:xfrm>
            <a:off x="6254640" y="34977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def add(a: int, b: int)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09" name="Shape 43"/>
          <p:cNvSpPr/>
          <p:nvPr/>
        </p:nvSpPr>
        <p:spPr>
          <a:xfrm>
            <a:off x="274320" y="6231600"/>
            <a:ext cx="8595000" cy="1133640"/>
          </a:xfrm>
          <a:prstGeom prst="rect">
            <a:avLst/>
          </a:prstGeom>
          <a:solidFill>
            <a:srgbClr val="062010"/>
          </a:solidFill>
          <a:ln w="19050">
            <a:solidFill>
              <a:srgbClr val="16a34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0" name="Text 44"/>
          <p:cNvSpPr/>
          <p:nvPr/>
        </p:nvSpPr>
        <p:spPr>
          <a:xfrm>
            <a:off x="438840" y="628668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✓  </a:t>
            </a: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Program 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11" name="Text 45"/>
          <p:cNvSpPr/>
          <p:nvPr/>
        </p:nvSpPr>
        <p:spPr>
          <a:xfrm>
            <a:off x="438840" y="650592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TypeError: can only concatenate str (not 'int') to str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2" name="Text 46"/>
          <p:cNvSpPr/>
          <p:nvPr/>
        </p:nvSpPr>
        <p:spPr>
          <a:xfrm>
            <a:off x="438840" y="670248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Fixed: Laptop999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3" name="Text 47"/>
          <p:cNvSpPr/>
          <p:nvPr/>
        </p:nvSpPr>
        <p:spPr>
          <a:xfrm>
            <a:off x="438840" y="689904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TypeError: object of type 'int' has no len()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4" name="Text 48"/>
          <p:cNvSpPr/>
          <p:nvPr/>
        </p:nvSpPr>
        <p:spPr>
          <a:xfrm>
            <a:off x="438840" y="709560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TypeError: add() takes 2 positional arguments but 3 were given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0"/>
          <p:cNvSpPr/>
          <p:nvPr/>
        </p:nvSpPr>
        <p:spPr>
          <a:xfrm>
            <a:off x="0" y="0"/>
            <a:ext cx="9143640" cy="59400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1"/>
          <p:cNvSpPr/>
          <p:nvPr/>
        </p:nvSpPr>
        <p:spPr>
          <a:xfrm>
            <a:off x="320040" y="0"/>
            <a:ext cx="8503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299" strike="noStrike">
                <a:solidFill>
                  <a:srgbClr val="ffffff"/>
                </a:solidFill>
                <a:latin typeface="Calibri"/>
              </a:rPr>
              <a:t>TYPE &amp; VALUE ERRORS   ›   ValueError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7" name="Shape 2"/>
          <p:cNvSpPr/>
          <p:nvPr/>
        </p:nvSpPr>
        <p:spPr>
          <a:xfrm>
            <a:off x="274320" y="685800"/>
            <a:ext cx="54360" cy="56664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3"/>
          <p:cNvSpPr/>
          <p:nvPr/>
        </p:nvSpPr>
        <p:spPr>
          <a:xfrm>
            <a:off x="411480" y="68580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b2a4a"/>
                </a:solidFill>
                <a:latin typeface="Consolas"/>
                <a:ea typeface="Consolas"/>
              </a:rPr>
              <a:t>ValueError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19" name="Text 4"/>
          <p:cNvSpPr/>
          <p:nvPr/>
        </p:nvSpPr>
        <p:spPr>
          <a:xfrm>
            <a:off x="411480" y="98748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Raised when a function receives an argument of the right type but an invalid value.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0" name="Shape 5"/>
          <p:cNvSpPr/>
          <p:nvPr/>
        </p:nvSpPr>
        <p:spPr>
          <a:xfrm>
            <a:off x="274320" y="1325880"/>
            <a:ext cx="5668920" cy="53121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1" name="Text 6"/>
          <p:cNvSpPr/>
          <p:nvPr/>
        </p:nvSpPr>
        <p:spPr>
          <a:xfrm>
            <a:off x="5120640" y="1362600"/>
            <a:ext cx="749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4b6fa5"/>
                </a:solidFill>
                <a:latin typeface="Calibri"/>
              </a:rPr>
              <a:t>Python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22" name="Text 7"/>
          <p:cNvSpPr/>
          <p:nvPr/>
        </p:nvSpPr>
        <p:spPr>
          <a:xfrm>
            <a:off x="438840" y="14356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import math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3" name="Text 8"/>
          <p:cNvSpPr/>
          <p:nvPr/>
        </p:nvSpPr>
        <p:spPr>
          <a:xfrm>
            <a:off x="438840" y="16322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9"/>
          <p:cNvSpPr/>
          <p:nvPr/>
        </p:nvSpPr>
        <p:spPr>
          <a:xfrm>
            <a:off x="438840" y="18288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1 — converting non-numeric string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5" name="Text 10"/>
          <p:cNvSpPr/>
          <p:nvPr/>
        </p:nvSpPr>
        <p:spPr>
          <a:xfrm>
            <a:off x="438840" y="20253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raw_input = 'eighty'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6" name="Text 11"/>
          <p:cNvSpPr/>
          <p:nvPr/>
        </p:nvSpPr>
        <p:spPr>
          <a:xfrm>
            <a:off x="438840" y="2221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7" name="Text 12"/>
          <p:cNvSpPr/>
          <p:nvPr/>
        </p:nvSpPr>
        <p:spPr>
          <a:xfrm>
            <a:off x="438840" y="2418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score = int(raw_input)     # can't parse 'eighty'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8" name="Text 13"/>
          <p:cNvSpPr/>
          <p:nvPr/>
        </p:nvSpPr>
        <p:spPr>
          <a:xfrm>
            <a:off x="438840" y="2615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ValueError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9" name="Text 14"/>
          <p:cNvSpPr/>
          <p:nvPr/>
        </p:nvSpPr>
        <p:spPr>
          <a:xfrm>
            <a:off x="438840" y="2811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print('ValueError:',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0" name="Text 15"/>
          <p:cNvSpPr/>
          <p:nvPr/>
        </p:nvSpPr>
        <p:spPr>
          <a:xfrm>
            <a:off x="438840" y="30085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Text 16"/>
          <p:cNvSpPr/>
          <p:nvPr/>
        </p:nvSpPr>
        <p:spPr>
          <a:xfrm>
            <a:off x="438840" y="32050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2 — sqrt of negative number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2" name="Text 17"/>
          <p:cNvSpPr/>
          <p:nvPr/>
        </p:nvSpPr>
        <p:spPr>
          <a:xfrm>
            <a:off x="438840" y="34016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3" name="Text 18"/>
          <p:cNvSpPr/>
          <p:nvPr/>
        </p:nvSpPr>
        <p:spPr>
          <a:xfrm>
            <a:off x="438840" y="35982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result = math.sqrt(-25)    # not a real number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4" name="Text 19"/>
          <p:cNvSpPr/>
          <p:nvPr/>
        </p:nvSpPr>
        <p:spPr>
          <a:xfrm>
            <a:off x="438840" y="37947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ValueError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5" name="Text 20"/>
          <p:cNvSpPr/>
          <p:nvPr/>
        </p:nvSpPr>
        <p:spPr>
          <a:xfrm>
            <a:off x="438840" y="39913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print('ValueError:',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6" name="Text 21"/>
          <p:cNvSpPr/>
          <p:nvPr/>
        </p:nvSpPr>
        <p:spPr>
          <a:xfrm>
            <a:off x="438840" y="41878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Text 22"/>
          <p:cNvSpPr/>
          <p:nvPr/>
        </p:nvSpPr>
        <p:spPr>
          <a:xfrm>
            <a:off x="438840" y="43844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3 — unpacking wrong number of values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8" name="Text 23"/>
          <p:cNvSpPr/>
          <p:nvPr/>
        </p:nvSpPr>
        <p:spPr>
          <a:xfrm>
            <a:off x="438840" y="45810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coords = '10,20,30'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9" name="Text 24"/>
          <p:cNvSpPr/>
          <p:nvPr/>
        </p:nvSpPr>
        <p:spPr>
          <a:xfrm>
            <a:off x="438840" y="4777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0" name="Text 25"/>
          <p:cNvSpPr/>
          <p:nvPr/>
        </p:nvSpPr>
        <p:spPr>
          <a:xfrm>
            <a:off x="438840" y="4974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x, y = coords.split(',')  # 3 values → 2 vars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1" name="Text 26"/>
          <p:cNvSpPr/>
          <p:nvPr/>
        </p:nvSpPr>
        <p:spPr>
          <a:xfrm>
            <a:off x="438840" y="5171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ValueError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2" name="Text 27"/>
          <p:cNvSpPr/>
          <p:nvPr/>
        </p:nvSpPr>
        <p:spPr>
          <a:xfrm>
            <a:off x="438840" y="53676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print('ValueError:',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3" name="Text 28"/>
          <p:cNvSpPr/>
          <p:nvPr/>
        </p:nvSpPr>
        <p:spPr>
          <a:xfrm>
            <a:off x="438840" y="55641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 29"/>
          <p:cNvSpPr/>
          <p:nvPr/>
        </p:nvSpPr>
        <p:spPr>
          <a:xfrm>
            <a:off x="438840" y="57607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Safe conversion pattern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5" name="Text 30"/>
          <p:cNvSpPr/>
          <p:nvPr/>
        </p:nvSpPr>
        <p:spPr>
          <a:xfrm>
            <a:off x="438840" y="59572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def to_int(s):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6" name="Text 31"/>
          <p:cNvSpPr/>
          <p:nvPr/>
        </p:nvSpPr>
        <p:spPr>
          <a:xfrm>
            <a:off x="438840" y="61538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    return int(s)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7" name="Text 32"/>
          <p:cNvSpPr/>
          <p:nvPr/>
        </p:nvSpPr>
        <p:spPr>
          <a:xfrm>
            <a:off x="438840" y="63504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ValueError: return None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8" name="Shape 33"/>
          <p:cNvSpPr/>
          <p:nvPr/>
        </p:nvSpPr>
        <p:spPr>
          <a:xfrm>
            <a:off x="6126480" y="1325880"/>
            <a:ext cx="2742840" cy="5312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9" name="Shape 34"/>
          <p:cNvSpPr/>
          <p:nvPr/>
        </p:nvSpPr>
        <p:spPr>
          <a:xfrm>
            <a:off x="6126480" y="1325880"/>
            <a:ext cx="2742840" cy="34704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Text 35"/>
          <p:cNvSpPr/>
          <p:nvPr/>
        </p:nvSpPr>
        <p:spPr>
          <a:xfrm>
            <a:off x="6236280" y="13258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💡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Prevention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1" name="Text 36"/>
          <p:cNvSpPr/>
          <p:nvPr/>
        </p:nvSpPr>
        <p:spPr>
          <a:xfrm>
            <a:off x="6254640" y="17283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Validate before converting: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52" name="Text 37"/>
          <p:cNvSpPr/>
          <p:nvPr/>
        </p:nvSpPr>
        <p:spPr>
          <a:xfrm>
            <a:off x="6254640" y="19249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if s.isdigit(): int(s)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53" name="Text 38"/>
          <p:cNvSpPr/>
          <p:nvPr/>
        </p:nvSpPr>
        <p:spPr>
          <a:xfrm>
            <a:off x="6254640" y="21214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Text 39"/>
          <p:cNvSpPr/>
          <p:nvPr/>
        </p:nvSpPr>
        <p:spPr>
          <a:xfrm>
            <a:off x="6254640" y="23180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Use try/except around all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55" name="Text 40"/>
          <p:cNvSpPr/>
          <p:nvPr/>
        </p:nvSpPr>
        <p:spPr>
          <a:xfrm>
            <a:off x="6254640" y="251460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user input conversions.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56" name="Text 41"/>
          <p:cNvSpPr/>
          <p:nvPr/>
        </p:nvSpPr>
        <p:spPr>
          <a:xfrm>
            <a:off x="6254640" y="27111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42"/>
          <p:cNvSpPr/>
          <p:nvPr/>
        </p:nvSpPr>
        <p:spPr>
          <a:xfrm>
            <a:off x="6254640" y="29077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For math operations,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58" name="Text 43"/>
          <p:cNvSpPr/>
          <p:nvPr/>
        </p:nvSpPr>
        <p:spPr>
          <a:xfrm>
            <a:off x="6254640" y="31042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check domain constraints: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59" name="Text 44"/>
          <p:cNvSpPr/>
          <p:nvPr/>
        </p:nvSpPr>
        <p:spPr>
          <a:xfrm>
            <a:off x="6254640" y="33008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if x &gt;= 0: math.sqrt(x)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60" name="Text 45"/>
          <p:cNvSpPr/>
          <p:nvPr/>
        </p:nvSpPr>
        <p:spPr>
          <a:xfrm>
            <a:off x="6254640" y="34977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Text 46"/>
          <p:cNvSpPr/>
          <p:nvPr/>
        </p:nvSpPr>
        <p:spPr>
          <a:xfrm>
            <a:off x="6254640" y="36943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Use .split(',', maxsplit=1)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62" name="Text 47"/>
          <p:cNvSpPr/>
          <p:nvPr/>
        </p:nvSpPr>
        <p:spPr>
          <a:xfrm>
            <a:off x="6254640" y="38908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to limit unpacking.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63" name="Shape 48"/>
          <p:cNvSpPr/>
          <p:nvPr/>
        </p:nvSpPr>
        <p:spPr>
          <a:xfrm>
            <a:off x="274320" y="6821280"/>
            <a:ext cx="8595000" cy="937080"/>
          </a:xfrm>
          <a:prstGeom prst="rect">
            <a:avLst/>
          </a:prstGeom>
          <a:solidFill>
            <a:srgbClr val="062010"/>
          </a:solidFill>
          <a:ln w="19050">
            <a:solidFill>
              <a:srgbClr val="16a34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4" name="Text 49"/>
          <p:cNvSpPr/>
          <p:nvPr/>
        </p:nvSpPr>
        <p:spPr>
          <a:xfrm>
            <a:off x="438840" y="687636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✓  </a:t>
            </a: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Program 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65" name="Text 50"/>
          <p:cNvSpPr/>
          <p:nvPr/>
        </p:nvSpPr>
        <p:spPr>
          <a:xfrm>
            <a:off x="438840" y="709560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ValueError: invalid literal for int() with base 10: 'eighty'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6" name="Text 51"/>
          <p:cNvSpPr/>
          <p:nvPr/>
        </p:nvSpPr>
        <p:spPr>
          <a:xfrm>
            <a:off x="438840" y="729252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ValueError: math domain error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7" name="Text 52"/>
          <p:cNvSpPr/>
          <p:nvPr/>
        </p:nvSpPr>
        <p:spPr>
          <a:xfrm>
            <a:off x="438840" y="748908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ValueError: too many values to unpack (expected 2)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 0"/>
          <p:cNvSpPr/>
          <p:nvPr/>
        </p:nvSpPr>
        <p:spPr>
          <a:xfrm>
            <a:off x="0" y="1280160"/>
            <a:ext cx="9143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ffffff"/>
                </a:solidFill>
                <a:latin typeface="Calibri"/>
              </a:rPr>
              <a:t>🔍</a:t>
            </a:r>
            <a:endParaRPr b="0" lang="en-IN" sz="5400" spc="-1" strike="noStrike">
              <a:latin typeface="Arial"/>
            </a:endParaRPr>
          </a:p>
        </p:txBody>
      </p:sp>
      <p:sp>
        <p:nvSpPr>
          <p:cNvPr id="269" name="Text 1"/>
          <p:cNvSpPr/>
          <p:nvPr/>
        </p:nvSpPr>
        <p:spPr>
          <a:xfrm>
            <a:off x="914400" y="2286000"/>
            <a:ext cx="7314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Name &amp; Scope Errors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70" name="Text 2"/>
          <p:cNvSpPr/>
          <p:nvPr/>
        </p:nvSpPr>
        <p:spPr>
          <a:xfrm>
            <a:off x="914400" y="301752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aaaaaa"/>
                </a:solidFill>
                <a:latin typeface="Calibri"/>
              </a:rPr>
              <a:t>Using variables or attributes that are undefined or out of scope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0"/>
          <p:cNvSpPr/>
          <p:nvPr/>
        </p:nvSpPr>
        <p:spPr>
          <a:xfrm>
            <a:off x="0" y="0"/>
            <a:ext cx="9143640" cy="594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Text 1"/>
          <p:cNvSpPr/>
          <p:nvPr/>
        </p:nvSpPr>
        <p:spPr>
          <a:xfrm>
            <a:off x="320040" y="0"/>
            <a:ext cx="8503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299" strike="noStrike">
                <a:solidFill>
                  <a:srgbClr val="ffffff"/>
                </a:solidFill>
                <a:latin typeface="Calibri"/>
              </a:rPr>
              <a:t>NAME &amp; SCOPE ERRORS   ›   NameError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3" name="Shape 2"/>
          <p:cNvSpPr/>
          <p:nvPr/>
        </p:nvSpPr>
        <p:spPr>
          <a:xfrm>
            <a:off x="274320" y="685800"/>
            <a:ext cx="54360" cy="566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Text 3"/>
          <p:cNvSpPr/>
          <p:nvPr/>
        </p:nvSpPr>
        <p:spPr>
          <a:xfrm>
            <a:off x="411480" y="68580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b2a4a"/>
                </a:solidFill>
                <a:latin typeface="Consolas"/>
                <a:ea typeface="Consolas"/>
              </a:rPr>
              <a:t>NameError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75" name="Text 4"/>
          <p:cNvSpPr/>
          <p:nvPr/>
        </p:nvSpPr>
        <p:spPr>
          <a:xfrm>
            <a:off x="411480" y="98748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Raised when a local or global name (variable/function) is used before it is defined.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6" name="Shape 5"/>
          <p:cNvSpPr/>
          <p:nvPr/>
        </p:nvSpPr>
        <p:spPr>
          <a:xfrm>
            <a:off x="274320" y="1325880"/>
            <a:ext cx="5668920" cy="4329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7" name="Text 6"/>
          <p:cNvSpPr/>
          <p:nvPr/>
        </p:nvSpPr>
        <p:spPr>
          <a:xfrm>
            <a:off x="5120640" y="1362600"/>
            <a:ext cx="749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4b6fa5"/>
                </a:solidFill>
                <a:latin typeface="Calibri"/>
              </a:rPr>
              <a:t>Python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78" name="Text 7"/>
          <p:cNvSpPr/>
          <p:nvPr/>
        </p:nvSpPr>
        <p:spPr>
          <a:xfrm>
            <a:off x="438840" y="14356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1 — using a variable before defining it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9" name="Text 8"/>
          <p:cNvSpPr/>
          <p:nvPr/>
        </p:nvSpPr>
        <p:spPr>
          <a:xfrm>
            <a:off x="438840" y="16322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0" name="Text 9"/>
          <p:cNvSpPr/>
          <p:nvPr/>
        </p:nvSpPr>
        <p:spPr>
          <a:xfrm>
            <a:off x="438840" y="18288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print('City:', city_name)   # never defined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1" name="Text 10"/>
          <p:cNvSpPr/>
          <p:nvPr/>
        </p:nvSpPr>
        <p:spPr>
          <a:xfrm>
            <a:off x="438840" y="20253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NameError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2" name="Text 11"/>
          <p:cNvSpPr/>
          <p:nvPr/>
        </p:nvSpPr>
        <p:spPr>
          <a:xfrm>
            <a:off x="438840" y="2221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print('NameError:',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3" name="Text 12"/>
          <p:cNvSpPr/>
          <p:nvPr/>
        </p:nvSpPr>
        <p:spPr>
          <a:xfrm>
            <a:off x="438840" y="2418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Text 13"/>
          <p:cNvSpPr/>
          <p:nvPr/>
        </p:nvSpPr>
        <p:spPr>
          <a:xfrm>
            <a:off x="438840" y="2615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2 — typo in variable name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5" name="Text 14"/>
          <p:cNvSpPr/>
          <p:nvPr/>
        </p:nvSpPr>
        <p:spPr>
          <a:xfrm>
            <a:off x="438840" y="2811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total_score = 450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6" name="Text 15"/>
          <p:cNvSpPr/>
          <p:nvPr/>
        </p:nvSpPr>
        <p:spPr>
          <a:xfrm>
            <a:off x="438840" y="30085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7" name="Text 16"/>
          <p:cNvSpPr/>
          <p:nvPr/>
        </p:nvSpPr>
        <p:spPr>
          <a:xfrm>
            <a:off x="438840" y="32050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print(totalscore)            # missing underscore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8" name="Text 17"/>
          <p:cNvSpPr/>
          <p:nvPr/>
        </p:nvSpPr>
        <p:spPr>
          <a:xfrm>
            <a:off x="438840" y="34016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NameError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9" name="Text 18"/>
          <p:cNvSpPr/>
          <p:nvPr/>
        </p:nvSpPr>
        <p:spPr>
          <a:xfrm>
            <a:off x="438840" y="35982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print('NameError:',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0" name="Text 19"/>
          <p:cNvSpPr/>
          <p:nvPr/>
        </p:nvSpPr>
        <p:spPr>
          <a:xfrm>
            <a:off x="438840" y="37947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 20"/>
          <p:cNvSpPr/>
          <p:nvPr/>
        </p:nvSpPr>
        <p:spPr>
          <a:xfrm>
            <a:off x="438840" y="39913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3 — using before import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2" name="Text 21"/>
          <p:cNvSpPr/>
          <p:nvPr/>
        </p:nvSpPr>
        <p:spPr>
          <a:xfrm>
            <a:off x="438840" y="41878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3" name="Text 22"/>
          <p:cNvSpPr/>
          <p:nvPr/>
        </p:nvSpPr>
        <p:spPr>
          <a:xfrm>
            <a:off x="438840" y="43844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result = sqrt(16)            # math not imported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4" name="Text 23"/>
          <p:cNvSpPr/>
          <p:nvPr/>
        </p:nvSpPr>
        <p:spPr>
          <a:xfrm>
            <a:off x="438840" y="45810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NameError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5" name="Text 24"/>
          <p:cNvSpPr/>
          <p:nvPr/>
        </p:nvSpPr>
        <p:spPr>
          <a:xfrm>
            <a:off x="438840" y="4777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print('NameError:',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6" name="Text 25"/>
          <p:cNvSpPr/>
          <p:nvPr/>
        </p:nvSpPr>
        <p:spPr>
          <a:xfrm>
            <a:off x="438840" y="4974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from math import sqrt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7" name="Text 26"/>
          <p:cNvSpPr/>
          <p:nvPr/>
        </p:nvSpPr>
        <p:spPr>
          <a:xfrm>
            <a:off x="438840" y="5171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result = sqrt(16)            # now works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8" name="Text 27"/>
          <p:cNvSpPr/>
          <p:nvPr/>
        </p:nvSpPr>
        <p:spPr>
          <a:xfrm>
            <a:off x="438840" y="53676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print('sqrt(16) =', result)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9" name="Shape 28"/>
          <p:cNvSpPr/>
          <p:nvPr/>
        </p:nvSpPr>
        <p:spPr>
          <a:xfrm>
            <a:off x="6126480" y="1325880"/>
            <a:ext cx="2742840" cy="432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0" name="Shape 29"/>
          <p:cNvSpPr/>
          <p:nvPr/>
        </p:nvSpPr>
        <p:spPr>
          <a:xfrm>
            <a:off x="6126480" y="1325880"/>
            <a:ext cx="2742840" cy="347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Text 30"/>
          <p:cNvSpPr/>
          <p:nvPr/>
        </p:nvSpPr>
        <p:spPr>
          <a:xfrm>
            <a:off x="6236280" y="13258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💡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Prevention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2" name="Text 31"/>
          <p:cNvSpPr/>
          <p:nvPr/>
        </p:nvSpPr>
        <p:spPr>
          <a:xfrm>
            <a:off x="6254640" y="17283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Define variables before use.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03" name="Text 32"/>
          <p:cNvSpPr/>
          <p:nvPr/>
        </p:nvSpPr>
        <p:spPr>
          <a:xfrm>
            <a:off x="6254640" y="19249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Text 33"/>
          <p:cNvSpPr/>
          <p:nvPr/>
        </p:nvSpPr>
        <p:spPr>
          <a:xfrm>
            <a:off x="6254640" y="21214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Check for typos — Python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05" name="Text 34"/>
          <p:cNvSpPr/>
          <p:nvPr/>
        </p:nvSpPr>
        <p:spPr>
          <a:xfrm>
            <a:off x="6254640" y="23180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is case-sensitive: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06" name="Text 35"/>
          <p:cNvSpPr/>
          <p:nvPr/>
        </p:nvSpPr>
        <p:spPr>
          <a:xfrm>
            <a:off x="6254640" y="251460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myVar ≠ myvar ≠ MyVar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07" name="Text 36"/>
          <p:cNvSpPr/>
          <p:nvPr/>
        </p:nvSpPr>
        <p:spPr>
          <a:xfrm>
            <a:off x="6254640" y="27111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Text 37"/>
          <p:cNvSpPr/>
          <p:nvPr/>
        </p:nvSpPr>
        <p:spPr>
          <a:xfrm>
            <a:off x="6254640" y="29077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Import modules at the top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09" name="Text 38"/>
          <p:cNvSpPr/>
          <p:nvPr/>
        </p:nvSpPr>
        <p:spPr>
          <a:xfrm>
            <a:off x="6254640" y="31042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of the file, not mid-code.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10" name="Text 39"/>
          <p:cNvSpPr/>
          <p:nvPr/>
        </p:nvSpPr>
        <p:spPr>
          <a:xfrm>
            <a:off x="6254640" y="33008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Text 40"/>
          <p:cNvSpPr/>
          <p:nvPr/>
        </p:nvSpPr>
        <p:spPr>
          <a:xfrm>
            <a:off x="6254640" y="34977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Use an IDE with linting to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12" name="Text 41"/>
          <p:cNvSpPr/>
          <p:nvPr/>
        </p:nvSpPr>
        <p:spPr>
          <a:xfrm>
            <a:off x="6254640" y="36943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catch NameErrors early.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13" name="Shape 42"/>
          <p:cNvSpPr/>
          <p:nvPr/>
        </p:nvSpPr>
        <p:spPr>
          <a:xfrm>
            <a:off x="274320" y="5838480"/>
            <a:ext cx="8595000" cy="1133640"/>
          </a:xfrm>
          <a:prstGeom prst="rect">
            <a:avLst/>
          </a:prstGeom>
          <a:solidFill>
            <a:srgbClr val="062010"/>
          </a:solidFill>
          <a:ln w="19050">
            <a:solidFill>
              <a:srgbClr val="16a34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4" name="Text 43"/>
          <p:cNvSpPr/>
          <p:nvPr/>
        </p:nvSpPr>
        <p:spPr>
          <a:xfrm>
            <a:off x="438840" y="589320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✓  </a:t>
            </a: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Program 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15" name="Text 44"/>
          <p:cNvSpPr/>
          <p:nvPr/>
        </p:nvSpPr>
        <p:spPr>
          <a:xfrm>
            <a:off x="438840" y="611280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NameError: name 'city_name' is not defined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6" name="Text 45"/>
          <p:cNvSpPr/>
          <p:nvPr/>
        </p:nvSpPr>
        <p:spPr>
          <a:xfrm>
            <a:off x="438840" y="630936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NameError: name 'totalscore' is not defined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7" name="Text 46"/>
          <p:cNvSpPr/>
          <p:nvPr/>
        </p:nvSpPr>
        <p:spPr>
          <a:xfrm>
            <a:off x="438840" y="650592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NameError: name 'sqrt' is not defined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8" name="Text 47"/>
          <p:cNvSpPr/>
          <p:nvPr/>
        </p:nvSpPr>
        <p:spPr>
          <a:xfrm>
            <a:off x="438840" y="670248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sqrt(16) = 4.0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0"/>
          <p:cNvSpPr/>
          <p:nvPr/>
        </p:nvSpPr>
        <p:spPr>
          <a:xfrm>
            <a:off x="0" y="0"/>
            <a:ext cx="9143640" cy="594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Text 1"/>
          <p:cNvSpPr/>
          <p:nvPr/>
        </p:nvSpPr>
        <p:spPr>
          <a:xfrm>
            <a:off x="320040" y="0"/>
            <a:ext cx="8503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299" strike="noStrike">
                <a:solidFill>
                  <a:srgbClr val="ffffff"/>
                </a:solidFill>
                <a:latin typeface="Calibri"/>
              </a:rPr>
              <a:t>NAME &amp; SCOPE ERRORS   ›   UnboundLocalError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21" name="Shape 2"/>
          <p:cNvSpPr/>
          <p:nvPr/>
        </p:nvSpPr>
        <p:spPr>
          <a:xfrm>
            <a:off x="274320" y="685800"/>
            <a:ext cx="54360" cy="566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Text 3"/>
          <p:cNvSpPr/>
          <p:nvPr/>
        </p:nvSpPr>
        <p:spPr>
          <a:xfrm>
            <a:off x="411480" y="68580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b2a4a"/>
                </a:solidFill>
                <a:latin typeface="Consolas"/>
                <a:ea typeface="Consolas"/>
              </a:rPr>
              <a:t>UnboundLocalError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23" name="Text 4"/>
          <p:cNvSpPr/>
          <p:nvPr/>
        </p:nvSpPr>
        <p:spPr>
          <a:xfrm>
            <a:off x="411480" y="98748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Raised when a local variable is referenced before it has been assigned inside a function.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4" name="Shape 5"/>
          <p:cNvSpPr/>
          <p:nvPr/>
        </p:nvSpPr>
        <p:spPr>
          <a:xfrm>
            <a:off x="274320" y="1325880"/>
            <a:ext cx="5668920" cy="51156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5" name="Text 6"/>
          <p:cNvSpPr/>
          <p:nvPr/>
        </p:nvSpPr>
        <p:spPr>
          <a:xfrm>
            <a:off x="5120640" y="1362600"/>
            <a:ext cx="749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4b6fa5"/>
                </a:solidFill>
                <a:latin typeface="Calibri"/>
              </a:rPr>
              <a:t>Python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26" name="Text 7"/>
          <p:cNvSpPr/>
          <p:nvPr/>
        </p:nvSpPr>
        <p:spPr>
          <a:xfrm>
            <a:off x="438840" y="14356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Example 1 — modifying global inside function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7" name="Text 8"/>
          <p:cNvSpPr/>
          <p:nvPr/>
        </p:nvSpPr>
        <p:spPr>
          <a:xfrm>
            <a:off x="438840" y="16322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counter = 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8" name="Text 9"/>
          <p:cNvSpPr/>
          <p:nvPr/>
        </p:nvSpPr>
        <p:spPr>
          <a:xfrm>
            <a:off x="438840" y="18288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Text 10"/>
          <p:cNvSpPr/>
          <p:nvPr/>
        </p:nvSpPr>
        <p:spPr>
          <a:xfrm>
            <a:off x="438840" y="20253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def broken_increment():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0" name="Text 11"/>
          <p:cNvSpPr/>
          <p:nvPr/>
        </p:nvSpPr>
        <p:spPr>
          <a:xfrm>
            <a:off x="438840" y="2221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Python sees 'counter +=' below and marks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1" name="Text 12"/>
          <p:cNvSpPr/>
          <p:nvPr/>
        </p:nvSpPr>
        <p:spPr>
          <a:xfrm>
            <a:off x="438840" y="2418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'counter' as LOCAL — then tries to read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2" name="Text 13"/>
          <p:cNvSpPr/>
          <p:nvPr/>
        </p:nvSpPr>
        <p:spPr>
          <a:xfrm>
            <a:off x="438840" y="2615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it before the assignment happens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3" name="Text 14"/>
          <p:cNvSpPr/>
          <p:nvPr/>
        </p:nvSpPr>
        <p:spPr>
          <a:xfrm>
            <a:off x="438840" y="28119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counter += 1              # ← UnboundLocalError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4" name="Text 15"/>
          <p:cNvSpPr/>
          <p:nvPr/>
        </p:nvSpPr>
        <p:spPr>
          <a:xfrm>
            <a:off x="438840" y="30085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5" name="Text 16"/>
          <p:cNvSpPr/>
          <p:nvPr/>
        </p:nvSpPr>
        <p:spPr>
          <a:xfrm>
            <a:off x="438840" y="32050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try: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6" name="Text 17"/>
          <p:cNvSpPr/>
          <p:nvPr/>
        </p:nvSpPr>
        <p:spPr>
          <a:xfrm>
            <a:off x="438840" y="34016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broken_increment()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7" name="Text 18"/>
          <p:cNvSpPr/>
          <p:nvPr/>
        </p:nvSpPr>
        <p:spPr>
          <a:xfrm>
            <a:off x="438840" y="35982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except UnboundLocalError as err: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8" name="Text 19"/>
          <p:cNvSpPr/>
          <p:nvPr/>
        </p:nvSpPr>
        <p:spPr>
          <a:xfrm>
            <a:off x="438840" y="37947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print('UnboundLocalError:', err)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9" name="Text 20"/>
          <p:cNvSpPr/>
          <p:nvPr/>
        </p:nvSpPr>
        <p:spPr>
          <a:xfrm>
            <a:off x="438840" y="39913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Text 21"/>
          <p:cNvSpPr/>
          <p:nvPr/>
        </p:nvSpPr>
        <p:spPr>
          <a:xfrm>
            <a:off x="438840" y="41878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Fix 1 — declare global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1" name="Text 22"/>
          <p:cNvSpPr/>
          <p:nvPr/>
        </p:nvSpPr>
        <p:spPr>
          <a:xfrm>
            <a:off x="438840" y="43844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def fixed_increment_v1():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2" name="Text 23"/>
          <p:cNvSpPr/>
          <p:nvPr/>
        </p:nvSpPr>
        <p:spPr>
          <a:xfrm>
            <a:off x="438840" y="45810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global counter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3" name="Text 24"/>
          <p:cNvSpPr/>
          <p:nvPr/>
        </p:nvSpPr>
        <p:spPr>
          <a:xfrm>
            <a:off x="438840" y="47779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counter += 1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4" name="Text 25"/>
          <p:cNvSpPr/>
          <p:nvPr/>
        </p:nvSpPr>
        <p:spPr>
          <a:xfrm>
            <a:off x="438840" y="49744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5" name="Text 26"/>
          <p:cNvSpPr/>
          <p:nvPr/>
        </p:nvSpPr>
        <p:spPr>
          <a:xfrm>
            <a:off x="438840" y="51710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8cad"/>
                </a:solidFill>
                <a:latin typeface="Consolas"/>
                <a:ea typeface="Consolas"/>
              </a:rPr>
              <a:t># Fix 2 — pass value as parameter (cleaner)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6" name="Text 27"/>
          <p:cNvSpPr/>
          <p:nvPr/>
        </p:nvSpPr>
        <p:spPr>
          <a:xfrm>
            <a:off x="438840" y="536760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def fixed_increment_v2(count):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7" name="Text 28"/>
          <p:cNvSpPr/>
          <p:nvPr/>
        </p:nvSpPr>
        <p:spPr>
          <a:xfrm>
            <a:off x="438840" y="556416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return count + 1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8" name="Text 29"/>
          <p:cNvSpPr/>
          <p:nvPr/>
        </p:nvSpPr>
        <p:spPr>
          <a:xfrm>
            <a:off x="438840" y="576072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Text 30"/>
          <p:cNvSpPr/>
          <p:nvPr/>
        </p:nvSpPr>
        <p:spPr>
          <a:xfrm>
            <a:off x="438840" y="595728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counter = fixed_increment_v2(counter)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50" name="Text 31"/>
          <p:cNvSpPr/>
          <p:nvPr/>
        </p:nvSpPr>
        <p:spPr>
          <a:xfrm>
            <a:off x="438840" y="6153840"/>
            <a:ext cx="5412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nsolas"/>
                <a:ea typeface="Consolas"/>
              </a:rPr>
              <a:t>print('Counter after fix:', counter)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51" name="Shape 32"/>
          <p:cNvSpPr/>
          <p:nvPr/>
        </p:nvSpPr>
        <p:spPr>
          <a:xfrm>
            <a:off x="6126480" y="1325880"/>
            <a:ext cx="2742840" cy="511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2" name="Shape 33"/>
          <p:cNvSpPr/>
          <p:nvPr/>
        </p:nvSpPr>
        <p:spPr>
          <a:xfrm>
            <a:off x="6126480" y="1325880"/>
            <a:ext cx="2742840" cy="347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3" name="Text 34"/>
          <p:cNvSpPr/>
          <p:nvPr/>
        </p:nvSpPr>
        <p:spPr>
          <a:xfrm>
            <a:off x="6236280" y="13258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💡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Prevention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54" name="Text 35"/>
          <p:cNvSpPr/>
          <p:nvPr/>
        </p:nvSpPr>
        <p:spPr>
          <a:xfrm>
            <a:off x="6254640" y="17283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Avoid modifying globals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55" name="Text 36"/>
          <p:cNvSpPr/>
          <p:nvPr/>
        </p:nvSpPr>
        <p:spPr>
          <a:xfrm>
            <a:off x="6254640" y="19249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inside functions.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56" name="Text 37"/>
          <p:cNvSpPr/>
          <p:nvPr/>
        </p:nvSpPr>
        <p:spPr>
          <a:xfrm>
            <a:off x="6254640" y="21214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7" name="Text 38"/>
          <p:cNvSpPr/>
          <p:nvPr/>
        </p:nvSpPr>
        <p:spPr>
          <a:xfrm>
            <a:off x="6254640" y="23180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Use 'global x' if you must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58" name="Text 39"/>
          <p:cNvSpPr/>
          <p:nvPr/>
        </p:nvSpPr>
        <p:spPr>
          <a:xfrm>
            <a:off x="6254640" y="251460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modify a global variable.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59" name="Text 40"/>
          <p:cNvSpPr/>
          <p:nvPr/>
        </p:nvSpPr>
        <p:spPr>
          <a:xfrm>
            <a:off x="6254640" y="27111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0" name="Text 41"/>
          <p:cNvSpPr/>
          <p:nvPr/>
        </p:nvSpPr>
        <p:spPr>
          <a:xfrm>
            <a:off x="6254640" y="29077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Better: pass values as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61" name="Text 42"/>
          <p:cNvSpPr/>
          <p:nvPr/>
        </p:nvSpPr>
        <p:spPr>
          <a:xfrm>
            <a:off x="6254640" y="31042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arguments and return them: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62" name="Text 43"/>
          <p:cNvSpPr/>
          <p:nvPr/>
        </p:nvSpPr>
        <p:spPr>
          <a:xfrm>
            <a:off x="6254640" y="330084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d9488"/>
                </a:solidFill>
                <a:latin typeface="Consolas"/>
                <a:ea typeface="Consolas"/>
              </a:rPr>
              <a:t>def f(x): return x + 1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63" name="Text 44"/>
          <p:cNvSpPr/>
          <p:nvPr/>
        </p:nvSpPr>
        <p:spPr>
          <a:xfrm>
            <a:off x="6254640" y="349776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4" name="Text 45"/>
          <p:cNvSpPr/>
          <p:nvPr/>
        </p:nvSpPr>
        <p:spPr>
          <a:xfrm>
            <a:off x="6254640" y="369432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Or use a class to hold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65" name="Text 46"/>
          <p:cNvSpPr/>
          <p:nvPr/>
        </p:nvSpPr>
        <p:spPr>
          <a:xfrm>
            <a:off x="6254640" y="3890880"/>
            <a:ext cx="25232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b2a4a"/>
                </a:solidFill>
                <a:latin typeface="Calibri"/>
                <a:ea typeface="Calibri"/>
              </a:rPr>
              <a:t>shared mutable state.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66" name="Shape 47"/>
          <p:cNvSpPr/>
          <p:nvPr/>
        </p:nvSpPr>
        <p:spPr>
          <a:xfrm>
            <a:off x="274320" y="6624720"/>
            <a:ext cx="8595000" cy="740160"/>
          </a:xfrm>
          <a:prstGeom prst="rect">
            <a:avLst/>
          </a:prstGeom>
          <a:solidFill>
            <a:srgbClr val="062010"/>
          </a:solidFill>
          <a:ln w="19050">
            <a:solidFill>
              <a:srgbClr val="16a34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7" name="Text 48"/>
          <p:cNvSpPr/>
          <p:nvPr/>
        </p:nvSpPr>
        <p:spPr>
          <a:xfrm>
            <a:off x="438840" y="667980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✓  </a:t>
            </a:r>
            <a:r>
              <a:rPr b="1" lang="en-US" sz="900" spc="-1" strike="noStrike">
                <a:solidFill>
                  <a:srgbClr val="16a34a"/>
                </a:solidFill>
                <a:latin typeface="Consolas"/>
                <a:ea typeface="Consolas"/>
              </a:rPr>
              <a:t>Program 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68" name="Text 49"/>
          <p:cNvSpPr/>
          <p:nvPr/>
        </p:nvSpPr>
        <p:spPr>
          <a:xfrm>
            <a:off x="438840" y="689904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UnboundLocalError: local variable 'counter' referenced before assignment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69" name="Text 50"/>
          <p:cNvSpPr/>
          <p:nvPr/>
        </p:nvSpPr>
        <p:spPr>
          <a:xfrm>
            <a:off x="438840" y="7095600"/>
            <a:ext cx="8320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nsolas"/>
                <a:ea typeface="Consolas"/>
              </a:rPr>
              <a:t>Counter after fix: 1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hape 0"/>
          <p:cNvSpPr/>
          <p:nvPr/>
        </p:nvSpPr>
        <p:spPr>
          <a:xfrm>
            <a:off x="0" y="0"/>
            <a:ext cx="182520" cy="514332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1" name="Text 1"/>
          <p:cNvSpPr/>
          <p:nvPr/>
        </p:nvSpPr>
        <p:spPr>
          <a:xfrm>
            <a:off x="411480" y="3200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Key Takeaways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372" name="Shape 2"/>
          <p:cNvSpPr/>
          <p:nvPr/>
        </p:nvSpPr>
        <p:spPr>
          <a:xfrm>
            <a:off x="411480" y="1005840"/>
            <a:ext cx="8320680" cy="56664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Shape 3"/>
          <p:cNvSpPr/>
          <p:nvPr/>
        </p:nvSpPr>
        <p:spPr>
          <a:xfrm>
            <a:off x="411480" y="1115640"/>
            <a:ext cx="347040" cy="347040"/>
          </a:xfrm>
          <a:prstGeom prst="ellipse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4" name="Text 4"/>
          <p:cNvSpPr/>
          <p:nvPr/>
        </p:nvSpPr>
        <p:spPr>
          <a:xfrm>
            <a:off x="411480" y="1115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75" name="Text 5"/>
          <p:cNvSpPr/>
          <p:nvPr/>
        </p:nvSpPr>
        <p:spPr>
          <a:xfrm>
            <a:off x="868680" y="1005840"/>
            <a:ext cx="7772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</a:rPr>
              <a:t>ZeroDivisionError — always check denominator != 0 before dividing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76" name="Shape 6"/>
          <p:cNvSpPr/>
          <p:nvPr/>
        </p:nvSpPr>
        <p:spPr>
          <a:xfrm>
            <a:off x="411480" y="1719000"/>
            <a:ext cx="8320680" cy="56664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7" name="Shape 7"/>
          <p:cNvSpPr/>
          <p:nvPr/>
        </p:nvSpPr>
        <p:spPr>
          <a:xfrm>
            <a:off x="411480" y="1828800"/>
            <a:ext cx="347040" cy="347040"/>
          </a:xfrm>
          <a:prstGeom prst="ellipse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8" name="Text 8"/>
          <p:cNvSpPr/>
          <p:nvPr/>
        </p:nvSpPr>
        <p:spPr>
          <a:xfrm>
            <a:off x="411480" y="1828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79" name="Text 9"/>
          <p:cNvSpPr/>
          <p:nvPr/>
        </p:nvSpPr>
        <p:spPr>
          <a:xfrm>
            <a:off x="868680" y="1719000"/>
            <a:ext cx="7772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</a:rPr>
              <a:t>OverflowError — Python int is safe; float has limits (use decimal for big precision)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80" name="Shape 10"/>
          <p:cNvSpPr/>
          <p:nvPr/>
        </p:nvSpPr>
        <p:spPr>
          <a:xfrm>
            <a:off x="411480" y="2432160"/>
            <a:ext cx="8320680" cy="56664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1" name="Shape 11"/>
          <p:cNvSpPr/>
          <p:nvPr/>
        </p:nvSpPr>
        <p:spPr>
          <a:xfrm>
            <a:off x="411480" y="2541960"/>
            <a:ext cx="347040" cy="347040"/>
          </a:xfrm>
          <a:prstGeom prst="ellipse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2" name="Text 12"/>
          <p:cNvSpPr/>
          <p:nvPr/>
        </p:nvSpPr>
        <p:spPr>
          <a:xfrm>
            <a:off x="411480" y="25419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83" name="Text 13"/>
          <p:cNvSpPr/>
          <p:nvPr/>
        </p:nvSpPr>
        <p:spPr>
          <a:xfrm>
            <a:off x="868680" y="2432160"/>
            <a:ext cx="7772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</a:rPr>
              <a:t>TypeError — convert types explicitly with str(), int(), float() before operations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84" name="Shape 14"/>
          <p:cNvSpPr/>
          <p:nvPr/>
        </p:nvSpPr>
        <p:spPr>
          <a:xfrm>
            <a:off x="411480" y="3145680"/>
            <a:ext cx="8320680" cy="56664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5" name="Shape 15"/>
          <p:cNvSpPr/>
          <p:nvPr/>
        </p:nvSpPr>
        <p:spPr>
          <a:xfrm>
            <a:off x="411480" y="3255120"/>
            <a:ext cx="347040" cy="347040"/>
          </a:xfrm>
          <a:prstGeom prst="ellipse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6" name="Text 16"/>
          <p:cNvSpPr/>
          <p:nvPr/>
        </p:nvSpPr>
        <p:spPr>
          <a:xfrm>
            <a:off x="411480" y="32551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87" name="Text 17"/>
          <p:cNvSpPr/>
          <p:nvPr/>
        </p:nvSpPr>
        <p:spPr>
          <a:xfrm>
            <a:off x="868680" y="3145680"/>
            <a:ext cx="7772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</a:rPr>
              <a:t>ValueError — validate content before conversion; use try/except for user input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88" name="Shape 18"/>
          <p:cNvSpPr/>
          <p:nvPr/>
        </p:nvSpPr>
        <p:spPr>
          <a:xfrm>
            <a:off x="411480" y="3858840"/>
            <a:ext cx="8320680" cy="56664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9" name="Shape 19"/>
          <p:cNvSpPr/>
          <p:nvPr/>
        </p:nvSpPr>
        <p:spPr>
          <a:xfrm>
            <a:off x="411480" y="3968640"/>
            <a:ext cx="347040" cy="347040"/>
          </a:xfrm>
          <a:prstGeom prst="ellipse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0" name="Text 20"/>
          <p:cNvSpPr/>
          <p:nvPr/>
        </p:nvSpPr>
        <p:spPr>
          <a:xfrm>
            <a:off x="411480" y="3968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91" name="Text 21"/>
          <p:cNvSpPr/>
          <p:nvPr/>
        </p:nvSpPr>
        <p:spPr>
          <a:xfrm>
            <a:off x="868680" y="3858840"/>
            <a:ext cx="7772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</a:rPr>
              <a:t>NameError — define variables before use; import modules at the top of your file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92" name="Shape 22"/>
          <p:cNvSpPr/>
          <p:nvPr/>
        </p:nvSpPr>
        <p:spPr>
          <a:xfrm>
            <a:off x="411480" y="4572000"/>
            <a:ext cx="8320680" cy="566640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3" name="Shape 23"/>
          <p:cNvSpPr/>
          <p:nvPr/>
        </p:nvSpPr>
        <p:spPr>
          <a:xfrm>
            <a:off x="411480" y="4681800"/>
            <a:ext cx="347040" cy="347040"/>
          </a:xfrm>
          <a:prstGeom prst="ellipse">
            <a:avLst/>
          </a:prstGeom>
          <a:solidFill>
            <a:srgbClr val="e8682a"/>
          </a:solidFill>
          <a:ln w="12700">
            <a:solidFill>
              <a:srgbClr val="e868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Text 24"/>
          <p:cNvSpPr/>
          <p:nvPr/>
        </p:nvSpPr>
        <p:spPr>
          <a:xfrm>
            <a:off x="411480" y="4681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95" name="Text 25"/>
          <p:cNvSpPr/>
          <p:nvPr/>
        </p:nvSpPr>
        <p:spPr>
          <a:xfrm>
            <a:off x="868680" y="4572000"/>
            <a:ext cx="7772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</a:rPr>
              <a:t>UnboundLocalError — avoid mutating globals in functions; prefer parameters + return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96" name="Text 26"/>
          <p:cNvSpPr/>
          <p:nvPr/>
        </p:nvSpPr>
        <p:spPr>
          <a:xfrm>
            <a:off x="457200" y="475488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4884a"/>
                </a:solidFill>
                <a:latin typeface="Calibri"/>
              </a:rPr>
              <a:t>"Write code that expects the unexpected."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2026-03-07T14:53:36Z</dcterms:created>
  <dc:creator>PptxGenJS</dc:creator>
  <dc:description/>
  <dc:language>en-IN</dc:language>
  <cp:lastModifiedBy>PptxGenJS</cp:lastModifiedBy>
  <dcterms:modified xsi:type="dcterms:W3CDTF">2026-03-07T14:53:36Z</dcterms:modified>
  <cp:revision>1</cp:revision>
  <dc:subject>PptxGenJS Presentation</dc:subject>
  <dc:title>Python Errors Part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