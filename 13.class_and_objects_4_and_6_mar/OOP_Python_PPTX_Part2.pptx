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move the slide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FEE29BC8-7BA1-48F6-8B4E-B47893020AAF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F9E47F2-321D-4008-91D0-15CCD0AF99F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8DE6346-28BF-4442-A1D2-DD3CEE8334A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A0F318-12DD-4F52-8DC1-44EF2315F49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51E2681-837C-4CEA-B4C3-3ECF389F8F0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17D8E5-E123-4739-B3B4-67D58A8CF5B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0912D0A-7B38-4688-9170-E4B71E06EDF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F4D9F9-F2F2-4657-A164-B5300E05F80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2EB8983-D2B6-4CEA-AA89-73495D7F447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0CFBFD-8CC2-4D23-B177-8756A23E701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35B535E-FA37-4A5C-A1C9-B737030A6F0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7152A13-1FD0-4C92-8E95-B6F3C6BBA21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D44F3D3-DD0F-4987-94ED-1E04B45D451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A2C74D8-5D50-4FA2-9DC9-C2FD4412368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edit the title text 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3472920" cy="5141880"/>
          </a:xfrm>
          <a:prstGeom prst="rect">
            <a:avLst/>
          </a:prstGeom>
          <a:solidFill>
            <a:srgbClr val="0c1526"/>
          </a:solidFill>
          <a:ln w="12700">
            <a:solidFill>
              <a:srgbClr val="0c15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3474720" y="0"/>
            <a:ext cx="5292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457200" y="548640"/>
            <a:ext cx="2375640" cy="23756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Text 3"/>
          <p:cNvSpPr/>
          <p:nvPr/>
        </p:nvSpPr>
        <p:spPr>
          <a:xfrm>
            <a:off x="457200" y="548640"/>
            <a:ext cx="237564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000000"/>
                </a:solidFill>
                <a:latin typeface="Calibri"/>
                <a:ea typeface="DejaVu Sans"/>
              </a:rPr>
              <a:t>🐍</a:t>
            </a:r>
            <a:endParaRPr b="0" lang="en-IN" sz="7200" spc="-1" strike="noStrike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274320" y="3108960"/>
            <a:ext cx="2924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386" strike="noStrike">
                <a:solidFill>
                  <a:srgbClr val="38bdf8"/>
                </a:solidFill>
                <a:latin typeface="Calibri"/>
                <a:ea typeface="DejaVu Sans"/>
              </a:rPr>
              <a:t>PYTHON OOP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3749040" y="457200"/>
            <a:ext cx="52102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DejaVu Sans"/>
              </a:rPr>
              <a:t>Object-Oriented</a:t>
            </a:r>
            <a:endParaRPr b="0" lang="en-IN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DejaVu Sans"/>
              </a:rPr>
              <a:t>Programming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3749040" y="1874520"/>
            <a:ext cx="5210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38bdf8"/>
                </a:solidFill>
                <a:latin typeface="Calibri"/>
                <a:ea typeface="DejaVu Sans"/>
              </a:rPr>
              <a:t>Session 8 · Part 2  |  File 2 of 2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3749040" y="2377440"/>
            <a:ext cx="5210280" cy="349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Text 8"/>
          <p:cNvSpPr/>
          <p:nvPr/>
        </p:nvSpPr>
        <p:spPr>
          <a:xfrm>
            <a:off x="3749040" y="2560320"/>
            <a:ext cx="5210280" cy="21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Instance Variables (Quick Review)</a:t>
            </a:r>
            <a:endParaRPr b="0" lang="en-IN" sz="14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Collections of Objects (Lists &amp; Dicts)</a:t>
            </a:r>
            <a:endParaRPr b="0" lang="en-IN" sz="14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Static Variables — Shared Across All Objects</a:t>
            </a:r>
            <a:endParaRPr b="0" lang="en-IN" sz="14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Static Methods — Utility Functions</a:t>
            </a:r>
            <a:endParaRPr b="0" lang="en-IN" sz="14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Complete ATM Class — Everything Together</a:t>
            </a:r>
            <a:endParaRPr b="0" lang="en-IN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Shape 1"/>
          <p:cNvSpPr/>
          <p:nvPr/>
        </p:nvSpPr>
        <p:spPr>
          <a:xfrm>
            <a:off x="0" y="0"/>
            <a:ext cx="9142200" cy="711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Text 2"/>
          <p:cNvSpPr/>
          <p:nvPr/>
        </p:nvSpPr>
        <p:spPr>
          <a:xfrm>
            <a:off x="182880" y="0"/>
            <a:ext cx="713052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Instance Variables – Quick Review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7" name="Text 4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Before We Proceed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182880" y="804600"/>
            <a:ext cx="8776440" cy="1278360"/>
          </a:xfrm>
          <a:prstGeom prst="rect">
            <a:avLst/>
          </a:prstGeom>
          <a:solidFill>
            <a:srgbClr val="0a1628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" name="Shape 6"/>
          <p:cNvSpPr/>
          <p:nvPr/>
        </p:nvSpPr>
        <p:spPr>
          <a:xfrm>
            <a:off x="182880" y="804600"/>
            <a:ext cx="52920" cy="12783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Text 7"/>
          <p:cNvSpPr/>
          <p:nvPr/>
        </p:nvSpPr>
        <p:spPr>
          <a:xfrm>
            <a:off x="365760" y="89604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88" strike="noStrike">
                <a:solidFill>
                  <a:srgbClr val="38bdf8"/>
                </a:solidFill>
                <a:latin typeface="Calibri"/>
                <a:ea typeface="DejaVu Sans"/>
              </a:rPr>
              <a:t>INSTANCE VARIABLE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1" name="Text 8"/>
          <p:cNvSpPr/>
          <p:nvPr/>
        </p:nvSpPr>
        <p:spPr>
          <a:xfrm>
            <a:off x="365760" y="1188720"/>
            <a:ext cx="8319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DejaVu Sans"/>
              </a:rPr>
              <a:t>A variable defined inside __init__ using self. Its value is UNIQUE per object — every object gets its own copy in memory.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2" name="Shape 9"/>
          <p:cNvSpPr/>
          <p:nvPr/>
        </p:nvSpPr>
        <p:spPr>
          <a:xfrm>
            <a:off x="182880" y="2212920"/>
            <a:ext cx="5118840" cy="260424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" name="Shape 10"/>
          <p:cNvSpPr/>
          <p:nvPr/>
        </p:nvSpPr>
        <p:spPr>
          <a:xfrm>
            <a:off x="182880" y="2212920"/>
            <a:ext cx="5118840" cy="25416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Shape 11"/>
          <p:cNvSpPr/>
          <p:nvPr/>
        </p:nvSpPr>
        <p:spPr>
          <a:xfrm>
            <a:off x="292680" y="2277000"/>
            <a:ext cx="108000" cy="1080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Shape 12"/>
          <p:cNvSpPr/>
          <p:nvPr/>
        </p:nvSpPr>
        <p:spPr>
          <a:xfrm>
            <a:off x="475560" y="2277000"/>
            <a:ext cx="108000" cy="1080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Shape 13"/>
          <p:cNvSpPr/>
          <p:nvPr/>
        </p:nvSpPr>
        <p:spPr>
          <a:xfrm>
            <a:off x="658440" y="2277000"/>
            <a:ext cx="108000" cy="10800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4"/>
          <p:cNvSpPr/>
          <p:nvPr/>
        </p:nvSpPr>
        <p:spPr>
          <a:xfrm>
            <a:off x="182880" y="2231280"/>
            <a:ext cx="50274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instance_demo.py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68" name="Text 15"/>
          <p:cNvSpPr/>
          <p:nvPr/>
        </p:nvSpPr>
        <p:spPr>
          <a:xfrm>
            <a:off x="292680" y="2487240"/>
            <a:ext cx="4890240" cy="22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Employee: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emp_name, department):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.emp_name = emp_name        # instance variable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.department = department    # instance variable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emp1 = Employee(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'Alex'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'Engineering'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emp2 = Employee(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'Jordan'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'Marketing'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In memory: TWO separate emp_name values exist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emp1.emp_name = 'Alex'        emp2.emp_name = 'Jordan'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emp1.department = 'Engineering'  emp2.department = 'Marketing'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  <p:sp>
        <p:nvSpPr>
          <p:cNvPr id="69" name="Shape 16"/>
          <p:cNvSpPr/>
          <p:nvPr/>
        </p:nvSpPr>
        <p:spPr>
          <a:xfrm>
            <a:off x="5486400" y="2212920"/>
            <a:ext cx="3472920" cy="26042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" name="Text 17"/>
          <p:cNvSpPr/>
          <p:nvPr/>
        </p:nvSpPr>
        <p:spPr>
          <a:xfrm>
            <a:off x="5623560" y="2331720"/>
            <a:ext cx="3198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38bdf8"/>
                </a:solidFill>
                <a:latin typeface="Calibri"/>
                <a:ea typeface="DejaVu Sans"/>
              </a:rPr>
              <a:t>The Key Rule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71" name="Text 18"/>
          <p:cNvSpPr/>
          <p:nvPr/>
        </p:nvSpPr>
        <p:spPr>
          <a:xfrm>
            <a:off x="5623560" y="2788920"/>
            <a:ext cx="319860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Defined with self. inside __init__</a:t>
            </a:r>
            <a:endParaRPr b="0" lang="en-IN" sz="12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Value is DIFFERENT for every object</a:t>
            </a:r>
            <a:endParaRPr b="0" lang="en-IN" sz="12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Each object owns its own copy in RAM</a:t>
            </a:r>
            <a:endParaRPr b="0" lang="en-IN" sz="12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One variable name → multiple values (one per object)</a:t>
            </a:r>
            <a:endParaRPr b="0" lang="en-IN" sz="12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Most class attributes should be instance variables</a:t>
            </a:r>
            <a:endParaRPr b="0" lang="en-IN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0" y="0"/>
            <a:ext cx="9142200" cy="5141880"/>
          </a:xfrm>
          <a:prstGeom prst="rect">
            <a:avLst/>
          </a:prstGeom>
          <a:solidFill>
            <a:srgbClr val="162032">
              <a:alpha val="80000"/>
            </a:srgbClr>
          </a:solidFill>
          <a:ln w="12700">
            <a:solidFill>
              <a:srgbClr val="16203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" name="Text 1"/>
          <p:cNvSpPr/>
          <p:nvPr/>
        </p:nvSpPr>
        <p:spPr>
          <a:xfrm>
            <a:off x="274320" y="457200"/>
            <a:ext cx="2284200" cy="27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0" spc="-1" strike="noStrike">
                <a:solidFill>
                  <a:srgbClr val="38bdf8">
                    <a:alpha val="30000"/>
                  </a:srgbClr>
                </a:solidFill>
                <a:latin typeface="Calibri"/>
                <a:ea typeface="DejaVu Sans"/>
              </a:rPr>
              <a:t>06</a:t>
            </a:r>
            <a:endParaRPr b="0" lang="en-IN" sz="13000" spc="-1" strike="noStrike">
              <a:latin typeface="Arial"/>
            </a:endParaRPr>
          </a:p>
        </p:txBody>
      </p:sp>
      <p:sp>
        <p:nvSpPr>
          <p:cNvPr id="74" name="Shape 2"/>
          <p:cNvSpPr/>
          <p:nvPr/>
        </p:nvSpPr>
        <p:spPr>
          <a:xfrm>
            <a:off x="1005840" y="1645920"/>
            <a:ext cx="7130520" cy="5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3"/>
          <p:cNvSpPr/>
          <p:nvPr/>
        </p:nvSpPr>
        <p:spPr>
          <a:xfrm>
            <a:off x="1005840" y="1783080"/>
            <a:ext cx="7770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DejaVu Sans"/>
              </a:rPr>
              <a:t>Collections of Objects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76" name="Text 4"/>
          <p:cNvSpPr/>
          <p:nvPr/>
        </p:nvSpPr>
        <p:spPr>
          <a:xfrm>
            <a:off x="1005840" y="3200400"/>
            <a:ext cx="7770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DejaVu Sans"/>
              </a:rPr>
              <a:t>Objects inside lists and dictionaries — normal Python data structures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0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Shape 1"/>
          <p:cNvSpPr/>
          <p:nvPr/>
        </p:nvSpPr>
        <p:spPr>
          <a:xfrm>
            <a:off x="0" y="0"/>
            <a:ext cx="9142200" cy="711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Text 2"/>
          <p:cNvSpPr/>
          <p:nvPr/>
        </p:nvSpPr>
        <p:spPr>
          <a:xfrm>
            <a:off x="182880" y="0"/>
            <a:ext cx="713052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Collections – Objects in Lists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80" name="Shape 3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Text 4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06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82" name="Shape 5"/>
          <p:cNvSpPr/>
          <p:nvPr/>
        </p:nvSpPr>
        <p:spPr>
          <a:xfrm>
            <a:off x="182880" y="804600"/>
            <a:ext cx="5215680" cy="459396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3" name="Shape 6"/>
          <p:cNvSpPr/>
          <p:nvPr/>
        </p:nvSpPr>
        <p:spPr>
          <a:xfrm>
            <a:off x="182880" y="804600"/>
            <a:ext cx="5210280" cy="25416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Shape 7"/>
          <p:cNvSpPr/>
          <p:nvPr/>
        </p:nvSpPr>
        <p:spPr>
          <a:xfrm>
            <a:off x="292680" y="868680"/>
            <a:ext cx="108000" cy="1080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8"/>
          <p:cNvSpPr/>
          <p:nvPr/>
        </p:nvSpPr>
        <p:spPr>
          <a:xfrm>
            <a:off x="475560" y="868680"/>
            <a:ext cx="108000" cy="1080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Shape 9"/>
          <p:cNvSpPr/>
          <p:nvPr/>
        </p:nvSpPr>
        <p:spPr>
          <a:xfrm>
            <a:off x="658440" y="868680"/>
            <a:ext cx="108000" cy="10800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10"/>
          <p:cNvSpPr/>
          <p:nvPr/>
        </p:nvSpPr>
        <p:spPr>
          <a:xfrm>
            <a:off x="182880" y="822960"/>
            <a:ext cx="51188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collections_demo.py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88" name="Text 11"/>
          <p:cNvSpPr/>
          <p:nvPr/>
        </p:nvSpPr>
        <p:spPr>
          <a:xfrm>
            <a:off x="292680" y="1078920"/>
            <a:ext cx="4981680" cy="37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Student: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full_name, gpa):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.full_name = full_name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.gpa = gpa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List of Student objects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roster = [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'Alice'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3.9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'Bob'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 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3.5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'Clara'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3.7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]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Iterating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for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roster: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(s.full_name, '-&gt;', s.gpa)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Output: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Alice -&gt; 3.9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Bob   -&gt; 3.5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Clara -&gt; 3.7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Indexing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print(roster[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0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].full_name)   # Alice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Filtering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honour_roll = [s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for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roster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s.gpa &gt;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3.6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]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  <p:sp>
        <p:nvSpPr>
          <p:cNvPr id="89" name="Shape 12"/>
          <p:cNvSpPr/>
          <p:nvPr/>
        </p:nvSpPr>
        <p:spPr>
          <a:xfrm>
            <a:off x="5577840" y="804600"/>
            <a:ext cx="3420720" cy="43376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" name="Text 13"/>
          <p:cNvSpPr/>
          <p:nvPr/>
        </p:nvSpPr>
        <p:spPr>
          <a:xfrm>
            <a:off x="5715000" y="896040"/>
            <a:ext cx="31071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38bdf8"/>
                </a:solidFill>
                <a:latin typeface="Calibri"/>
                <a:ea typeface="DejaVu Sans"/>
              </a:rPr>
              <a:t>Key Facts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91" name="Text 14"/>
          <p:cNvSpPr/>
          <p:nvPr/>
        </p:nvSpPr>
        <p:spPr>
          <a:xfrm>
            <a:off x="5715000" y="1325880"/>
            <a:ext cx="31071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Normal Python list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2" name="Text 15"/>
          <p:cNvSpPr/>
          <p:nvPr/>
        </p:nvSpPr>
        <p:spPr>
          <a:xfrm>
            <a:off x="5715000" y="1581840"/>
            <a:ext cx="31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Store objects exactly like you'd store integers or strings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3" name="Text 16"/>
          <p:cNvSpPr/>
          <p:nvPr/>
        </p:nvSpPr>
        <p:spPr>
          <a:xfrm>
            <a:off x="5715000" y="2103120"/>
            <a:ext cx="31071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Iteration works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4" name="Text 17"/>
          <p:cNvSpPr/>
          <p:nvPr/>
        </p:nvSpPr>
        <p:spPr>
          <a:xfrm>
            <a:off x="5715000" y="2359080"/>
            <a:ext cx="31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for s in roster: — access any attribute via dot notation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5" name="Text 18"/>
          <p:cNvSpPr/>
          <p:nvPr/>
        </p:nvSpPr>
        <p:spPr>
          <a:xfrm>
            <a:off x="5715000" y="2880360"/>
            <a:ext cx="31071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Indexing works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6" name="Text 19"/>
          <p:cNvSpPr/>
          <p:nvPr/>
        </p:nvSpPr>
        <p:spPr>
          <a:xfrm>
            <a:off x="5715000" y="3136320"/>
            <a:ext cx="31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roster[0].full_name gets the first object's name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7" name="Text 20"/>
          <p:cNvSpPr/>
          <p:nvPr/>
        </p:nvSpPr>
        <p:spPr>
          <a:xfrm>
            <a:off x="5715000" y="3657600"/>
            <a:ext cx="31071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List comprehension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8" name="Text 21"/>
          <p:cNvSpPr/>
          <p:nvPr/>
        </p:nvSpPr>
        <p:spPr>
          <a:xfrm>
            <a:off x="5715000" y="3913560"/>
            <a:ext cx="31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Filter, transform, or build new lists of objects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9" name="Text 22"/>
          <p:cNvSpPr/>
          <p:nvPr/>
        </p:nvSpPr>
        <p:spPr>
          <a:xfrm>
            <a:off x="5715000" y="4434840"/>
            <a:ext cx="31071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All list methods apply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0" name="Text 23"/>
          <p:cNvSpPr/>
          <p:nvPr/>
        </p:nvSpPr>
        <p:spPr>
          <a:xfrm>
            <a:off x="5715000" y="4690800"/>
            <a:ext cx="31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.append(), .sort(), len() all work the same way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hape 1"/>
          <p:cNvSpPr/>
          <p:nvPr/>
        </p:nvSpPr>
        <p:spPr>
          <a:xfrm>
            <a:off x="0" y="0"/>
            <a:ext cx="9142200" cy="711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Text 2"/>
          <p:cNvSpPr/>
          <p:nvPr/>
        </p:nvSpPr>
        <p:spPr>
          <a:xfrm>
            <a:off x="182880" y="0"/>
            <a:ext cx="713052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Collections – Objects in Dictionaries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04" name="Shape 3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" name="Text 4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06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6" name="Shape 5"/>
          <p:cNvSpPr/>
          <p:nvPr/>
        </p:nvSpPr>
        <p:spPr>
          <a:xfrm>
            <a:off x="182880" y="804600"/>
            <a:ext cx="5301720" cy="406728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7" name="Shape 6"/>
          <p:cNvSpPr/>
          <p:nvPr/>
        </p:nvSpPr>
        <p:spPr>
          <a:xfrm>
            <a:off x="182880" y="804600"/>
            <a:ext cx="5301720" cy="25416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7"/>
          <p:cNvSpPr/>
          <p:nvPr/>
        </p:nvSpPr>
        <p:spPr>
          <a:xfrm>
            <a:off x="292680" y="868680"/>
            <a:ext cx="108000" cy="1080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Shape 8"/>
          <p:cNvSpPr/>
          <p:nvPr/>
        </p:nvSpPr>
        <p:spPr>
          <a:xfrm>
            <a:off x="475560" y="868680"/>
            <a:ext cx="108000" cy="1080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Shape 9"/>
          <p:cNvSpPr/>
          <p:nvPr/>
        </p:nvSpPr>
        <p:spPr>
          <a:xfrm>
            <a:off x="658440" y="868680"/>
            <a:ext cx="108000" cy="10800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Text 10"/>
          <p:cNvSpPr/>
          <p:nvPr/>
        </p:nvSpPr>
        <p:spPr>
          <a:xfrm>
            <a:off x="182880" y="822960"/>
            <a:ext cx="52102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dict_objects.py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292680" y="1078920"/>
            <a:ext cx="5073120" cy="37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Dict of Student objects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student_db = {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'STU001'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: 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'Alice'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3.9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'STU002'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: 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'Bob'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 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3.5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'STU003'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: 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'Clara'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3.7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}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Key lookup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print(student_db[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'STU001'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].full_name)   # Alice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Iterate with .items()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for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student_id, student_obj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student_db.items():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(f'ID: {student_id} | Name: {student_obj.full_name} | GPA: {student_obj.gpa}')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Output: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ID: STU001 | Name: Alice | GPA: 3.9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ID: STU002 | Name: Bob   | GPA: 3.5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ID: STU003 | Name: Clara | GPA: 3.7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Dynamic addition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student_db[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'STU004'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] = 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'Derek'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3.8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13" name="Shape 12"/>
          <p:cNvSpPr/>
          <p:nvPr/>
        </p:nvSpPr>
        <p:spPr>
          <a:xfrm>
            <a:off x="5669280" y="804600"/>
            <a:ext cx="3290040" cy="40672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4" name="Text 13"/>
          <p:cNvSpPr/>
          <p:nvPr/>
        </p:nvSpPr>
        <p:spPr>
          <a:xfrm>
            <a:off x="5806440" y="896040"/>
            <a:ext cx="3015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59e0b"/>
                </a:solidFill>
                <a:latin typeface="Calibri"/>
                <a:ea typeface="DejaVu Sans"/>
              </a:rPr>
              <a:t>Why Use a Dict?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5806440" y="1371600"/>
            <a:ext cx="30157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Named access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5806440" y="1627560"/>
            <a:ext cx="301572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Look up any student by ID — faster than searching a list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5806440" y="2331720"/>
            <a:ext cx="30157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.items() unpacking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5806440" y="2587680"/>
            <a:ext cx="301572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Get both key and object in one step during iteration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5806440" y="3291840"/>
            <a:ext cx="30157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Real-world pattern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5806440" y="3547800"/>
            <a:ext cx="301572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Employee DB, product catalogue, user registry — all use this pattern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5806440" y="4251960"/>
            <a:ext cx="30157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Homework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2" name="Text 21"/>
          <p:cNvSpPr/>
          <p:nvPr/>
        </p:nvSpPr>
        <p:spPr>
          <a:xfrm>
            <a:off x="5806440" y="4507920"/>
            <a:ext cx="301572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Try storing objects in sets — requires implementing __hash__ on the class!</a:t>
            </a:r>
            <a:endParaRPr b="0" lang="en-IN" sz="11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9142200" cy="5141880"/>
          </a:xfrm>
          <a:prstGeom prst="rect">
            <a:avLst/>
          </a:prstGeom>
          <a:solidFill>
            <a:srgbClr val="162032">
              <a:alpha val="80000"/>
            </a:srgbClr>
          </a:solidFill>
          <a:ln w="12700">
            <a:solidFill>
              <a:srgbClr val="16203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1"/>
          <p:cNvSpPr/>
          <p:nvPr/>
        </p:nvSpPr>
        <p:spPr>
          <a:xfrm>
            <a:off x="274320" y="457200"/>
            <a:ext cx="2284200" cy="27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0" spc="-1" strike="noStrike">
                <a:solidFill>
                  <a:srgbClr val="38bdf8">
                    <a:alpha val="30000"/>
                  </a:srgbClr>
                </a:solidFill>
                <a:latin typeface="Calibri"/>
                <a:ea typeface="DejaVu Sans"/>
              </a:rPr>
              <a:t>07</a:t>
            </a:r>
            <a:endParaRPr b="0" lang="en-IN" sz="13000" spc="-1" strike="noStrike"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1005840" y="1645920"/>
            <a:ext cx="7130520" cy="5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3"/>
          <p:cNvSpPr/>
          <p:nvPr/>
        </p:nvSpPr>
        <p:spPr>
          <a:xfrm>
            <a:off x="1005840" y="1783080"/>
            <a:ext cx="7770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DejaVu Sans"/>
              </a:rPr>
              <a:t>Static Variables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1005840" y="3200400"/>
            <a:ext cx="7770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DejaVu Sans"/>
              </a:rPr>
              <a:t>Shared across all objects · defined at class level, not in __init__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1"/>
          <p:cNvSpPr/>
          <p:nvPr/>
        </p:nvSpPr>
        <p:spPr>
          <a:xfrm>
            <a:off x="0" y="0"/>
            <a:ext cx="9142200" cy="711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"/>
          <p:cNvSpPr/>
          <p:nvPr/>
        </p:nvSpPr>
        <p:spPr>
          <a:xfrm>
            <a:off x="182880" y="0"/>
            <a:ext cx="713052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Static Variables – The Problem &amp; Solution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2" name="Text 4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07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3" name="Shape 5"/>
          <p:cNvSpPr/>
          <p:nvPr/>
        </p:nvSpPr>
        <p:spPr>
          <a:xfrm>
            <a:off x="182880" y="804600"/>
            <a:ext cx="4204440" cy="4021560"/>
          </a:xfrm>
          <a:prstGeom prst="rect">
            <a:avLst/>
          </a:prstGeom>
          <a:solidFill>
            <a:srgbClr val="1f0b0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4" name="Shape 6"/>
          <p:cNvSpPr/>
          <p:nvPr/>
        </p:nvSpPr>
        <p:spPr>
          <a:xfrm>
            <a:off x="182880" y="804600"/>
            <a:ext cx="4204440" cy="5292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 7"/>
          <p:cNvSpPr/>
          <p:nvPr/>
        </p:nvSpPr>
        <p:spPr>
          <a:xfrm>
            <a:off x="320040" y="896040"/>
            <a:ext cx="3930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88" strike="noStrike">
                <a:solidFill>
                  <a:srgbClr val="f87171"/>
                </a:solidFill>
                <a:latin typeface="Calibri"/>
                <a:ea typeface="DejaVu Sans"/>
              </a:rPr>
              <a:t>THE PROBLEM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320040" y="1207080"/>
            <a:ext cx="39301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You want each BankMachine object to have a unique customer ID (1, 2, 3, ...). Using an instance variable fails: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37" name="Shape 9"/>
          <p:cNvSpPr/>
          <p:nvPr/>
        </p:nvSpPr>
        <p:spPr>
          <a:xfrm>
            <a:off x="320040" y="1828800"/>
            <a:ext cx="3930120" cy="260424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10"/>
          <p:cNvSpPr/>
          <p:nvPr/>
        </p:nvSpPr>
        <p:spPr>
          <a:xfrm>
            <a:off x="429840" y="1883520"/>
            <a:ext cx="3747240" cy="24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BankMachine: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.cust_id = </a:t>
            </a:r>
            <a:r>
              <a:rPr b="0" lang="en-US" sz="1000" spc="-1" strike="noStrike">
                <a:solidFill>
                  <a:srgbClr val="f87171"/>
                </a:solidFill>
                <a:latin typeface="Courier New"/>
                <a:ea typeface="Courier New"/>
              </a:rPr>
              <a:t>1   # EVERY object starts at 1!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m1 = BankMachine()  # cust_id = 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87171"/>
                </a:solidFill>
                <a:latin typeface="Courier New"/>
                <a:ea typeface="Courier New"/>
              </a:rPr>
              <a:t>m2 = BankMachine()  # cust_id = 1  ???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Instance variable = unique per object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f87171"/>
                </a:solidFill>
                <a:latin typeface="Courier New"/>
                <a:ea typeface="Courier New"/>
              </a:rPr>
              <a:t># No shared counter exists!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  <p:sp>
        <p:nvSpPr>
          <p:cNvPr id="139" name="Shape 11"/>
          <p:cNvSpPr/>
          <p:nvPr/>
        </p:nvSpPr>
        <p:spPr>
          <a:xfrm>
            <a:off x="320040" y="1828800"/>
            <a:ext cx="3930120" cy="2268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Shape 12"/>
          <p:cNvSpPr/>
          <p:nvPr/>
        </p:nvSpPr>
        <p:spPr>
          <a:xfrm>
            <a:off x="429840" y="1874520"/>
            <a:ext cx="98640" cy="986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Shape 13"/>
          <p:cNvSpPr/>
          <p:nvPr/>
        </p:nvSpPr>
        <p:spPr>
          <a:xfrm>
            <a:off x="612720" y="1874520"/>
            <a:ext cx="98640" cy="9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Shape 14"/>
          <p:cNvSpPr/>
          <p:nvPr/>
        </p:nvSpPr>
        <p:spPr>
          <a:xfrm>
            <a:off x="795600" y="1874520"/>
            <a:ext cx="98640" cy="9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Shape 15"/>
          <p:cNvSpPr/>
          <p:nvPr/>
        </p:nvSpPr>
        <p:spPr>
          <a:xfrm>
            <a:off x="4572000" y="804600"/>
            <a:ext cx="4387320" cy="4021560"/>
          </a:xfrm>
          <a:prstGeom prst="rect">
            <a:avLst/>
          </a:prstGeom>
          <a:solidFill>
            <a:srgbClr val="0b1f12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4" name="Shape 16"/>
          <p:cNvSpPr/>
          <p:nvPr/>
        </p:nvSpPr>
        <p:spPr>
          <a:xfrm>
            <a:off x="4572000" y="804600"/>
            <a:ext cx="4387320" cy="529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17"/>
          <p:cNvSpPr/>
          <p:nvPr/>
        </p:nvSpPr>
        <p:spPr>
          <a:xfrm>
            <a:off x="4709160" y="896040"/>
            <a:ext cx="4113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86" strike="noStrike">
                <a:solidFill>
                  <a:srgbClr val="34d399"/>
                </a:solidFill>
                <a:latin typeface="Calibri"/>
                <a:ea typeface="DejaVu Sans"/>
              </a:rPr>
              <a:t>THE SOLUTION: Static Variable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6" name="Text 18"/>
          <p:cNvSpPr/>
          <p:nvPr/>
        </p:nvSpPr>
        <p:spPr>
          <a:xfrm>
            <a:off x="4709160" y="1207080"/>
            <a:ext cx="4113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Define the counter at CLASS level — outside any method. It is shared by ALL objects: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47" name="Shape 19"/>
          <p:cNvSpPr/>
          <p:nvPr/>
        </p:nvSpPr>
        <p:spPr>
          <a:xfrm>
            <a:off x="4709160" y="1828800"/>
            <a:ext cx="4113000" cy="260424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8" name="Shape 20"/>
          <p:cNvSpPr/>
          <p:nvPr/>
        </p:nvSpPr>
        <p:spPr>
          <a:xfrm>
            <a:off x="4709160" y="1828800"/>
            <a:ext cx="4113000" cy="2268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Shape 21"/>
          <p:cNvSpPr/>
          <p:nvPr/>
        </p:nvSpPr>
        <p:spPr>
          <a:xfrm>
            <a:off x="4818960" y="1883520"/>
            <a:ext cx="98640" cy="986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Shape 22"/>
          <p:cNvSpPr/>
          <p:nvPr/>
        </p:nvSpPr>
        <p:spPr>
          <a:xfrm>
            <a:off x="5001840" y="1883520"/>
            <a:ext cx="98640" cy="9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Shape 23"/>
          <p:cNvSpPr/>
          <p:nvPr/>
        </p:nvSpPr>
        <p:spPr>
          <a:xfrm>
            <a:off x="5184720" y="1883520"/>
            <a:ext cx="98640" cy="9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Text 24"/>
          <p:cNvSpPr/>
          <p:nvPr/>
        </p:nvSpPr>
        <p:spPr>
          <a:xfrm>
            <a:off x="4818960" y="2084760"/>
            <a:ext cx="393012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BankMachine: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Static variable — OUTSIDE __init__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cust_counter = 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1   # Shared by all instances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Assign current count as this obj's ID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.cust_id = BankMachine.cust_counter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Increment for next object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BankMachine.cust_counter +=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m1 = BankMachine()  # cust_id = 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m2 = BankMachine()  # cust_id = 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m3 = BankMachine()  # cust_id = 3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# Works perfectly!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Shape 1"/>
          <p:cNvSpPr/>
          <p:nvPr/>
        </p:nvSpPr>
        <p:spPr>
          <a:xfrm>
            <a:off x="0" y="0"/>
            <a:ext cx="9142200" cy="711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2"/>
          <p:cNvSpPr/>
          <p:nvPr/>
        </p:nvSpPr>
        <p:spPr>
          <a:xfrm>
            <a:off x="182880" y="0"/>
            <a:ext cx="713052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Instance Variables vs Static Variables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56" name="Shape 3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7" name="Text 4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07</a:t>
            </a:r>
            <a:endParaRPr b="0" lang="en-IN" sz="1100" spc="-1" strike="noStrike">
              <a:latin typeface="Arial"/>
            </a:endParaRPr>
          </a:p>
        </p:txBody>
      </p:sp>
      <p:graphicFrame>
        <p:nvGraphicFramePr>
          <p:cNvPr id="158" name="Table 0"/>
          <p:cNvGraphicFramePr/>
          <p:nvPr/>
        </p:nvGraphicFramePr>
        <p:xfrm>
          <a:off x="182880" y="868680"/>
          <a:ext cx="8777880" cy="34740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3291840"/>
              </a:tblGrid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38bdf8"/>
                          </a:solidFill>
                          <a:latin typeface="Calibri"/>
                        </a:rPr>
                        <a:t>Instance Variable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0c2a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34d399"/>
                          </a:solidFill>
                          <a:latin typeface="Calibri"/>
                        </a:rPr>
                        <a:t>Static Variable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0a1f12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Where defined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Inside __init__ with self.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Inside the class, OUTSIDE any method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Value per object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UNIQUE — each object has its own value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SHARED — same value across all objects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Access syntax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self.variable_name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ClassName.variable_name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When to use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For data unique to each object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For data that belongs to the class itself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79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Example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emp_name, account_balance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cust_counter, bank_code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9" name="Shape 5"/>
          <p:cNvSpPr/>
          <p:nvPr/>
        </p:nvSpPr>
        <p:spPr>
          <a:xfrm>
            <a:off x="182880" y="4462200"/>
            <a:ext cx="4158720" cy="5468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0" name="Text 6"/>
          <p:cNvSpPr/>
          <p:nvPr/>
        </p:nvSpPr>
        <p:spPr>
          <a:xfrm>
            <a:off x="320040" y="4526280"/>
            <a:ext cx="39301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ourier New"/>
                <a:ea typeface="Courier New"/>
              </a:rPr>
              <a:t>STATIC example: BankMachine.ifsc_code = 'HDFC001'  — same for every machine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4572000" y="4462200"/>
            <a:ext cx="4387320" cy="5468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2" name="Text 8"/>
          <p:cNvSpPr/>
          <p:nvPr/>
        </p:nvSpPr>
        <p:spPr>
          <a:xfrm>
            <a:off x="4709160" y="4526280"/>
            <a:ext cx="411300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ourier New"/>
                <a:ea typeface="Courier New"/>
              </a:rPr>
              <a:t>INSTANCE example: self.account_balance = 0  — unique per account holder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9142200" cy="5141880"/>
          </a:xfrm>
          <a:prstGeom prst="rect">
            <a:avLst/>
          </a:prstGeom>
          <a:solidFill>
            <a:srgbClr val="162032">
              <a:alpha val="80000"/>
            </a:srgbClr>
          </a:solidFill>
          <a:ln w="12700">
            <a:solidFill>
              <a:srgbClr val="16203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1"/>
          <p:cNvSpPr/>
          <p:nvPr/>
        </p:nvSpPr>
        <p:spPr>
          <a:xfrm>
            <a:off x="274320" y="457200"/>
            <a:ext cx="2284200" cy="27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0" spc="-1" strike="noStrike">
                <a:solidFill>
                  <a:srgbClr val="38bdf8">
                    <a:alpha val="30000"/>
                  </a:srgbClr>
                </a:solidFill>
                <a:latin typeface="Calibri"/>
                <a:ea typeface="DejaVu Sans"/>
              </a:rPr>
              <a:t>08</a:t>
            </a:r>
            <a:endParaRPr b="0" lang="en-IN" sz="13000" spc="-1" strike="noStrike">
              <a:latin typeface="Arial"/>
            </a:endParaRPr>
          </a:p>
        </p:txBody>
      </p:sp>
      <p:sp>
        <p:nvSpPr>
          <p:cNvPr id="165" name="Shape 2"/>
          <p:cNvSpPr/>
          <p:nvPr/>
        </p:nvSpPr>
        <p:spPr>
          <a:xfrm>
            <a:off x="1005840" y="1645920"/>
            <a:ext cx="7130520" cy="5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Text 3"/>
          <p:cNvSpPr/>
          <p:nvPr/>
        </p:nvSpPr>
        <p:spPr>
          <a:xfrm>
            <a:off x="1005840" y="1783080"/>
            <a:ext cx="7770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DejaVu Sans"/>
              </a:rPr>
              <a:t>Static Methods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1005840" y="3200400"/>
            <a:ext cx="7770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DejaVu Sans"/>
              </a:rPr>
              <a:t>@staticmethod — utility functions that don't need a specific object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0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9" name="Shape 1"/>
          <p:cNvSpPr/>
          <p:nvPr/>
        </p:nvSpPr>
        <p:spPr>
          <a:xfrm>
            <a:off x="0" y="0"/>
            <a:ext cx="9142200" cy="711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Text 2"/>
          <p:cNvSpPr/>
          <p:nvPr/>
        </p:nvSpPr>
        <p:spPr>
          <a:xfrm>
            <a:off x="182880" y="0"/>
            <a:ext cx="713052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Static Methods – @staticmethod Decorator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71" name="Shape 3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2" name="Text 4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08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73" name="Shape 5"/>
          <p:cNvSpPr/>
          <p:nvPr/>
        </p:nvSpPr>
        <p:spPr>
          <a:xfrm>
            <a:off x="182880" y="804600"/>
            <a:ext cx="2832840" cy="107712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4" name="Shape 6"/>
          <p:cNvSpPr/>
          <p:nvPr/>
        </p:nvSpPr>
        <p:spPr>
          <a:xfrm>
            <a:off x="182880" y="804600"/>
            <a:ext cx="2832840" cy="5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7"/>
          <p:cNvSpPr/>
          <p:nvPr/>
        </p:nvSpPr>
        <p:spPr>
          <a:xfrm>
            <a:off x="320040" y="896040"/>
            <a:ext cx="25585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38bdf8"/>
                </a:solidFill>
                <a:latin typeface="Calibri"/>
                <a:ea typeface="DejaVu Sans"/>
              </a:rPr>
              <a:t>No self Parameter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76" name="Text 8"/>
          <p:cNvSpPr/>
          <p:nvPr/>
        </p:nvSpPr>
        <p:spPr>
          <a:xfrm>
            <a:off x="320040" y="1261800"/>
            <a:ext cx="25585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Static methods don't receive the current object. They can't access instance variables.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77" name="Shape 9"/>
          <p:cNvSpPr/>
          <p:nvPr/>
        </p:nvSpPr>
        <p:spPr>
          <a:xfrm>
            <a:off x="3154680" y="804600"/>
            <a:ext cx="2832840" cy="107712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8" name="Shape 10"/>
          <p:cNvSpPr/>
          <p:nvPr/>
        </p:nvSpPr>
        <p:spPr>
          <a:xfrm>
            <a:off x="3154680" y="804600"/>
            <a:ext cx="2832840" cy="5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Text 11"/>
          <p:cNvSpPr/>
          <p:nvPr/>
        </p:nvSpPr>
        <p:spPr>
          <a:xfrm>
            <a:off x="3291840" y="896040"/>
            <a:ext cx="25585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  <a:ea typeface="DejaVu Sans"/>
              </a:rPr>
              <a:t>@staticmethod Decorator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0" name="Text 12"/>
          <p:cNvSpPr/>
          <p:nvPr/>
        </p:nvSpPr>
        <p:spPr>
          <a:xfrm>
            <a:off x="3291840" y="1261800"/>
            <a:ext cx="25585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Mark the method with @staticmethod above def. This tells Python it's a utility function.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81" name="Shape 13"/>
          <p:cNvSpPr/>
          <p:nvPr/>
        </p:nvSpPr>
        <p:spPr>
          <a:xfrm>
            <a:off x="6126480" y="804600"/>
            <a:ext cx="2832840" cy="107712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2" name="Shape 14"/>
          <p:cNvSpPr/>
          <p:nvPr/>
        </p:nvSpPr>
        <p:spPr>
          <a:xfrm>
            <a:off x="6126480" y="804600"/>
            <a:ext cx="2832840" cy="529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Text 15"/>
          <p:cNvSpPr/>
          <p:nvPr/>
        </p:nvSpPr>
        <p:spPr>
          <a:xfrm>
            <a:off x="6263640" y="896040"/>
            <a:ext cx="25585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34d399"/>
                </a:solidFill>
                <a:latin typeface="Calibri"/>
                <a:ea typeface="DejaVu Sans"/>
              </a:rPr>
              <a:t>Call via ClassName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4" name="Text 16"/>
          <p:cNvSpPr/>
          <p:nvPr/>
        </p:nvSpPr>
        <p:spPr>
          <a:xfrm>
            <a:off x="6263640" y="1261800"/>
            <a:ext cx="25585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Call as BankMachine.get_total_customers() — no object needed at all.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85" name="Shape 17"/>
          <p:cNvSpPr/>
          <p:nvPr/>
        </p:nvSpPr>
        <p:spPr>
          <a:xfrm>
            <a:off x="-537120" y="1974960"/>
            <a:ext cx="5576760" cy="432468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6" name="Shape 18"/>
          <p:cNvSpPr/>
          <p:nvPr/>
        </p:nvSpPr>
        <p:spPr>
          <a:xfrm>
            <a:off x="182880" y="1974960"/>
            <a:ext cx="5667480" cy="25416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Shape 19"/>
          <p:cNvSpPr/>
          <p:nvPr/>
        </p:nvSpPr>
        <p:spPr>
          <a:xfrm>
            <a:off x="292680" y="2039040"/>
            <a:ext cx="108000" cy="1080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Shape 20"/>
          <p:cNvSpPr/>
          <p:nvPr/>
        </p:nvSpPr>
        <p:spPr>
          <a:xfrm>
            <a:off x="475560" y="2039040"/>
            <a:ext cx="108000" cy="1080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Shape 21"/>
          <p:cNvSpPr/>
          <p:nvPr/>
        </p:nvSpPr>
        <p:spPr>
          <a:xfrm>
            <a:off x="658440" y="2039040"/>
            <a:ext cx="108000" cy="10800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Text 22"/>
          <p:cNvSpPr/>
          <p:nvPr/>
        </p:nvSpPr>
        <p:spPr>
          <a:xfrm>
            <a:off x="182880" y="1993320"/>
            <a:ext cx="5576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static_methods.py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191" name="Text 23"/>
          <p:cNvSpPr/>
          <p:nvPr/>
        </p:nvSpPr>
        <p:spPr>
          <a:xfrm>
            <a:off x="320760" y="2249280"/>
            <a:ext cx="5438880" cy="25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BankMachine: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cust_counter = 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1   # Static variable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.cust_id = BankMachine.cust_counter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BankMachine.cust_counter +=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@staticmethod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get_total_customers():   # no self!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return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BankMachine.cust_counter -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@staticmethod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validate_pin_format(pin_str):   # utility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return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pin_str.isdigit()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and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len(pin_str) ==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4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Calling static methods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m1 = BankMachine()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m2 = BankMachine()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Call via class name (recommended)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(BankMachine.get_total_customers())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# Output: 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print(BankMachine.validate_pin_format(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'4523'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))  # True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print(BankMachine.validate_pin_format(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'ab12'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))  # False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  <p:sp>
        <p:nvSpPr>
          <p:cNvPr id="192" name="Shape 24"/>
          <p:cNvSpPr/>
          <p:nvPr/>
        </p:nvSpPr>
        <p:spPr>
          <a:xfrm>
            <a:off x="6035040" y="1974960"/>
            <a:ext cx="2924280" cy="287856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3" name="Text 25"/>
          <p:cNvSpPr/>
          <p:nvPr/>
        </p:nvSpPr>
        <p:spPr>
          <a:xfrm>
            <a:off x="6172200" y="208476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38bdf8"/>
                </a:solidFill>
                <a:latin typeface="Calibri"/>
                <a:ea typeface="DejaVu Sans"/>
              </a:rPr>
              <a:t>When to Use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38bdf8"/>
                </a:solidFill>
                <a:latin typeface="Calibri"/>
                <a:ea typeface="DejaVu Sans"/>
              </a:rPr>
              <a:t>Static Methods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4" name="Text 26"/>
          <p:cNvSpPr/>
          <p:nvPr/>
        </p:nvSpPr>
        <p:spPr>
          <a:xfrm>
            <a:off x="6172200" y="2743200"/>
            <a:ext cx="264996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Utility/helper functions that belong to the class conceptually but don't need any specific object's data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Accessing or returning static variable values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Validation functions (check PIN format, validate email, etc.)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Factory-style methods that create objects in special ways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0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Shape 1"/>
          <p:cNvSpPr/>
          <p:nvPr/>
        </p:nvSpPr>
        <p:spPr>
          <a:xfrm>
            <a:off x="0" y="0"/>
            <a:ext cx="9142200" cy="711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2"/>
          <p:cNvSpPr/>
          <p:nvPr/>
        </p:nvSpPr>
        <p:spPr>
          <a:xfrm>
            <a:off x="182880" y="0"/>
            <a:ext cx="713052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Complete BankMachine Class – All Concepts Together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98" name="Shape 3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9" name="Text 4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07 + 08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00" name="Text 5"/>
          <p:cNvSpPr/>
          <p:nvPr/>
        </p:nvSpPr>
        <p:spPr>
          <a:xfrm>
            <a:off x="182880" y="777240"/>
            <a:ext cx="87764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94a3b8"/>
                </a:solidFill>
                <a:latin typeface="Calibri"/>
                <a:ea typeface="DejaVu Sans"/>
              </a:rPr>
              <a:t>The final version combining: Private Variables · Getters/Setters · Static Variable · Static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1" name="Shape 6"/>
          <p:cNvSpPr/>
          <p:nvPr/>
        </p:nvSpPr>
        <p:spPr>
          <a:xfrm>
            <a:off x="182880" y="1207080"/>
            <a:ext cx="5035680" cy="419148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2" name="Shape 7"/>
          <p:cNvSpPr/>
          <p:nvPr/>
        </p:nvSpPr>
        <p:spPr>
          <a:xfrm>
            <a:off x="182880" y="1207080"/>
            <a:ext cx="5027400" cy="25416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Shape 8"/>
          <p:cNvSpPr/>
          <p:nvPr/>
        </p:nvSpPr>
        <p:spPr>
          <a:xfrm>
            <a:off x="292680" y="1271160"/>
            <a:ext cx="108000" cy="1080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Shape 9"/>
          <p:cNvSpPr/>
          <p:nvPr/>
        </p:nvSpPr>
        <p:spPr>
          <a:xfrm>
            <a:off x="475560" y="1271160"/>
            <a:ext cx="108000" cy="1080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Shape 10"/>
          <p:cNvSpPr/>
          <p:nvPr/>
        </p:nvSpPr>
        <p:spPr>
          <a:xfrm>
            <a:off x="658440" y="1271160"/>
            <a:ext cx="108000" cy="10800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Text 11"/>
          <p:cNvSpPr/>
          <p:nvPr/>
        </p:nvSpPr>
        <p:spPr>
          <a:xfrm>
            <a:off x="182880" y="1225440"/>
            <a:ext cx="49359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bank_machine_final.py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07" name="Text 12"/>
          <p:cNvSpPr/>
          <p:nvPr/>
        </p:nvSpPr>
        <p:spPr>
          <a:xfrm>
            <a:off x="292680" y="1481400"/>
            <a:ext cx="4798800" cy="33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BankMachine: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Static variable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cust_counter 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.__cust_id = BankMachine.cust_counter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BankMachine.cust_counter +=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.__secret_pin = 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''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.__account_balance 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0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Getter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retrieve_balance(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return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.__account_balance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Setter with validation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assign_balance(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new_amount):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type(new_amount) ==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int: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.__account_balance = new_amount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else: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    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</a:t>
            </a:r>
            <a:r>
              <a:rPr b="0" lang="en-US" sz="1000" spc="-1" strike="noStrike">
                <a:solidFill>
                  <a:srgbClr val="f87171"/>
                </a:solidFill>
                <a:latin typeface="Courier New"/>
                <a:ea typeface="Courier New"/>
              </a:rPr>
              <a:t>('Invalid: must be integer')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Static method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@staticmethod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get_total_customers():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return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BankMachine.cust_counter -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08" name="Shape 13"/>
          <p:cNvSpPr/>
          <p:nvPr/>
        </p:nvSpPr>
        <p:spPr>
          <a:xfrm>
            <a:off x="5394960" y="1207080"/>
            <a:ext cx="3564360" cy="6566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9" name="Shape 14"/>
          <p:cNvSpPr/>
          <p:nvPr/>
        </p:nvSpPr>
        <p:spPr>
          <a:xfrm>
            <a:off x="5394960" y="1207080"/>
            <a:ext cx="52920" cy="6566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 15"/>
          <p:cNvSpPr/>
          <p:nvPr/>
        </p:nvSpPr>
        <p:spPr>
          <a:xfrm>
            <a:off x="5541120" y="125280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Static Variable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1" name="Text 16"/>
          <p:cNvSpPr/>
          <p:nvPr/>
        </p:nvSpPr>
        <p:spPr>
          <a:xfrm>
            <a:off x="5541120" y="151776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cust_counter — shared, class-level counter for all machines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12" name="Shape 17"/>
          <p:cNvSpPr/>
          <p:nvPr/>
        </p:nvSpPr>
        <p:spPr>
          <a:xfrm>
            <a:off x="5394960" y="1938600"/>
            <a:ext cx="3564360" cy="6566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3" name="Shape 18"/>
          <p:cNvSpPr/>
          <p:nvPr/>
        </p:nvSpPr>
        <p:spPr>
          <a:xfrm>
            <a:off x="5394960" y="1938600"/>
            <a:ext cx="52920" cy="6566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19"/>
          <p:cNvSpPr/>
          <p:nvPr/>
        </p:nvSpPr>
        <p:spPr>
          <a:xfrm>
            <a:off x="5541120" y="198432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87171"/>
                </a:solidFill>
                <a:latin typeface="Calibri"/>
                <a:ea typeface="DejaVu Sans"/>
              </a:rPr>
              <a:t>Private Variables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5" name="Text 20"/>
          <p:cNvSpPr/>
          <p:nvPr/>
        </p:nvSpPr>
        <p:spPr>
          <a:xfrm>
            <a:off x="5541120" y="224928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__cust_id, __secret_pin, __account_balance — hidden from outside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16" name="Shape 21"/>
          <p:cNvSpPr/>
          <p:nvPr/>
        </p:nvSpPr>
        <p:spPr>
          <a:xfrm>
            <a:off x="5394960" y="2670120"/>
            <a:ext cx="3564360" cy="6566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Shape 22"/>
          <p:cNvSpPr/>
          <p:nvPr/>
        </p:nvSpPr>
        <p:spPr>
          <a:xfrm>
            <a:off x="5394960" y="2670120"/>
            <a:ext cx="52920" cy="656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Text 23"/>
          <p:cNvSpPr/>
          <p:nvPr/>
        </p:nvSpPr>
        <p:spPr>
          <a:xfrm>
            <a:off x="5541120" y="271584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Getter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9" name="Text 24"/>
          <p:cNvSpPr/>
          <p:nvPr/>
        </p:nvSpPr>
        <p:spPr>
          <a:xfrm>
            <a:off x="5541120" y="298080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retrieve_balance() — read-only access to private balance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0" name="Shape 25"/>
          <p:cNvSpPr/>
          <p:nvPr/>
        </p:nvSpPr>
        <p:spPr>
          <a:xfrm>
            <a:off x="5394960" y="3401640"/>
            <a:ext cx="3564360" cy="6566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1" name="Shape 26"/>
          <p:cNvSpPr/>
          <p:nvPr/>
        </p:nvSpPr>
        <p:spPr>
          <a:xfrm>
            <a:off x="5394960" y="3401640"/>
            <a:ext cx="52920" cy="656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Text 27"/>
          <p:cNvSpPr/>
          <p:nvPr/>
        </p:nvSpPr>
        <p:spPr>
          <a:xfrm>
            <a:off x="5541120" y="344736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59e0b"/>
                </a:solidFill>
                <a:latin typeface="Calibri"/>
                <a:ea typeface="DejaVu Sans"/>
              </a:rPr>
              <a:t>Setter + Validation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3" name="Text 28"/>
          <p:cNvSpPr/>
          <p:nvPr/>
        </p:nvSpPr>
        <p:spPr>
          <a:xfrm>
            <a:off x="5541120" y="371232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assign_balance() — only accepts integers, rejects invalid input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4" name="Shape 29"/>
          <p:cNvSpPr/>
          <p:nvPr/>
        </p:nvSpPr>
        <p:spPr>
          <a:xfrm>
            <a:off x="5394960" y="4133160"/>
            <a:ext cx="3564360" cy="65664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5" name="Shape 30"/>
          <p:cNvSpPr/>
          <p:nvPr/>
        </p:nvSpPr>
        <p:spPr>
          <a:xfrm>
            <a:off x="5394960" y="4133160"/>
            <a:ext cx="52920" cy="65664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Text 31"/>
          <p:cNvSpPr/>
          <p:nvPr/>
        </p:nvSpPr>
        <p:spPr>
          <a:xfrm>
            <a:off x="5541120" y="417888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c084fc"/>
                </a:solidFill>
                <a:latin typeface="Calibri"/>
                <a:ea typeface="DejaVu Sans"/>
              </a:rPr>
              <a:t>Static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7" name="Text 32"/>
          <p:cNvSpPr/>
          <p:nvPr/>
        </p:nvSpPr>
        <p:spPr>
          <a:xfrm>
            <a:off x="5541120" y="4443840"/>
            <a:ext cx="3335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get_total_customers() — no self, uses class-level data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9" name="Shape 1"/>
          <p:cNvSpPr/>
          <p:nvPr/>
        </p:nvSpPr>
        <p:spPr>
          <a:xfrm>
            <a:off x="0" y="0"/>
            <a:ext cx="9142200" cy="711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Text 2"/>
          <p:cNvSpPr/>
          <p:nvPr/>
        </p:nvSpPr>
        <p:spPr>
          <a:xfrm>
            <a:off x="182880" y="0"/>
            <a:ext cx="713052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Instance vs Static – Methods Comparison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31" name="Shape 3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2" name="Text 4"/>
          <p:cNvSpPr/>
          <p:nvPr/>
        </p:nvSpPr>
        <p:spPr>
          <a:xfrm>
            <a:off x="7589520" y="109800"/>
            <a:ext cx="136980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08</a:t>
            </a:r>
            <a:endParaRPr b="0" lang="en-IN" sz="1100" spc="-1" strike="noStrike">
              <a:latin typeface="Arial"/>
            </a:endParaRPr>
          </a:p>
        </p:txBody>
      </p:sp>
      <p:graphicFrame>
        <p:nvGraphicFramePr>
          <p:cNvPr id="233" name="Table 0"/>
          <p:cNvGraphicFramePr/>
          <p:nvPr/>
        </p:nvGraphicFramePr>
        <p:xfrm>
          <a:off x="182880" y="868680"/>
          <a:ext cx="8777880" cy="379404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3108960"/>
              </a:tblGrid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38bdf8"/>
                          </a:solidFill>
                          <a:latin typeface="Calibri"/>
                        </a:rPr>
                        <a:t>Regular/Instance Method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0c2a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34d399"/>
                          </a:solidFill>
                          <a:latin typeface="Calibri"/>
                        </a:rPr>
                        <a:t>Static Method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0a1f12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First parameter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self (current object)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None (no self)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Can access instance vars?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YES — via self.variable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NO — no object reference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Can access static vars?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YES — via ClassName.var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YES — via ClassName.var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Called via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object.method() or ClassName.method(obj)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ClassName.method()  (no object needed)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Decorator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None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@staticmethod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43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Use case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Act on a specific object's data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Utility/helper, works on class-level data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</a:tr>
            </a:tbl>
          </a:graphicData>
        </a:graphic>
      </p:graphicFrame>
      <p:sp>
        <p:nvSpPr>
          <p:cNvPr id="234" name="Shape 5"/>
          <p:cNvSpPr/>
          <p:nvPr/>
        </p:nvSpPr>
        <p:spPr>
          <a:xfrm>
            <a:off x="182880" y="4736520"/>
            <a:ext cx="8776440" cy="290880"/>
          </a:xfrm>
          <a:prstGeom prst="rect">
            <a:avLst/>
          </a:prstGeom>
          <a:solidFill>
            <a:srgbClr val="0c2a3a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6"/>
          <p:cNvSpPr/>
          <p:nvPr/>
        </p:nvSpPr>
        <p:spPr>
          <a:xfrm>
            <a:off x="320040" y="4754880"/>
            <a:ext cx="85021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Decorator note: @staticmethod is a function decorator — a special Python annotation that changes how the method is registered. Decorators in-depth are covered in an advanced session.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0"/>
          <p:cNvSpPr/>
          <p:nvPr/>
        </p:nvSpPr>
        <p:spPr>
          <a:xfrm>
            <a:off x="30240" y="-449640"/>
            <a:ext cx="9142200" cy="5141880"/>
          </a:xfrm>
          <a:prstGeom prst="rect">
            <a:avLst/>
          </a:prstGeom>
          <a:solidFill>
            <a:srgbClr val="0c1526"/>
          </a:solidFill>
          <a:ln w="12700">
            <a:solidFill>
              <a:srgbClr val="0c15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Shape 1"/>
          <p:cNvSpPr/>
          <p:nvPr/>
        </p:nvSpPr>
        <p:spPr>
          <a:xfrm>
            <a:off x="0" y="0"/>
            <a:ext cx="62280" cy="51418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Text 2"/>
          <p:cNvSpPr/>
          <p:nvPr/>
        </p:nvSpPr>
        <p:spPr>
          <a:xfrm>
            <a:off x="914400" y="360000"/>
            <a:ext cx="7313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486" strike="noStrike">
                <a:solidFill>
                  <a:srgbClr val="34d399"/>
                </a:solidFill>
                <a:latin typeface="Calibri"/>
                <a:ea typeface="DejaVu Sans"/>
              </a:rPr>
              <a:t>NEXT SESSION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9" name="Text 3"/>
          <p:cNvSpPr/>
          <p:nvPr/>
        </p:nvSpPr>
        <p:spPr>
          <a:xfrm rot="21587400">
            <a:off x="910800" y="779400"/>
            <a:ext cx="73134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600" spc="-1" strike="noStrike">
                <a:solidFill>
                  <a:srgbClr val="ffffff"/>
                </a:solidFill>
                <a:latin typeface="Calibri"/>
                <a:ea typeface="DejaVu Sans"/>
              </a:rPr>
              <a:t>Remaining OOP Principles</a:t>
            </a:r>
            <a:endParaRPr b="0" lang="en-IN" sz="4600" spc="-1" strike="noStrike">
              <a:latin typeface="Arial"/>
            </a:endParaRPr>
          </a:p>
        </p:txBody>
      </p:sp>
      <p:sp>
        <p:nvSpPr>
          <p:cNvPr id="240" name="Shape 4"/>
          <p:cNvSpPr/>
          <p:nvPr/>
        </p:nvSpPr>
        <p:spPr>
          <a:xfrm>
            <a:off x="900000" y="2114640"/>
            <a:ext cx="7313400" cy="43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Text 5"/>
          <p:cNvSpPr/>
          <p:nvPr/>
        </p:nvSpPr>
        <p:spPr>
          <a:xfrm>
            <a:off x="914400" y="2240280"/>
            <a:ext cx="31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38bdf8"/>
                </a:solidFill>
                <a:latin typeface="Calibri"/>
                <a:ea typeface="DejaVu Sans"/>
              </a:rPr>
              <a:t>→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242" name="Text 6"/>
          <p:cNvSpPr/>
          <p:nvPr/>
        </p:nvSpPr>
        <p:spPr>
          <a:xfrm>
            <a:off x="1298520" y="2240280"/>
            <a:ext cx="20098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DejaVu Sans"/>
              </a:rPr>
              <a:t>Inheritance</a:t>
            </a:r>
            <a:endParaRPr b="0" lang="en-IN" sz="1700" spc="-1" strike="noStrike">
              <a:latin typeface="Arial"/>
            </a:endParaRPr>
          </a:p>
        </p:txBody>
      </p:sp>
      <p:sp>
        <p:nvSpPr>
          <p:cNvPr id="243" name="Text 7"/>
          <p:cNvSpPr/>
          <p:nvPr/>
        </p:nvSpPr>
        <p:spPr>
          <a:xfrm>
            <a:off x="3474720" y="2277000"/>
            <a:ext cx="50274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  <a:ea typeface="DejaVu Sans"/>
              </a:rPr>
              <a:t>Derive new classes from existing ones to share code and extend behaviour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4" name="Text 8"/>
          <p:cNvSpPr/>
          <p:nvPr/>
        </p:nvSpPr>
        <p:spPr>
          <a:xfrm>
            <a:off x="914400" y="3108960"/>
            <a:ext cx="31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38bdf8"/>
                </a:solidFill>
                <a:latin typeface="Calibri"/>
                <a:ea typeface="DejaVu Sans"/>
              </a:rPr>
              <a:t>→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245" name="Text 9"/>
          <p:cNvSpPr/>
          <p:nvPr/>
        </p:nvSpPr>
        <p:spPr>
          <a:xfrm>
            <a:off x="1298520" y="3108960"/>
            <a:ext cx="20098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DejaVu Sans"/>
              </a:rPr>
              <a:t>Polymorphism</a:t>
            </a:r>
            <a:endParaRPr b="0" lang="en-IN" sz="1700" spc="-1" strike="noStrike">
              <a:latin typeface="Arial"/>
            </a:endParaRPr>
          </a:p>
        </p:txBody>
      </p:sp>
      <p:sp>
        <p:nvSpPr>
          <p:cNvPr id="246" name="Text 10"/>
          <p:cNvSpPr/>
          <p:nvPr/>
        </p:nvSpPr>
        <p:spPr>
          <a:xfrm>
            <a:off x="3474720" y="3145680"/>
            <a:ext cx="50274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  <a:ea typeface="DejaVu Sans"/>
              </a:rPr>
              <a:t>One interface, many implementations — method overriding and duck typing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7" name="Text 11"/>
          <p:cNvSpPr/>
          <p:nvPr/>
        </p:nvSpPr>
        <p:spPr>
          <a:xfrm>
            <a:off x="914400" y="3977640"/>
            <a:ext cx="31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38bdf8"/>
                </a:solidFill>
                <a:latin typeface="Calibri"/>
                <a:ea typeface="DejaVu Sans"/>
              </a:rPr>
              <a:t>→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248" name="Text 12"/>
          <p:cNvSpPr/>
          <p:nvPr/>
        </p:nvSpPr>
        <p:spPr>
          <a:xfrm>
            <a:off x="1298520" y="3977640"/>
            <a:ext cx="20098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DejaVu Sans"/>
              </a:rPr>
              <a:t>Abstraction</a:t>
            </a:r>
            <a:endParaRPr b="0" lang="en-IN" sz="1700" spc="-1" strike="noStrike">
              <a:latin typeface="Arial"/>
            </a:endParaRPr>
          </a:p>
        </p:txBody>
      </p:sp>
      <p:sp>
        <p:nvSpPr>
          <p:cNvPr id="249" name="Text 13"/>
          <p:cNvSpPr/>
          <p:nvPr/>
        </p:nvSpPr>
        <p:spPr>
          <a:xfrm>
            <a:off x="3474720" y="4014360"/>
            <a:ext cx="50274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  <a:ea typeface="DejaVu Sans"/>
              </a:rPr>
              <a:t>Hide implementation details; expose only what's necessary via abstract classes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0" name="Text 14"/>
          <p:cNvSpPr/>
          <p:nvPr/>
        </p:nvSpPr>
        <p:spPr>
          <a:xfrm>
            <a:off x="914400" y="470916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DejaVu Sans"/>
              </a:rPr>
              <a:t>Python OOP  ·  Session 8 Part 2  ·  All concepts covered · Variables renamed for copyright compliance</a:t>
            </a:r>
            <a:endParaRPr b="0" lang="en-IN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2026-02-21T17:54:13Z</dcterms:created>
  <dc:creator>PptxGenJS</dc:creator>
  <dc:description/>
  <dc:language>en-IN</dc:language>
  <cp:lastModifiedBy/>
  <dcterms:modified xsi:type="dcterms:W3CDTF">2026-03-08T14:28:00Z</dcterms:modified>
  <cp:revision>7</cp:revision>
  <dc:subject>PptxGenJS Presentation</dc:subject>
  <dc:title>Python OOP – Part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