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4F84539-1EDB-4B27-A833-0BE8582AC2F1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FE304E-7964-456D-B278-9949CD834B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43B179-F7C0-4FB5-886F-BC04EBE35F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FC9BC6-4888-4561-8714-6F5F1BEA95F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A927C0-33E9-44E5-B749-8F0C193DCF1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8FB772-7CBC-4314-BC8A-3349045BFF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95AFBB-8999-45D3-81E9-F759CC85A40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BE1122-1608-4852-B873-99B29C0F5F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F94D59-8FC4-44E5-A0B9-FCFE7BF0A46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5845E8-DD4D-46FB-BEEE-B1E2168114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51B195-DF20-41A7-89C7-C57B9E146B5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8CEA9F-5422-411E-808E-638FA72815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4616D8-CE73-4FD0-80DD-70A08CDC597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3DFBE3-3AF9-4A4C-8DEB-A2A32636D59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edit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title </a:t>
            </a:r>
            <a:r>
              <a:rPr b="0" lang="en-IN" sz="4400" spc="-1" strike="noStrike">
                <a:latin typeface="Arial"/>
              </a:rPr>
              <a:t>text </a:t>
            </a:r>
            <a:r>
              <a:rPr b="0" lang="en-IN" sz="4400" spc="-1" strike="noStrike">
                <a:latin typeface="Arial"/>
              </a:rPr>
              <a:t>form</a:t>
            </a:r>
            <a:r>
              <a:rPr b="0" lang="en-IN" sz="4400" spc="-1" strike="noStrike">
                <a:latin typeface="Arial"/>
              </a:rPr>
              <a:t>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3473280" cy="514224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3474720" y="0"/>
            <a:ext cx="5328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548640"/>
            <a:ext cx="2376000" cy="23760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548640"/>
            <a:ext cx="2376000" cy="23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000000"/>
                </a:solidFill>
                <a:latin typeface="Calibri"/>
                <a:ea typeface="DejaVu Sans"/>
              </a:rPr>
              <a:t>🐍</a:t>
            </a:r>
            <a:endParaRPr b="0" lang="en-IN" sz="72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274320" y="3108960"/>
            <a:ext cx="29246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389" strike="noStrike">
                <a:solidFill>
                  <a:srgbClr val="38bdf8"/>
                </a:solidFill>
                <a:latin typeface="Calibri"/>
                <a:ea typeface="DejaVu Sans"/>
              </a:rPr>
              <a:t>PYTHON 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749040" y="457200"/>
            <a:ext cx="52106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Object-Oriented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DejaVu Sans"/>
              </a:rPr>
              <a:t>Programming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749040" y="1874520"/>
            <a:ext cx="52106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  <a:ea typeface="DejaVu Sans"/>
              </a:rPr>
              <a:t>Session 8 · Part 2  |  File 2 of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749040" y="2377440"/>
            <a:ext cx="5210640" cy="352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749040" y="2560320"/>
            <a:ext cx="5210640" cy="21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Instance Variables (Quick Review)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Collections of Objects (Lists &amp; Dicts)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Static Variables — Shared Across All Objects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Static Methods — Utility Functions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Complete ATM Class — Everything Together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Instance Variables – Quick Review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Before We Proceed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182880" y="804600"/>
            <a:ext cx="8776800" cy="1278720"/>
          </a:xfrm>
          <a:prstGeom prst="rect">
            <a:avLst/>
          </a:prstGeom>
          <a:solidFill>
            <a:srgbClr val="0a162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Shape 6"/>
          <p:cNvSpPr/>
          <p:nvPr/>
        </p:nvSpPr>
        <p:spPr>
          <a:xfrm>
            <a:off x="182880" y="804600"/>
            <a:ext cx="53280" cy="127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7"/>
          <p:cNvSpPr/>
          <p:nvPr/>
        </p:nvSpPr>
        <p:spPr>
          <a:xfrm>
            <a:off x="365760" y="89604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1" strike="noStrike">
                <a:solidFill>
                  <a:srgbClr val="38bdf8"/>
                </a:solidFill>
                <a:latin typeface="Calibri"/>
                <a:ea typeface="DejaVu Sans"/>
              </a:rPr>
              <a:t>INSTANCE VARIABLE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65760" y="1188720"/>
            <a:ext cx="83196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DejaVu Sans"/>
              </a:rPr>
              <a:t>A variable defined inside __init__ using self. Its value is UNIQUE per object — every object gets its own copy in memory.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182880" y="2212920"/>
            <a:ext cx="5119200" cy="26046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Shape 10"/>
          <p:cNvSpPr/>
          <p:nvPr/>
        </p:nvSpPr>
        <p:spPr>
          <a:xfrm>
            <a:off x="182880" y="2212920"/>
            <a:ext cx="5119200" cy="25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Shape 11"/>
          <p:cNvSpPr/>
          <p:nvPr/>
        </p:nvSpPr>
        <p:spPr>
          <a:xfrm>
            <a:off x="292680" y="2277000"/>
            <a:ext cx="108360" cy="108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12"/>
          <p:cNvSpPr/>
          <p:nvPr/>
        </p:nvSpPr>
        <p:spPr>
          <a:xfrm>
            <a:off x="475560" y="2277000"/>
            <a:ext cx="108360" cy="108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Shape 13"/>
          <p:cNvSpPr/>
          <p:nvPr/>
        </p:nvSpPr>
        <p:spPr>
          <a:xfrm>
            <a:off x="658440" y="2277000"/>
            <a:ext cx="108360" cy="108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4"/>
          <p:cNvSpPr/>
          <p:nvPr/>
        </p:nvSpPr>
        <p:spPr>
          <a:xfrm>
            <a:off x="182880" y="2231280"/>
            <a:ext cx="50277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instance_demo.py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292680" y="2487240"/>
            <a:ext cx="4890600" cy="22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Employee: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emp_name, department):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.emp_name = emp_name        # instance variable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.department = department    # instance variable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emp1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'Engineering'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emp2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'Jordan'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'Marketing'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 memory: TWO separate emp_name values exist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emp1.emp_name = 'Alex'        emp2.emp_name = 'Jordan'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emp1.department = 'Engineering'  emp2.department = 'Marketing'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5486400" y="2212920"/>
            <a:ext cx="3473280" cy="26046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Text 17"/>
          <p:cNvSpPr/>
          <p:nvPr/>
        </p:nvSpPr>
        <p:spPr>
          <a:xfrm>
            <a:off x="5623560" y="2331720"/>
            <a:ext cx="3198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8bdf8"/>
                </a:solidFill>
                <a:latin typeface="Calibri"/>
                <a:ea typeface="DejaVu Sans"/>
              </a:rPr>
              <a:t>The Key Rule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5623560" y="2788920"/>
            <a:ext cx="3198960" cy="19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Defined with self. inside __init__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Value is DIFFERENT for every object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Each object owns its own copy in RAM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One variable name → multiple values (one per object)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  <a:ea typeface="DejaVu Sans"/>
              </a:rPr>
              <a:t>Most class attributes should be instance variables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"/>
          <p:cNvSpPr/>
          <p:nvPr/>
        </p:nvSpPr>
        <p:spPr>
          <a:xfrm>
            <a:off x="274320" y="457200"/>
            <a:ext cx="2284560" cy="27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06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1005840" y="1645920"/>
            <a:ext cx="713088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3"/>
          <p:cNvSpPr/>
          <p:nvPr/>
        </p:nvSpPr>
        <p:spPr>
          <a:xfrm>
            <a:off x="1005840" y="17830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Collections of Objects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1005840" y="320040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Objects inside lists and dictionaries — normal Python data structures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Collections – Objects in Lists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182880" y="804600"/>
            <a:ext cx="5216040" cy="45943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6"/>
          <p:cNvSpPr/>
          <p:nvPr/>
        </p:nvSpPr>
        <p:spPr>
          <a:xfrm>
            <a:off x="182880" y="804600"/>
            <a:ext cx="5210640" cy="25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7"/>
          <p:cNvSpPr/>
          <p:nvPr/>
        </p:nvSpPr>
        <p:spPr>
          <a:xfrm>
            <a:off x="292680" y="868680"/>
            <a:ext cx="108360" cy="108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8"/>
          <p:cNvSpPr/>
          <p:nvPr/>
        </p:nvSpPr>
        <p:spPr>
          <a:xfrm>
            <a:off x="475560" y="868680"/>
            <a:ext cx="108360" cy="108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9"/>
          <p:cNvSpPr/>
          <p:nvPr/>
        </p:nvSpPr>
        <p:spPr>
          <a:xfrm>
            <a:off x="658440" y="868680"/>
            <a:ext cx="108360" cy="108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0"/>
          <p:cNvSpPr/>
          <p:nvPr/>
        </p:nvSpPr>
        <p:spPr>
          <a:xfrm>
            <a:off x="182880" y="822960"/>
            <a:ext cx="5119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collections_demo.py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292680" y="1078920"/>
            <a:ext cx="4982040" cy="37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Student: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full_name, gpa):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.full_name = full_name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.gpa = gpa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List of Student objects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roster = [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'Alice'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3.9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'Bob'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 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3.5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'Clara'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3.7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Iterating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roster: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(s.full_name, '-&gt;', s.gpa)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Alice -&gt; 3.9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Bob   -&gt; 3.5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Clara -&gt; 3.7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Indexing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print(roster[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].full_name)   # Alice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Filtering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honour_roll = [s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roster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s.gpa &gt;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3.6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5577840" y="804600"/>
            <a:ext cx="3421080" cy="4338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Text 13"/>
          <p:cNvSpPr/>
          <p:nvPr/>
        </p:nvSpPr>
        <p:spPr>
          <a:xfrm>
            <a:off x="5715000" y="896040"/>
            <a:ext cx="3107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  <a:ea typeface="DejaVu Sans"/>
              </a:rPr>
              <a:t>Key Facts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5715000" y="132588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Normal Python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5715000" y="1581840"/>
            <a:ext cx="3107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Store objects exactly like you'd store integers or strings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5715000" y="210312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Iteration works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5715000" y="2359080"/>
            <a:ext cx="3107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for s in roster: — access any attribute via dot notation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5715000" y="288036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Indexing works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5715000" y="3136320"/>
            <a:ext cx="3107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roster[0].full_name gets the first object's name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5715000" y="365760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List comprehension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5715000" y="3913560"/>
            <a:ext cx="3107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Filter, transform, or build new lists of objects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5715000" y="4434840"/>
            <a:ext cx="31075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All list methods apply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5715000" y="4690800"/>
            <a:ext cx="3107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.append(), .sort(), len() all work the same way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Collections – Objects in Dictionaries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182880" y="804600"/>
            <a:ext cx="5302080" cy="40676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Shape 6"/>
          <p:cNvSpPr/>
          <p:nvPr/>
        </p:nvSpPr>
        <p:spPr>
          <a:xfrm>
            <a:off x="182880" y="804600"/>
            <a:ext cx="5302080" cy="25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7"/>
          <p:cNvSpPr/>
          <p:nvPr/>
        </p:nvSpPr>
        <p:spPr>
          <a:xfrm>
            <a:off x="292680" y="868680"/>
            <a:ext cx="108360" cy="108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8"/>
          <p:cNvSpPr/>
          <p:nvPr/>
        </p:nvSpPr>
        <p:spPr>
          <a:xfrm>
            <a:off x="475560" y="868680"/>
            <a:ext cx="108360" cy="108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9"/>
          <p:cNvSpPr/>
          <p:nvPr/>
        </p:nvSpPr>
        <p:spPr>
          <a:xfrm>
            <a:off x="658440" y="868680"/>
            <a:ext cx="108360" cy="108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0"/>
          <p:cNvSpPr/>
          <p:nvPr/>
        </p:nvSpPr>
        <p:spPr>
          <a:xfrm>
            <a:off x="182880" y="822960"/>
            <a:ext cx="5210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dict_objects.py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292680" y="1078920"/>
            <a:ext cx="5073480" cy="37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Dict of Student objects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student_db = {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'STU001'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'Alice'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3.9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'STU002'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'Bob'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 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3.5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'STU003'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: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'Clara'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3.7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}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Key lookup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print(student_db[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'STU001'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].full_name)   # Alice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Iterate with .items()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for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student_id, student_obj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student_db.items():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(f'ID: {student_id} | Name: {student_obj.full_name} | GPA: {student_obj.gpa}')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STU001 | Name: Alice | GPA: 3.9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STU002 | Name: Bob   | GPA: 3.5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ID: STU003 | Name: Clara | GPA: 3.7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Dynamic addition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student_db[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'STU004'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] = Student(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'Derek'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3.8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5669280" y="804600"/>
            <a:ext cx="3290400" cy="40676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Text 13"/>
          <p:cNvSpPr/>
          <p:nvPr/>
        </p:nvSpPr>
        <p:spPr>
          <a:xfrm>
            <a:off x="5806440" y="896040"/>
            <a:ext cx="3016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59e0b"/>
                </a:solidFill>
                <a:latin typeface="Calibri"/>
                <a:ea typeface="DejaVu Sans"/>
              </a:rPr>
              <a:t>Why Use a Dict?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5806440" y="1371600"/>
            <a:ext cx="30160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Named access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5806440" y="1627560"/>
            <a:ext cx="30160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Look up any student by ID — faster than searching a list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5806440" y="2331720"/>
            <a:ext cx="30160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.items() unpacking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5806440" y="2587680"/>
            <a:ext cx="30160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Get both key and object in one step during iteration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5806440" y="3291840"/>
            <a:ext cx="30160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Real-world pattern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5806440" y="3547800"/>
            <a:ext cx="30160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Employee DB, product catalogue, user registry — all use this pattern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5806440" y="4251960"/>
            <a:ext cx="30160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Homework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5806440" y="4507920"/>
            <a:ext cx="30160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Try storing objects in sets — requires implementing __hash__ on the class!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"/>
          <p:cNvSpPr/>
          <p:nvPr/>
        </p:nvSpPr>
        <p:spPr>
          <a:xfrm>
            <a:off x="274320" y="457200"/>
            <a:ext cx="2284560" cy="27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07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1005840" y="1645920"/>
            <a:ext cx="713088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3"/>
          <p:cNvSpPr/>
          <p:nvPr/>
        </p:nvSpPr>
        <p:spPr>
          <a:xfrm>
            <a:off x="1005840" y="17830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Static Variables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1005840" y="320040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Shared across all objects · defined at class level, not in __init__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Static Variables – The Problem &amp; Solution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2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182880" y="804600"/>
            <a:ext cx="4204800" cy="4021920"/>
          </a:xfrm>
          <a:prstGeom prst="rect">
            <a:avLst/>
          </a:prstGeom>
          <a:solidFill>
            <a:srgbClr val="1f0b0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6"/>
          <p:cNvSpPr/>
          <p:nvPr/>
        </p:nvSpPr>
        <p:spPr>
          <a:xfrm>
            <a:off x="182880" y="804600"/>
            <a:ext cx="4204800" cy="5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7"/>
          <p:cNvSpPr/>
          <p:nvPr/>
        </p:nvSpPr>
        <p:spPr>
          <a:xfrm>
            <a:off x="320040" y="896040"/>
            <a:ext cx="3930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1" strike="noStrike">
                <a:solidFill>
                  <a:srgbClr val="f87171"/>
                </a:solidFill>
                <a:latin typeface="Calibri"/>
                <a:ea typeface="DejaVu Sans"/>
              </a:rPr>
              <a:t>THE PROBLEM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320040" y="1207080"/>
            <a:ext cx="3930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You want each BankMachine object to have a unique customer ID (1, 2, 3, ...). Using an instance variable fails: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320040" y="1828800"/>
            <a:ext cx="3930480" cy="26046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0"/>
          <p:cNvSpPr/>
          <p:nvPr/>
        </p:nvSpPr>
        <p:spPr>
          <a:xfrm>
            <a:off x="429840" y="1883520"/>
            <a:ext cx="3747600" cy="24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1   # EVERY object starts at 1!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m1 = BankMachine()  # cust_id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m2 = BankMachine()  # cust_id = 1  ???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Instance variable = unique per object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# No shared counter exists!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320040" y="1828800"/>
            <a:ext cx="3930480" cy="227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2"/>
          <p:cNvSpPr/>
          <p:nvPr/>
        </p:nvSpPr>
        <p:spPr>
          <a:xfrm>
            <a:off x="429840" y="1874520"/>
            <a:ext cx="99000" cy="990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3"/>
          <p:cNvSpPr/>
          <p:nvPr/>
        </p:nvSpPr>
        <p:spPr>
          <a:xfrm>
            <a:off x="612720" y="1874520"/>
            <a:ext cx="99000" cy="99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4"/>
          <p:cNvSpPr/>
          <p:nvPr/>
        </p:nvSpPr>
        <p:spPr>
          <a:xfrm>
            <a:off x="795600" y="1874520"/>
            <a:ext cx="99000" cy="990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15"/>
          <p:cNvSpPr/>
          <p:nvPr/>
        </p:nvSpPr>
        <p:spPr>
          <a:xfrm>
            <a:off x="4572000" y="804600"/>
            <a:ext cx="4387680" cy="4021920"/>
          </a:xfrm>
          <a:prstGeom prst="rect">
            <a:avLst/>
          </a:prstGeom>
          <a:solidFill>
            <a:srgbClr val="0b1f12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4" name="Shape 16"/>
          <p:cNvSpPr/>
          <p:nvPr/>
        </p:nvSpPr>
        <p:spPr>
          <a:xfrm>
            <a:off x="4572000" y="804600"/>
            <a:ext cx="4387680" cy="53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7"/>
          <p:cNvSpPr/>
          <p:nvPr/>
        </p:nvSpPr>
        <p:spPr>
          <a:xfrm>
            <a:off x="4709160" y="896040"/>
            <a:ext cx="4113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89" strike="noStrike">
                <a:solidFill>
                  <a:srgbClr val="34d399"/>
                </a:solidFill>
                <a:latin typeface="Calibri"/>
                <a:ea typeface="DejaVu Sans"/>
              </a:rPr>
              <a:t>THE SOLUTION: Static 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4709160" y="1207080"/>
            <a:ext cx="4113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Define the counter at CLASS level — outside any method. It is shared by ALL objects: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4709160" y="1828800"/>
            <a:ext cx="4113360" cy="26046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20"/>
          <p:cNvSpPr/>
          <p:nvPr/>
        </p:nvSpPr>
        <p:spPr>
          <a:xfrm>
            <a:off x="4709160" y="1828800"/>
            <a:ext cx="4113360" cy="227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21"/>
          <p:cNvSpPr/>
          <p:nvPr/>
        </p:nvSpPr>
        <p:spPr>
          <a:xfrm>
            <a:off x="4818960" y="1883520"/>
            <a:ext cx="99000" cy="990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22"/>
          <p:cNvSpPr/>
          <p:nvPr/>
        </p:nvSpPr>
        <p:spPr>
          <a:xfrm>
            <a:off x="5001840" y="1883520"/>
            <a:ext cx="99000" cy="99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23"/>
          <p:cNvSpPr/>
          <p:nvPr/>
        </p:nvSpPr>
        <p:spPr>
          <a:xfrm>
            <a:off x="5184720" y="1883520"/>
            <a:ext cx="99000" cy="990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24"/>
          <p:cNvSpPr/>
          <p:nvPr/>
        </p:nvSpPr>
        <p:spPr>
          <a:xfrm>
            <a:off x="4818960" y="2084760"/>
            <a:ext cx="3930480" cy="23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Static variable — OUTSIDE __init__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1   # Shared by all instances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Assign current count as this obj's ID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BankMachine.cust_counter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Increment for next object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m1 = BankMachine()  # cust_id =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m2 = BankMachine()  # cust_id =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m3 = BankMachine()  # cust_id = 3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Works perfectly!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Instance Variables vs Static Variables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07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158" name="Table 0"/>
          <p:cNvGraphicFramePr/>
          <p:nvPr/>
        </p:nvGraphicFramePr>
        <p:xfrm>
          <a:off x="182880" y="868680"/>
          <a:ext cx="8777880" cy="34740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</a:tblGrid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8bdf8"/>
                          </a:solidFill>
                          <a:latin typeface="Calibri"/>
                        </a:rPr>
                        <a:t>Instance Variable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c2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4d399"/>
                          </a:solidFill>
                          <a:latin typeface="Calibri"/>
                        </a:rPr>
                        <a:t>Static Variable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a1f12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Where defined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Inside __init__ with self.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Inside the class, OUTSIDE any method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Value per object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UNIQUE — each object has its own value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SHARED — same value across all objects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Access syntax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self.variable_name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ClassName.variable_name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When to use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For data unique to each object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For data that belongs to the class itself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79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Example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emp_name, account_balance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cust_counter, bank_code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9" name="Shape 5"/>
          <p:cNvSpPr/>
          <p:nvPr/>
        </p:nvSpPr>
        <p:spPr>
          <a:xfrm>
            <a:off x="182880" y="4462200"/>
            <a:ext cx="4159080" cy="5472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Text 6"/>
          <p:cNvSpPr/>
          <p:nvPr/>
        </p:nvSpPr>
        <p:spPr>
          <a:xfrm>
            <a:off x="320040" y="4526280"/>
            <a:ext cx="39304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STATIC example: BankMachine.ifsc_code = 'HDFC001'  — same for every machine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4572000" y="4462200"/>
            <a:ext cx="4387680" cy="5472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Text 8"/>
          <p:cNvSpPr/>
          <p:nvPr/>
        </p:nvSpPr>
        <p:spPr>
          <a:xfrm>
            <a:off x="4709160" y="4526280"/>
            <a:ext cx="41133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INSTANCE example: self.account_balance = 0  — unique per account holder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2560" cy="514224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"/>
          <p:cNvSpPr/>
          <p:nvPr/>
        </p:nvSpPr>
        <p:spPr>
          <a:xfrm>
            <a:off x="274320" y="457200"/>
            <a:ext cx="2284560" cy="27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  <a:ea typeface="DejaVu Sans"/>
              </a:rPr>
              <a:t>08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1005840" y="1645920"/>
            <a:ext cx="713088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3"/>
          <p:cNvSpPr/>
          <p:nvPr/>
        </p:nvSpPr>
        <p:spPr>
          <a:xfrm>
            <a:off x="1005840" y="1783080"/>
            <a:ext cx="77709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Static Methods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005840" y="3200400"/>
            <a:ext cx="7770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  <a:ea typeface="DejaVu Sans"/>
              </a:rPr>
              <a:t>@staticmethod — utility functions that don't need a specific object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Static Methods – @staticmethod Decorator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182880" y="804600"/>
            <a:ext cx="2833200" cy="10774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4" name="Shape 6"/>
          <p:cNvSpPr/>
          <p:nvPr/>
        </p:nvSpPr>
        <p:spPr>
          <a:xfrm>
            <a:off x="182880" y="804600"/>
            <a:ext cx="2833200" cy="5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7"/>
          <p:cNvSpPr/>
          <p:nvPr/>
        </p:nvSpPr>
        <p:spPr>
          <a:xfrm>
            <a:off x="320040" y="89604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  <a:ea typeface="DejaVu Sans"/>
              </a:rPr>
              <a:t>No self Parameter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320040" y="1261800"/>
            <a:ext cx="25588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Static methods don't receive the current object. They can't access instance variables.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3154680" y="804600"/>
            <a:ext cx="2833200" cy="10774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10"/>
          <p:cNvSpPr/>
          <p:nvPr/>
        </p:nvSpPr>
        <p:spPr>
          <a:xfrm>
            <a:off x="3154680" y="804600"/>
            <a:ext cx="2833200" cy="5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1"/>
          <p:cNvSpPr/>
          <p:nvPr/>
        </p:nvSpPr>
        <p:spPr>
          <a:xfrm>
            <a:off x="3291840" y="89604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DejaVu Sans"/>
              </a:rPr>
              <a:t>@staticmethod Decorator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3291840" y="1261800"/>
            <a:ext cx="25588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Mark the method with @staticmethod above def. This tells Python it's a utility function.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6126480" y="804600"/>
            <a:ext cx="2833200" cy="10774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Shape 14"/>
          <p:cNvSpPr/>
          <p:nvPr/>
        </p:nvSpPr>
        <p:spPr>
          <a:xfrm>
            <a:off x="6126480" y="804600"/>
            <a:ext cx="2833200" cy="53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5"/>
          <p:cNvSpPr/>
          <p:nvPr/>
        </p:nvSpPr>
        <p:spPr>
          <a:xfrm>
            <a:off x="6263640" y="896040"/>
            <a:ext cx="2558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  <a:ea typeface="DejaVu Sans"/>
              </a:rPr>
              <a:t>Call via ClassName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6263640" y="1261800"/>
            <a:ext cx="25588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  <a:ea typeface="DejaVu Sans"/>
              </a:rPr>
              <a:t>Call as BankMachine.get_total_customers() — no object needed at all.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-537120" y="1974960"/>
            <a:ext cx="5577120" cy="43250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18"/>
          <p:cNvSpPr/>
          <p:nvPr/>
        </p:nvSpPr>
        <p:spPr>
          <a:xfrm>
            <a:off x="182880" y="1974960"/>
            <a:ext cx="5667840" cy="25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19"/>
          <p:cNvSpPr/>
          <p:nvPr/>
        </p:nvSpPr>
        <p:spPr>
          <a:xfrm>
            <a:off x="292680" y="2039040"/>
            <a:ext cx="108360" cy="108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Shape 20"/>
          <p:cNvSpPr/>
          <p:nvPr/>
        </p:nvSpPr>
        <p:spPr>
          <a:xfrm>
            <a:off x="475560" y="2039040"/>
            <a:ext cx="108360" cy="108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21"/>
          <p:cNvSpPr/>
          <p:nvPr/>
        </p:nvSpPr>
        <p:spPr>
          <a:xfrm>
            <a:off x="658440" y="2039040"/>
            <a:ext cx="108360" cy="108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22"/>
          <p:cNvSpPr/>
          <p:nvPr/>
        </p:nvSpPr>
        <p:spPr>
          <a:xfrm>
            <a:off x="182880" y="1993320"/>
            <a:ext cx="55764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static_methods.py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320760" y="2249280"/>
            <a:ext cx="5439240" cy="25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1   # Static variable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.cust_id = BankMachine.cust_counter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get_total_customers():   # no self!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BankMachine.cust_counter -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validate_pin_format(pin_str):   # utility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pin_str.isdigit()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and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len(pin_str) ==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4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Calling static methods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m1 = BankMachine()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m2 = BankMachine()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Call via class name (recommended)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(BankMachine.get_total_customers())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print(BankMachine.validate_pin_format(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'4523'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))  # 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print(BankMachine.validate_pin_format(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'ab12'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))  # False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6035040" y="1974960"/>
            <a:ext cx="2924640" cy="28789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 25"/>
          <p:cNvSpPr/>
          <p:nvPr/>
        </p:nvSpPr>
        <p:spPr>
          <a:xfrm>
            <a:off x="6172200" y="2084760"/>
            <a:ext cx="26503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  <a:ea typeface="DejaVu Sans"/>
              </a:rPr>
              <a:t>When to Use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  <a:ea typeface="DejaVu Sans"/>
              </a:rPr>
              <a:t>Static Methods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6172200" y="2743200"/>
            <a:ext cx="265032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Utility/helper functions that belong to the class conceptually but don't need any specific object's data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Accessing or returning static variable values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Validation functions (check PIN format, validate email, etc.)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  <a:ea typeface="DejaVu Sans"/>
              </a:rPr>
              <a:t>Factory-style methods that create objects in special ways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Complete BankMachine Class – All Concepts Together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9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07 + 08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82880" y="777240"/>
            <a:ext cx="8776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DejaVu Sans"/>
              </a:rPr>
              <a:t>The final version combining: Private Variables · Getters/Setters · Static Variable · Static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182880" y="1207080"/>
            <a:ext cx="5036040" cy="41918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7"/>
          <p:cNvSpPr/>
          <p:nvPr/>
        </p:nvSpPr>
        <p:spPr>
          <a:xfrm>
            <a:off x="182880" y="1207080"/>
            <a:ext cx="5027760" cy="25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8"/>
          <p:cNvSpPr/>
          <p:nvPr/>
        </p:nvSpPr>
        <p:spPr>
          <a:xfrm>
            <a:off x="292680" y="1271160"/>
            <a:ext cx="108360" cy="108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9"/>
          <p:cNvSpPr/>
          <p:nvPr/>
        </p:nvSpPr>
        <p:spPr>
          <a:xfrm>
            <a:off x="475560" y="1271160"/>
            <a:ext cx="108360" cy="108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Shape 10"/>
          <p:cNvSpPr/>
          <p:nvPr/>
        </p:nvSpPr>
        <p:spPr>
          <a:xfrm>
            <a:off x="658440" y="1271160"/>
            <a:ext cx="108360" cy="108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1"/>
          <p:cNvSpPr/>
          <p:nvPr/>
        </p:nvSpPr>
        <p:spPr>
          <a:xfrm>
            <a:off x="182880" y="1225440"/>
            <a:ext cx="49363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DejaVu Sans"/>
              </a:rPr>
              <a:t>bank_machine_final.py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292680" y="1481400"/>
            <a:ext cx="4799160" cy="33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Static variable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cust_counter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.__cust_id = BankMachine.cust_counter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BankMachine.cust_counter +=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.__secret_pin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Getter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retrieve_balance(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Setter with validation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assign_balance(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new_amount):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type(new_amount) ==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int: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new_amount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f87171"/>
                </a:solidFill>
                <a:latin typeface="Courier New"/>
                <a:ea typeface="Courier New"/>
              </a:rPr>
              <a:t>('Invalid: must be integer')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Static method ---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@staticmethod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get_total_customers():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BankMachine.cust_counter -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5394960" y="1207080"/>
            <a:ext cx="3564720" cy="657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Shape 14"/>
          <p:cNvSpPr/>
          <p:nvPr/>
        </p:nvSpPr>
        <p:spPr>
          <a:xfrm>
            <a:off x="5394960" y="1207080"/>
            <a:ext cx="53280" cy="657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5"/>
          <p:cNvSpPr/>
          <p:nvPr/>
        </p:nvSpPr>
        <p:spPr>
          <a:xfrm>
            <a:off x="5541120" y="125280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  <a:ea typeface="DejaVu Sans"/>
              </a:rPr>
              <a:t>Static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5541120" y="151776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cust_counter — shared, class-level counter for all machines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5394960" y="1938600"/>
            <a:ext cx="3564720" cy="657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Shape 18"/>
          <p:cNvSpPr/>
          <p:nvPr/>
        </p:nvSpPr>
        <p:spPr>
          <a:xfrm>
            <a:off x="5394960" y="1938600"/>
            <a:ext cx="53280" cy="657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9"/>
          <p:cNvSpPr/>
          <p:nvPr/>
        </p:nvSpPr>
        <p:spPr>
          <a:xfrm>
            <a:off x="5541120" y="198432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  <a:ea typeface="DejaVu Sans"/>
              </a:rPr>
              <a:t>Private Variables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5541120" y="224928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__cust_id, __secret_pin, __account_balance — hidden from outside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5394960" y="2670120"/>
            <a:ext cx="3564720" cy="657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Shape 22"/>
          <p:cNvSpPr/>
          <p:nvPr/>
        </p:nvSpPr>
        <p:spPr>
          <a:xfrm>
            <a:off x="5394960" y="2670120"/>
            <a:ext cx="53280" cy="657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23"/>
          <p:cNvSpPr/>
          <p:nvPr/>
        </p:nvSpPr>
        <p:spPr>
          <a:xfrm>
            <a:off x="5541120" y="271584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  <a:ea typeface="DejaVu Sans"/>
              </a:rPr>
              <a:t>Getter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5541120" y="298080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retrieve_balance() — read-only access to private 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0" name="Shape 25"/>
          <p:cNvSpPr/>
          <p:nvPr/>
        </p:nvSpPr>
        <p:spPr>
          <a:xfrm>
            <a:off x="5394960" y="3401640"/>
            <a:ext cx="3564720" cy="657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26"/>
          <p:cNvSpPr/>
          <p:nvPr/>
        </p:nvSpPr>
        <p:spPr>
          <a:xfrm>
            <a:off x="5394960" y="3401640"/>
            <a:ext cx="53280" cy="657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7"/>
          <p:cNvSpPr/>
          <p:nvPr/>
        </p:nvSpPr>
        <p:spPr>
          <a:xfrm>
            <a:off x="5541120" y="344736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DejaVu Sans"/>
              </a:rPr>
              <a:t>Setter + Validation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3" name="Text 28"/>
          <p:cNvSpPr/>
          <p:nvPr/>
        </p:nvSpPr>
        <p:spPr>
          <a:xfrm>
            <a:off x="5541120" y="371232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assign_balance() — only accepts integers, rejects invalid input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4" name="Shape 29"/>
          <p:cNvSpPr/>
          <p:nvPr/>
        </p:nvSpPr>
        <p:spPr>
          <a:xfrm>
            <a:off x="5394960" y="4133160"/>
            <a:ext cx="3564720" cy="657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Shape 30"/>
          <p:cNvSpPr/>
          <p:nvPr/>
        </p:nvSpPr>
        <p:spPr>
          <a:xfrm>
            <a:off x="5394960" y="4133160"/>
            <a:ext cx="53280" cy="6570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31"/>
          <p:cNvSpPr/>
          <p:nvPr/>
        </p:nvSpPr>
        <p:spPr>
          <a:xfrm>
            <a:off x="5541120" y="417888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c084fc"/>
                </a:solidFill>
                <a:latin typeface="Calibri"/>
                <a:ea typeface="DejaVu Sans"/>
              </a:rPr>
              <a:t>Static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7" name="Text 32"/>
          <p:cNvSpPr/>
          <p:nvPr/>
        </p:nvSpPr>
        <p:spPr>
          <a:xfrm>
            <a:off x="5541120" y="4443840"/>
            <a:ext cx="333612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get_total_customers() — no self, uses class-level data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Shape 1"/>
          <p:cNvSpPr/>
          <p:nvPr/>
        </p:nvSpPr>
        <p:spPr>
          <a:xfrm>
            <a:off x="0" y="0"/>
            <a:ext cx="9142560" cy="71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"/>
          <p:cNvSpPr/>
          <p:nvPr/>
        </p:nvSpPr>
        <p:spPr>
          <a:xfrm>
            <a:off x="182880" y="0"/>
            <a:ext cx="7130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Instance vs Static – Methods Comparison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2" name="Text 4"/>
          <p:cNvSpPr/>
          <p:nvPr/>
        </p:nvSpPr>
        <p:spPr>
          <a:xfrm>
            <a:off x="7589520" y="109800"/>
            <a:ext cx="137016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  <a:ea typeface="DejaVu Sans"/>
              </a:rPr>
              <a:t>Section 08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233" name="Table 0"/>
          <p:cNvGraphicFramePr/>
          <p:nvPr/>
        </p:nvGraphicFramePr>
        <p:xfrm>
          <a:off x="182880" y="868680"/>
          <a:ext cx="8777880" cy="3794040"/>
        </p:xfrm>
        <a:graphic>
          <a:graphicData uri="http://schemas.openxmlformats.org/drawingml/2006/table">
            <a:tbl>
              <a:tblPr/>
              <a:tblGrid>
                <a:gridCol w="2560320"/>
                <a:gridCol w="3108960"/>
                <a:gridCol w="3108960"/>
              </a:tblGrid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8bdf8"/>
                          </a:solidFill>
                          <a:latin typeface="Calibri"/>
                        </a:rPr>
                        <a:t>Regular/Instance Method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c2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34d399"/>
                          </a:solidFill>
                          <a:latin typeface="Calibri"/>
                        </a:rPr>
                        <a:t>Static Method</a:t>
                      </a:r>
                      <a:endParaRPr b="0" lang="en-IN" sz="13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0a1f12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First parameter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self (current object)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None (no self)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Can access instance vars?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self.variable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 — no object reference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Can access static vars?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ClassName.var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YES — via ClassName.var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Called via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object.method() or ClassName.method(obj)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ClassName.method()  (no object needed)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  <a:tr h="54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Decorator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None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@staticmethod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e293b"/>
                    </a:solidFill>
                  </a:tcPr>
                </a:tc>
              </a:tr>
              <a:tr h="543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59e0b"/>
                          </a:solidFill>
                          <a:latin typeface="Calibri"/>
                        </a:rPr>
                        <a:t>Use case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Act on a specific object's data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e2e8f0"/>
                          </a:solidFill>
                          <a:latin typeface="Calibri"/>
                        </a:rPr>
                        <a:t>Utility/helper, works on class-level data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334155"/>
                      </a:solidFill>
                    </a:lnL>
                    <a:lnR w="12240">
                      <a:solidFill>
                        <a:srgbClr val="334155"/>
                      </a:solidFill>
                    </a:lnR>
                    <a:lnT w="12240">
                      <a:solidFill>
                        <a:srgbClr val="334155"/>
                      </a:solidFill>
                    </a:lnT>
                    <a:lnB w="12240">
                      <a:solidFill>
                        <a:srgbClr val="334155"/>
                      </a:solidFill>
                    </a:lnB>
                    <a:solidFill>
                      <a:srgbClr val="172034"/>
                    </a:solidFill>
                  </a:tcPr>
                </a:tc>
              </a:tr>
            </a:tbl>
          </a:graphicData>
        </a:graphic>
      </p:graphicFrame>
      <p:sp>
        <p:nvSpPr>
          <p:cNvPr id="234" name="Shape 5"/>
          <p:cNvSpPr/>
          <p:nvPr/>
        </p:nvSpPr>
        <p:spPr>
          <a:xfrm>
            <a:off x="182880" y="4736520"/>
            <a:ext cx="8776800" cy="291240"/>
          </a:xfrm>
          <a:prstGeom prst="rect">
            <a:avLst/>
          </a:prstGeom>
          <a:solidFill>
            <a:srgbClr val="0c2a3a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6"/>
          <p:cNvSpPr/>
          <p:nvPr/>
        </p:nvSpPr>
        <p:spPr>
          <a:xfrm>
            <a:off x="320040" y="4754880"/>
            <a:ext cx="85024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DejaVu Sans"/>
              </a:rPr>
              <a:t>Decorator note: @staticmethod is a function decorator — a special Python annotation that changes how the method is registered. Decorators in-depth are covered in an advanced session.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30240" y="-449640"/>
            <a:ext cx="9142560" cy="514224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1"/>
          <p:cNvSpPr/>
          <p:nvPr/>
        </p:nvSpPr>
        <p:spPr>
          <a:xfrm>
            <a:off x="0" y="0"/>
            <a:ext cx="62640" cy="5142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"/>
          <p:cNvSpPr/>
          <p:nvPr/>
        </p:nvSpPr>
        <p:spPr>
          <a:xfrm>
            <a:off x="914400" y="360000"/>
            <a:ext cx="7313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488" strike="noStrike">
                <a:solidFill>
                  <a:srgbClr val="34d399"/>
                </a:solidFill>
                <a:latin typeface="Calibri"/>
                <a:ea typeface="DejaVu Sans"/>
              </a:rPr>
              <a:t>NEXT SESSION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 rot="21587400">
            <a:off x="910800" y="779760"/>
            <a:ext cx="731376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DejaVu Sans"/>
              </a:rPr>
              <a:t>Remaining OOP Principles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900000" y="2114640"/>
            <a:ext cx="7313760" cy="44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5"/>
          <p:cNvSpPr/>
          <p:nvPr/>
        </p:nvSpPr>
        <p:spPr>
          <a:xfrm>
            <a:off x="914400" y="2240280"/>
            <a:ext cx="318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1298520" y="2240280"/>
            <a:ext cx="2010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Inheritance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3474720" y="2277000"/>
            <a:ext cx="5027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  <a:ea typeface="DejaVu Sans"/>
              </a:rPr>
              <a:t>Derive new classes from existing ones to share code and extend behaviour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914400" y="3108960"/>
            <a:ext cx="318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1298520" y="3108960"/>
            <a:ext cx="2010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Polymorphism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3474720" y="3145680"/>
            <a:ext cx="5027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  <a:ea typeface="DejaVu Sans"/>
              </a:rPr>
              <a:t>One interface, many implementations — method overriding and duck typing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914400" y="3977640"/>
            <a:ext cx="318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8bdf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1298520" y="3977640"/>
            <a:ext cx="2010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DejaVu Sans"/>
              </a:rPr>
              <a:t>Abstraction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3474720" y="4014360"/>
            <a:ext cx="5027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  <a:ea typeface="DejaVu Sans"/>
              </a:rPr>
              <a:t>Hide implementation details; expose only what's necessary via abstract classes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914400" y="4709160"/>
            <a:ext cx="7770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DejaVu Sans"/>
              </a:rPr>
              <a:t>Python OOP  ·  Session 8 Part 2  ·  All concepts covered · Variables renamed for copyright compliance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2026-02-21T17:54:13Z</dcterms:created>
  <dc:creator>PptxGenJS</dc:creator>
  <dc:description/>
  <dc:language>en-IN</dc:language>
  <cp:lastModifiedBy/>
  <dcterms:modified xsi:type="dcterms:W3CDTF">2026-03-06T22:21:54Z</dcterms:modified>
  <cp:revision>6</cp:revision>
  <dc:subject>PptxGenJS Presentation</dc:subject>
  <dc:title>Python OOP – Part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