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6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IN" sz="4400" spc="-1" strike="noStrike">
                <a:latin typeface="Arial"/>
              </a:rPr>
              <a:t>Click to move the slide</a:t>
            </a:r>
            <a:endParaRPr b="0" lang="en-IN" sz="44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IN" sz="2000" spc="-1" strike="noStrike">
                <a:latin typeface="Arial"/>
              </a:rPr>
              <a:t>Click to edit the notes format</a:t>
            </a:r>
            <a:endParaRPr b="0" lang="en-IN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IN" sz="1400" spc="-1" strike="noStrike">
                <a:latin typeface="Times New Roman"/>
              </a:rPr>
              <a:t>&lt;header&gt;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IN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IN" sz="1400" spc="-1" strike="noStrike">
                <a:latin typeface="Times New Roman"/>
              </a:rPr>
              <a:t>&lt;date/time&gt;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IN" sz="1400" spc="-1" strike="noStrike">
                <a:latin typeface="Times New Roman"/>
              </a:defRPr>
            </a:lvl1pPr>
          </a:lstStyle>
          <a:p>
            <a:r>
              <a:rPr b="0" lang="en-IN" sz="1400" spc="-1" strike="noStrike">
                <a:latin typeface="Times New Roman"/>
              </a:rPr>
              <a:t>&lt;footer&gt;</a:t>
            </a:r>
            <a:endParaRPr b="0" lang="en-IN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IN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8FC5BF9A-0446-4976-B5F7-3CC05D2EBBB4}" type="slidenum">
              <a:rPr b="0" lang="en-IN" sz="1400" spc="-1" strike="noStrike">
                <a:latin typeface="Times New Roman"/>
              </a:rPr>
              <a:t>&lt;number&gt;</a:t>
            </a:fld>
            <a:endParaRPr b="0" lang="en-IN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53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A5D0A3F-41F2-4BF1-8BB9-B26C1DA135EE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56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06FC965-F02E-4281-B1F1-BA757A8F7270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AABD06D-E876-4B2D-8D0D-3BDD651E1E3D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52CB952-4C29-4C77-8DE8-39F11535CBC3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65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BAC1A1FD-2DC5-4135-998D-2E95921B84D2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A5D168A-6342-4B56-ACD8-B425994D0E2F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68B3338-2094-4093-AC7A-14B88BB73614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E8AD101-C565-4B4C-8270-A6C02255CA94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77D446A-2A49-4E78-9C02-148C3A207F59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80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504DB42-17B8-46C8-8831-951ABA6B84C1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83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CD90D81-348B-429B-9180-AD93FA65D711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106315C8-94ED-472C-93F0-E0B66F3571CC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240" cy="3084120"/>
          </a:xfrm>
          <a:prstGeom prst="rect">
            <a:avLst/>
          </a:prstGeom>
          <a:ln w="0">
            <a:noFill/>
          </a:ln>
        </p:spPr>
      </p:sp>
      <p:sp>
        <p:nvSpPr>
          <p:cNvPr id="2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240" cy="3598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IN" sz="2000" spc="-1" strike="noStrike">
              <a:latin typeface="Arial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9640" cy="45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63A8025-048F-4966-A5C5-3A6F6A92955A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IN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57200" y="205200"/>
            <a:ext cx="8229240" cy="3981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57200" y="2761920"/>
            <a:ext cx="822924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674240" y="120348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5720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674240" y="2761920"/>
            <a:ext cx="40158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IN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5720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23964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022080" y="120348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5720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23964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022080" y="2761920"/>
            <a:ext cx="2649600" cy="1422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IN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IN" sz="4400" spc="-1" strike="noStrike">
                <a:latin typeface="Arial"/>
              </a:rPr>
              <a:t>Click to edit the title text format</a:t>
            </a:r>
            <a:endParaRPr b="0" lang="en-IN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3200" spc="-1" strike="noStrike">
                <a:latin typeface="Arial"/>
              </a:rPr>
              <a:t>Click to edit the outline text format</a:t>
            </a:r>
            <a:endParaRPr b="0" lang="en-IN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800" spc="-1" strike="noStrike">
                <a:latin typeface="Arial"/>
              </a:rPr>
              <a:t>Second Outline Level</a:t>
            </a:r>
            <a:endParaRPr b="0" lang="en-IN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400" spc="-1" strike="noStrike">
                <a:latin typeface="Arial"/>
              </a:rPr>
              <a:t>Third Outline Level</a:t>
            </a:r>
            <a:endParaRPr b="0" lang="en-IN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IN" sz="2000" spc="-1" strike="noStrike">
                <a:latin typeface="Arial"/>
              </a:rPr>
              <a:t>Fourth Outline Level</a:t>
            </a:r>
            <a:endParaRPr b="0" lang="en-IN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Fifth Outline Level</a:t>
            </a:r>
            <a:endParaRPr b="0" lang="en-IN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Sixth Outline Level</a:t>
            </a:r>
            <a:endParaRPr b="0" lang="en-IN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IN" sz="2000" spc="-1" strike="noStrike">
                <a:latin typeface="Arial"/>
              </a:rPr>
              <a:t>Seventh Outline Level</a:t>
            </a:r>
            <a:endParaRPr b="0" lang="en-IN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Shape 0"/>
          <p:cNvSpPr/>
          <p:nvPr/>
        </p:nvSpPr>
        <p:spPr>
          <a:xfrm>
            <a:off x="0" y="0"/>
            <a:ext cx="3472560" cy="5141520"/>
          </a:xfrm>
          <a:prstGeom prst="rect">
            <a:avLst/>
          </a:prstGeom>
          <a:solidFill>
            <a:srgbClr val="0c1526"/>
          </a:solidFill>
          <a:ln w="12700">
            <a:solidFill>
              <a:srgbClr val="0c152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hape 1"/>
          <p:cNvSpPr/>
          <p:nvPr/>
        </p:nvSpPr>
        <p:spPr>
          <a:xfrm>
            <a:off x="3474720" y="0"/>
            <a:ext cx="52560" cy="51415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Shape 2"/>
          <p:cNvSpPr/>
          <p:nvPr/>
        </p:nvSpPr>
        <p:spPr>
          <a:xfrm>
            <a:off x="457200" y="548640"/>
            <a:ext cx="2375280" cy="2375280"/>
          </a:xfrm>
          <a:prstGeom prst="ellipse">
            <a:avLst/>
          </a:prstGeom>
          <a:solidFill>
            <a:srgbClr val="1e3a5f"/>
          </a:solidFill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" name="Text 3"/>
          <p:cNvSpPr/>
          <p:nvPr/>
        </p:nvSpPr>
        <p:spPr>
          <a:xfrm>
            <a:off x="457200" y="548640"/>
            <a:ext cx="2375280" cy="2375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7200" spc="-1" strike="noStrike">
                <a:solidFill>
                  <a:srgbClr val="000000"/>
                </a:solidFill>
                <a:latin typeface="Calibri"/>
                <a:ea typeface="DejaVu Sans"/>
              </a:rPr>
              <a:t>🐍</a:t>
            </a:r>
            <a:endParaRPr b="0" lang="en-IN" sz="7200" spc="-1" strike="noStrike">
              <a:latin typeface="Arial"/>
            </a:endParaRPr>
          </a:p>
        </p:txBody>
      </p:sp>
      <p:sp>
        <p:nvSpPr>
          <p:cNvPr id="48" name="Text 4"/>
          <p:cNvSpPr/>
          <p:nvPr/>
        </p:nvSpPr>
        <p:spPr>
          <a:xfrm>
            <a:off x="274320" y="3108960"/>
            <a:ext cx="29239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384" strike="noStrike">
                <a:solidFill>
                  <a:srgbClr val="38bdf8"/>
                </a:solidFill>
                <a:latin typeface="Calibri"/>
                <a:ea typeface="DejaVu Sans"/>
              </a:rPr>
              <a:t>PYTHON OOP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49" name="Text 5"/>
          <p:cNvSpPr/>
          <p:nvPr/>
        </p:nvSpPr>
        <p:spPr>
          <a:xfrm>
            <a:off x="3749040" y="457200"/>
            <a:ext cx="5209920" cy="136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  <a:ea typeface="DejaVu Sans"/>
              </a:rPr>
              <a:t>Object-Oriented</a:t>
            </a:r>
            <a:endParaRPr b="0" lang="en-IN" sz="4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  <a:ea typeface="DejaVu Sans"/>
              </a:rPr>
              <a:t>Programming</a:t>
            </a:r>
            <a:endParaRPr b="0" lang="en-IN" sz="4000" spc="-1" strike="noStrike">
              <a:latin typeface="Arial"/>
            </a:endParaRPr>
          </a:p>
        </p:txBody>
      </p:sp>
      <p:sp>
        <p:nvSpPr>
          <p:cNvPr id="50" name="Text 6"/>
          <p:cNvSpPr/>
          <p:nvPr/>
        </p:nvSpPr>
        <p:spPr>
          <a:xfrm>
            <a:off x="3749040" y="1874520"/>
            <a:ext cx="520992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rgbClr val="38bdf8"/>
                </a:solidFill>
                <a:latin typeface="Calibri"/>
                <a:ea typeface="DejaVu Sans"/>
              </a:rPr>
              <a:t>Session 8 · Part 2  |  File 2 of 2</a:t>
            </a:r>
            <a:endParaRPr b="0" lang="en-IN" sz="1800" spc="-1" strike="noStrike">
              <a:latin typeface="Arial"/>
            </a:endParaRPr>
          </a:p>
        </p:txBody>
      </p:sp>
      <p:sp>
        <p:nvSpPr>
          <p:cNvPr id="51" name="Shape 7"/>
          <p:cNvSpPr/>
          <p:nvPr/>
        </p:nvSpPr>
        <p:spPr>
          <a:xfrm>
            <a:off x="3749040" y="2377440"/>
            <a:ext cx="5209920" cy="34560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" name="Text 8"/>
          <p:cNvSpPr/>
          <p:nvPr/>
        </p:nvSpPr>
        <p:spPr>
          <a:xfrm>
            <a:off x="3749040" y="2560320"/>
            <a:ext cx="5209920" cy="2192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>
              <a:lnSpc>
                <a:spcPct val="100000"/>
              </a:lnSpc>
              <a:buClr>
                <a:srgbClr val="e2e8f0"/>
              </a:buClr>
              <a:buFont typeface="Symbol"/>
              <a:buChar char=""/>
            </a:pPr>
            <a:r>
              <a:rPr b="0" lang="en-US" sz="1400" spc="-1" strike="noStrike">
                <a:solidFill>
                  <a:srgbClr val="e2e8f0"/>
                </a:solidFill>
                <a:latin typeface="Calibri"/>
                <a:ea typeface="Calibri"/>
              </a:rPr>
              <a:t>Instance Variables (Quick Review)</a:t>
            </a:r>
            <a:endParaRPr b="0" lang="en-IN" sz="14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e2e8f0"/>
              </a:buClr>
              <a:buFont typeface="Symbol"/>
              <a:buChar char=""/>
            </a:pPr>
            <a:r>
              <a:rPr b="0" lang="en-US" sz="1400" spc="-1" strike="noStrike">
                <a:solidFill>
                  <a:srgbClr val="e2e8f0"/>
                </a:solidFill>
                <a:latin typeface="Calibri"/>
                <a:ea typeface="Calibri"/>
              </a:rPr>
              <a:t>Collections of Objects (Lists &amp; Dicts)</a:t>
            </a:r>
            <a:endParaRPr b="0" lang="en-IN" sz="14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e2e8f0"/>
              </a:buClr>
              <a:buFont typeface="Symbol"/>
              <a:buChar char=""/>
            </a:pPr>
            <a:r>
              <a:rPr b="0" lang="en-US" sz="1400" spc="-1" strike="noStrike">
                <a:solidFill>
                  <a:srgbClr val="e2e8f0"/>
                </a:solidFill>
                <a:latin typeface="Calibri"/>
                <a:ea typeface="Calibri"/>
              </a:rPr>
              <a:t>Static Variables — Shared Across All Objects</a:t>
            </a:r>
            <a:endParaRPr b="0" lang="en-IN" sz="14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e2e8f0"/>
              </a:buClr>
              <a:buFont typeface="Symbol"/>
              <a:buChar char=""/>
            </a:pPr>
            <a:r>
              <a:rPr b="0" lang="en-US" sz="1400" spc="-1" strike="noStrike">
                <a:solidFill>
                  <a:srgbClr val="e2e8f0"/>
                </a:solidFill>
                <a:latin typeface="Calibri"/>
                <a:ea typeface="Calibri"/>
              </a:rPr>
              <a:t>Static Methods — Utility Functions</a:t>
            </a:r>
            <a:endParaRPr b="0" lang="en-IN" sz="14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e2e8f0"/>
              </a:buClr>
              <a:buFont typeface="Symbol"/>
              <a:buChar char=""/>
            </a:pPr>
            <a:r>
              <a:rPr b="0" lang="en-US" sz="1400" spc="-1" strike="noStrike">
                <a:solidFill>
                  <a:srgbClr val="e2e8f0"/>
                </a:solidFill>
                <a:latin typeface="Calibri"/>
                <a:ea typeface="Calibri"/>
              </a:rPr>
              <a:t>Complete ATM Class — Everything Together</a:t>
            </a:r>
            <a:endParaRPr b="0" lang="en-IN" sz="1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Shape 0"/>
          <p:cNvSpPr/>
          <p:nvPr/>
        </p:nvSpPr>
        <p:spPr>
          <a:xfrm>
            <a:off x="0" y="0"/>
            <a:ext cx="61920" cy="51415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" name="Shape 1"/>
          <p:cNvSpPr/>
          <p:nvPr/>
        </p:nvSpPr>
        <p:spPr>
          <a:xfrm>
            <a:off x="0" y="0"/>
            <a:ext cx="9141840" cy="7110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" name="Text 2"/>
          <p:cNvSpPr/>
          <p:nvPr/>
        </p:nvSpPr>
        <p:spPr>
          <a:xfrm>
            <a:off x="182880" y="0"/>
            <a:ext cx="713016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DejaVu Sans"/>
              </a:rPr>
              <a:t>Instance Variables – Quick Review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56" name="Shape 3"/>
          <p:cNvSpPr/>
          <p:nvPr/>
        </p:nvSpPr>
        <p:spPr>
          <a:xfrm>
            <a:off x="7589520" y="109800"/>
            <a:ext cx="1369440" cy="4734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7" name="Text 4"/>
          <p:cNvSpPr/>
          <p:nvPr/>
        </p:nvSpPr>
        <p:spPr>
          <a:xfrm>
            <a:off x="7589520" y="109800"/>
            <a:ext cx="13694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f172a"/>
                </a:solidFill>
                <a:latin typeface="Calibri"/>
                <a:ea typeface="DejaVu Sans"/>
              </a:rPr>
              <a:t>Before We Proceed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58" name="Shape 5"/>
          <p:cNvSpPr/>
          <p:nvPr/>
        </p:nvSpPr>
        <p:spPr>
          <a:xfrm>
            <a:off x="182880" y="804600"/>
            <a:ext cx="8776080" cy="1278000"/>
          </a:xfrm>
          <a:prstGeom prst="rect">
            <a:avLst/>
          </a:prstGeom>
          <a:solidFill>
            <a:srgbClr val="0a1628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9" name="Shape 6"/>
          <p:cNvSpPr/>
          <p:nvPr/>
        </p:nvSpPr>
        <p:spPr>
          <a:xfrm>
            <a:off x="182880" y="804600"/>
            <a:ext cx="52560" cy="12780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0" name="Text 7"/>
          <p:cNvSpPr/>
          <p:nvPr/>
        </p:nvSpPr>
        <p:spPr>
          <a:xfrm>
            <a:off x="365760" y="896040"/>
            <a:ext cx="27410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185" strike="noStrike">
                <a:solidFill>
                  <a:srgbClr val="38bdf8"/>
                </a:solidFill>
                <a:latin typeface="Calibri"/>
                <a:ea typeface="DejaVu Sans"/>
              </a:rPr>
              <a:t>INSTANCE VARIABLE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61" name="Text 8"/>
          <p:cNvSpPr/>
          <p:nvPr/>
        </p:nvSpPr>
        <p:spPr>
          <a:xfrm>
            <a:off x="365760" y="1188720"/>
            <a:ext cx="831888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e2e8f0"/>
                </a:solidFill>
                <a:latin typeface="Calibri"/>
                <a:ea typeface="DejaVu Sans"/>
              </a:rPr>
              <a:t>A variable defined inside __init__ using self. Its value is UNIQUE per object — every object gets its own copy in memory.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62" name="Shape 9"/>
          <p:cNvSpPr/>
          <p:nvPr/>
        </p:nvSpPr>
        <p:spPr>
          <a:xfrm>
            <a:off x="182880" y="2212920"/>
            <a:ext cx="5118480" cy="2603880"/>
          </a:xfrm>
          <a:prstGeom prst="rect">
            <a:avLst/>
          </a:prstGeom>
          <a:solidFill>
            <a:srgbClr val="0d1117"/>
          </a:solidFill>
          <a:ln w="19050">
            <a:solidFill>
              <a:srgbClr val="2d374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3" name="Shape 10"/>
          <p:cNvSpPr/>
          <p:nvPr/>
        </p:nvSpPr>
        <p:spPr>
          <a:xfrm>
            <a:off x="182880" y="2212920"/>
            <a:ext cx="5118480" cy="253800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" name="Shape 11"/>
          <p:cNvSpPr/>
          <p:nvPr/>
        </p:nvSpPr>
        <p:spPr>
          <a:xfrm>
            <a:off x="292680" y="2277000"/>
            <a:ext cx="107640" cy="10764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" name="Shape 12"/>
          <p:cNvSpPr/>
          <p:nvPr/>
        </p:nvSpPr>
        <p:spPr>
          <a:xfrm>
            <a:off x="475560" y="2277000"/>
            <a:ext cx="107640" cy="1076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6" name="Shape 13"/>
          <p:cNvSpPr/>
          <p:nvPr/>
        </p:nvSpPr>
        <p:spPr>
          <a:xfrm>
            <a:off x="658440" y="2277000"/>
            <a:ext cx="107640" cy="10764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" name="Text 14"/>
          <p:cNvSpPr/>
          <p:nvPr/>
        </p:nvSpPr>
        <p:spPr>
          <a:xfrm>
            <a:off x="182880" y="2231280"/>
            <a:ext cx="50270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DejaVu Sans"/>
              </a:rPr>
              <a:t>instance_demo.py</a:t>
            </a:r>
            <a:endParaRPr b="0" lang="en-IN" sz="800" spc="-1" strike="noStrike">
              <a:latin typeface="Arial"/>
            </a:endParaRPr>
          </a:p>
        </p:txBody>
      </p:sp>
      <p:sp>
        <p:nvSpPr>
          <p:cNvPr id="68" name="Text 15"/>
          <p:cNvSpPr/>
          <p:nvPr/>
        </p:nvSpPr>
        <p:spPr>
          <a:xfrm>
            <a:off x="292680" y="2487240"/>
            <a:ext cx="4889880" cy="22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class</a:t>
            </a:r>
            <a:r>
              <a:rPr b="0" lang="en-US" sz="1000" spc="-1" strike="noStrike">
                <a:solidFill>
                  <a:srgbClr val="34d399"/>
                </a:solidFill>
                <a:latin typeface="Courier New"/>
                <a:ea typeface="Courier New"/>
              </a:rPr>
              <a:t> Employee: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def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__init__(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, emp_name, department):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.emp_name = emp_name        # instance variable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.department = department    # instance variable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emp1 = Employee(</a:t>
            </a: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'Alex'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, </a:t>
            </a: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'Engineering'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emp2 = Employee(</a:t>
            </a: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'Jordan'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, </a:t>
            </a: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'Marketing'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In memory: TWO separate emp_name values exist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emp1.emp_name = 'Alex'        emp2.emp_name = 'Jordan'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emp1.department = 'Engineering'  emp2.department = 'Marketing'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</p:txBody>
      </p:sp>
      <p:sp>
        <p:nvSpPr>
          <p:cNvPr id="69" name="Shape 16"/>
          <p:cNvSpPr/>
          <p:nvPr/>
        </p:nvSpPr>
        <p:spPr>
          <a:xfrm>
            <a:off x="5486400" y="2212920"/>
            <a:ext cx="3472560" cy="2603880"/>
          </a:xfrm>
          <a:prstGeom prst="rect">
            <a:avLst/>
          </a:prstGeom>
          <a:solidFill>
            <a:srgbClr val="1e293b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0" name="Text 17"/>
          <p:cNvSpPr/>
          <p:nvPr/>
        </p:nvSpPr>
        <p:spPr>
          <a:xfrm>
            <a:off x="5623560" y="2331720"/>
            <a:ext cx="31982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600" spc="-1" strike="noStrike">
                <a:solidFill>
                  <a:srgbClr val="38bdf8"/>
                </a:solidFill>
                <a:latin typeface="Calibri"/>
                <a:ea typeface="DejaVu Sans"/>
              </a:rPr>
              <a:t>The Key Rule</a:t>
            </a:r>
            <a:endParaRPr b="0" lang="en-IN" sz="1600" spc="-1" strike="noStrike">
              <a:latin typeface="Arial"/>
            </a:endParaRPr>
          </a:p>
        </p:txBody>
      </p:sp>
      <p:sp>
        <p:nvSpPr>
          <p:cNvPr id="71" name="Text 18"/>
          <p:cNvSpPr/>
          <p:nvPr/>
        </p:nvSpPr>
        <p:spPr>
          <a:xfrm>
            <a:off x="5623560" y="2788920"/>
            <a:ext cx="3198240" cy="191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>
              <a:lnSpc>
                <a:spcPct val="100000"/>
              </a:lnSpc>
              <a:buClr>
                <a:srgbClr val="e2e8f0"/>
              </a:buClr>
              <a:buFont typeface="Symbol"/>
              <a:buChar char=""/>
            </a:pPr>
            <a:r>
              <a:rPr b="0" lang="en-US" sz="1250" spc="-1" strike="noStrike">
                <a:solidFill>
                  <a:srgbClr val="e2e8f0"/>
                </a:solidFill>
                <a:latin typeface="Calibri"/>
                <a:ea typeface="DejaVu Sans"/>
              </a:rPr>
              <a:t>Defined with self. inside __init__</a:t>
            </a:r>
            <a:endParaRPr b="0" lang="en-IN" sz="125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e2e8f0"/>
              </a:buClr>
              <a:buFont typeface="Symbol"/>
              <a:buChar char=""/>
            </a:pPr>
            <a:r>
              <a:rPr b="0" lang="en-US" sz="1250" spc="-1" strike="noStrike">
                <a:solidFill>
                  <a:srgbClr val="e2e8f0"/>
                </a:solidFill>
                <a:latin typeface="Calibri"/>
                <a:ea typeface="DejaVu Sans"/>
              </a:rPr>
              <a:t>Value is DIFFERENT for every object</a:t>
            </a:r>
            <a:endParaRPr b="0" lang="en-IN" sz="125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e2e8f0"/>
              </a:buClr>
              <a:buFont typeface="Symbol"/>
              <a:buChar char=""/>
            </a:pPr>
            <a:r>
              <a:rPr b="0" lang="en-US" sz="1250" spc="-1" strike="noStrike">
                <a:solidFill>
                  <a:srgbClr val="e2e8f0"/>
                </a:solidFill>
                <a:latin typeface="Calibri"/>
                <a:ea typeface="DejaVu Sans"/>
              </a:rPr>
              <a:t>Each object owns its own copy in RAM</a:t>
            </a:r>
            <a:endParaRPr b="0" lang="en-IN" sz="125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e2e8f0"/>
              </a:buClr>
              <a:buFont typeface="Symbol"/>
              <a:buChar char=""/>
            </a:pPr>
            <a:r>
              <a:rPr b="0" lang="en-US" sz="1250" spc="-1" strike="noStrike">
                <a:solidFill>
                  <a:srgbClr val="e2e8f0"/>
                </a:solidFill>
                <a:latin typeface="Calibri"/>
                <a:ea typeface="DejaVu Sans"/>
              </a:rPr>
              <a:t>One variable name → multiple values (one per object)</a:t>
            </a:r>
            <a:endParaRPr b="0" lang="en-IN" sz="125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e2e8f0"/>
              </a:buClr>
              <a:buFont typeface="Symbol"/>
              <a:buChar char=""/>
            </a:pPr>
            <a:r>
              <a:rPr b="0" lang="en-US" sz="1250" spc="-1" strike="noStrike">
                <a:solidFill>
                  <a:srgbClr val="e2e8f0"/>
                </a:solidFill>
                <a:latin typeface="Calibri"/>
                <a:ea typeface="DejaVu Sans"/>
              </a:rPr>
              <a:t>Most class attributes should be instance variables</a:t>
            </a:r>
            <a:endParaRPr b="0" lang="en-IN" sz="12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0"/>
          <p:cNvSpPr/>
          <p:nvPr/>
        </p:nvSpPr>
        <p:spPr>
          <a:xfrm>
            <a:off x="0" y="0"/>
            <a:ext cx="9141840" cy="5141520"/>
          </a:xfrm>
          <a:prstGeom prst="rect">
            <a:avLst/>
          </a:prstGeom>
          <a:solidFill>
            <a:srgbClr val="162032">
              <a:alpha val="80000"/>
            </a:srgbClr>
          </a:solidFill>
          <a:ln w="12700">
            <a:solidFill>
              <a:srgbClr val="162032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3" name="Text 1"/>
          <p:cNvSpPr/>
          <p:nvPr/>
        </p:nvSpPr>
        <p:spPr>
          <a:xfrm>
            <a:off x="274320" y="457200"/>
            <a:ext cx="2283840" cy="274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0" spc="-1" strike="noStrike">
                <a:solidFill>
                  <a:srgbClr val="38bdf8">
                    <a:alpha val="30000"/>
                  </a:srgbClr>
                </a:solidFill>
                <a:latin typeface="Calibri"/>
                <a:ea typeface="DejaVu Sans"/>
              </a:rPr>
              <a:t>06</a:t>
            </a:r>
            <a:endParaRPr b="0" lang="en-IN" sz="13000" spc="-1" strike="noStrike">
              <a:latin typeface="Arial"/>
            </a:endParaRPr>
          </a:p>
        </p:txBody>
      </p:sp>
      <p:sp>
        <p:nvSpPr>
          <p:cNvPr id="74" name="Shape 2"/>
          <p:cNvSpPr/>
          <p:nvPr/>
        </p:nvSpPr>
        <p:spPr>
          <a:xfrm>
            <a:off x="1005840" y="1645920"/>
            <a:ext cx="7130160" cy="52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" name="Text 3"/>
          <p:cNvSpPr/>
          <p:nvPr/>
        </p:nvSpPr>
        <p:spPr>
          <a:xfrm>
            <a:off x="1005840" y="1783080"/>
            <a:ext cx="7770240" cy="136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Calibri"/>
                <a:ea typeface="DejaVu Sans"/>
              </a:rPr>
              <a:t>Collections of Objects</a:t>
            </a:r>
            <a:endParaRPr b="0" lang="en-IN" sz="4200" spc="-1" strike="noStrike">
              <a:latin typeface="Arial"/>
            </a:endParaRPr>
          </a:p>
        </p:txBody>
      </p:sp>
      <p:sp>
        <p:nvSpPr>
          <p:cNvPr id="76" name="Text 4"/>
          <p:cNvSpPr/>
          <p:nvPr/>
        </p:nvSpPr>
        <p:spPr>
          <a:xfrm>
            <a:off x="1005840" y="3200400"/>
            <a:ext cx="77702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700" spc="-1" strike="noStrike">
                <a:solidFill>
                  <a:srgbClr val="94a3b8"/>
                </a:solidFill>
                <a:latin typeface="Calibri"/>
                <a:ea typeface="DejaVu Sans"/>
              </a:rPr>
              <a:t>Objects inside lists and dictionaries — normal Python data structures</a:t>
            </a:r>
            <a:endParaRPr b="0" lang="en-IN" sz="17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Shape 0"/>
          <p:cNvSpPr/>
          <p:nvPr/>
        </p:nvSpPr>
        <p:spPr>
          <a:xfrm>
            <a:off x="0" y="0"/>
            <a:ext cx="61920" cy="51415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" name="Shape 1"/>
          <p:cNvSpPr/>
          <p:nvPr/>
        </p:nvSpPr>
        <p:spPr>
          <a:xfrm>
            <a:off x="0" y="0"/>
            <a:ext cx="9141840" cy="7110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9" name="Text 2"/>
          <p:cNvSpPr/>
          <p:nvPr/>
        </p:nvSpPr>
        <p:spPr>
          <a:xfrm>
            <a:off x="182880" y="0"/>
            <a:ext cx="713016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DejaVu Sans"/>
              </a:rPr>
              <a:t>Collections – Objects in Lists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80" name="Shape 3"/>
          <p:cNvSpPr/>
          <p:nvPr/>
        </p:nvSpPr>
        <p:spPr>
          <a:xfrm>
            <a:off x="7589520" y="109800"/>
            <a:ext cx="1369440" cy="4734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1" name="Text 4"/>
          <p:cNvSpPr/>
          <p:nvPr/>
        </p:nvSpPr>
        <p:spPr>
          <a:xfrm>
            <a:off x="7589520" y="109800"/>
            <a:ext cx="13694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f172a"/>
                </a:solidFill>
                <a:latin typeface="Calibri"/>
                <a:ea typeface="DejaVu Sans"/>
              </a:rPr>
              <a:t>Section 06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82" name="Shape 5"/>
          <p:cNvSpPr/>
          <p:nvPr/>
        </p:nvSpPr>
        <p:spPr>
          <a:xfrm>
            <a:off x="182880" y="804600"/>
            <a:ext cx="5215320" cy="4593600"/>
          </a:xfrm>
          <a:prstGeom prst="rect">
            <a:avLst/>
          </a:prstGeom>
          <a:solidFill>
            <a:srgbClr val="0d1117"/>
          </a:solidFill>
          <a:ln w="19050">
            <a:solidFill>
              <a:srgbClr val="2d374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3" name="Shape 6"/>
          <p:cNvSpPr/>
          <p:nvPr/>
        </p:nvSpPr>
        <p:spPr>
          <a:xfrm>
            <a:off x="182880" y="804600"/>
            <a:ext cx="5209920" cy="253800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" name="Shape 7"/>
          <p:cNvSpPr/>
          <p:nvPr/>
        </p:nvSpPr>
        <p:spPr>
          <a:xfrm>
            <a:off x="292680" y="868680"/>
            <a:ext cx="107640" cy="10764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5" name="Shape 8"/>
          <p:cNvSpPr/>
          <p:nvPr/>
        </p:nvSpPr>
        <p:spPr>
          <a:xfrm>
            <a:off x="475560" y="868680"/>
            <a:ext cx="107640" cy="1076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6" name="Shape 9"/>
          <p:cNvSpPr/>
          <p:nvPr/>
        </p:nvSpPr>
        <p:spPr>
          <a:xfrm>
            <a:off x="658440" y="868680"/>
            <a:ext cx="107640" cy="10764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" name="Text 10"/>
          <p:cNvSpPr/>
          <p:nvPr/>
        </p:nvSpPr>
        <p:spPr>
          <a:xfrm>
            <a:off x="182880" y="822960"/>
            <a:ext cx="51184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DejaVu Sans"/>
              </a:rPr>
              <a:t>collections_demo.py</a:t>
            </a:r>
            <a:endParaRPr b="0" lang="en-IN" sz="800" spc="-1" strike="noStrike">
              <a:latin typeface="Arial"/>
            </a:endParaRPr>
          </a:p>
        </p:txBody>
      </p:sp>
      <p:sp>
        <p:nvSpPr>
          <p:cNvPr id="88" name="Text 11"/>
          <p:cNvSpPr/>
          <p:nvPr/>
        </p:nvSpPr>
        <p:spPr>
          <a:xfrm>
            <a:off x="292680" y="1078920"/>
            <a:ext cx="4981320" cy="37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class</a:t>
            </a:r>
            <a:r>
              <a:rPr b="0" lang="en-US" sz="1000" spc="-1" strike="noStrike">
                <a:solidFill>
                  <a:srgbClr val="34d399"/>
                </a:solidFill>
                <a:latin typeface="Courier New"/>
                <a:ea typeface="Courier New"/>
              </a:rPr>
              <a:t> Student: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def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__init__(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, full_name, gpa):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.full_name = full_name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.gpa = gpa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--- List of Student objects ---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roster = [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Student(</a:t>
            </a: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'Alice'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,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3.9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),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Student(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'Bob'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,  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3.5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),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Student(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'Clara'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,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3.7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),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]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--- Iterating ---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for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s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in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roster: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print</a:t>
            </a: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(s.full_name, '-&gt;', s.gpa)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Output: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Alice -&gt; 3.9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Bob   -&gt; 3.5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Clara -&gt; 3.7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--- Indexing ---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print(roster[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0</a:t>
            </a: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].full_name)   # Alice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--- Filtering ---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honour_roll = [s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for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s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in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roster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if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s.gpa &gt;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3.6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]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</p:txBody>
      </p:sp>
      <p:sp>
        <p:nvSpPr>
          <p:cNvPr id="89" name="Shape 12"/>
          <p:cNvSpPr/>
          <p:nvPr/>
        </p:nvSpPr>
        <p:spPr>
          <a:xfrm>
            <a:off x="5577840" y="804600"/>
            <a:ext cx="3420360" cy="4337280"/>
          </a:xfrm>
          <a:prstGeom prst="rect">
            <a:avLst/>
          </a:prstGeom>
          <a:solidFill>
            <a:srgbClr val="1e293b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0" name="Text 13"/>
          <p:cNvSpPr/>
          <p:nvPr/>
        </p:nvSpPr>
        <p:spPr>
          <a:xfrm>
            <a:off x="5715000" y="896040"/>
            <a:ext cx="310680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38bdf8"/>
                </a:solidFill>
                <a:latin typeface="Calibri"/>
                <a:ea typeface="DejaVu Sans"/>
              </a:rPr>
              <a:t>Key Facts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91" name="Text 14"/>
          <p:cNvSpPr/>
          <p:nvPr/>
        </p:nvSpPr>
        <p:spPr>
          <a:xfrm>
            <a:off x="5715000" y="1325880"/>
            <a:ext cx="31068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34d399"/>
                </a:solidFill>
                <a:latin typeface="Calibri"/>
                <a:ea typeface="DejaVu Sans"/>
              </a:rPr>
              <a:t>Normal Python list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92" name="Text 15"/>
          <p:cNvSpPr/>
          <p:nvPr/>
        </p:nvSpPr>
        <p:spPr>
          <a:xfrm>
            <a:off x="5715000" y="1581840"/>
            <a:ext cx="310680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2e8f0"/>
                </a:solidFill>
                <a:latin typeface="Calibri"/>
                <a:ea typeface="DejaVu Sans"/>
              </a:rPr>
              <a:t>Store objects exactly like you'd store integers or strings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93" name="Text 16"/>
          <p:cNvSpPr/>
          <p:nvPr/>
        </p:nvSpPr>
        <p:spPr>
          <a:xfrm>
            <a:off x="5715000" y="2103120"/>
            <a:ext cx="31068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34d399"/>
                </a:solidFill>
                <a:latin typeface="Calibri"/>
                <a:ea typeface="DejaVu Sans"/>
              </a:rPr>
              <a:t>Iteration works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94" name="Text 17"/>
          <p:cNvSpPr/>
          <p:nvPr/>
        </p:nvSpPr>
        <p:spPr>
          <a:xfrm>
            <a:off x="5715000" y="2359080"/>
            <a:ext cx="310680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2e8f0"/>
                </a:solidFill>
                <a:latin typeface="Calibri"/>
                <a:ea typeface="DejaVu Sans"/>
              </a:rPr>
              <a:t>for s in roster: — access any attribute via dot notation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95" name="Text 18"/>
          <p:cNvSpPr/>
          <p:nvPr/>
        </p:nvSpPr>
        <p:spPr>
          <a:xfrm>
            <a:off x="5715000" y="2880360"/>
            <a:ext cx="31068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34d399"/>
                </a:solidFill>
                <a:latin typeface="Calibri"/>
                <a:ea typeface="DejaVu Sans"/>
              </a:rPr>
              <a:t>Indexing works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96" name="Text 19"/>
          <p:cNvSpPr/>
          <p:nvPr/>
        </p:nvSpPr>
        <p:spPr>
          <a:xfrm>
            <a:off x="5715000" y="3136320"/>
            <a:ext cx="310680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2e8f0"/>
                </a:solidFill>
                <a:latin typeface="Calibri"/>
                <a:ea typeface="DejaVu Sans"/>
              </a:rPr>
              <a:t>roster[0].full_name gets the first object's name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97" name="Text 20"/>
          <p:cNvSpPr/>
          <p:nvPr/>
        </p:nvSpPr>
        <p:spPr>
          <a:xfrm>
            <a:off x="5715000" y="3657600"/>
            <a:ext cx="31068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34d399"/>
                </a:solidFill>
                <a:latin typeface="Calibri"/>
                <a:ea typeface="DejaVu Sans"/>
              </a:rPr>
              <a:t>List comprehension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98" name="Text 21"/>
          <p:cNvSpPr/>
          <p:nvPr/>
        </p:nvSpPr>
        <p:spPr>
          <a:xfrm>
            <a:off x="5715000" y="3913560"/>
            <a:ext cx="310680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2e8f0"/>
                </a:solidFill>
                <a:latin typeface="Calibri"/>
                <a:ea typeface="DejaVu Sans"/>
              </a:rPr>
              <a:t>Filter, transform, or build new lists of objects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99" name="Text 22"/>
          <p:cNvSpPr/>
          <p:nvPr/>
        </p:nvSpPr>
        <p:spPr>
          <a:xfrm>
            <a:off x="5715000" y="4434840"/>
            <a:ext cx="31068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34d399"/>
                </a:solidFill>
                <a:latin typeface="Calibri"/>
                <a:ea typeface="DejaVu Sans"/>
              </a:rPr>
              <a:t>All list methods apply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00" name="Text 23"/>
          <p:cNvSpPr/>
          <p:nvPr/>
        </p:nvSpPr>
        <p:spPr>
          <a:xfrm>
            <a:off x="5715000" y="4690800"/>
            <a:ext cx="3106800" cy="455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00" spc="-1" strike="noStrike">
                <a:solidFill>
                  <a:srgbClr val="e2e8f0"/>
                </a:solidFill>
                <a:latin typeface="Calibri"/>
                <a:ea typeface="DejaVu Sans"/>
              </a:rPr>
              <a:t>.append(), .sort(), len() all work the same way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0"/>
          <p:cNvSpPr/>
          <p:nvPr/>
        </p:nvSpPr>
        <p:spPr>
          <a:xfrm>
            <a:off x="0" y="0"/>
            <a:ext cx="61920" cy="51415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Shape 1"/>
          <p:cNvSpPr/>
          <p:nvPr/>
        </p:nvSpPr>
        <p:spPr>
          <a:xfrm>
            <a:off x="0" y="0"/>
            <a:ext cx="9141840" cy="7110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3" name="Text 2"/>
          <p:cNvSpPr/>
          <p:nvPr/>
        </p:nvSpPr>
        <p:spPr>
          <a:xfrm>
            <a:off x="182880" y="0"/>
            <a:ext cx="713016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DejaVu Sans"/>
              </a:rPr>
              <a:t>Collections – Objects in Dictionaries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104" name="Shape 3"/>
          <p:cNvSpPr/>
          <p:nvPr/>
        </p:nvSpPr>
        <p:spPr>
          <a:xfrm>
            <a:off x="7589520" y="109800"/>
            <a:ext cx="1369440" cy="4734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5" name="Text 4"/>
          <p:cNvSpPr/>
          <p:nvPr/>
        </p:nvSpPr>
        <p:spPr>
          <a:xfrm>
            <a:off x="7589520" y="109800"/>
            <a:ext cx="13694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f172a"/>
                </a:solidFill>
                <a:latin typeface="Calibri"/>
                <a:ea typeface="DejaVu Sans"/>
              </a:rPr>
              <a:t>Section 06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06" name="Shape 5"/>
          <p:cNvSpPr/>
          <p:nvPr/>
        </p:nvSpPr>
        <p:spPr>
          <a:xfrm>
            <a:off x="182880" y="804600"/>
            <a:ext cx="5301360" cy="4066920"/>
          </a:xfrm>
          <a:prstGeom prst="rect">
            <a:avLst/>
          </a:prstGeom>
          <a:solidFill>
            <a:srgbClr val="0d1117"/>
          </a:solidFill>
          <a:ln w="19050">
            <a:solidFill>
              <a:srgbClr val="2d374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7" name="Shape 6"/>
          <p:cNvSpPr/>
          <p:nvPr/>
        </p:nvSpPr>
        <p:spPr>
          <a:xfrm>
            <a:off x="182880" y="804600"/>
            <a:ext cx="5301360" cy="253800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8" name="Shape 7"/>
          <p:cNvSpPr/>
          <p:nvPr/>
        </p:nvSpPr>
        <p:spPr>
          <a:xfrm>
            <a:off x="292680" y="868680"/>
            <a:ext cx="107640" cy="10764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9" name="Shape 8"/>
          <p:cNvSpPr/>
          <p:nvPr/>
        </p:nvSpPr>
        <p:spPr>
          <a:xfrm>
            <a:off x="475560" y="868680"/>
            <a:ext cx="107640" cy="1076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0" name="Shape 9"/>
          <p:cNvSpPr/>
          <p:nvPr/>
        </p:nvSpPr>
        <p:spPr>
          <a:xfrm>
            <a:off x="658440" y="868680"/>
            <a:ext cx="107640" cy="10764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1" name="Text 10"/>
          <p:cNvSpPr/>
          <p:nvPr/>
        </p:nvSpPr>
        <p:spPr>
          <a:xfrm>
            <a:off x="182880" y="822960"/>
            <a:ext cx="520992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DejaVu Sans"/>
              </a:rPr>
              <a:t>dict_objects.py</a:t>
            </a:r>
            <a:endParaRPr b="0" lang="en-IN" sz="800" spc="-1" strike="noStrike">
              <a:latin typeface="Arial"/>
            </a:endParaRPr>
          </a:p>
        </p:txBody>
      </p:sp>
      <p:sp>
        <p:nvSpPr>
          <p:cNvPr id="112" name="Text 11"/>
          <p:cNvSpPr/>
          <p:nvPr/>
        </p:nvSpPr>
        <p:spPr>
          <a:xfrm>
            <a:off x="292680" y="1078920"/>
            <a:ext cx="5072760" cy="371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--- Dict of Student objects ---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student_db = {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'STU001'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: Student(</a:t>
            </a: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'Alice'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,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3.9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),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   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'STU002'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: Student(</a:t>
            </a: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'Bob'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,  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3.5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),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   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'STU003'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: Student(</a:t>
            </a: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'Clara'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,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3.7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),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}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--- Key lookup ---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print(student_db[</a:t>
            </a: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'STU001'</a:t>
            </a: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].full_name)   # Alice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--- Iterate with .items() ---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for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student_id, student_obj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in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student_db.items():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print</a:t>
            </a: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(f'ID: {student_id} | Name: {student_obj.full_name} | GPA: {student_obj.gpa}')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Output: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ID: STU001 | Name: Alice | GPA: 3.9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ID: STU002 | Name: Bob   | GPA: 3.5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ID: STU003 | Name: Clara | GPA: 3.7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--- Dynamic addition ---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student_db[</a:t>
            </a: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'STU004'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] = Student(</a:t>
            </a: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'Derek'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,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3.8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)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113" name="Shape 12"/>
          <p:cNvSpPr/>
          <p:nvPr/>
        </p:nvSpPr>
        <p:spPr>
          <a:xfrm>
            <a:off x="5669280" y="804600"/>
            <a:ext cx="3289680" cy="4066920"/>
          </a:xfrm>
          <a:prstGeom prst="rect">
            <a:avLst/>
          </a:prstGeom>
          <a:solidFill>
            <a:srgbClr val="1e293b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4" name="Text 13"/>
          <p:cNvSpPr/>
          <p:nvPr/>
        </p:nvSpPr>
        <p:spPr>
          <a:xfrm>
            <a:off x="5806440" y="896040"/>
            <a:ext cx="301536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59e0b"/>
                </a:solidFill>
                <a:latin typeface="Calibri"/>
                <a:ea typeface="DejaVu Sans"/>
              </a:rPr>
              <a:t>Why Use a Dict?</a:t>
            </a:r>
            <a:endParaRPr b="0" lang="en-IN" sz="1500" spc="-1" strike="noStrike">
              <a:latin typeface="Arial"/>
            </a:endParaRPr>
          </a:p>
        </p:txBody>
      </p:sp>
      <p:sp>
        <p:nvSpPr>
          <p:cNvPr id="115" name="Text 14"/>
          <p:cNvSpPr/>
          <p:nvPr/>
        </p:nvSpPr>
        <p:spPr>
          <a:xfrm>
            <a:off x="5806440" y="1371600"/>
            <a:ext cx="30153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38bdf8"/>
                </a:solidFill>
                <a:latin typeface="Calibri"/>
                <a:ea typeface="DejaVu Sans"/>
              </a:rPr>
              <a:t>Named access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16" name="Text 15"/>
          <p:cNvSpPr/>
          <p:nvPr/>
        </p:nvSpPr>
        <p:spPr>
          <a:xfrm>
            <a:off x="5806440" y="1627560"/>
            <a:ext cx="301536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e2e8f0"/>
                </a:solidFill>
                <a:latin typeface="Calibri"/>
                <a:ea typeface="DejaVu Sans"/>
              </a:rPr>
              <a:t>Look up any student by ID — faster than searching a list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117" name="Text 16"/>
          <p:cNvSpPr/>
          <p:nvPr/>
        </p:nvSpPr>
        <p:spPr>
          <a:xfrm>
            <a:off x="5806440" y="2331720"/>
            <a:ext cx="30153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38bdf8"/>
                </a:solidFill>
                <a:latin typeface="Calibri"/>
                <a:ea typeface="DejaVu Sans"/>
              </a:rPr>
              <a:t>.items() unpacking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18" name="Text 17"/>
          <p:cNvSpPr/>
          <p:nvPr/>
        </p:nvSpPr>
        <p:spPr>
          <a:xfrm>
            <a:off x="5806440" y="2587680"/>
            <a:ext cx="301536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e2e8f0"/>
                </a:solidFill>
                <a:latin typeface="Calibri"/>
                <a:ea typeface="DejaVu Sans"/>
              </a:rPr>
              <a:t>Get both key and object in one step during iteration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119" name="Text 18"/>
          <p:cNvSpPr/>
          <p:nvPr/>
        </p:nvSpPr>
        <p:spPr>
          <a:xfrm>
            <a:off x="5806440" y="3291840"/>
            <a:ext cx="30153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38bdf8"/>
                </a:solidFill>
                <a:latin typeface="Calibri"/>
                <a:ea typeface="DejaVu Sans"/>
              </a:rPr>
              <a:t>Real-world pattern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20" name="Text 19"/>
          <p:cNvSpPr/>
          <p:nvPr/>
        </p:nvSpPr>
        <p:spPr>
          <a:xfrm>
            <a:off x="5806440" y="3547800"/>
            <a:ext cx="301536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e2e8f0"/>
                </a:solidFill>
                <a:latin typeface="Calibri"/>
                <a:ea typeface="DejaVu Sans"/>
              </a:rPr>
              <a:t>Employee DB, product catalogue, user registry — all use this pattern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121" name="Text 20"/>
          <p:cNvSpPr/>
          <p:nvPr/>
        </p:nvSpPr>
        <p:spPr>
          <a:xfrm>
            <a:off x="5806440" y="4251960"/>
            <a:ext cx="30153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38bdf8"/>
                </a:solidFill>
                <a:latin typeface="Calibri"/>
                <a:ea typeface="DejaVu Sans"/>
              </a:rPr>
              <a:t>Homework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122" name="Text 21"/>
          <p:cNvSpPr/>
          <p:nvPr/>
        </p:nvSpPr>
        <p:spPr>
          <a:xfrm>
            <a:off x="5806440" y="4507920"/>
            <a:ext cx="301536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e2e8f0"/>
                </a:solidFill>
                <a:latin typeface="Calibri"/>
                <a:ea typeface="DejaVu Sans"/>
              </a:rPr>
              <a:t>Try storing objects in sets — requires implementing __hash__ on the class!</a:t>
            </a:r>
            <a:endParaRPr b="0" lang="en-IN" sz="11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Shape 0"/>
          <p:cNvSpPr/>
          <p:nvPr/>
        </p:nvSpPr>
        <p:spPr>
          <a:xfrm>
            <a:off x="0" y="0"/>
            <a:ext cx="9141840" cy="5141520"/>
          </a:xfrm>
          <a:prstGeom prst="rect">
            <a:avLst/>
          </a:prstGeom>
          <a:solidFill>
            <a:srgbClr val="162032">
              <a:alpha val="80000"/>
            </a:srgbClr>
          </a:solidFill>
          <a:ln w="12700">
            <a:solidFill>
              <a:srgbClr val="162032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Text 1"/>
          <p:cNvSpPr/>
          <p:nvPr/>
        </p:nvSpPr>
        <p:spPr>
          <a:xfrm>
            <a:off x="274320" y="457200"/>
            <a:ext cx="2283840" cy="274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0" spc="-1" strike="noStrike">
                <a:solidFill>
                  <a:srgbClr val="38bdf8">
                    <a:alpha val="30000"/>
                  </a:srgbClr>
                </a:solidFill>
                <a:latin typeface="Calibri"/>
                <a:ea typeface="DejaVu Sans"/>
              </a:rPr>
              <a:t>07</a:t>
            </a:r>
            <a:endParaRPr b="0" lang="en-IN" sz="13000" spc="-1" strike="noStrike">
              <a:latin typeface="Arial"/>
            </a:endParaRPr>
          </a:p>
        </p:txBody>
      </p:sp>
      <p:sp>
        <p:nvSpPr>
          <p:cNvPr id="125" name="Shape 2"/>
          <p:cNvSpPr/>
          <p:nvPr/>
        </p:nvSpPr>
        <p:spPr>
          <a:xfrm>
            <a:off x="1005840" y="1645920"/>
            <a:ext cx="7130160" cy="52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Text 3"/>
          <p:cNvSpPr/>
          <p:nvPr/>
        </p:nvSpPr>
        <p:spPr>
          <a:xfrm>
            <a:off x="1005840" y="1783080"/>
            <a:ext cx="7770240" cy="136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Calibri"/>
                <a:ea typeface="DejaVu Sans"/>
              </a:rPr>
              <a:t>Static Variables</a:t>
            </a:r>
            <a:endParaRPr b="0" lang="en-IN" sz="4200" spc="-1" strike="noStrike">
              <a:latin typeface="Arial"/>
            </a:endParaRPr>
          </a:p>
        </p:txBody>
      </p:sp>
      <p:sp>
        <p:nvSpPr>
          <p:cNvPr id="127" name="Text 4"/>
          <p:cNvSpPr/>
          <p:nvPr/>
        </p:nvSpPr>
        <p:spPr>
          <a:xfrm>
            <a:off x="1005840" y="3200400"/>
            <a:ext cx="77702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700" spc="-1" strike="noStrike">
                <a:solidFill>
                  <a:srgbClr val="94a3b8"/>
                </a:solidFill>
                <a:latin typeface="Calibri"/>
                <a:ea typeface="DejaVu Sans"/>
              </a:rPr>
              <a:t>Shared across all objects · defined at class level, not in __init__</a:t>
            </a:r>
            <a:endParaRPr b="0" lang="en-IN" sz="17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Shape 0"/>
          <p:cNvSpPr/>
          <p:nvPr/>
        </p:nvSpPr>
        <p:spPr>
          <a:xfrm>
            <a:off x="0" y="0"/>
            <a:ext cx="61920" cy="51415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9" name="Shape 1"/>
          <p:cNvSpPr/>
          <p:nvPr/>
        </p:nvSpPr>
        <p:spPr>
          <a:xfrm>
            <a:off x="0" y="0"/>
            <a:ext cx="9141840" cy="7110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Text 2"/>
          <p:cNvSpPr/>
          <p:nvPr/>
        </p:nvSpPr>
        <p:spPr>
          <a:xfrm>
            <a:off x="182880" y="0"/>
            <a:ext cx="713016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DejaVu Sans"/>
              </a:rPr>
              <a:t>Static Variables – The Problem &amp; Solution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131" name="Shape 3"/>
          <p:cNvSpPr/>
          <p:nvPr/>
        </p:nvSpPr>
        <p:spPr>
          <a:xfrm>
            <a:off x="7589520" y="109800"/>
            <a:ext cx="1369440" cy="4734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32" name="Text 4"/>
          <p:cNvSpPr/>
          <p:nvPr/>
        </p:nvSpPr>
        <p:spPr>
          <a:xfrm>
            <a:off x="7589520" y="109800"/>
            <a:ext cx="13694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f172a"/>
                </a:solidFill>
                <a:latin typeface="Calibri"/>
                <a:ea typeface="DejaVu Sans"/>
              </a:rPr>
              <a:t>Section 07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33" name="Shape 5"/>
          <p:cNvSpPr/>
          <p:nvPr/>
        </p:nvSpPr>
        <p:spPr>
          <a:xfrm>
            <a:off x="182880" y="804600"/>
            <a:ext cx="4204080" cy="4021200"/>
          </a:xfrm>
          <a:prstGeom prst="rect">
            <a:avLst/>
          </a:prstGeom>
          <a:solidFill>
            <a:srgbClr val="1f0b0b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34" name="Shape 6"/>
          <p:cNvSpPr/>
          <p:nvPr/>
        </p:nvSpPr>
        <p:spPr>
          <a:xfrm>
            <a:off x="182880" y="804600"/>
            <a:ext cx="4204080" cy="5256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5" name="Text 7"/>
          <p:cNvSpPr/>
          <p:nvPr/>
        </p:nvSpPr>
        <p:spPr>
          <a:xfrm>
            <a:off x="320040" y="896040"/>
            <a:ext cx="392976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185" strike="noStrike">
                <a:solidFill>
                  <a:srgbClr val="f87171"/>
                </a:solidFill>
                <a:latin typeface="Calibri"/>
                <a:ea typeface="DejaVu Sans"/>
              </a:rPr>
              <a:t>THE PROBLEM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36" name="Text 8"/>
          <p:cNvSpPr/>
          <p:nvPr/>
        </p:nvSpPr>
        <p:spPr>
          <a:xfrm>
            <a:off x="320040" y="1207080"/>
            <a:ext cx="392976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e2e8f0"/>
                </a:solidFill>
                <a:latin typeface="Calibri"/>
                <a:ea typeface="DejaVu Sans"/>
              </a:rPr>
              <a:t>You want each BankMachine object to have a unique customer ID (1, 2, 3, ...). Using an instance variable fails: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137" name="Shape 9"/>
          <p:cNvSpPr/>
          <p:nvPr/>
        </p:nvSpPr>
        <p:spPr>
          <a:xfrm>
            <a:off x="320040" y="1828800"/>
            <a:ext cx="3929760" cy="2603880"/>
          </a:xfrm>
          <a:prstGeom prst="rect">
            <a:avLst/>
          </a:prstGeom>
          <a:solidFill>
            <a:srgbClr val="0d1117"/>
          </a:solidFill>
          <a:ln w="19050">
            <a:solidFill>
              <a:srgbClr val="2d374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8" name="Text 10"/>
          <p:cNvSpPr/>
          <p:nvPr/>
        </p:nvSpPr>
        <p:spPr>
          <a:xfrm>
            <a:off x="429840" y="1883520"/>
            <a:ext cx="3746880" cy="249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class</a:t>
            </a:r>
            <a:r>
              <a:rPr b="0" lang="en-US" sz="1000" spc="-1" strike="noStrike">
                <a:solidFill>
                  <a:srgbClr val="34d399"/>
                </a:solidFill>
                <a:latin typeface="Courier New"/>
                <a:ea typeface="Courier New"/>
              </a:rPr>
              <a:t> BankMachine: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def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__init__(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.cust_id = </a:t>
            </a:r>
            <a:r>
              <a:rPr b="0" lang="en-US" sz="1000" spc="-1" strike="noStrike">
                <a:solidFill>
                  <a:srgbClr val="f87171"/>
                </a:solidFill>
                <a:latin typeface="Courier New"/>
                <a:ea typeface="Courier New"/>
              </a:rPr>
              <a:t>1   # EVERY object starts at 1!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m1 = BankMachine()  # cust_id = 1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87171"/>
                </a:solidFill>
                <a:latin typeface="Courier New"/>
                <a:ea typeface="Courier New"/>
              </a:rPr>
              <a:t>m2 = BankMachine()  # cust_id = 1  ???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Instance variable = unique per object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f87171"/>
                </a:solidFill>
                <a:latin typeface="Courier New"/>
                <a:ea typeface="Courier New"/>
              </a:rPr>
              <a:t># No shared counter exists!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</p:txBody>
      </p:sp>
      <p:sp>
        <p:nvSpPr>
          <p:cNvPr id="139" name="Shape 11"/>
          <p:cNvSpPr/>
          <p:nvPr/>
        </p:nvSpPr>
        <p:spPr>
          <a:xfrm>
            <a:off x="320040" y="1828800"/>
            <a:ext cx="3929760" cy="226440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0" name="Shape 12"/>
          <p:cNvSpPr/>
          <p:nvPr/>
        </p:nvSpPr>
        <p:spPr>
          <a:xfrm>
            <a:off x="429840" y="1874520"/>
            <a:ext cx="98280" cy="9828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1" name="Shape 13"/>
          <p:cNvSpPr/>
          <p:nvPr/>
        </p:nvSpPr>
        <p:spPr>
          <a:xfrm>
            <a:off x="612720" y="1874520"/>
            <a:ext cx="98280" cy="982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2" name="Shape 14"/>
          <p:cNvSpPr/>
          <p:nvPr/>
        </p:nvSpPr>
        <p:spPr>
          <a:xfrm>
            <a:off x="795600" y="1874520"/>
            <a:ext cx="98280" cy="9828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3" name="Shape 15"/>
          <p:cNvSpPr/>
          <p:nvPr/>
        </p:nvSpPr>
        <p:spPr>
          <a:xfrm>
            <a:off x="4572000" y="804600"/>
            <a:ext cx="4386960" cy="4021200"/>
          </a:xfrm>
          <a:prstGeom prst="rect">
            <a:avLst/>
          </a:prstGeom>
          <a:solidFill>
            <a:srgbClr val="0b1f12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4" name="Shape 16"/>
          <p:cNvSpPr/>
          <p:nvPr/>
        </p:nvSpPr>
        <p:spPr>
          <a:xfrm>
            <a:off x="4572000" y="804600"/>
            <a:ext cx="4386960" cy="525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5" name="Text 17"/>
          <p:cNvSpPr/>
          <p:nvPr/>
        </p:nvSpPr>
        <p:spPr>
          <a:xfrm>
            <a:off x="4709160" y="896040"/>
            <a:ext cx="41126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83" strike="noStrike">
                <a:solidFill>
                  <a:srgbClr val="34d399"/>
                </a:solidFill>
                <a:latin typeface="Calibri"/>
                <a:ea typeface="DejaVu Sans"/>
              </a:rPr>
              <a:t>THE SOLUTION: Static Variable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46" name="Text 18"/>
          <p:cNvSpPr/>
          <p:nvPr/>
        </p:nvSpPr>
        <p:spPr>
          <a:xfrm>
            <a:off x="4709160" y="1207080"/>
            <a:ext cx="411264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e2e8f0"/>
                </a:solidFill>
                <a:latin typeface="Calibri"/>
                <a:ea typeface="DejaVu Sans"/>
              </a:rPr>
              <a:t>Define the counter at CLASS level — outside any method. It is shared by ALL objects: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147" name="Shape 19"/>
          <p:cNvSpPr/>
          <p:nvPr/>
        </p:nvSpPr>
        <p:spPr>
          <a:xfrm>
            <a:off x="4709160" y="1828800"/>
            <a:ext cx="4112640" cy="2603880"/>
          </a:xfrm>
          <a:prstGeom prst="rect">
            <a:avLst/>
          </a:prstGeom>
          <a:solidFill>
            <a:srgbClr val="0d1117"/>
          </a:solidFill>
          <a:ln w="19050">
            <a:solidFill>
              <a:srgbClr val="2d374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8" name="Shape 20"/>
          <p:cNvSpPr/>
          <p:nvPr/>
        </p:nvSpPr>
        <p:spPr>
          <a:xfrm>
            <a:off x="4709160" y="1828800"/>
            <a:ext cx="4112640" cy="226440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9" name="Shape 21"/>
          <p:cNvSpPr/>
          <p:nvPr/>
        </p:nvSpPr>
        <p:spPr>
          <a:xfrm>
            <a:off x="4818960" y="1883520"/>
            <a:ext cx="98280" cy="9828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0" name="Shape 22"/>
          <p:cNvSpPr/>
          <p:nvPr/>
        </p:nvSpPr>
        <p:spPr>
          <a:xfrm>
            <a:off x="5001840" y="1883520"/>
            <a:ext cx="98280" cy="9828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1" name="Shape 23"/>
          <p:cNvSpPr/>
          <p:nvPr/>
        </p:nvSpPr>
        <p:spPr>
          <a:xfrm>
            <a:off x="5184720" y="1883520"/>
            <a:ext cx="98280" cy="9828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2" name="Text 24"/>
          <p:cNvSpPr/>
          <p:nvPr/>
        </p:nvSpPr>
        <p:spPr>
          <a:xfrm>
            <a:off x="4818960" y="2084760"/>
            <a:ext cx="3929760" cy="23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class</a:t>
            </a:r>
            <a:r>
              <a:rPr b="0" lang="en-US" sz="1000" spc="-1" strike="noStrike">
                <a:solidFill>
                  <a:srgbClr val="34d399"/>
                </a:solidFill>
                <a:latin typeface="Courier New"/>
                <a:ea typeface="Courier New"/>
              </a:rPr>
              <a:t> BankMachine: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    </a:t>
            </a: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Static variable — OUTSIDE __init__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cust_counter = </a:t>
            </a:r>
            <a:r>
              <a:rPr b="0" lang="en-US" sz="1000" spc="-1" strike="noStrike">
                <a:solidFill>
                  <a:srgbClr val="34d399"/>
                </a:solidFill>
                <a:latin typeface="Courier New"/>
                <a:ea typeface="Courier New"/>
              </a:rPr>
              <a:t>1   # Shared by all instances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def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__init__(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        </a:t>
            </a: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Assign current count as this obj's ID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.cust_id = BankMachine.cust_counter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        </a:t>
            </a: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Increment for next object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BankMachine.cust_counter +=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1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m1 = BankMachine()  # cust_id = 1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m2 = BankMachine()  # cust_id = 2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34d399"/>
                </a:solidFill>
                <a:latin typeface="Courier New"/>
                <a:ea typeface="Courier New"/>
              </a:rPr>
              <a:t>m3 = BankMachine()  # cust_id = 3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34d399"/>
                </a:solidFill>
                <a:latin typeface="Courier New"/>
                <a:ea typeface="Courier New"/>
              </a:rPr>
              <a:t># Works perfectly!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Shape 0"/>
          <p:cNvSpPr/>
          <p:nvPr/>
        </p:nvSpPr>
        <p:spPr>
          <a:xfrm>
            <a:off x="0" y="0"/>
            <a:ext cx="61920" cy="51415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4" name="Shape 1"/>
          <p:cNvSpPr/>
          <p:nvPr/>
        </p:nvSpPr>
        <p:spPr>
          <a:xfrm>
            <a:off x="0" y="0"/>
            <a:ext cx="9141840" cy="7110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5" name="Text 2"/>
          <p:cNvSpPr/>
          <p:nvPr/>
        </p:nvSpPr>
        <p:spPr>
          <a:xfrm>
            <a:off x="182880" y="0"/>
            <a:ext cx="713016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DejaVu Sans"/>
              </a:rPr>
              <a:t>Instance Variables vs Static Variables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156" name="Shape 3"/>
          <p:cNvSpPr/>
          <p:nvPr/>
        </p:nvSpPr>
        <p:spPr>
          <a:xfrm>
            <a:off x="7589520" y="109800"/>
            <a:ext cx="1369440" cy="4734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57" name="Text 4"/>
          <p:cNvSpPr/>
          <p:nvPr/>
        </p:nvSpPr>
        <p:spPr>
          <a:xfrm>
            <a:off x="7589520" y="109800"/>
            <a:ext cx="13694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f172a"/>
                </a:solidFill>
                <a:latin typeface="Calibri"/>
                <a:ea typeface="DejaVu Sans"/>
              </a:rPr>
              <a:t>Section 07</a:t>
            </a:r>
            <a:endParaRPr b="0" lang="en-IN" sz="1100" spc="-1" strike="noStrike">
              <a:latin typeface="Arial"/>
            </a:endParaRPr>
          </a:p>
        </p:txBody>
      </p:sp>
      <p:graphicFrame>
        <p:nvGraphicFramePr>
          <p:cNvPr id="158" name="Table 0"/>
          <p:cNvGraphicFramePr/>
          <p:nvPr/>
        </p:nvGraphicFramePr>
        <p:xfrm>
          <a:off x="182880" y="868680"/>
          <a:ext cx="8777880" cy="3474000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  <a:gridCol w="3291840"/>
              </a:tblGrid>
              <a:tr h="5788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-US" sz="13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-US" sz="1300" spc="-1" strike="noStrike">
                          <a:solidFill>
                            <a:srgbClr val="38bdf8"/>
                          </a:solidFill>
                          <a:latin typeface="Calibri"/>
                        </a:rPr>
                        <a:t>Instance Variable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0c2a3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-US" sz="1300" spc="-1" strike="noStrike">
                          <a:solidFill>
                            <a:srgbClr val="34d399"/>
                          </a:solidFill>
                          <a:latin typeface="Calibri"/>
                        </a:rPr>
                        <a:t>Static Variable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0a1f12"/>
                    </a:solidFill>
                  </a:tcPr>
                </a:tc>
              </a:tr>
              <a:tr h="5788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f59e0b"/>
                          </a:solidFill>
                          <a:latin typeface="Calibri"/>
                        </a:rPr>
                        <a:t>Where defined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Inside __init__ with self.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Inside the class, OUTSIDE any method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5788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f59e0b"/>
                          </a:solidFill>
                          <a:latin typeface="Calibri"/>
                        </a:rPr>
                        <a:t>Value per object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UNIQUE — each object has its own value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SHARED — same value across all objects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5788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f59e0b"/>
                          </a:solidFill>
                          <a:latin typeface="Calibri"/>
                        </a:rPr>
                        <a:t>Access syntax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self.variable_name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ClassName.variable_name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5788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f59e0b"/>
                          </a:solidFill>
                          <a:latin typeface="Calibri"/>
                        </a:rPr>
                        <a:t>When to use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For data unique to each object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For data that belongs to the class itself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579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f59e0b"/>
                          </a:solidFill>
                          <a:latin typeface="Calibri"/>
                        </a:rPr>
                        <a:t>Example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emp_name, account_balance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cust_counter, bank_code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159" name="Shape 5"/>
          <p:cNvSpPr/>
          <p:nvPr/>
        </p:nvSpPr>
        <p:spPr>
          <a:xfrm>
            <a:off x="182880" y="4462200"/>
            <a:ext cx="4158360" cy="546480"/>
          </a:xfrm>
          <a:prstGeom prst="rect">
            <a:avLst/>
          </a:prstGeom>
          <a:solidFill>
            <a:srgbClr val="1e293b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60" name="Text 6"/>
          <p:cNvSpPr/>
          <p:nvPr/>
        </p:nvSpPr>
        <p:spPr>
          <a:xfrm>
            <a:off x="320040" y="4526280"/>
            <a:ext cx="392976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e2e8f0"/>
                </a:solidFill>
                <a:latin typeface="Courier New"/>
                <a:ea typeface="Courier New"/>
              </a:rPr>
              <a:t>STATIC example: BankMachine.ifsc_code = 'HDFC001'  — same for every machine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161" name="Shape 7"/>
          <p:cNvSpPr/>
          <p:nvPr/>
        </p:nvSpPr>
        <p:spPr>
          <a:xfrm>
            <a:off x="4572000" y="4462200"/>
            <a:ext cx="4386960" cy="546480"/>
          </a:xfrm>
          <a:prstGeom prst="rect">
            <a:avLst/>
          </a:prstGeom>
          <a:solidFill>
            <a:srgbClr val="1e293b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62" name="Text 8"/>
          <p:cNvSpPr/>
          <p:nvPr/>
        </p:nvSpPr>
        <p:spPr>
          <a:xfrm>
            <a:off x="4709160" y="4526280"/>
            <a:ext cx="4112640" cy="38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e2e8f0"/>
                </a:solidFill>
                <a:latin typeface="Courier New"/>
                <a:ea typeface="Courier New"/>
              </a:rPr>
              <a:t>INSTANCE example: self.account_balance = 0  — unique per account holder</a:t>
            </a:r>
            <a:endParaRPr b="0" lang="en-IN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Shape 0"/>
          <p:cNvSpPr/>
          <p:nvPr/>
        </p:nvSpPr>
        <p:spPr>
          <a:xfrm>
            <a:off x="0" y="0"/>
            <a:ext cx="9141840" cy="5141520"/>
          </a:xfrm>
          <a:prstGeom prst="rect">
            <a:avLst/>
          </a:prstGeom>
          <a:solidFill>
            <a:srgbClr val="162032">
              <a:alpha val="80000"/>
            </a:srgbClr>
          </a:solidFill>
          <a:ln w="12700">
            <a:solidFill>
              <a:srgbClr val="162032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4" name="Text 1"/>
          <p:cNvSpPr/>
          <p:nvPr/>
        </p:nvSpPr>
        <p:spPr>
          <a:xfrm>
            <a:off x="274320" y="457200"/>
            <a:ext cx="2283840" cy="274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0" spc="-1" strike="noStrike">
                <a:solidFill>
                  <a:srgbClr val="38bdf8">
                    <a:alpha val="30000"/>
                  </a:srgbClr>
                </a:solidFill>
                <a:latin typeface="Calibri"/>
                <a:ea typeface="DejaVu Sans"/>
              </a:rPr>
              <a:t>08</a:t>
            </a:r>
            <a:endParaRPr b="0" lang="en-IN" sz="13000" spc="-1" strike="noStrike">
              <a:latin typeface="Arial"/>
            </a:endParaRPr>
          </a:p>
        </p:txBody>
      </p:sp>
      <p:sp>
        <p:nvSpPr>
          <p:cNvPr id="165" name="Shape 2"/>
          <p:cNvSpPr/>
          <p:nvPr/>
        </p:nvSpPr>
        <p:spPr>
          <a:xfrm>
            <a:off x="1005840" y="1645920"/>
            <a:ext cx="7130160" cy="52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6" name="Text 3"/>
          <p:cNvSpPr/>
          <p:nvPr/>
        </p:nvSpPr>
        <p:spPr>
          <a:xfrm>
            <a:off x="1005840" y="1783080"/>
            <a:ext cx="7770240" cy="136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Calibri"/>
                <a:ea typeface="DejaVu Sans"/>
              </a:rPr>
              <a:t>Static Methods</a:t>
            </a:r>
            <a:endParaRPr b="0" lang="en-IN" sz="4200" spc="-1" strike="noStrike">
              <a:latin typeface="Arial"/>
            </a:endParaRPr>
          </a:p>
        </p:txBody>
      </p:sp>
      <p:sp>
        <p:nvSpPr>
          <p:cNvPr id="167" name="Text 4"/>
          <p:cNvSpPr/>
          <p:nvPr/>
        </p:nvSpPr>
        <p:spPr>
          <a:xfrm>
            <a:off x="1005840" y="3200400"/>
            <a:ext cx="77702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700" spc="-1" strike="noStrike">
                <a:solidFill>
                  <a:srgbClr val="94a3b8"/>
                </a:solidFill>
                <a:latin typeface="Calibri"/>
                <a:ea typeface="DejaVu Sans"/>
              </a:rPr>
              <a:t>@staticmethod — utility functions that don't need a specific object</a:t>
            </a:r>
            <a:endParaRPr b="0" lang="en-IN" sz="17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0"/>
          <p:cNvSpPr/>
          <p:nvPr/>
        </p:nvSpPr>
        <p:spPr>
          <a:xfrm>
            <a:off x="0" y="0"/>
            <a:ext cx="61920" cy="51415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9" name="Shape 1"/>
          <p:cNvSpPr/>
          <p:nvPr/>
        </p:nvSpPr>
        <p:spPr>
          <a:xfrm>
            <a:off x="0" y="0"/>
            <a:ext cx="9141840" cy="7110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0" name="Text 2"/>
          <p:cNvSpPr/>
          <p:nvPr/>
        </p:nvSpPr>
        <p:spPr>
          <a:xfrm>
            <a:off x="182880" y="0"/>
            <a:ext cx="713016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DejaVu Sans"/>
              </a:rPr>
              <a:t>Static Methods – @staticmethod Decorator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171" name="Shape 3"/>
          <p:cNvSpPr/>
          <p:nvPr/>
        </p:nvSpPr>
        <p:spPr>
          <a:xfrm>
            <a:off x="7589520" y="109800"/>
            <a:ext cx="1369440" cy="4734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72" name="Text 4"/>
          <p:cNvSpPr/>
          <p:nvPr/>
        </p:nvSpPr>
        <p:spPr>
          <a:xfrm>
            <a:off x="7589520" y="109800"/>
            <a:ext cx="13694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f172a"/>
                </a:solidFill>
                <a:latin typeface="Calibri"/>
                <a:ea typeface="DejaVu Sans"/>
              </a:rPr>
              <a:t>Section 08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173" name="Shape 5"/>
          <p:cNvSpPr/>
          <p:nvPr/>
        </p:nvSpPr>
        <p:spPr>
          <a:xfrm>
            <a:off x="182880" y="804600"/>
            <a:ext cx="2832480" cy="1076760"/>
          </a:xfrm>
          <a:prstGeom prst="rect">
            <a:avLst/>
          </a:prstGeom>
          <a:solidFill>
            <a:srgbClr val="1e293b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74" name="Shape 6"/>
          <p:cNvSpPr/>
          <p:nvPr/>
        </p:nvSpPr>
        <p:spPr>
          <a:xfrm>
            <a:off x="182880" y="804600"/>
            <a:ext cx="2832480" cy="52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5" name="Text 7"/>
          <p:cNvSpPr/>
          <p:nvPr/>
        </p:nvSpPr>
        <p:spPr>
          <a:xfrm>
            <a:off x="320040" y="896040"/>
            <a:ext cx="255816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38bdf8"/>
                </a:solidFill>
                <a:latin typeface="Calibri"/>
                <a:ea typeface="DejaVu Sans"/>
              </a:rPr>
              <a:t>No self Parameter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76" name="Text 8"/>
          <p:cNvSpPr/>
          <p:nvPr/>
        </p:nvSpPr>
        <p:spPr>
          <a:xfrm>
            <a:off x="320040" y="1261800"/>
            <a:ext cx="25581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e2e8f0"/>
                </a:solidFill>
                <a:latin typeface="Calibri"/>
                <a:ea typeface="DejaVu Sans"/>
              </a:rPr>
              <a:t>Static methods don't receive the current object. They can't access instance variables.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177" name="Shape 9"/>
          <p:cNvSpPr/>
          <p:nvPr/>
        </p:nvSpPr>
        <p:spPr>
          <a:xfrm>
            <a:off x="3154680" y="804600"/>
            <a:ext cx="2832480" cy="1076760"/>
          </a:xfrm>
          <a:prstGeom prst="rect">
            <a:avLst/>
          </a:prstGeom>
          <a:solidFill>
            <a:srgbClr val="1e293b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78" name="Shape 10"/>
          <p:cNvSpPr/>
          <p:nvPr/>
        </p:nvSpPr>
        <p:spPr>
          <a:xfrm>
            <a:off x="3154680" y="804600"/>
            <a:ext cx="2832480" cy="5256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9" name="Text 11"/>
          <p:cNvSpPr/>
          <p:nvPr/>
        </p:nvSpPr>
        <p:spPr>
          <a:xfrm>
            <a:off x="3291840" y="896040"/>
            <a:ext cx="255816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f59e0b"/>
                </a:solidFill>
                <a:latin typeface="Calibri"/>
                <a:ea typeface="DejaVu Sans"/>
              </a:rPr>
              <a:t>@staticmethod Decorator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80" name="Text 12"/>
          <p:cNvSpPr/>
          <p:nvPr/>
        </p:nvSpPr>
        <p:spPr>
          <a:xfrm>
            <a:off x="3291840" y="1261800"/>
            <a:ext cx="25581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e2e8f0"/>
                </a:solidFill>
                <a:latin typeface="Calibri"/>
                <a:ea typeface="DejaVu Sans"/>
              </a:rPr>
              <a:t>Mark the method with @staticmethod above def. This tells Python it's a utility function.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181" name="Shape 13"/>
          <p:cNvSpPr/>
          <p:nvPr/>
        </p:nvSpPr>
        <p:spPr>
          <a:xfrm>
            <a:off x="6126480" y="804600"/>
            <a:ext cx="2832480" cy="1076760"/>
          </a:xfrm>
          <a:prstGeom prst="rect">
            <a:avLst/>
          </a:prstGeom>
          <a:solidFill>
            <a:srgbClr val="1e293b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82" name="Shape 14"/>
          <p:cNvSpPr/>
          <p:nvPr/>
        </p:nvSpPr>
        <p:spPr>
          <a:xfrm>
            <a:off x="6126480" y="804600"/>
            <a:ext cx="2832480" cy="5256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3" name="Text 15"/>
          <p:cNvSpPr/>
          <p:nvPr/>
        </p:nvSpPr>
        <p:spPr>
          <a:xfrm>
            <a:off x="6263640" y="896040"/>
            <a:ext cx="255816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-1" strike="noStrike">
                <a:solidFill>
                  <a:srgbClr val="34d399"/>
                </a:solidFill>
                <a:latin typeface="Calibri"/>
                <a:ea typeface="DejaVu Sans"/>
              </a:rPr>
              <a:t>Call via ClassName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184" name="Text 16"/>
          <p:cNvSpPr/>
          <p:nvPr/>
        </p:nvSpPr>
        <p:spPr>
          <a:xfrm>
            <a:off x="6263640" y="1261800"/>
            <a:ext cx="2558160" cy="50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150" spc="-1" strike="noStrike">
                <a:solidFill>
                  <a:srgbClr val="e2e8f0"/>
                </a:solidFill>
                <a:latin typeface="Calibri"/>
                <a:ea typeface="DejaVu Sans"/>
              </a:rPr>
              <a:t>Call as BankMachine.get_total_customers() — no object needed at all.</a:t>
            </a:r>
            <a:endParaRPr b="0" lang="en-IN" sz="1150" spc="-1" strike="noStrike">
              <a:latin typeface="Arial"/>
            </a:endParaRPr>
          </a:p>
        </p:txBody>
      </p:sp>
      <p:sp>
        <p:nvSpPr>
          <p:cNvPr id="185" name="Shape 17"/>
          <p:cNvSpPr/>
          <p:nvPr/>
        </p:nvSpPr>
        <p:spPr>
          <a:xfrm>
            <a:off x="-537120" y="1974960"/>
            <a:ext cx="5576400" cy="4324320"/>
          </a:xfrm>
          <a:prstGeom prst="rect">
            <a:avLst/>
          </a:prstGeom>
          <a:solidFill>
            <a:srgbClr val="0d1117"/>
          </a:solidFill>
          <a:ln w="19050">
            <a:solidFill>
              <a:srgbClr val="2d374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86" name="Shape 18"/>
          <p:cNvSpPr/>
          <p:nvPr/>
        </p:nvSpPr>
        <p:spPr>
          <a:xfrm>
            <a:off x="182880" y="1974960"/>
            <a:ext cx="5667120" cy="253800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7" name="Shape 19"/>
          <p:cNvSpPr/>
          <p:nvPr/>
        </p:nvSpPr>
        <p:spPr>
          <a:xfrm>
            <a:off x="292680" y="2039040"/>
            <a:ext cx="107640" cy="10764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8" name="Shape 20"/>
          <p:cNvSpPr/>
          <p:nvPr/>
        </p:nvSpPr>
        <p:spPr>
          <a:xfrm>
            <a:off x="475560" y="2039040"/>
            <a:ext cx="107640" cy="1076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9" name="Shape 21"/>
          <p:cNvSpPr/>
          <p:nvPr/>
        </p:nvSpPr>
        <p:spPr>
          <a:xfrm>
            <a:off x="658440" y="2039040"/>
            <a:ext cx="107640" cy="10764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0" name="Text 22"/>
          <p:cNvSpPr/>
          <p:nvPr/>
        </p:nvSpPr>
        <p:spPr>
          <a:xfrm>
            <a:off x="182880" y="1993320"/>
            <a:ext cx="557568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DejaVu Sans"/>
              </a:rPr>
              <a:t>static_methods.py</a:t>
            </a:r>
            <a:endParaRPr b="0" lang="en-IN" sz="800" spc="-1" strike="noStrike">
              <a:latin typeface="Arial"/>
            </a:endParaRPr>
          </a:p>
        </p:txBody>
      </p:sp>
      <p:sp>
        <p:nvSpPr>
          <p:cNvPr id="191" name="Text 23"/>
          <p:cNvSpPr/>
          <p:nvPr/>
        </p:nvSpPr>
        <p:spPr>
          <a:xfrm>
            <a:off x="320760" y="2249280"/>
            <a:ext cx="5438520" cy="253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class</a:t>
            </a:r>
            <a:r>
              <a:rPr b="0" lang="en-US" sz="1000" spc="-1" strike="noStrike">
                <a:solidFill>
                  <a:srgbClr val="34d399"/>
                </a:solidFill>
                <a:latin typeface="Courier New"/>
                <a:ea typeface="Courier New"/>
              </a:rPr>
              <a:t> BankMachine: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cust_counter = </a:t>
            </a:r>
            <a:r>
              <a:rPr b="0" lang="en-US" sz="1000" spc="-1" strike="noStrike">
                <a:solidFill>
                  <a:srgbClr val="34d399"/>
                </a:solidFill>
                <a:latin typeface="Courier New"/>
                <a:ea typeface="Courier New"/>
              </a:rPr>
              <a:t>1   # Static variable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def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__init__(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.cust_id = BankMachine.cust_counter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BankMachine.cust_counter +=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1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    </a:t>
            </a:r>
            <a:r>
              <a:rPr b="1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@staticmethod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def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get_total_customers():   # no self!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return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BankMachine.cust_counter -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1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    </a:t>
            </a:r>
            <a:r>
              <a:rPr b="1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@staticmethod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def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validate_pin_format(pin_str):   # utility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return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pin_str.isdigit()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and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len(pin_str) ==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4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--- Calling static methods ---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m1 = BankMachine()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m2 = BankMachine()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Call via class name (recommended)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print</a:t>
            </a: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(BankMachine.get_total_customers())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34d399"/>
                </a:solidFill>
                <a:latin typeface="Courier New"/>
                <a:ea typeface="Courier New"/>
              </a:rPr>
              <a:t># Output: 2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print(BankMachine.validate_pin_format(</a:t>
            </a: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'4523'</a:t>
            </a: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))  # True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print(BankMachine.validate_pin_format(</a:t>
            </a: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'ab12'</a:t>
            </a:r>
            <a:r>
              <a:rPr b="0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))  # False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endParaRPr b="0" lang="en-IN" sz="1000" spc="-1" strike="noStrike">
              <a:latin typeface="Arial"/>
            </a:endParaRPr>
          </a:p>
        </p:txBody>
      </p:sp>
      <p:sp>
        <p:nvSpPr>
          <p:cNvPr id="192" name="Shape 24"/>
          <p:cNvSpPr/>
          <p:nvPr/>
        </p:nvSpPr>
        <p:spPr>
          <a:xfrm>
            <a:off x="6035040" y="1974960"/>
            <a:ext cx="2923920" cy="2878200"/>
          </a:xfrm>
          <a:prstGeom prst="rect">
            <a:avLst/>
          </a:prstGeom>
          <a:solidFill>
            <a:srgbClr val="1e293b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93" name="Text 25"/>
          <p:cNvSpPr/>
          <p:nvPr/>
        </p:nvSpPr>
        <p:spPr>
          <a:xfrm>
            <a:off x="6172200" y="2084760"/>
            <a:ext cx="26496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38bdf8"/>
                </a:solidFill>
                <a:latin typeface="Calibri"/>
                <a:ea typeface="DejaVu Sans"/>
              </a:rPr>
              <a:t>When to Use</a:t>
            </a:r>
            <a:endParaRPr b="0" lang="en-IN" sz="14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400" spc="-1" strike="noStrike">
                <a:solidFill>
                  <a:srgbClr val="38bdf8"/>
                </a:solidFill>
                <a:latin typeface="Calibri"/>
                <a:ea typeface="DejaVu Sans"/>
              </a:rPr>
              <a:t>Static Methods</a:t>
            </a:r>
            <a:endParaRPr b="0" lang="en-IN" sz="1400" spc="-1" strike="noStrike">
              <a:latin typeface="Arial"/>
            </a:endParaRPr>
          </a:p>
        </p:txBody>
      </p:sp>
      <p:sp>
        <p:nvSpPr>
          <p:cNvPr id="194" name="Text 26"/>
          <p:cNvSpPr/>
          <p:nvPr/>
        </p:nvSpPr>
        <p:spPr>
          <a:xfrm>
            <a:off x="6172200" y="2743200"/>
            <a:ext cx="2649600" cy="200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marL="343080" indent="-343080">
              <a:lnSpc>
                <a:spcPct val="100000"/>
              </a:lnSpc>
              <a:buClr>
                <a:srgbClr val="e2e8f0"/>
              </a:buClr>
              <a:buFont typeface="Symbol"/>
              <a:buChar char=""/>
            </a:pPr>
            <a:r>
              <a:rPr b="0" lang="en-US" sz="1100" spc="-1" strike="noStrike">
                <a:solidFill>
                  <a:srgbClr val="e2e8f0"/>
                </a:solidFill>
                <a:latin typeface="Calibri"/>
                <a:ea typeface="DejaVu Sans"/>
              </a:rPr>
              <a:t>Utility/helper functions that belong to the class conceptually but don't need any specific object's data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e2e8f0"/>
              </a:buClr>
              <a:buFont typeface="Symbol"/>
              <a:buChar char=""/>
            </a:pPr>
            <a:r>
              <a:rPr b="0" lang="en-US" sz="1100" spc="-1" strike="noStrike">
                <a:solidFill>
                  <a:srgbClr val="e2e8f0"/>
                </a:solidFill>
                <a:latin typeface="Calibri"/>
                <a:ea typeface="DejaVu Sans"/>
              </a:rPr>
              <a:t>Accessing or returning static variable values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e2e8f0"/>
              </a:buClr>
              <a:buFont typeface="Symbol"/>
              <a:buChar char=""/>
            </a:pPr>
            <a:r>
              <a:rPr b="0" lang="en-US" sz="1100" spc="-1" strike="noStrike">
                <a:solidFill>
                  <a:srgbClr val="e2e8f0"/>
                </a:solidFill>
                <a:latin typeface="Calibri"/>
                <a:ea typeface="DejaVu Sans"/>
              </a:rPr>
              <a:t>Validation functions (check PIN format, validate email, etc.)</a:t>
            </a:r>
            <a:endParaRPr b="0" lang="en-IN" sz="1100" spc="-1" strike="noStrike">
              <a:latin typeface="Arial"/>
            </a:endParaRPr>
          </a:p>
          <a:p>
            <a:pPr marL="343080" indent="-343080">
              <a:lnSpc>
                <a:spcPct val="100000"/>
              </a:lnSpc>
              <a:buClr>
                <a:srgbClr val="e2e8f0"/>
              </a:buClr>
              <a:buFont typeface="Symbol"/>
              <a:buChar char=""/>
            </a:pPr>
            <a:r>
              <a:rPr b="0" lang="en-US" sz="1100" spc="-1" strike="noStrike">
                <a:solidFill>
                  <a:srgbClr val="e2e8f0"/>
                </a:solidFill>
                <a:latin typeface="Calibri"/>
                <a:ea typeface="DejaVu Sans"/>
              </a:rPr>
              <a:t>Factory-style methods that create objects in special ways</a:t>
            </a:r>
            <a:endParaRPr b="0" lang="en-IN" sz="11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Shape 0"/>
          <p:cNvSpPr/>
          <p:nvPr/>
        </p:nvSpPr>
        <p:spPr>
          <a:xfrm>
            <a:off x="0" y="0"/>
            <a:ext cx="61920" cy="51415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6" name="Shape 1"/>
          <p:cNvSpPr/>
          <p:nvPr/>
        </p:nvSpPr>
        <p:spPr>
          <a:xfrm>
            <a:off x="0" y="0"/>
            <a:ext cx="9141840" cy="7110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7" name="Text 2"/>
          <p:cNvSpPr/>
          <p:nvPr/>
        </p:nvSpPr>
        <p:spPr>
          <a:xfrm>
            <a:off x="182880" y="0"/>
            <a:ext cx="713016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DejaVu Sans"/>
              </a:rPr>
              <a:t>Complete BankMachine Class – All Concepts Together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198" name="Shape 3"/>
          <p:cNvSpPr/>
          <p:nvPr/>
        </p:nvSpPr>
        <p:spPr>
          <a:xfrm>
            <a:off x="7589520" y="109800"/>
            <a:ext cx="1369440" cy="4734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99" name="Text 4"/>
          <p:cNvSpPr/>
          <p:nvPr/>
        </p:nvSpPr>
        <p:spPr>
          <a:xfrm>
            <a:off x="7589520" y="109800"/>
            <a:ext cx="13694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f172a"/>
                </a:solidFill>
                <a:latin typeface="Calibri"/>
                <a:ea typeface="DejaVu Sans"/>
              </a:rPr>
              <a:t>Section 07 + 08</a:t>
            </a:r>
            <a:endParaRPr b="0" lang="en-IN" sz="1100" spc="-1" strike="noStrike">
              <a:latin typeface="Arial"/>
            </a:endParaRPr>
          </a:p>
        </p:txBody>
      </p:sp>
      <p:sp>
        <p:nvSpPr>
          <p:cNvPr id="200" name="Text 5"/>
          <p:cNvSpPr/>
          <p:nvPr/>
        </p:nvSpPr>
        <p:spPr>
          <a:xfrm>
            <a:off x="182880" y="777240"/>
            <a:ext cx="877608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94a3b8"/>
                </a:solidFill>
                <a:latin typeface="Calibri"/>
                <a:ea typeface="DejaVu Sans"/>
              </a:rPr>
              <a:t>The final version combining: Private Variables · Getters/Setters · Static Variable · Static Method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01" name="Shape 6"/>
          <p:cNvSpPr/>
          <p:nvPr/>
        </p:nvSpPr>
        <p:spPr>
          <a:xfrm>
            <a:off x="182880" y="1207080"/>
            <a:ext cx="5035320" cy="4191120"/>
          </a:xfrm>
          <a:prstGeom prst="rect">
            <a:avLst/>
          </a:prstGeom>
          <a:solidFill>
            <a:srgbClr val="0d1117"/>
          </a:solidFill>
          <a:ln w="19050">
            <a:solidFill>
              <a:srgbClr val="2d374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02" name="Shape 7"/>
          <p:cNvSpPr/>
          <p:nvPr/>
        </p:nvSpPr>
        <p:spPr>
          <a:xfrm>
            <a:off x="182880" y="1207080"/>
            <a:ext cx="5027040" cy="253800"/>
          </a:xfrm>
          <a:prstGeom prst="rect">
            <a:avLst/>
          </a:prstGeom>
          <a:solidFill>
            <a:srgbClr val="161b22"/>
          </a:solidFill>
          <a:ln w="12700">
            <a:solidFill>
              <a:srgbClr val="161b22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3" name="Shape 8"/>
          <p:cNvSpPr/>
          <p:nvPr/>
        </p:nvSpPr>
        <p:spPr>
          <a:xfrm>
            <a:off x="292680" y="1271160"/>
            <a:ext cx="107640" cy="107640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4" name="Shape 9"/>
          <p:cNvSpPr/>
          <p:nvPr/>
        </p:nvSpPr>
        <p:spPr>
          <a:xfrm>
            <a:off x="475560" y="1271160"/>
            <a:ext cx="107640" cy="1076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5" name="Shape 10"/>
          <p:cNvSpPr/>
          <p:nvPr/>
        </p:nvSpPr>
        <p:spPr>
          <a:xfrm>
            <a:off x="658440" y="1271160"/>
            <a:ext cx="107640" cy="107640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6" name="Text 11"/>
          <p:cNvSpPr/>
          <p:nvPr/>
        </p:nvSpPr>
        <p:spPr>
          <a:xfrm>
            <a:off x="182880" y="1225440"/>
            <a:ext cx="493560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800" spc="-1" strike="noStrike">
                <a:solidFill>
                  <a:srgbClr val="64748b"/>
                </a:solidFill>
                <a:latin typeface="Calibri"/>
                <a:ea typeface="DejaVu Sans"/>
              </a:rPr>
              <a:t>bank_machine_final.py</a:t>
            </a:r>
            <a:endParaRPr b="0" lang="en-IN" sz="800" spc="-1" strike="noStrike">
              <a:latin typeface="Arial"/>
            </a:endParaRPr>
          </a:p>
        </p:txBody>
      </p:sp>
      <p:sp>
        <p:nvSpPr>
          <p:cNvPr id="207" name="Text 12"/>
          <p:cNvSpPr/>
          <p:nvPr/>
        </p:nvSpPr>
        <p:spPr>
          <a:xfrm>
            <a:off x="292680" y="1481400"/>
            <a:ext cx="4798440" cy="330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class</a:t>
            </a:r>
            <a:r>
              <a:rPr b="0" lang="en-US" sz="1000" spc="-1" strike="noStrike">
                <a:solidFill>
                  <a:srgbClr val="34d399"/>
                </a:solidFill>
                <a:latin typeface="Courier New"/>
                <a:ea typeface="Courier New"/>
              </a:rPr>
              <a:t> BankMachine: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    </a:t>
            </a: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--- Static variable ---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   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cust_counter =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1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def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__init__(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.__cust_id = BankMachine.cust_counter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BankMachine.cust_counter +=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1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.__secret_pin = </a:t>
            </a:r>
            <a:r>
              <a:rPr b="0" lang="en-US" sz="1000" spc="-1" strike="noStrike">
                <a:solidFill>
                  <a:srgbClr val="86efac"/>
                </a:solidFill>
                <a:latin typeface="Courier New"/>
                <a:ea typeface="Courier New"/>
              </a:rPr>
              <a:t>''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        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.__account_balance =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0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    </a:t>
            </a: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--- Getter ---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def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retrieve_balance(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return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 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.__account_balance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    </a:t>
            </a: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--- Setter with validation ---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def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assign_balance(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, new_amount):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if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type(new_amount) == 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int: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            </a:t>
            </a:r>
            <a:r>
              <a:rPr b="0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self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.__account_balance = new_amount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else: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           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print</a:t>
            </a:r>
            <a:r>
              <a:rPr b="0" lang="en-US" sz="1000" spc="-1" strike="noStrike">
                <a:solidFill>
                  <a:srgbClr val="f87171"/>
                </a:solidFill>
                <a:latin typeface="Courier New"/>
                <a:ea typeface="Courier New"/>
              </a:rPr>
              <a:t>('Invalid: must be integer')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    </a:t>
            </a:r>
            <a:r>
              <a:rPr b="0" i="1" lang="en-US" sz="1000" spc="-1" strike="noStrike">
                <a:solidFill>
                  <a:srgbClr val="64748b"/>
                </a:solidFill>
                <a:latin typeface="Courier New"/>
                <a:ea typeface="Courier New"/>
              </a:rPr>
              <a:t># --- Static method ---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    </a:t>
            </a:r>
            <a:r>
              <a:rPr b="1" lang="en-US" sz="1000" spc="-1" strike="noStrike">
                <a:solidFill>
                  <a:srgbClr val="f59e0b"/>
                </a:solidFill>
                <a:latin typeface="Courier New"/>
                <a:ea typeface="Courier New"/>
              </a:rPr>
              <a:t>@staticmethod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def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get_total_customers():</a:t>
            </a:r>
            <a:endParaRPr b="0" lang="en-IN" sz="1000" spc="-1" strike="noStrike">
              <a:latin typeface="Arial"/>
            </a:endParaRPr>
          </a:p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        </a:t>
            </a:r>
            <a:r>
              <a:rPr b="1" lang="en-US" sz="1000" spc="-1" strike="noStrike">
                <a:solidFill>
                  <a:srgbClr val="38bdf8"/>
                </a:solidFill>
                <a:latin typeface="Courier New"/>
                <a:ea typeface="Courier New"/>
              </a:rPr>
              <a:t>return</a:t>
            </a:r>
            <a:r>
              <a:rPr b="0" lang="en-US" sz="1000" spc="-1" strike="noStrike">
                <a:solidFill>
                  <a:srgbClr val="e2e8f0"/>
                </a:solidFill>
                <a:latin typeface="Courier New"/>
                <a:ea typeface="Courier New"/>
              </a:rPr>
              <a:t> BankMachine.cust_counter - </a:t>
            </a:r>
            <a:r>
              <a:rPr b="0" lang="en-US" sz="1000" spc="-1" strike="noStrike">
                <a:solidFill>
                  <a:srgbClr val="fca5a5"/>
                </a:solidFill>
                <a:latin typeface="Courier New"/>
                <a:ea typeface="Courier New"/>
              </a:rPr>
              <a:t>1</a:t>
            </a:r>
            <a:endParaRPr b="0" lang="en-IN" sz="1000" spc="-1" strike="noStrike">
              <a:latin typeface="Arial"/>
            </a:endParaRPr>
          </a:p>
        </p:txBody>
      </p:sp>
      <p:sp>
        <p:nvSpPr>
          <p:cNvPr id="208" name="Shape 13"/>
          <p:cNvSpPr/>
          <p:nvPr/>
        </p:nvSpPr>
        <p:spPr>
          <a:xfrm>
            <a:off x="5394960" y="1207080"/>
            <a:ext cx="3564000" cy="656280"/>
          </a:xfrm>
          <a:prstGeom prst="rect">
            <a:avLst/>
          </a:prstGeom>
          <a:solidFill>
            <a:srgbClr val="1e293b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09" name="Shape 14"/>
          <p:cNvSpPr/>
          <p:nvPr/>
        </p:nvSpPr>
        <p:spPr>
          <a:xfrm>
            <a:off x="5394960" y="1207080"/>
            <a:ext cx="52560" cy="65628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0" name="Text 15"/>
          <p:cNvSpPr/>
          <p:nvPr/>
        </p:nvSpPr>
        <p:spPr>
          <a:xfrm>
            <a:off x="5541120" y="1252800"/>
            <a:ext cx="33354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34d399"/>
                </a:solidFill>
                <a:latin typeface="Calibri"/>
                <a:ea typeface="DejaVu Sans"/>
              </a:rPr>
              <a:t>Static Variable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11" name="Text 16"/>
          <p:cNvSpPr/>
          <p:nvPr/>
        </p:nvSpPr>
        <p:spPr>
          <a:xfrm>
            <a:off x="5541120" y="1517760"/>
            <a:ext cx="33354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DejaVu Sans"/>
              </a:rPr>
              <a:t>cust_counter — shared, class-level counter for all machines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12" name="Shape 17"/>
          <p:cNvSpPr/>
          <p:nvPr/>
        </p:nvSpPr>
        <p:spPr>
          <a:xfrm>
            <a:off x="5394960" y="1938600"/>
            <a:ext cx="3564000" cy="656280"/>
          </a:xfrm>
          <a:prstGeom prst="rect">
            <a:avLst/>
          </a:prstGeom>
          <a:solidFill>
            <a:srgbClr val="1e293b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13" name="Shape 18"/>
          <p:cNvSpPr/>
          <p:nvPr/>
        </p:nvSpPr>
        <p:spPr>
          <a:xfrm>
            <a:off x="5394960" y="1938600"/>
            <a:ext cx="52560" cy="656280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4" name="Text 19"/>
          <p:cNvSpPr/>
          <p:nvPr/>
        </p:nvSpPr>
        <p:spPr>
          <a:xfrm>
            <a:off x="5541120" y="1984320"/>
            <a:ext cx="33354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87171"/>
                </a:solidFill>
                <a:latin typeface="Calibri"/>
                <a:ea typeface="DejaVu Sans"/>
              </a:rPr>
              <a:t>Private Variables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15" name="Text 20"/>
          <p:cNvSpPr/>
          <p:nvPr/>
        </p:nvSpPr>
        <p:spPr>
          <a:xfrm>
            <a:off x="5541120" y="2249280"/>
            <a:ext cx="33354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DejaVu Sans"/>
              </a:rPr>
              <a:t>__cust_id, __secret_pin, __account_balance — hidden from outside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16" name="Shape 21"/>
          <p:cNvSpPr/>
          <p:nvPr/>
        </p:nvSpPr>
        <p:spPr>
          <a:xfrm>
            <a:off x="5394960" y="2670120"/>
            <a:ext cx="3564000" cy="656280"/>
          </a:xfrm>
          <a:prstGeom prst="rect">
            <a:avLst/>
          </a:prstGeom>
          <a:solidFill>
            <a:srgbClr val="1e293b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17" name="Shape 22"/>
          <p:cNvSpPr/>
          <p:nvPr/>
        </p:nvSpPr>
        <p:spPr>
          <a:xfrm>
            <a:off x="5394960" y="2670120"/>
            <a:ext cx="52560" cy="65628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8" name="Text 23"/>
          <p:cNvSpPr/>
          <p:nvPr/>
        </p:nvSpPr>
        <p:spPr>
          <a:xfrm>
            <a:off x="5541120" y="2715840"/>
            <a:ext cx="33354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38bdf8"/>
                </a:solidFill>
                <a:latin typeface="Calibri"/>
                <a:ea typeface="DejaVu Sans"/>
              </a:rPr>
              <a:t>Getter Method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19" name="Text 24"/>
          <p:cNvSpPr/>
          <p:nvPr/>
        </p:nvSpPr>
        <p:spPr>
          <a:xfrm>
            <a:off x="5541120" y="2980800"/>
            <a:ext cx="33354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DejaVu Sans"/>
              </a:rPr>
              <a:t>retrieve_balance() — read-only access to private balance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20" name="Shape 25"/>
          <p:cNvSpPr/>
          <p:nvPr/>
        </p:nvSpPr>
        <p:spPr>
          <a:xfrm>
            <a:off x="5394960" y="3401640"/>
            <a:ext cx="3564000" cy="656280"/>
          </a:xfrm>
          <a:prstGeom prst="rect">
            <a:avLst/>
          </a:prstGeom>
          <a:solidFill>
            <a:srgbClr val="1e293b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21" name="Shape 26"/>
          <p:cNvSpPr/>
          <p:nvPr/>
        </p:nvSpPr>
        <p:spPr>
          <a:xfrm>
            <a:off x="5394960" y="3401640"/>
            <a:ext cx="52560" cy="6562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2" name="Text 27"/>
          <p:cNvSpPr/>
          <p:nvPr/>
        </p:nvSpPr>
        <p:spPr>
          <a:xfrm>
            <a:off x="5541120" y="3447360"/>
            <a:ext cx="33354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f59e0b"/>
                </a:solidFill>
                <a:latin typeface="Calibri"/>
                <a:ea typeface="DejaVu Sans"/>
              </a:rPr>
              <a:t>Setter + Validation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23" name="Text 28"/>
          <p:cNvSpPr/>
          <p:nvPr/>
        </p:nvSpPr>
        <p:spPr>
          <a:xfrm>
            <a:off x="5541120" y="3712320"/>
            <a:ext cx="33354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DejaVu Sans"/>
              </a:rPr>
              <a:t>assign_balance() — only accepts integers, rejects invalid input</a:t>
            </a:r>
            <a:endParaRPr b="0" lang="en-IN" sz="1050" spc="-1" strike="noStrike">
              <a:latin typeface="Arial"/>
            </a:endParaRPr>
          </a:p>
        </p:txBody>
      </p:sp>
      <p:sp>
        <p:nvSpPr>
          <p:cNvPr id="224" name="Shape 29"/>
          <p:cNvSpPr/>
          <p:nvPr/>
        </p:nvSpPr>
        <p:spPr>
          <a:xfrm>
            <a:off x="5394960" y="4133160"/>
            <a:ext cx="3564000" cy="656280"/>
          </a:xfrm>
          <a:prstGeom prst="rect">
            <a:avLst/>
          </a:prstGeom>
          <a:solidFill>
            <a:srgbClr val="1e293b"/>
          </a:solidFill>
          <a:ln w="1524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25" name="Shape 30"/>
          <p:cNvSpPr/>
          <p:nvPr/>
        </p:nvSpPr>
        <p:spPr>
          <a:xfrm>
            <a:off x="5394960" y="4133160"/>
            <a:ext cx="52560" cy="656280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6" name="Text 31"/>
          <p:cNvSpPr/>
          <p:nvPr/>
        </p:nvSpPr>
        <p:spPr>
          <a:xfrm>
            <a:off x="5541120" y="4178880"/>
            <a:ext cx="33354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-1" strike="noStrike">
                <a:solidFill>
                  <a:srgbClr val="c084fc"/>
                </a:solidFill>
                <a:latin typeface="Calibri"/>
                <a:ea typeface="DejaVu Sans"/>
              </a:rPr>
              <a:t>Static Method</a:t>
            </a:r>
            <a:endParaRPr b="0" lang="en-IN" sz="1200" spc="-1" strike="noStrike">
              <a:latin typeface="Arial"/>
            </a:endParaRPr>
          </a:p>
        </p:txBody>
      </p:sp>
      <p:sp>
        <p:nvSpPr>
          <p:cNvPr id="227" name="Text 32"/>
          <p:cNvSpPr/>
          <p:nvPr/>
        </p:nvSpPr>
        <p:spPr>
          <a:xfrm>
            <a:off x="5541120" y="4443840"/>
            <a:ext cx="333540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DejaVu Sans"/>
              </a:rPr>
              <a:t>get_total_customers() — no self, uses class-level data</a:t>
            </a:r>
            <a:endParaRPr b="0" lang="en-IN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Shape 0"/>
          <p:cNvSpPr/>
          <p:nvPr/>
        </p:nvSpPr>
        <p:spPr>
          <a:xfrm>
            <a:off x="0" y="0"/>
            <a:ext cx="61920" cy="514152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9" name="Shape 1"/>
          <p:cNvSpPr/>
          <p:nvPr/>
        </p:nvSpPr>
        <p:spPr>
          <a:xfrm>
            <a:off x="0" y="0"/>
            <a:ext cx="9141840" cy="711000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0" name="Text 2"/>
          <p:cNvSpPr/>
          <p:nvPr/>
        </p:nvSpPr>
        <p:spPr>
          <a:xfrm>
            <a:off x="182880" y="0"/>
            <a:ext cx="7130160" cy="71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libri"/>
                <a:ea typeface="DejaVu Sans"/>
              </a:rPr>
              <a:t>Instance vs Static – Methods Comparison</a:t>
            </a:r>
            <a:endParaRPr b="0" lang="en-IN" sz="2200" spc="-1" strike="noStrike">
              <a:latin typeface="Arial"/>
            </a:endParaRPr>
          </a:p>
        </p:txBody>
      </p:sp>
      <p:sp>
        <p:nvSpPr>
          <p:cNvPr id="231" name="Shape 3"/>
          <p:cNvSpPr/>
          <p:nvPr/>
        </p:nvSpPr>
        <p:spPr>
          <a:xfrm>
            <a:off x="7589520" y="109800"/>
            <a:ext cx="1369440" cy="47340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  <a:effectLst>
            <a:outerShdw algn="bl" blurRad="127080" dir="16200000" dist="50760" kx="0" ky="0" rotWithShape="0" sx="100000" sy="100000">
              <a:srgbClr val="000000">
                <a:alpha val="35000"/>
              </a:srgbClr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32" name="Text 4"/>
          <p:cNvSpPr/>
          <p:nvPr/>
        </p:nvSpPr>
        <p:spPr>
          <a:xfrm>
            <a:off x="7589520" y="109800"/>
            <a:ext cx="1369440" cy="47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100" spc="-1" strike="noStrike">
                <a:solidFill>
                  <a:srgbClr val="0f172a"/>
                </a:solidFill>
                <a:latin typeface="Calibri"/>
                <a:ea typeface="DejaVu Sans"/>
              </a:rPr>
              <a:t>Section 08</a:t>
            </a:r>
            <a:endParaRPr b="0" lang="en-IN" sz="1100" spc="-1" strike="noStrike">
              <a:latin typeface="Arial"/>
            </a:endParaRPr>
          </a:p>
        </p:txBody>
      </p:sp>
      <p:graphicFrame>
        <p:nvGraphicFramePr>
          <p:cNvPr id="233" name="Table 0"/>
          <p:cNvGraphicFramePr/>
          <p:nvPr/>
        </p:nvGraphicFramePr>
        <p:xfrm>
          <a:off x="182880" y="868680"/>
          <a:ext cx="8777880" cy="3794040"/>
        </p:xfrm>
        <a:graphic>
          <a:graphicData uri="http://schemas.openxmlformats.org/drawingml/2006/table">
            <a:tbl>
              <a:tblPr/>
              <a:tblGrid>
                <a:gridCol w="2560320"/>
                <a:gridCol w="3108960"/>
                <a:gridCol w="3108960"/>
              </a:tblGrid>
              <a:tr h="541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-US" sz="1300" spc="-1" strike="noStrike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6203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-US" sz="1300" spc="-1" strike="noStrike">
                          <a:solidFill>
                            <a:srgbClr val="38bdf8"/>
                          </a:solidFill>
                          <a:latin typeface="Calibri"/>
                        </a:rPr>
                        <a:t>Regular/Instance Method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0c2a3a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1" lang="en-US" sz="1300" spc="-1" strike="noStrike">
                          <a:solidFill>
                            <a:srgbClr val="34d399"/>
                          </a:solidFill>
                          <a:latin typeface="Calibri"/>
                        </a:rPr>
                        <a:t>Static Method</a:t>
                      </a:r>
                      <a:endParaRPr b="0" lang="en-IN" sz="13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0a1f12"/>
                    </a:solidFill>
                  </a:tcPr>
                </a:tc>
              </a:tr>
              <a:tr h="541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f59e0b"/>
                          </a:solidFill>
                          <a:latin typeface="Calibri"/>
                        </a:rPr>
                        <a:t>First parameter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self (current object)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None (no self)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541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f59e0b"/>
                          </a:solidFill>
                          <a:latin typeface="Calibri"/>
                        </a:rPr>
                        <a:t>Can access instance vars?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7203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YES — via self.variable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7203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NO — no object reference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72034"/>
                    </a:solidFill>
                  </a:tcPr>
                </a:tc>
              </a:tr>
              <a:tr h="541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f59e0b"/>
                          </a:solidFill>
                          <a:latin typeface="Calibri"/>
                        </a:rPr>
                        <a:t>Can access static vars?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YES — via ClassName.var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YES — via ClassName.var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541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f59e0b"/>
                          </a:solidFill>
                          <a:latin typeface="Calibri"/>
                        </a:rPr>
                        <a:t>Called via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7203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object.method() or ClassName.method(obj)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7203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ClassName.method()  (no object needed)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72034"/>
                    </a:solidFill>
                  </a:tcPr>
                </a:tc>
              </a:tr>
              <a:tr h="5418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f59e0b"/>
                          </a:solidFill>
                          <a:latin typeface="Calibri"/>
                        </a:rPr>
                        <a:t>Decorator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None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f59e0b"/>
                          </a:solidFill>
                          <a:latin typeface="Calibri"/>
                        </a:rPr>
                        <a:t>@staticmethod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e293b"/>
                    </a:solidFill>
                  </a:tcPr>
                </a:tc>
              </a:tr>
              <a:tr h="543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f59e0b"/>
                          </a:solidFill>
                          <a:latin typeface="Calibri"/>
                        </a:rPr>
                        <a:t>Use case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7203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Act on a specific object's data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7203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buNone/>
                        <a:tabLst>
                          <a:tab algn="l" pos="0"/>
                        </a:tabLst>
                      </a:pPr>
                      <a:r>
                        <a:rPr b="0" lang="en-US" sz="1200" spc="-1" strike="noStrike">
                          <a:solidFill>
                            <a:srgbClr val="e2e8f0"/>
                          </a:solidFill>
                          <a:latin typeface="Calibri"/>
                        </a:rPr>
                        <a:t>Utility/helper, works on class-level data</a:t>
                      </a:r>
                      <a:endParaRPr b="0" lang="en-IN" sz="1200" spc="-1" strike="noStrike"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334155"/>
                      </a:solidFill>
                    </a:lnL>
                    <a:lnR w="12240">
                      <a:solidFill>
                        <a:srgbClr val="334155"/>
                      </a:solidFill>
                    </a:lnR>
                    <a:lnT w="12240">
                      <a:solidFill>
                        <a:srgbClr val="334155"/>
                      </a:solidFill>
                    </a:lnT>
                    <a:lnB w="12240">
                      <a:solidFill>
                        <a:srgbClr val="334155"/>
                      </a:solidFill>
                    </a:lnB>
                    <a:solidFill>
                      <a:srgbClr val="172034"/>
                    </a:solidFill>
                  </a:tcPr>
                </a:tc>
              </a:tr>
            </a:tbl>
          </a:graphicData>
        </a:graphic>
      </p:graphicFrame>
      <p:sp>
        <p:nvSpPr>
          <p:cNvPr id="234" name="Shape 5"/>
          <p:cNvSpPr/>
          <p:nvPr/>
        </p:nvSpPr>
        <p:spPr>
          <a:xfrm>
            <a:off x="182880" y="4736520"/>
            <a:ext cx="8776080" cy="290520"/>
          </a:xfrm>
          <a:prstGeom prst="rect">
            <a:avLst/>
          </a:prstGeom>
          <a:solidFill>
            <a:srgbClr val="0c2a3a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5" name="Text 6"/>
          <p:cNvSpPr/>
          <p:nvPr/>
        </p:nvSpPr>
        <p:spPr>
          <a:xfrm>
            <a:off x="320040" y="4754880"/>
            <a:ext cx="850176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050" spc="-1" strike="noStrike">
                <a:solidFill>
                  <a:srgbClr val="94a3b8"/>
                </a:solidFill>
                <a:latin typeface="Calibri"/>
                <a:ea typeface="DejaVu Sans"/>
              </a:rPr>
              <a:t>Decorator note: @staticmethod is a function decorator — a special Python annotation that changes how the method is registered. Decorators in-depth are covered in an advanced session.</a:t>
            </a:r>
            <a:endParaRPr b="0" lang="en-IN" sz="10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Shape 0"/>
          <p:cNvSpPr/>
          <p:nvPr/>
        </p:nvSpPr>
        <p:spPr>
          <a:xfrm>
            <a:off x="30240" y="-449640"/>
            <a:ext cx="9141840" cy="5141520"/>
          </a:xfrm>
          <a:prstGeom prst="rect">
            <a:avLst/>
          </a:prstGeom>
          <a:solidFill>
            <a:srgbClr val="0c1526"/>
          </a:solidFill>
          <a:ln w="12700">
            <a:solidFill>
              <a:srgbClr val="0c1526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7" name="Shape 1"/>
          <p:cNvSpPr/>
          <p:nvPr/>
        </p:nvSpPr>
        <p:spPr>
          <a:xfrm>
            <a:off x="0" y="0"/>
            <a:ext cx="61920" cy="514152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38" name="Text 2"/>
          <p:cNvSpPr/>
          <p:nvPr/>
        </p:nvSpPr>
        <p:spPr>
          <a:xfrm>
            <a:off x="914400" y="360000"/>
            <a:ext cx="731304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300" spc="483" strike="noStrike">
                <a:solidFill>
                  <a:srgbClr val="34d399"/>
                </a:solidFill>
                <a:latin typeface="Calibri"/>
                <a:ea typeface="DejaVu Sans"/>
              </a:rPr>
              <a:t>NEXT SESSION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39" name="Text 3"/>
          <p:cNvSpPr/>
          <p:nvPr/>
        </p:nvSpPr>
        <p:spPr>
          <a:xfrm rot="21587400">
            <a:off x="910800" y="779040"/>
            <a:ext cx="7313040" cy="100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600" spc="-1" strike="noStrike">
                <a:solidFill>
                  <a:srgbClr val="ffffff"/>
                </a:solidFill>
                <a:latin typeface="Calibri"/>
                <a:ea typeface="DejaVu Sans"/>
              </a:rPr>
              <a:t>Remaining OOP Principles</a:t>
            </a:r>
            <a:endParaRPr b="0" lang="en-IN" sz="4600" spc="-1" strike="noStrike">
              <a:latin typeface="Arial"/>
            </a:endParaRPr>
          </a:p>
        </p:txBody>
      </p:sp>
      <p:sp>
        <p:nvSpPr>
          <p:cNvPr id="240" name="Shape 4"/>
          <p:cNvSpPr/>
          <p:nvPr/>
        </p:nvSpPr>
        <p:spPr>
          <a:xfrm>
            <a:off x="900000" y="2114640"/>
            <a:ext cx="7313040" cy="43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1" name="Text 5"/>
          <p:cNvSpPr/>
          <p:nvPr/>
        </p:nvSpPr>
        <p:spPr>
          <a:xfrm>
            <a:off x="914400" y="2240280"/>
            <a:ext cx="3178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38bdf8"/>
                </a:solidFill>
                <a:latin typeface="Calibri"/>
                <a:ea typeface="DejaVu Sans"/>
              </a:rPr>
              <a:t>→</a:t>
            </a:r>
            <a:endParaRPr b="0" lang="en-IN" sz="2000" spc="-1" strike="noStrike">
              <a:latin typeface="Arial"/>
            </a:endParaRPr>
          </a:p>
        </p:txBody>
      </p:sp>
      <p:sp>
        <p:nvSpPr>
          <p:cNvPr id="242" name="Text 6"/>
          <p:cNvSpPr/>
          <p:nvPr/>
        </p:nvSpPr>
        <p:spPr>
          <a:xfrm>
            <a:off x="1298520" y="2240280"/>
            <a:ext cx="20095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DejaVu Sans"/>
              </a:rPr>
              <a:t>Inheritance</a:t>
            </a:r>
            <a:endParaRPr b="0" lang="en-IN" sz="1700" spc="-1" strike="noStrike">
              <a:latin typeface="Arial"/>
            </a:endParaRPr>
          </a:p>
        </p:txBody>
      </p:sp>
      <p:sp>
        <p:nvSpPr>
          <p:cNvPr id="243" name="Text 7"/>
          <p:cNvSpPr/>
          <p:nvPr/>
        </p:nvSpPr>
        <p:spPr>
          <a:xfrm>
            <a:off x="3474720" y="2277000"/>
            <a:ext cx="50270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94a3b8"/>
                </a:solidFill>
                <a:latin typeface="Calibri"/>
                <a:ea typeface="DejaVu Sans"/>
              </a:rPr>
              <a:t>Derive new classes from existing ones to share code and extend behaviour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44" name="Text 8"/>
          <p:cNvSpPr/>
          <p:nvPr/>
        </p:nvSpPr>
        <p:spPr>
          <a:xfrm>
            <a:off x="914400" y="3108960"/>
            <a:ext cx="3178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38bdf8"/>
                </a:solidFill>
                <a:latin typeface="Calibri"/>
                <a:ea typeface="DejaVu Sans"/>
              </a:rPr>
              <a:t>→</a:t>
            </a:r>
            <a:endParaRPr b="0" lang="en-IN" sz="2000" spc="-1" strike="noStrike">
              <a:latin typeface="Arial"/>
            </a:endParaRPr>
          </a:p>
        </p:txBody>
      </p:sp>
      <p:sp>
        <p:nvSpPr>
          <p:cNvPr id="245" name="Text 9"/>
          <p:cNvSpPr/>
          <p:nvPr/>
        </p:nvSpPr>
        <p:spPr>
          <a:xfrm>
            <a:off x="1298520" y="3108960"/>
            <a:ext cx="20095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DejaVu Sans"/>
              </a:rPr>
              <a:t>Polymorphism</a:t>
            </a:r>
            <a:endParaRPr b="0" lang="en-IN" sz="1700" spc="-1" strike="noStrike">
              <a:latin typeface="Arial"/>
            </a:endParaRPr>
          </a:p>
        </p:txBody>
      </p:sp>
      <p:sp>
        <p:nvSpPr>
          <p:cNvPr id="246" name="Text 10"/>
          <p:cNvSpPr/>
          <p:nvPr/>
        </p:nvSpPr>
        <p:spPr>
          <a:xfrm>
            <a:off x="3474720" y="3145680"/>
            <a:ext cx="50270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94a3b8"/>
                </a:solidFill>
                <a:latin typeface="Calibri"/>
                <a:ea typeface="DejaVu Sans"/>
              </a:rPr>
              <a:t>One interface, many implementations — method overriding and duck typing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47" name="Text 11"/>
          <p:cNvSpPr/>
          <p:nvPr/>
        </p:nvSpPr>
        <p:spPr>
          <a:xfrm>
            <a:off x="914400" y="3977640"/>
            <a:ext cx="317880" cy="36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38bdf8"/>
                </a:solidFill>
                <a:latin typeface="Calibri"/>
                <a:ea typeface="DejaVu Sans"/>
              </a:rPr>
              <a:t>→</a:t>
            </a:r>
            <a:endParaRPr b="0" lang="en-IN" sz="2000" spc="-1" strike="noStrike">
              <a:latin typeface="Arial"/>
            </a:endParaRPr>
          </a:p>
        </p:txBody>
      </p:sp>
      <p:sp>
        <p:nvSpPr>
          <p:cNvPr id="248" name="Text 12"/>
          <p:cNvSpPr/>
          <p:nvPr/>
        </p:nvSpPr>
        <p:spPr>
          <a:xfrm>
            <a:off x="1298520" y="3977640"/>
            <a:ext cx="200952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700" spc="-1" strike="noStrike">
                <a:solidFill>
                  <a:srgbClr val="ffffff"/>
                </a:solidFill>
                <a:latin typeface="Calibri"/>
                <a:ea typeface="DejaVu Sans"/>
              </a:rPr>
              <a:t>Abstraction</a:t>
            </a:r>
            <a:endParaRPr b="0" lang="en-IN" sz="1700" spc="-1" strike="noStrike">
              <a:latin typeface="Arial"/>
            </a:endParaRPr>
          </a:p>
        </p:txBody>
      </p:sp>
      <p:sp>
        <p:nvSpPr>
          <p:cNvPr id="249" name="Text 13"/>
          <p:cNvSpPr/>
          <p:nvPr/>
        </p:nvSpPr>
        <p:spPr>
          <a:xfrm>
            <a:off x="3474720" y="4014360"/>
            <a:ext cx="5027040" cy="34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94a3b8"/>
                </a:solidFill>
                <a:latin typeface="Calibri"/>
                <a:ea typeface="DejaVu Sans"/>
              </a:rPr>
              <a:t>Hide implementation details; expose only what's necessary via abstract classes</a:t>
            </a:r>
            <a:endParaRPr b="0" lang="en-IN" sz="1300" spc="-1" strike="noStrike">
              <a:latin typeface="Arial"/>
            </a:endParaRPr>
          </a:p>
        </p:txBody>
      </p:sp>
      <p:sp>
        <p:nvSpPr>
          <p:cNvPr id="250" name="Text 14"/>
          <p:cNvSpPr/>
          <p:nvPr/>
        </p:nvSpPr>
        <p:spPr>
          <a:xfrm>
            <a:off x="914400" y="4709160"/>
            <a:ext cx="7770240" cy="27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900" spc="-1" strike="noStrike">
                <a:solidFill>
                  <a:srgbClr val="64748b"/>
                </a:solidFill>
                <a:latin typeface="Calibri"/>
                <a:ea typeface="DejaVu Sans"/>
              </a:rPr>
              <a:t>Python OOP  ·  Session 8 Part 2  ·  All concepts covered · Variables renamed for copyright compliance</a:t>
            </a:r>
            <a:endParaRPr b="0" lang="en-IN" sz="9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32</TotalTime>
  <Application>LibreOffice/7.3.7.2$Linux_X86_64 LibreOffice_project/30$Build-2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2026-02-21T17:54:13Z</dcterms:created>
  <dc:creator>PptxGenJS</dc:creator>
  <dc:description/>
  <dc:language>en-IN</dc:language>
  <cp:lastModifiedBy/>
  <dcterms:modified xsi:type="dcterms:W3CDTF">2026-03-08T14:28:00Z</dcterms:modified>
  <cp:revision>7</cp:revision>
  <dc:subject>PptxGenJS Presentation</dc:subject>
  <dc:title>Python OOP – Part 2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14</vt:i4>
  </property>
  <property fmtid="{D5CDD505-2E9C-101B-9397-08002B2CF9AE}" pid="3" name="PresentationFormat">
    <vt:lpwstr>On-screen Show (16:9)</vt:lpwstr>
  </property>
  <property fmtid="{D5CDD505-2E9C-101B-9397-08002B2CF9AE}" pid="4" name="Slides">
    <vt:i4>14</vt:i4>
  </property>
</Properties>
</file>