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A3933B2-B4B7-4394-83C8-BD4C865A2B1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A2D86E-84B1-401B-8460-5D97CEF779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40BF11-FE87-481C-A473-CCEB89B2B5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639D46-756D-4631-8E4A-09A68E0F08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C44B95-7DC0-4AC6-8205-D1893B1A8D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773CF9-683F-4157-B30C-F963EAD8AC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DBFAA0-CCBD-4690-9DCE-7C344CBC57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31B26A-3430-4985-A39E-599620A713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026FD6-884B-472C-8244-4A769049AA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6C18BC-973E-413C-AE35-E4F8FAA66F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80904E-EE55-48D8-8178-5F11260E74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747EFC-FD9F-4410-BC6F-D19F81FA600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DF2F64-5C89-4F78-BE67-CB0CF5F6E3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C42717-A362-4E8F-BAF4-9FC451F440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1B3D85-AFA5-4996-B571-A1F43C69B6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3280" cy="514224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328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6000" cy="23760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6000" cy="23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4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89" strike="noStrike">
                <a:solidFill>
                  <a:srgbClr val="38bdf8"/>
                </a:solidFill>
                <a:latin typeface="Calibri"/>
                <a:ea typeface="DejaVu Sans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0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0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Session 8 · Part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0640" cy="352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064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Coordinate Geometry Practice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Reference Variables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Pass by Reference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Object Mutability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Encapsulation (Deep Dive)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02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The technical truth: what does a variable actually store?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 – The Technical Truth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182880" y="804600"/>
            <a:ext cx="4113360" cy="191880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6"/>
          <p:cNvSpPr/>
          <p:nvPr/>
        </p:nvSpPr>
        <p:spPr>
          <a:xfrm>
            <a:off x="182880" y="804600"/>
            <a:ext cx="411336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7"/>
          <p:cNvSpPr/>
          <p:nvPr/>
        </p:nvSpPr>
        <p:spPr>
          <a:xfrm>
            <a:off x="320040" y="896040"/>
            <a:ext cx="3747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f87171"/>
                </a:solidFill>
                <a:latin typeface="Calibri"/>
                <a:ea typeface="DejaVu Sans"/>
              </a:rPr>
              <a:t>    </a:t>
            </a:r>
            <a:r>
              <a:rPr b="1" lang="en-US" sz="1000" spc="191" strike="noStrike">
                <a:solidFill>
                  <a:srgbClr val="f87171"/>
                </a:solidFill>
                <a:latin typeface="Calibri"/>
                <a:ea typeface="DejaVu Sans"/>
              </a:rPr>
              <a:t>COMMON MISCONCEPTION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320040" y="120708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"user = Employee('Alex', 'Dev')"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320040" y="1554480"/>
            <a:ext cx="3747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DejaVu Sans"/>
              </a:rPr>
              <a:t>People say: "user is an object of Employee class."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228600" y="822960"/>
            <a:ext cx="272880" cy="2728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1"/>
          <p:cNvSpPr/>
          <p:nvPr/>
        </p:nvSpPr>
        <p:spPr>
          <a:xfrm>
            <a:off x="228600" y="82296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✗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572000" y="804600"/>
            <a:ext cx="4387680" cy="191880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3"/>
          <p:cNvSpPr/>
          <p:nvPr/>
        </p:nvSpPr>
        <p:spPr>
          <a:xfrm>
            <a:off x="4572000" y="804600"/>
            <a:ext cx="438768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4"/>
          <p:cNvSpPr/>
          <p:nvPr/>
        </p:nvSpPr>
        <p:spPr>
          <a:xfrm>
            <a:off x="4709160" y="896040"/>
            <a:ext cx="40219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34d399"/>
                </a:solidFill>
                <a:latin typeface="Calibri"/>
                <a:ea typeface="DejaVu Sans"/>
              </a:rPr>
              <a:t>TECHNICALLY CORRECT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4709160" y="1207080"/>
            <a:ext cx="4113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DejaVu Sans"/>
              </a:rPr>
              <a:t>"user is a REFERENCE that holds the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  <a:ea typeface="DejaVu Sans"/>
              </a:rPr>
              <a:t>MEMORY ADDRESS of the object"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4709160" y="1783080"/>
            <a:ext cx="4113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DejaVu Sans"/>
              </a:rPr>
              <a:t>Employee() creates the object. user stores its address.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182880" y="2834640"/>
            <a:ext cx="8776800" cy="20102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18"/>
          <p:cNvSpPr/>
          <p:nvPr/>
        </p:nvSpPr>
        <p:spPr>
          <a:xfrm>
            <a:off x="365760" y="292608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38bdf8"/>
                </a:solidFill>
                <a:latin typeface="Calibri"/>
                <a:ea typeface="DejaVu Sans"/>
              </a:rPr>
              <a:t>MEMORY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457200" y="3273480"/>
            <a:ext cx="1644480" cy="775800"/>
          </a:xfrm>
          <a:prstGeom prst="rect">
            <a:avLst/>
          </a:prstGeom>
          <a:solidFill>
            <a:srgbClr val="0c2a3a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457200" y="362088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0x7f3a4c2b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2148840" y="3657600"/>
            <a:ext cx="164592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3"/>
          <p:cNvSpPr/>
          <p:nvPr/>
        </p:nvSpPr>
        <p:spPr>
          <a:xfrm>
            <a:off x="3566160" y="3401640"/>
            <a:ext cx="364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3931920" y="3200400"/>
            <a:ext cx="3198960" cy="1278720"/>
          </a:xfrm>
          <a:prstGeom prst="rect">
            <a:avLst/>
          </a:prstGeom>
          <a:solidFill>
            <a:srgbClr val="0c1a2a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25"/>
          <p:cNvSpPr/>
          <p:nvPr/>
        </p:nvSpPr>
        <p:spPr>
          <a:xfrm>
            <a:off x="4069080" y="324612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Employee object @ 0x7f3a4c2b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4069080" y="3566160"/>
            <a:ext cx="2924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name = 'Alex'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job_title = 'Dev'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5" name="Shape 27"/>
          <p:cNvSpPr/>
          <p:nvPr/>
        </p:nvSpPr>
        <p:spPr>
          <a:xfrm>
            <a:off x="7315200" y="3108960"/>
            <a:ext cx="1553040" cy="1461600"/>
          </a:xfrm>
          <a:prstGeom prst="rect">
            <a:avLst/>
          </a:prstGeom>
          <a:solidFill>
            <a:srgbClr val="1a1a0c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8"/>
          <p:cNvSpPr/>
          <p:nvPr/>
        </p:nvSpPr>
        <p:spPr>
          <a:xfrm>
            <a:off x="7360920" y="315468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91" strike="noStrike">
                <a:solidFill>
                  <a:srgbClr val="f59e0b"/>
                </a:solidFill>
                <a:latin typeface="Calibri"/>
                <a:ea typeface="DejaVu Sans"/>
              </a:rPr>
              <a:t>PROOF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7360920" y="3447360"/>
            <a:ext cx="1461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id(user)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→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memory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address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 – 4 Key Points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82880" y="804600"/>
            <a:ext cx="4250520" cy="1964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6"/>
          <p:cNvSpPr/>
          <p:nvPr/>
        </p:nvSpPr>
        <p:spPr>
          <a:xfrm>
            <a:off x="182880" y="804600"/>
            <a:ext cx="425052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7"/>
          <p:cNvSpPr/>
          <p:nvPr/>
        </p:nvSpPr>
        <p:spPr>
          <a:xfrm>
            <a:off x="347400" y="941760"/>
            <a:ext cx="382680" cy="382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347400" y="9417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22960" y="969120"/>
            <a:ext cx="3473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Object Without a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365760" y="1398960"/>
            <a:ext cx="3930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An object is created the moment the class is called. You don't need to assign it to a variable. Without a reference, the object exists in memory but is inaccessible.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365760" y="2039040"/>
            <a:ext cx="3930480" cy="565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457200" y="2066400"/>
            <a:ext cx="374760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Employee('Alex','Dev')  # created but immediately lost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4617720" y="804600"/>
            <a:ext cx="4250520" cy="1964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Shape 14"/>
          <p:cNvSpPr/>
          <p:nvPr/>
        </p:nvSpPr>
        <p:spPr>
          <a:xfrm>
            <a:off x="4617720" y="804600"/>
            <a:ext cx="425052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5"/>
          <p:cNvSpPr/>
          <p:nvPr/>
        </p:nvSpPr>
        <p:spPr>
          <a:xfrm>
            <a:off x="4782240" y="941760"/>
            <a:ext cx="382680" cy="3826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4782240" y="9417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5257800" y="969120"/>
            <a:ext cx="3473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One Object, Many References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4800600" y="1398960"/>
            <a:ext cx="3930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Multiple variables can point to the same object. This is called aliasing — the same pattern you've seen with Python lists.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4800600" y="2039040"/>
            <a:ext cx="3930480" cy="565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0"/>
          <p:cNvSpPr/>
          <p:nvPr/>
        </p:nvSpPr>
        <p:spPr>
          <a:xfrm>
            <a:off x="4892040" y="2066400"/>
            <a:ext cx="374760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user = Employee('Alex','Dev')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 = user  # both point to same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182880" y="2953440"/>
            <a:ext cx="4250520" cy="1964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Shape 22"/>
          <p:cNvSpPr/>
          <p:nvPr/>
        </p:nvSpPr>
        <p:spPr>
          <a:xfrm>
            <a:off x="182880" y="2953440"/>
            <a:ext cx="425052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23"/>
          <p:cNvSpPr/>
          <p:nvPr/>
        </p:nvSpPr>
        <p:spPr>
          <a:xfrm>
            <a:off x="347400" y="3090600"/>
            <a:ext cx="382680" cy="3826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4"/>
          <p:cNvSpPr/>
          <p:nvPr/>
        </p:nvSpPr>
        <p:spPr>
          <a:xfrm>
            <a:off x="347400" y="309060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822960" y="3117960"/>
            <a:ext cx="3473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DANGER — Changes Via Any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365760" y="3547800"/>
            <a:ext cx="3930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If you modify the object via one reference, ALL references see the change. They all point to the same memory location!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27"/>
          <p:cNvSpPr/>
          <p:nvPr/>
        </p:nvSpPr>
        <p:spPr>
          <a:xfrm>
            <a:off x="365760" y="4187880"/>
            <a:ext cx="3930480" cy="565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8"/>
          <p:cNvSpPr/>
          <p:nvPr/>
        </p:nvSpPr>
        <p:spPr>
          <a:xfrm>
            <a:off x="457200" y="4215240"/>
            <a:ext cx="374760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alias.name = 'Bob'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print(user.name)  # Output: Bob (!)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Shape 29"/>
          <p:cNvSpPr/>
          <p:nvPr/>
        </p:nvSpPr>
        <p:spPr>
          <a:xfrm>
            <a:off x="4617720" y="2953440"/>
            <a:ext cx="4250520" cy="1964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30"/>
          <p:cNvSpPr/>
          <p:nvPr/>
        </p:nvSpPr>
        <p:spPr>
          <a:xfrm>
            <a:off x="4617720" y="2953440"/>
            <a:ext cx="4250520" cy="5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31"/>
          <p:cNvSpPr/>
          <p:nvPr/>
        </p:nvSpPr>
        <p:spPr>
          <a:xfrm>
            <a:off x="4782240" y="3090600"/>
            <a:ext cx="382680" cy="382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32"/>
          <p:cNvSpPr/>
          <p:nvPr/>
        </p:nvSpPr>
        <p:spPr>
          <a:xfrm>
            <a:off x="4782240" y="309060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DejaVu San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5257800" y="3117960"/>
            <a:ext cx="3473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alias = user Does NOT Copy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4800600" y="3547800"/>
            <a:ext cx="3930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Writing alias = user does NOT create a new object. It merely copies the memory address. For a true copy, use the copy module.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35"/>
          <p:cNvSpPr/>
          <p:nvPr/>
        </p:nvSpPr>
        <p:spPr>
          <a:xfrm>
            <a:off x="4800600" y="4187880"/>
            <a:ext cx="3930480" cy="565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6"/>
          <p:cNvSpPr/>
          <p:nvPr/>
        </p:nvSpPr>
        <p:spPr>
          <a:xfrm>
            <a:off x="4892040" y="4215240"/>
            <a:ext cx="374760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new_obj = copy.deepcopy(user)  # real copy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03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4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When you pass an object to a function, what actually travels?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 – Proof with id()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182880" y="804600"/>
            <a:ext cx="5210640" cy="40219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7" name="Text 6"/>
          <p:cNvSpPr/>
          <p:nvPr/>
        </p:nvSpPr>
        <p:spPr>
          <a:xfrm>
            <a:off x="320040" y="896040"/>
            <a:ext cx="4936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Code: Passing &amp; Returning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320040" y="1280160"/>
            <a:ext cx="4899600" cy="38631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8"/>
          <p:cNvSpPr/>
          <p:nvPr/>
        </p:nvSpPr>
        <p:spPr>
          <a:xfrm>
            <a:off x="429840" y="133488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9"/>
          <p:cNvSpPr/>
          <p:nvPr/>
        </p:nvSpPr>
        <p:spPr>
          <a:xfrm>
            <a:off x="612720" y="133488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0"/>
          <p:cNvSpPr/>
          <p:nvPr/>
        </p:nvSpPr>
        <p:spPr>
          <a:xfrm>
            <a:off x="795600" y="133488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1"/>
          <p:cNvSpPr/>
          <p:nvPr/>
        </p:nvSpPr>
        <p:spPr>
          <a:xfrm>
            <a:off x="320040" y="1280160"/>
            <a:ext cx="493632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429840" y="1572840"/>
            <a:ext cx="4753440" cy="29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role):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.role = role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receives an Employee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display_info(emp):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('Inside fn, id:', id(emp))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(emp.emp_name, '-', emp.role)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returns an Employee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build_employee():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temp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'Jamie'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'Manager'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temp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Proof: same id inside &amp; outside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('Outside fn, id:', id(worker))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display_info(worker)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SAME id in both lines!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5577840" y="804600"/>
            <a:ext cx="3421800" cy="42350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Text 14"/>
          <p:cNvSpPr/>
          <p:nvPr/>
        </p:nvSpPr>
        <p:spPr>
          <a:xfrm>
            <a:off x="5715000" y="89604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  <a:ea typeface="DejaVu Sans"/>
              </a:rPr>
              <a:t>Why This Matters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715000" y="135324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Object as argument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715000" y="1627560"/>
            <a:ext cx="3107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For the first time — you're passing a class object to a function (not just int or list)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5715000" y="228600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Object as return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5715000" y="2560320"/>
            <a:ext cx="3107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Functions can also return objects — very common in real programs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5715000" y="321876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Same memory address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5715000" y="3493080"/>
            <a:ext cx="3107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id() inside and outside the function is IDENTICAL — proves Python passes the reference (address), not a copy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715000" y="4151520"/>
            <a:ext cx="3107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Changes persist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5715000" y="4425840"/>
            <a:ext cx="3107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Modifying emp.emp_name inside a function changes it globally — the original object is affected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04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4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User-defined class objects are mutable by default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 – Proof &amp; Interview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182880" y="804600"/>
            <a:ext cx="4250520" cy="2376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Shape 6"/>
          <p:cNvSpPr/>
          <p:nvPr/>
        </p:nvSpPr>
        <p:spPr>
          <a:xfrm>
            <a:off x="182880" y="804600"/>
            <a:ext cx="425052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7"/>
          <p:cNvSpPr/>
          <p:nvPr/>
        </p:nvSpPr>
        <p:spPr>
          <a:xfrm>
            <a:off x="320040" y="896040"/>
            <a:ext cx="4021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MUTABLE (can change in-place)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320040" y="1298520"/>
            <a:ext cx="402192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Lists  [ ]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Sets  {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Dicts  { :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User-defined objects 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320040" y="2395800"/>
            <a:ext cx="40219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id() stays the SAME after changes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4617720" y="804600"/>
            <a:ext cx="4250520" cy="2376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11"/>
          <p:cNvSpPr/>
          <p:nvPr/>
        </p:nvSpPr>
        <p:spPr>
          <a:xfrm>
            <a:off x="4617720" y="804600"/>
            <a:ext cx="425052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2"/>
          <p:cNvSpPr/>
          <p:nvPr/>
        </p:nvSpPr>
        <p:spPr>
          <a:xfrm>
            <a:off x="4754880" y="896040"/>
            <a:ext cx="4021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IMMUTABLE (change = new object)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754880" y="1298520"/>
            <a:ext cx="402192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Strings  str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Integers  int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Tuples  ( 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4754880" y="2395800"/>
            <a:ext cx="40219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id() changes when you 'modify'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2880" y="3273480"/>
            <a:ext cx="5036040" cy="21254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16"/>
          <p:cNvSpPr/>
          <p:nvPr/>
        </p:nvSpPr>
        <p:spPr>
          <a:xfrm>
            <a:off x="182880" y="3273480"/>
            <a:ext cx="5027760" cy="227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17"/>
          <p:cNvSpPr/>
          <p:nvPr/>
        </p:nvSpPr>
        <p:spPr>
          <a:xfrm>
            <a:off x="292680" y="3328560"/>
            <a:ext cx="99000" cy="990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8"/>
          <p:cNvSpPr/>
          <p:nvPr/>
        </p:nvSpPr>
        <p:spPr>
          <a:xfrm>
            <a:off x="475560" y="3328560"/>
            <a:ext cx="99000" cy="99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19"/>
          <p:cNvSpPr/>
          <p:nvPr/>
        </p:nvSpPr>
        <p:spPr>
          <a:xfrm>
            <a:off x="658440" y="3328560"/>
            <a:ext cx="99000" cy="990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20"/>
          <p:cNvSpPr/>
          <p:nvPr/>
        </p:nvSpPr>
        <p:spPr>
          <a:xfrm>
            <a:off x="292680" y="3520440"/>
            <a:ext cx="484488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update_name(emp):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emp.emp_name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'Morgan'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emp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(id(worker))   # e.g. 140234567890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= update_name(worker)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(id(result))   # SAME: 140234567890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id unchanged → object was modified IN PLACE → MUTABLE!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5394960" y="3273480"/>
            <a:ext cx="3564720" cy="1598760"/>
          </a:xfrm>
          <a:prstGeom prst="rect">
            <a:avLst/>
          </a:prstGeom>
          <a:solidFill>
            <a:srgbClr val="1a2a0c"/>
          </a:solidFill>
          <a:ln w="2540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Text 22"/>
          <p:cNvSpPr/>
          <p:nvPr/>
        </p:nvSpPr>
        <p:spPr>
          <a:xfrm>
            <a:off x="5532120" y="3364920"/>
            <a:ext cx="32904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34d399"/>
                </a:solidFill>
                <a:latin typeface="Calibri"/>
                <a:ea typeface="DejaVu Sans"/>
              </a:rPr>
              <a:t>INTERVIEW ANSWER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5532120" y="3657600"/>
            <a:ext cx="329040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User-defined class objects are MUTABLE by default. Proof: after modifying an attribute inside a function, the object's id() remains unchanged — the change happened in place.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05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Data hiding + controlled access · The story that explains why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The Story (ATM Class)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82880" y="804600"/>
            <a:ext cx="8776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4a3b8"/>
                </a:solidFill>
                <a:latin typeface="Calibri"/>
                <a:ea typeface="DejaVu Sans"/>
              </a:rPr>
              <a:t>Scenario: You (the HERO — senior developer) have written this ATM class. A junior developer joins and causes trouble.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182880" y="1280160"/>
            <a:ext cx="5302080" cy="35647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7"/>
          <p:cNvSpPr/>
          <p:nvPr/>
        </p:nvSpPr>
        <p:spPr>
          <a:xfrm>
            <a:off x="182880" y="1280160"/>
            <a:ext cx="530208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8"/>
          <p:cNvSpPr/>
          <p:nvPr/>
        </p:nvSpPr>
        <p:spPr>
          <a:xfrm>
            <a:off x="292680" y="133488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9"/>
          <p:cNvSpPr/>
          <p:nvPr/>
        </p:nvSpPr>
        <p:spPr>
          <a:xfrm>
            <a:off x="475560" y="133488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0"/>
          <p:cNvSpPr/>
          <p:nvPr/>
        </p:nvSpPr>
        <p:spPr>
          <a:xfrm>
            <a:off x="658440" y="133488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1"/>
          <p:cNvSpPr/>
          <p:nvPr/>
        </p:nvSpPr>
        <p:spPr>
          <a:xfrm>
            <a:off x="182880" y="1298520"/>
            <a:ext cx="5256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92680" y="1572840"/>
            <a:ext cx="5119200" cy="32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setup_pin(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'Set 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view_balance(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print('Balance:',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withdraw(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amt):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&gt;= amt: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.account_balance -= amt  # CRASH if balance is a string!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5669280" y="1280160"/>
            <a:ext cx="3290400" cy="3564720"/>
          </a:xfrm>
          <a:prstGeom prst="rect">
            <a:avLst/>
          </a:prstGeom>
          <a:solidFill>
            <a:srgbClr val="1f05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Shape 14"/>
          <p:cNvSpPr/>
          <p:nvPr/>
        </p:nvSpPr>
        <p:spPr>
          <a:xfrm>
            <a:off x="5669280" y="1280160"/>
            <a:ext cx="329040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5"/>
          <p:cNvSpPr/>
          <p:nvPr/>
        </p:nvSpPr>
        <p:spPr>
          <a:xfrm>
            <a:off x="5806440" y="1371600"/>
            <a:ext cx="3016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DejaVu Sans"/>
              </a:rPr>
              <a:t>THE JUNIOR DEVELOPER'S SABOTAGE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5806440" y="1828800"/>
            <a:ext cx="3016080" cy="182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7"/>
          <p:cNvSpPr/>
          <p:nvPr/>
        </p:nvSpPr>
        <p:spPr>
          <a:xfrm>
            <a:off x="5916240" y="1883520"/>
            <a:ext cx="2833200" cy="17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corrupts the balance!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machine.setup_pin()  # Works fine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machine.withdraw(500)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CRASH! Can't do 'hehe' - 500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TypeError: unsupported operand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type(s) for -=: 'str' and 'int'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5806440" y="3749040"/>
            <a:ext cx="30160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Problem: Python allows ANYONE to modify object attributes directly from outside the class. The senior dev gets blamed for the crash!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Private Variables &amp; Name Mangling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182880" y="804600"/>
            <a:ext cx="457056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Text 6"/>
          <p:cNvSpPr/>
          <p:nvPr/>
        </p:nvSpPr>
        <p:spPr>
          <a:xfrm>
            <a:off x="320040" y="896040"/>
            <a:ext cx="4296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DejaVu Sans"/>
              </a:rPr>
              <a:t>SOLUTION 1: Private Variables (__ prefix)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320040" y="1261800"/>
            <a:ext cx="4296240" cy="123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8"/>
          <p:cNvSpPr/>
          <p:nvPr/>
        </p:nvSpPr>
        <p:spPr>
          <a:xfrm>
            <a:off x="429840" y="1316880"/>
            <a:ext cx="4113360" cy="11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class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self.__secret_pin = ''  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self.__account_balance = 0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From outside: obj.__account_balance → NOT visible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4937760" y="804600"/>
            <a:ext cx="402192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10"/>
          <p:cNvSpPr/>
          <p:nvPr/>
        </p:nvSpPr>
        <p:spPr>
          <a:xfrm>
            <a:off x="5074920" y="89604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NAME MANGLING — Python's Trick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074920" y="1261800"/>
            <a:ext cx="3747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Python renames self.__account_balance internally to _BankMachine__account_balance in memory.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5074920" y="1801440"/>
            <a:ext cx="3747600" cy="50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3"/>
          <p:cNvSpPr/>
          <p:nvPr/>
        </p:nvSpPr>
        <p:spPr>
          <a:xfrm>
            <a:off x="5184720" y="1856160"/>
            <a:ext cx="356472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self.__balance  →  _BankMachine__balance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Shape 14"/>
          <p:cNvSpPr/>
          <p:nvPr/>
        </p:nvSpPr>
        <p:spPr>
          <a:xfrm>
            <a:off x="182880" y="2816280"/>
            <a:ext cx="4113360" cy="2010240"/>
          </a:xfrm>
          <a:prstGeom prst="rect">
            <a:avLst/>
          </a:prstGeom>
          <a:solidFill>
            <a:srgbClr val="200a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15"/>
          <p:cNvSpPr/>
          <p:nvPr/>
        </p:nvSpPr>
        <p:spPr>
          <a:xfrm>
            <a:off x="182880" y="2816280"/>
            <a:ext cx="411336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6"/>
          <p:cNvSpPr/>
          <p:nvPr/>
        </p:nvSpPr>
        <p:spPr>
          <a:xfrm>
            <a:off x="320040" y="2907720"/>
            <a:ext cx="3839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LOOPHOLE — The Villain Strikes Back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320040" y="3264480"/>
            <a:ext cx="3839040" cy="118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8"/>
          <p:cNvSpPr/>
          <p:nvPr/>
        </p:nvSpPr>
        <p:spPr>
          <a:xfrm>
            <a:off x="429840" y="3319200"/>
            <a:ext cx="365616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discovers name mangling and uses it: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machine._BankMachine__account_balance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This DOES change the real private variable!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withdraw() will crash again!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4480560" y="2816280"/>
            <a:ext cx="4479120" cy="2010240"/>
          </a:xfrm>
          <a:prstGeom prst="rect">
            <a:avLst/>
          </a:prstGeom>
          <a:solidFill>
            <a:srgbClr val="0c1a2a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9" name="Shape 20"/>
          <p:cNvSpPr/>
          <p:nvPr/>
        </p:nvSpPr>
        <p:spPr>
          <a:xfrm>
            <a:off x="4480560" y="2816280"/>
            <a:ext cx="447912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1"/>
          <p:cNvSpPr/>
          <p:nvPr/>
        </p:nvSpPr>
        <p:spPr>
          <a:xfrm>
            <a:off x="4617720" y="2907720"/>
            <a:ext cx="42048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Python's Philosophy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4617720" y="3264480"/>
            <a:ext cx="4296240" cy="14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Python is a language built for adults. Nothing is truly private. Double underscore is a Gentleman's Agreement — it signals that a variable is private and should not be accessed externally.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Unlike Java (where private is enforced), Python trusts developers to follow convention. If someone intentionally bypasses it — that is a team culture problem, not Python's responsibility.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Getters &amp; Setters (The Real Solution)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Shape 5"/>
          <p:cNvSpPr/>
          <p:nvPr/>
        </p:nvSpPr>
        <p:spPr>
          <a:xfrm>
            <a:off x="182880" y="804600"/>
            <a:ext cx="5210640" cy="40676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6"/>
          <p:cNvSpPr/>
          <p:nvPr/>
        </p:nvSpPr>
        <p:spPr>
          <a:xfrm>
            <a:off x="182880" y="804600"/>
            <a:ext cx="521064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7"/>
          <p:cNvSpPr/>
          <p:nvPr/>
        </p:nvSpPr>
        <p:spPr>
          <a:xfrm>
            <a:off x="292680" y="85968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8"/>
          <p:cNvSpPr/>
          <p:nvPr/>
        </p:nvSpPr>
        <p:spPr>
          <a:xfrm>
            <a:off x="475560" y="85968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9"/>
          <p:cNvSpPr/>
          <p:nvPr/>
        </p:nvSpPr>
        <p:spPr>
          <a:xfrm>
            <a:off x="658440" y="85968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0"/>
          <p:cNvSpPr/>
          <p:nvPr/>
        </p:nvSpPr>
        <p:spPr>
          <a:xfrm>
            <a:off x="182880" y="822960"/>
            <a:ext cx="5164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bank_machine_v2.py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3" name="Text 11"/>
          <p:cNvSpPr/>
          <p:nvPr/>
        </p:nvSpPr>
        <p:spPr>
          <a:xfrm>
            <a:off x="292680" y="1097280"/>
            <a:ext cx="5027760" cy="37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GETTER — read-only access to balance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SETTER — write access WITH validation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('Invalid! Balance must be an integer.')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Usage ---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 = BankMachine()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1500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)         # OK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(m.retrieve_balance())    # Output: 1500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'hehe'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)     # Rejected!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(m.retrieve_balance())    # Still: 1500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4" name="Shape 12"/>
          <p:cNvSpPr/>
          <p:nvPr/>
        </p:nvSpPr>
        <p:spPr>
          <a:xfrm>
            <a:off x="5577840" y="804600"/>
            <a:ext cx="3381840" cy="1827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Text 13"/>
          <p:cNvSpPr/>
          <p:nvPr/>
        </p:nvSpPr>
        <p:spPr>
          <a:xfrm>
            <a:off x="5715000" y="896040"/>
            <a:ext cx="3107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1" strike="noStrike">
                <a:solidFill>
                  <a:srgbClr val="34d399"/>
                </a:solidFill>
                <a:latin typeface="Calibri"/>
                <a:ea typeface="DejaVu Sans"/>
              </a:rPr>
              <a:t>GETTER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14"/>
          <p:cNvSpPr/>
          <p:nvPr/>
        </p:nvSpPr>
        <p:spPr>
          <a:xfrm>
            <a:off x="5715000" y="1207080"/>
            <a:ext cx="310752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Returns the value of a private variable. Gives READ-ONLY access from outside the class. No modification possible through a getter.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5577840" y="2743200"/>
            <a:ext cx="338184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 16"/>
          <p:cNvSpPr/>
          <p:nvPr/>
        </p:nvSpPr>
        <p:spPr>
          <a:xfrm>
            <a:off x="5715000" y="2834640"/>
            <a:ext cx="3107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1" strike="noStrike">
                <a:solidFill>
                  <a:srgbClr val="f59e0b"/>
                </a:solidFill>
                <a:latin typeface="Calibri"/>
                <a:ea typeface="DejaVu Sans"/>
              </a:rPr>
              <a:t>SETTER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5715000" y="3154680"/>
            <a:ext cx="310752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Allows changing a private variable's value — but only AFTER passing validation. You control exactly what values are acceptable. Invalid data is silently rejected.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 – The Complete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3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182880" y="804600"/>
            <a:ext cx="8776800" cy="1324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Text 6"/>
          <p:cNvSpPr/>
          <p:nvPr/>
        </p:nvSpPr>
        <p:spPr>
          <a:xfrm>
            <a:off x="320040" y="896040"/>
            <a:ext cx="8411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0" strike="noStrike">
                <a:solidFill>
                  <a:srgbClr val="38bdf8"/>
                </a:solidFill>
                <a:latin typeface="Calibri"/>
                <a:ea typeface="DejaVu Sans"/>
              </a:rPr>
              <a:t>THE CAPSULE ANALOGY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365760" y="1207080"/>
            <a:ext cx="1415880" cy="684360"/>
          </a:xfrm>
          <a:prstGeom prst="rect">
            <a:avLst/>
          </a:prstGeom>
          <a:solidFill>
            <a:srgbClr val="0d1117"/>
          </a:solidFill>
          <a:ln w="1905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8"/>
          <p:cNvSpPr/>
          <p:nvPr/>
        </p:nvSpPr>
        <p:spPr>
          <a:xfrm>
            <a:off x="411480" y="1207080"/>
            <a:ext cx="1324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  <a:ea typeface="DejaVu Sans"/>
              </a:rPr>
              <a:t>Private Attribute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  <a:ea typeface="DejaVu Sans"/>
              </a:rPr>
              <a:t>__account_balance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1828800" y="1261800"/>
            <a:ext cx="181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1965960" y="1207080"/>
            <a:ext cx="2055960" cy="68436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1"/>
          <p:cNvSpPr/>
          <p:nvPr/>
        </p:nvSpPr>
        <p:spPr>
          <a:xfrm>
            <a:off x="2011680" y="1207080"/>
            <a:ext cx="19645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Getter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DejaVu Sans"/>
              </a:rPr>
              <a:t>retrieve_balance()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4069080" y="1261800"/>
            <a:ext cx="181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3" name="Shape 13"/>
          <p:cNvSpPr/>
          <p:nvPr/>
        </p:nvSpPr>
        <p:spPr>
          <a:xfrm>
            <a:off x="4206240" y="1207080"/>
            <a:ext cx="2055960" cy="68436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4"/>
          <p:cNvSpPr/>
          <p:nvPr/>
        </p:nvSpPr>
        <p:spPr>
          <a:xfrm>
            <a:off x="4251960" y="1207080"/>
            <a:ext cx="19645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DejaVu Sans"/>
              </a:rPr>
              <a:t>Setter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DejaVu Sans"/>
              </a:rPr>
              <a:t>assign_balance()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6309360" y="1261800"/>
            <a:ext cx="181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=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6446520" y="1207080"/>
            <a:ext cx="2467440" cy="68436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7"/>
          <p:cNvSpPr/>
          <p:nvPr/>
        </p:nvSpPr>
        <p:spPr>
          <a:xfrm>
            <a:off x="6492240" y="1207080"/>
            <a:ext cx="23760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  <a:ea typeface="DejaVu Sans"/>
              </a:rPr>
              <a:t>ONE CAPSULE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  <a:ea typeface="DejaVu Sans"/>
              </a:rPr>
              <a:t>(Encapsulation)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182880" y="2249280"/>
            <a:ext cx="8776800" cy="123300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19"/>
          <p:cNvSpPr/>
          <p:nvPr/>
        </p:nvSpPr>
        <p:spPr>
          <a:xfrm>
            <a:off x="182880" y="2249280"/>
            <a:ext cx="53280" cy="123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0"/>
          <p:cNvSpPr/>
          <p:nvPr/>
        </p:nvSpPr>
        <p:spPr>
          <a:xfrm>
            <a:off x="365760" y="234072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38bdf8"/>
                </a:solidFill>
                <a:latin typeface="Calibri"/>
                <a:ea typeface="DejaVu Sans"/>
              </a:rPr>
              <a:t>DEFINITION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365760" y="2633400"/>
            <a:ext cx="84110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Encapsulation = hiding internal data (making variables private) + providing controlled access through getter and setter methods. It prevents external code from accidentally or intentionally corrupting the internal state of an object.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2" name="Shape 22"/>
          <p:cNvSpPr/>
          <p:nvPr/>
        </p:nvSpPr>
        <p:spPr>
          <a:xfrm>
            <a:off x="182880" y="3584520"/>
            <a:ext cx="2101680" cy="1324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23"/>
          <p:cNvSpPr/>
          <p:nvPr/>
        </p:nvSpPr>
        <p:spPr>
          <a:xfrm>
            <a:off x="274320" y="3675960"/>
            <a:ext cx="382680" cy="382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24"/>
          <p:cNvSpPr/>
          <p:nvPr/>
        </p:nvSpPr>
        <p:spPr>
          <a:xfrm>
            <a:off x="274320" y="36759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5" name="Text 25"/>
          <p:cNvSpPr/>
          <p:nvPr/>
        </p:nvSpPr>
        <p:spPr>
          <a:xfrm>
            <a:off x="749880" y="3675960"/>
            <a:ext cx="14158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Make ALL class attributes private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Text 26"/>
          <p:cNvSpPr/>
          <p:nvPr/>
        </p:nvSpPr>
        <p:spPr>
          <a:xfrm>
            <a:off x="274320" y="4133160"/>
            <a:ext cx="1918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Always use __ prefix on instance variables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Shape 27"/>
          <p:cNvSpPr/>
          <p:nvPr/>
        </p:nvSpPr>
        <p:spPr>
          <a:xfrm>
            <a:off x="2377440" y="3584520"/>
            <a:ext cx="2101680" cy="1324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8" name="Shape 28"/>
          <p:cNvSpPr/>
          <p:nvPr/>
        </p:nvSpPr>
        <p:spPr>
          <a:xfrm>
            <a:off x="2468880" y="3675960"/>
            <a:ext cx="382680" cy="382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29"/>
          <p:cNvSpPr/>
          <p:nvPr/>
        </p:nvSpPr>
        <p:spPr>
          <a:xfrm>
            <a:off x="2468880" y="36759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2944440" y="3675960"/>
            <a:ext cx="14158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Create getters for read access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Text 31"/>
          <p:cNvSpPr/>
          <p:nvPr/>
        </p:nvSpPr>
        <p:spPr>
          <a:xfrm>
            <a:off x="2468880" y="4133160"/>
            <a:ext cx="1918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Only expose attributes that external code genuinely needs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4572000" y="3584520"/>
            <a:ext cx="2101680" cy="1324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33"/>
          <p:cNvSpPr/>
          <p:nvPr/>
        </p:nvSpPr>
        <p:spPr>
          <a:xfrm>
            <a:off x="4663440" y="3675960"/>
            <a:ext cx="382680" cy="382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34"/>
          <p:cNvSpPr/>
          <p:nvPr/>
        </p:nvSpPr>
        <p:spPr>
          <a:xfrm>
            <a:off x="4663440" y="36759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5" name="Text 35"/>
          <p:cNvSpPr/>
          <p:nvPr/>
        </p:nvSpPr>
        <p:spPr>
          <a:xfrm>
            <a:off x="5139000" y="3675960"/>
            <a:ext cx="14158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Create setters with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36"/>
          <p:cNvSpPr/>
          <p:nvPr/>
        </p:nvSpPr>
        <p:spPr>
          <a:xfrm>
            <a:off x="4663440" y="4133160"/>
            <a:ext cx="1918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Always validate type/range before assigning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7" name="Shape 37"/>
          <p:cNvSpPr/>
          <p:nvPr/>
        </p:nvSpPr>
        <p:spPr>
          <a:xfrm>
            <a:off x="6766560" y="3584520"/>
            <a:ext cx="2101680" cy="1324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Shape 38"/>
          <p:cNvSpPr/>
          <p:nvPr/>
        </p:nvSpPr>
        <p:spPr>
          <a:xfrm>
            <a:off x="6858000" y="3675960"/>
            <a:ext cx="382680" cy="382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39"/>
          <p:cNvSpPr/>
          <p:nvPr/>
        </p:nvSpPr>
        <p:spPr>
          <a:xfrm>
            <a:off x="6858000" y="36759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  <a:ea typeface="DejaVu San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0" name="Text 40"/>
          <p:cNvSpPr/>
          <p:nvPr/>
        </p:nvSpPr>
        <p:spPr>
          <a:xfrm>
            <a:off x="7333560" y="3675960"/>
            <a:ext cx="14158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Interview answer ready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Text 41"/>
          <p:cNvSpPr/>
          <p:nvPr/>
        </p:nvSpPr>
        <p:spPr>
          <a:xfrm>
            <a:off x="6858000" y="4133160"/>
            <a:ext cx="1918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Encapsulation prevents corruption of internal state by controlling external access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Part 1 – Quick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OOP S8 P2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182880" y="822960"/>
            <a:ext cx="283320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8"/>
          <p:cNvSpPr/>
          <p:nvPr/>
        </p:nvSpPr>
        <p:spPr>
          <a:xfrm>
            <a:off x="292680" y="95112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320040" y="1463040"/>
            <a:ext cx="26046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Point &amp; Line classes · Two classes interacting · Methods accepting object arguments · Smart reuse of methods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3154680" y="822960"/>
            <a:ext cx="283320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1" name="Shape 12"/>
          <p:cNvSpPr/>
          <p:nvPr/>
        </p:nvSpPr>
        <p:spPr>
          <a:xfrm>
            <a:off x="3154680" y="822960"/>
            <a:ext cx="283320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13"/>
          <p:cNvSpPr/>
          <p:nvPr/>
        </p:nvSpPr>
        <p:spPr>
          <a:xfrm>
            <a:off x="3264480" y="951120"/>
            <a:ext cx="410040" cy="4100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4"/>
          <p:cNvSpPr/>
          <p:nvPr/>
        </p:nvSpPr>
        <p:spPr>
          <a:xfrm>
            <a:off x="3264480" y="95112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3749040" y="98748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Reference Variables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3291840" y="1463040"/>
            <a:ext cx="26046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 stores memory address, not the object · Aliasing danger · id() as proof · k=p does NOT copy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6126480" y="822960"/>
            <a:ext cx="283320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Shape 18"/>
          <p:cNvSpPr/>
          <p:nvPr/>
        </p:nvSpPr>
        <p:spPr>
          <a:xfrm>
            <a:off x="6126480" y="822960"/>
            <a:ext cx="2833200" cy="5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19"/>
          <p:cNvSpPr/>
          <p:nvPr/>
        </p:nvSpPr>
        <p:spPr>
          <a:xfrm>
            <a:off x="6236280" y="951120"/>
            <a:ext cx="410040" cy="41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20"/>
          <p:cNvSpPr/>
          <p:nvPr/>
        </p:nvSpPr>
        <p:spPr>
          <a:xfrm>
            <a:off x="6236280" y="95112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6720840" y="98748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Pass by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6263640" y="1463040"/>
            <a:ext cx="26046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Objects travel by reference · id() same inside/outside function · Changes inside functions persist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2" name="Shape 23"/>
          <p:cNvSpPr/>
          <p:nvPr/>
        </p:nvSpPr>
        <p:spPr>
          <a:xfrm>
            <a:off x="182880" y="2926080"/>
            <a:ext cx="283320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3" name="Shape 24"/>
          <p:cNvSpPr/>
          <p:nvPr/>
        </p:nvSpPr>
        <p:spPr>
          <a:xfrm>
            <a:off x="182880" y="2926080"/>
            <a:ext cx="283320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25"/>
          <p:cNvSpPr/>
          <p:nvPr/>
        </p:nvSpPr>
        <p:spPr>
          <a:xfrm>
            <a:off x="292680" y="3054240"/>
            <a:ext cx="410040" cy="4100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6"/>
          <p:cNvSpPr/>
          <p:nvPr/>
        </p:nvSpPr>
        <p:spPr>
          <a:xfrm>
            <a:off x="292680" y="305424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777240" y="309060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Object Mutability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320040" y="3566160"/>
            <a:ext cx="26046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User-defined objects are mutable · id() stays same after modification · Unlike strings/integers (immutable)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3154680" y="2926080"/>
            <a:ext cx="2833200" cy="191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30"/>
          <p:cNvSpPr/>
          <p:nvPr/>
        </p:nvSpPr>
        <p:spPr>
          <a:xfrm>
            <a:off x="3154680" y="2926080"/>
            <a:ext cx="283320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31"/>
          <p:cNvSpPr/>
          <p:nvPr/>
        </p:nvSpPr>
        <p:spPr>
          <a:xfrm>
            <a:off x="3264480" y="3054240"/>
            <a:ext cx="410040" cy="410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32"/>
          <p:cNvSpPr/>
          <p:nvPr/>
        </p:nvSpPr>
        <p:spPr>
          <a:xfrm>
            <a:off x="3264480" y="305424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2" name="Text 33"/>
          <p:cNvSpPr/>
          <p:nvPr/>
        </p:nvSpPr>
        <p:spPr>
          <a:xfrm>
            <a:off x="3749040" y="3090600"/>
            <a:ext cx="2147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Encapsulation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Text 34"/>
          <p:cNvSpPr/>
          <p:nvPr/>
        </p:nvSpPr>
        <p:spPr>
          <a:xfrm>
            <a:off x="3291840" y="3566160"/>
            <a:ext cx="260460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Private vars (__ prefix) · Name mangling · Getters &amp; setters · Validation in setters · Python Gentleman's Agreement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Shape 35"/>
          <p:cNvSpPr/>
          <p:nvPr/>
        </p:nvSpPr>
        <p:spPr>
          <a:xfrm>
            <a:off x="182880" y="4663440"/>
            <a:ext cx="8776800" cy="382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36"/>
          <p:cNvSpPr/>
          <p:nvPr/>
        </p:nvSpPr>
        <p:spPr>
          <a:xfrm>
            <a:off x="182880" y="4663440"/>
            <a:ext cx="87768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  <a:ea typeface="DejaVu Sans"/>
              </a:rPr>
              <a:t>Continued in Part 2  →  Collections of Objects · Static Variables · Static Methods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2026-02-21T17:51:06Z</dcterms:created>
  <dc:creator>PptxGenJS</dc:creator>
  <dc:description/>
  <dc:language>en-IN</dc:language>
  <cp:lastModifiedBy/>
  <dcterms:modified xsi:type="dcterms:W3CDTF">2026-03-08T17:54:23Z</dcterms:modified>
  <cp:revision>7</cp:revision>
  <dc:subject>PptxGenJS Presentation</dc:subject>
  <dc:title>Python OOP –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