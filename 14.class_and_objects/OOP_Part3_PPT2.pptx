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3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5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20.xml.rels" ContentType="application/vnd.openxmlformats-package.relationships+xml"/>
  <Override PartName="/ppt/slides/_rels/slide2.xml.rels" ContentType="application/vnd.openxmlformats-package.relationships+xml"/>
  <Override PartName="/ppt/slides/_rels/slide19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22.xml.rels" ContentType="application/vnd.openxmlformats-package.relationships+xml"/>
  <Override PartName="/ppt/slides/_rels/slide23.xml.rels" ContentType="application/vnd.openxmlformats-package.relationships+xml"/>
  <Override PartName="/ppt/slides/_rels/slide14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24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IN" sz="1800" spc="-1" strike="noStrike">
                <a:solidFill>
                  <a:srgbClr val="000000"/>
                </a:solidFill>
                <a:latin typeface="Calibri"/>
              </a:rPr>
              <a:t>Click to move the slide</a:t>
            </a:r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IN" sz="2000" spc="-1" strike="noStrike">
                <a:latin typeface="Arial"/>
              </a:rPr>
              <a:t>Click to edit the notes format</a:t>
            </a:r>
            <a:endParaRPr b="0" lang="en-IN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IN" sz="1400" spc="-1" strike="noStrike">
                <a:latin typeface="Times New Roman"/>
              </a:rPr>
              <a:t>&lt;header&gt;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IN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IN" sz="1400" spc="-1" strike="noStrike">
                <a:latin typeface="Times New Roman"/>
              </a:rPr>
              <a:t>&lt;date/time&gt;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IN" sz="1400" spc="-1" strike="noStrike">
                <a:latin typeface="Times New Roman"/>
              </a:defRPr>
            </a:lvl1pPr>
          </a:lstStyle>
          <a:p>
            <a:r>
              <a:rPr b="0" lang="en-IN" sz="1400" spc="-1" strike="noStrike">
                <a:latin typeface="Times New Roman"/>
              </a:rPr>
              <a:t>&lt;footer&gt;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IN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6462D925-2A89-41E9-8A00-FBD242E50FE1}" type="slidenum">
              <a:rPr b="0" lang="en-IN" sz="1400" spc="-1" strike="noStrike">
                <a:latin typeface="Times New Roman"/>
              </a:rPr>
              <a:t>&lt;number&gt;</a:t>
            </a:fld>
            <a:endParaRPr b="0" lang="en-IN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38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952243D-7F9B-4F44-BBFD-D83C433BF592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38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D6C83F4-DA3E-4FDA-8C2F-04E07D930DF4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39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A4C9CF7-62E8-4F42-8DA6-ED7640156851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39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89D7534-F07D-4003-80F6-218F0D11ADB5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544413E-7974-4CF0-A6AC-385D4829B1C5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EA0148A-5A79-4E24-AAFA-E58AA16744BF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0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0042518-B57C-4250-BE9B-B283EC6D5DEF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06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EAF2E59-E8C4-401F-A7AE-BC9653A0A718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09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73AE2B4-1D30-48C6-B543-342872496551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12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F40CF1A-F6DD-457C-ADF1-C654F109CF62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15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676DEAC-3D99-4E85-9B30-245D22E4FD3B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18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9B6A889-7CF6-40BE-9D97-BC9E438D2F19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21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0B99D89-763D-4FB8-96F7-7AB410A9D825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24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750C1D7-ED81-4E70-8343-8AB5F8BC468E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27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6EFF2C9-2F2E-4E83-BDFD-46F60E18AD42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30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335FA99-1F2A-4A88-B271-AFF7FC97ECF6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33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4A48543-3712-4096-86B9-F3C8AE85C6B5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36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19B7438-07C7-4A85-B762-908513F8C1AA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39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78F642B-72AC-4ED2-B97D-EFA87DFD94EB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42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AE0C41B1-0D28-4EC5-B985-A922498199BC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45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08E88DC-6BE7-448C-B572-705C7F6E15F7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48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19D4E00-C44F-482C-9566-04B877C786F7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51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AD6EBD9-F300-46AB-825E-DA5F4DB760FD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54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2D72653-BEBC-4B86-84EA-DB959F30B4E7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457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A9A73F5-750D-486B-9FAF-F013AFDC19AD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IN" sz="1800" spc="-1" strike="noStrike">
                <a:solidFill>
                  <a:srgbClr val="000000"/>
                </a:solidFill>
                <a:latin typeface="Calibri"/>
              </a:rPr>
              <a:t>Click to edit the title text format</a:t>
            </a:r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4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IN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IN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0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IN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IN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IN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IN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0"/>
          <p:cNvSpPr/>
          <p:nvPr/>
        </p:nvSpPr>
        <p:spPr>
          <a:xfrm>
            <a:off x="0" y="0"/>
            <a:ext cx="9143640" cy="72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Shape 1"/>
          <p:cNvSpPr/>
          <p:nvPr/>
        </p:nvSpPr>
        <p:spPr>
          <a:xfrm>
            <a:off x="5943600" y="-457200"/>
            <a:ext cx="4571640" cy="4571640"/>
          </a:xfrm>
          <a:prstGeom prst="ellipse">
            <a:avLst/>
          </a:prstGeom>
          <a:solidFill>
            <a:srgbClr val="0f3460">
              <a:alpha val="60000"/>
            </a:srgbClr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Shape 2"/>
          <p:cNvSpPr/>
          <p:nvPr/>
        </p:nvSpPr>
        <p:spPr>
          <a:xfrm>
            <a:off x="6858000" y="457200"/>
            <a:ext cx="2742840" cy="2742840"/>
          </a:xfrm>
          <a:prstGeom prst="ellipse">
            <a:avLst/>
          </a:prstGeom>
          <a:solidFill>
            <a:srgbClr val="00b4d8">
              <a:alpha val="30000"/>
            </a:srgbClr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" name="Text 3"/>
          <p:cNvSpPr/>
          <p:nvPr/>
        </p:nvSpPr>
        <p:spPr>
          <a:xfrm>
            <a:off x="548640" y="914400"/>
            <a:ext cx="7772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90e0ef"/>
                </a:solidFill>
                <a:latin typeface="Calibri"/>
                <a:ea typeface="Calibri"/>
              </a:rPr>
              <a:t>OOP in Python — Part 3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48" name="Text 4"/>
          <p:cNvSpPr/>
          <p:nvPr/>
        </p:nvSpPr>
        <p:spPr>
          <a:xfrm>
            <a:off x="548640" y="1463040"/>
            <a:ext cx="777204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Calibri"/>
                <a:ea typeface="Calibri"/>
              </a:rPr>
              <a:t>Polymorphism</a:t>
            </a:r>
            <a:endParaRPr b="0" lang="en-IN" sz="4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Calibri"/>
                <a:ea typeface="Calibri"/>
              </a:rPr>
              <a:t>in Python</a:t>
            </a:r>
            <a:endParaRPr b="0" lang="en-IN" sz="4200" spc="-1" strike="noStrike">
              <a:latin typeface="Arial"/>
            </a:endParaRPr>
          </a:p>
        </p:txBody>
      </p:sp>
      <p:sp>
        <p:nvSpPr>
          <p:cNvPr id="49" name="Shape 5"/>
          <p:cNvSpPr/>
          <p:nvPr/>
        </p:nvSpPr>
        <p:spPr>
          <a:xfrm>
            <a:off x="548640" y="3108960"/>
            <a:ext cx="1096920" cy="54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0" name="Text 6"/>
          <p:cNvSpPr/>
          <p:nvPr/>
        </p:nvSpPr>
        <p:spPr>
          <a:xfrm>
            <a:off x="548640" y="3291840"/>
            <a:ext cx="7314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pc="-1" strike="noStrike">
                <a:solidFill>
                  <a:srgbClr val="90e0ef"/>
                </a:solidFill>
                <a:latin typeface="Calibri"/>
                <a:ea typeface="Calibri"/>
              </a:rPr>
              <a:t>Method Overriding · Overloading · Operator Overloading — Part 2 of 2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51" name="Shape 7"/>
          <p:cNvSpPr/>
          <p:nvPr/>
        </p:nvSpPr>
        <p:spPr>
          <a:xfrm>
            <a:off x="0" y="4937760"/>
            <a:ext cx="9143640" cy="20556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" name="Text 8"/>
          <p:cNvSpPr/>
          <p:nvPr/>
        </p:nvSpPr>
        <p:spPr>
          <a:xfrm>
            <a:off x="365760" y="4956120"/>
            <a:ext cx="8229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-1" strike="noStrike">
                <a:solidFill>
                  <a:srgbClr val="90e0ef"/>
                </a:solidFill>
                <a:latin typeface="Calibri"/>
                <a:ea typeface="Calibri"/>
              </a:rPr>
              <a:t>Method Overriding · Method Overloading · Operator Overloading</a:t>
            </a:r>
            <a:endParaRPr b="0" lang="en-IN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" name="Text 1"/>
          <p:cNvSpPr/>
          <p:nvPr/>
        </p:nvSpPr>
        <p:spPr>
          <a:xfrm>
            <a:off x="365760" y="164520"/>
            <a:ext cx="8229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What is Polymorphism?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55" name="Shape 2"/>
          <p:cNvSpPr/>
          <p:nvPr/>
        </p:nvSpPr>
        <p:spPr>
          <a:xfrm>
            <a:off x="365760" y="704160"/>
            <a:ext cx="8412120" cy="2700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6" name="Shape 3"/>
          <p:cNvSpPr/>
          <p:nvPr/>
        </p:nvSpPr>
        <p:spPr>
          <a:xfrm>
            <a:off x="365760" y="868680"/>
            <a:ext cx="8412120" cy="9140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7" name="Shape 4"/>
          <p:cNvSpPr/>
          <p:nvPr/>
        </p:nvSpPr>
        <p:spPr>
          <a:xfrm>
            <a:off x="365760" y="868680"/>
            <a:ext cx="109440" cy="9140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8" name="Text 5"/>
          <p:cNvSpPr/>
          <p:nvPr/>
        </p:nvSpPr>
        <p:spPr>
          <a:xfrm>
            <a:off x="567000" y="978480"/>
            <a:ext cx="8119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Definition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59" name="Text 6"/>
          <p:cNvSpPr/>
          <p:nvPr/>
        </p:nvSpPr>
        <p:spPr>
          <a:xfrm>
            <a:off x="567000" y="1234440"/>
            <a:ext cx="8119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Poly = Many, Morph = Forms. Polymorphism means the same entity (method/operator) can take multiple forms depending on the context.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60" name="Shape 7"/>
          <p:cNvSpPr/>
          <p:nvPr/>
        </p:nvSpPr>
        <p:spPr>
          <a:xfrm>
            <a:off x="365760" y="1965960"/>
            <a:ext cx="2651400" cy="1919880"/>
          </a:xfrm>
          <a:prstGeom prst="rect">
            <a:avLst/>
          </a:prstGeom>
          <a:solidFill>
            <a:srgbClr val="0f3460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1" name="Shape 8"/>
          <p:cNvSpPr/>
          <p:nvPr/>
        </p:nvSpPr>
        <p:spPr>
          <a:xfrm>
            <a:off x="365760" y="1965960"/>
            <a:ext cx="2651400" cy="4111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" name="Text 9"/>
          <p:cNvSpPr/>
          <p:nvPr/>
        </p:nvSpPr>
        <p:spPr>
          <a:xfrm>
            <a:off x="457200" y="2011680"/>
            <a:ext cx="24685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1a1a2e"/>
                </a:solidFill>
                <a:latin typeface="Calibri"/>
                <a:ea typeface="Calibri"/>
              </a:rPr>
              <a:t>Type 1 — Method Overriding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63" name="Text 10"/>
          <p:cNvSpPr/>
          <p:nvPr/>
        </p:nvSpPr>
        <p:spPr>
          <a:xfrm>
            <a:off x="502920" y="2487240"/>
            <a:ext cx="242280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Child class redefines parent's method</a:t>
            </a:r>
            <a:endParaRPr b="0" lang="en-IN" sz="13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→ </a:t>
            </a: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Same name, different behavior per class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64" name="Shape 11"/>
          <p:cNvSpPr/>
          <p:nvPr/>
        </p:nvSpPr>
        <p:spPr>
          <a:xfrm>
            <a:off x="3200400" y="1965960"/>
            <a:ext cx="2651400" cy="1919880"/>
          </a:xfrm>
          <a:prstGeom prst="rect">
            <a:avLst/>
          </a:prstGeom>
          <a:solidFill>
            <a:srgbClr val="0f3460"/>
          </a:solidFill>
          <a:ln w="19050">
            <a:solidFill>
              <a:srgbClr val="ffd16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5" name="Shape 12"/>
          <p:cNvSpPr/>
          <p:nvPr/>
        </p:nvSpPr>
        <p:spPr>
          <a:xfrm>
            <a:off x="3200400" y="1965960"/>
            <a:ext cx="2651400" cy="41112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6" name="Text 13"/>
          <p:cNvSpPr/>
          <p:nvPr/>
        </p:nvSpPr>
        <p:spPr>
          <a:xfrm>
            <a:off x="3291840" y="2011680"/>
            <a:ext cx="24685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1a1a2e"/>
                </a:solidFill>
                <a:latin typeface="Calibri"/>
                <a:ea typeface="Calibri"/>
              </a:rPr>
              <a:t>Type 2 — Method Overloading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67" name="Text 14"/>
          <p:cNvSpPr/>
          <p:nvPr/>
        </p:nvSpPr>
        <p:spPr>
          <a:xfrm>
            <a:off x="3337560" y="2487240"/>
            <a:ext cx="242280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Same method name, different parameters</a:t>
            </a:r>
            <a:endParaRPr b="0" lang="en-IN" sz="13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→ </a:t>
            </a: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Python simulates via default params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68" name="Shape 15"/>
          <p:cNvSpPr/>
          <p:nvPr/>
        </p:nvSpPr>
        <p:spPr>
          <a:xfrm>
            <a:off x="6035040" y="1965960"/>
            <a:ext cx="2651400" cy="1919880"/>
          </a:xfrm>
          <a:prstGeom prst="rect">
            <a:avLst/>
          </a:prstGeom>
          <a:solidFill>
            <a:srgbClr val="0f3460"/>
          </a:solidFill>
          <a:ln w="19050">
            <a:solidFill>
              <a:srgbClr val="06d6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9" name="Shape 16"/>
          <p:cNvSpPr/>
          <p:nvPr/>
        </p:nvSpPr>
        <p:spPr>
          <a:xfrm>
            <a:off x="6035040" y="1965960"/>
            <a:ext cx="2651400" cy="41112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0" name="Text 17"/>
          <p:cNvSpPr/>
          <p:nvPr/>
        </p:nvSpPr>
        <p:spPr>
          <a:xfrm>
            <a:off x="6126480" y="2011680"/>
            <a:ext cx="24685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1a1a2e"/>
                </a:solidFill>
                <a:latin typeface="Calibri"/>
                <a:ea typeface="Calibri"/>
              </a:rPr>
              <a:t>Type 3 — Operator Overloading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71" name="Text 18"/>
          <p:cNvSpPr/>
          <p:nvPr/>
        </p:nvSpPr>
        <p:spPr>
          <a:xfrm>
            <a:off x="6172200" y="2487240"/>
            <a:ext cx="242280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Same operator (+, -, *, /) behaves differently</a:t>
            </a:r>
            <a:endParaRPr b="0" lang="en-IN" sz="13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→ </a:t>
            </a: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Based on the operand type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72" name="Shape 19"/>
          <p:cNvSpPr/>
          <p:nvPr/>
        </p:nvSpPr>
        <p:spPr>
          <a:xfrm>
            <a:off x="365760" y="4023360"/>
            <a:ext cx="8412120" cy="82260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3" name="Shape 20"/>
          <p:cNvSpPr/>
          <p:nvPr/>
        </p:nvSpPr>
        <p:spPr>
          <a:xfrm>
            <a:off x="365760" y="4023360"/>
            <a:ext cx="109440" cy="822600"/>
          </a:xfrm>
          <a:prstGeom prst="rect">
            <a:avLst/>
          </a:prstGeom>
          <a:solidFill>
            <a:srgbClr val="f77f00"/>
          </a:solidFill>
          <a:ln w="12700">
            <a:solidFill>
              <a:srgbClr val="f77f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4" name="Text 21"/>
          <p:cNvSpPr/>
          <p:nvPr/>
        </p:nvSpPr>
        <p:spPr>
          <a:xfrm>
            <a:off x="567000" y="4133160"/>
            <a:ext cx="8119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77f00"/>
                </a:solidFill>
                <a:latin typeface="Calibri"/>
                <a:ea typeface="Calibri"/>
              </a:rPr>
              <a:t>Why it matters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75" name="Text 22"/>
          <p:cNvSpPr/>
          <p:nvPr/>
        </p:nvSpPr>
        <p:spPr>
          <a:xfrm>
            <a:off x="567000" y="4389120"/>
            <a:ext cx="8119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Polymorphism makes code flexible and extensible — the same interface can work with different types of objects.</a:t>
            </a:r>
            <a:endParaRPr b="0" lang="en-IN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Shape 0"/>
          <p:cNvSpPr/>
          <p:nvPr/>
        </p:nvSpPr>
        <p:spPr>
          <a:xfrm>
            <a:off x="0" y="0"/>
            <a:ext cx="228240" cy="5143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7" name="Shape 1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8" name="Text 2"/>
          <p:cNvSpPr/>
          <p:nvPr/>
        </p:nvSpPr>
        <p:spPr>
          <a:xfrm>
            <a:off x="548640" y="1097280"/>
            <a:ext cx="7772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90e0ef"/>
                </a:solidFill>
                <a:latin typeface="Calibri"/>
                <a:ea typeface="Calibri"/>
              </a:rPr>
              <a:t>Section 05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79" name="Text 3"/>
          <p:cNvSpPr/>
          <p:nvPr/>
        </p:nvSpPr>
        <p:spPr>
          <a:xfrm>
            <a:off x="548640" y="1554480"/>
            <a:ext cx="77720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ffffff"/>
                </a:solidFill>
                <a:latin typeface="Calibri"/>
                <a:ea typeface="Calibri"/>
              </a:rPr>
              <a:t>Method Overriding</a:t>
            </a:r>
            <a:endParaRPr b="0" lang="en-IN" sz="4000" spc="-1" strike="noStrike">
              <a:latin typeface="Arial"/>
            </a:endParaRPr>
          </a:p>
        </p:txBody>
      </p:sp>
      <p:sp>
        <p:nvSpPr>
          <p:cNvPr id="80" name="Text 4"/>
          <p:cNvSpPr/>
          <p:nvPr/>
        </p:nvSpPr>
        <p:spPr>
          <a:xfrm>
            <a:off x="548640" y="3017520"/>
            <a:ext cx="73148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700" spc="-1" strike="noStrike">
                <a:solidFill>
                  <a:srgbClr val="94a3b8"/>
                </a:solidFill>
                <a:latin typeface="Calibri"/>
                <a:ea typeface="Calibri"/>
              </a:rPr>
              <a:t>Type 1 of Polymorphism</a:t>
            </a:r>
            <a:endParaRPr b="0" lang="en-IN" sz="17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2" name="Text 1"/>
          <p:cNvSpPr/>
          <p:nvPr/>
        </p:nvSpPr>
        <p:spPr>
          <a:xfrm>
            <a:off x="365760" y="164520"/>
            <a:ext cx="8229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Method Overriding — Recap &amp; Deep Dive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83" name="Shape 2"/>
          <p:cNvSpPr/>
          <p:nvPr/>
        </p:nvSpPr>
        <p:spPr>
          <a:xfrm>
            <a:off x="365760" y="704160"/>
            <a:ext cx="8412120" cy="2700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4" name="Shape 3"/>
          <p:cNvSpPr/>
          <p:nvPr/>
        </p:nvSpPr>
        <p:spPr>
          <a:xfrm>
            <a:off x="365760" y="868680"/>
            <a:ext cx="8412120" cy="82260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5" name="Shape 4"/>
          <p:cNvSpPr/>
          <p:nvPr/>
        </p:nvSpPr>
        <p:spPr>
          <a:xfrm>
            <a:off x="365760" y="868680"/>
            <a:ext cx="109440" cy="8226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6" name="Text 5"/>
          <p:cNvSpPr/>
          <p:nvPr/>
        </p:nvSpPr>
        <p:spPr>
          <a:xfrm>
            <a:off x="567000" y="978480"/>
            <a:ext cx="8119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Core Concept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87" name="Text 6"/>
          <p:cNvSpPr/>
          <p:nvPr/>
        </p:nvSpPr>
        <p:spPr>
          <a:xfrm>
            <a:off x="567000" y="1234440"/>
            <a:ext cx="8119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When parent and child both define a method with the same name, calling that method on the child object executes the child's version.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88" name="Shape 7"/>
          <p:cNvSpPr/>
          <p:nvPr/>
        </p:nvSpPr>
        <p:spPr>
          <a:xfrm>
            <a:off x="365760" y="1828800"/>
            <a:ext cx="8412120" cy="2742840"/>
          </a:xfrm>
          <a:prstGeom prst="rect">
            <a:avLst/>
          </a:prstGeom>
          <a:solidFill>
            <a:srgbClr val="0d1b2a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9" name="Text 8"/>
          <p:cNvSpPr/>
          <p:nvPr/>
        </p:nvSpPr>
        <p:spPr>
          <a:xfrm>
            <a:off x="502920" y="1938600"/>
            <a:ext cx="8137800" cy="252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Vehicle: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start(self):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print("Vehicle starting...")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describe(self):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print("I am a generic vehicle")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ElectricCar(Vehicle):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start(self):                        # OVERRIDES Vehicle.start()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print("Electric car starting silently...")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describe(self):                     # OVERRIDES Vehicle.describe()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print("I am an electric vehicle — zero emissions!")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car = ElectricCar()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car.start()     # OUTPUT: Electric car starting silently...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car.describe()  # OUTPUT: I am an electric vehicle — zero emissions!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90" name="Text 9"/>
          <p:cNvSpPr/>
          <p:nvPr/>
        </p:nvSpPr>
        <p:spPr>
          <a:xfrm>
            <a:off x="365760" y="4663440"/>
            <a:ext cx="8412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ffd166"/>
                </a:solidFill>
                <a:latin typeface="Calibri"/>
                <a:ea typeface="Calibri"/>
              </a:rPr>
              <a:t>Both start() and describe() are overridden — child's version runs for both calls.</a:t>
            </a:r>
            <a:endParaRPr b="0" lang="en-IN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2" name="Text 1"/>
          <p:cNvSpPr/>
          <p:nvPr/>
        </p:nvSpPr>
        <p:spPr>
          <a:xfrm>
            <a:off x="365760" y="164520"/>
            <a:ext cx="8229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Method Overriding + super()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93" name="Shape 2"/>
          <p:cNvSpPr/>
          <p:nvPr/>
        </p:nvSpPr>
        <p:spPr>
          <a:xfrm>
            <a:off x="365760" y="704160"/>
            <a:ext cx="8412120" cy="2700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4" name="Shape 3"/>
          <p:cNvSpPr/>
          <p:nvPr/>
        </p:nvSpPr>
        <p:spPr>
          <a:xfrm>
            <a:off x="365760" y="868680"/>
            <a:ext cx="8412120" cy="82260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5" name="Shape 4"/>
          <p:cNvSpPr/>
          <p:nvPr/>
        </p:nvSpPr>
        <p:spPr>
          <a:xfrm>
            <a:off x="365760" y="868680"/>
            <a:ext cx="109440" cy="8226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" name="Text 5"/>
          <p:cNvSpPr/>
          <p:nvPr/>
        </p:nvSpPr>
        <p:spPr>
          <a:xfrm>
            <a:off x="567000" y="978480"/>
            <a:ext cx="8119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Calling Both Versions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97" name="Text 6"/>
          <p:cNvSpPr/>
          <p:nvPr/>
        </p:nvSpPr>
        <p:spPr>
          <a:xfrm>
            <a:off x="567000" y="1234440"/>
            <a:ext cx="8119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Use super().method() inside the child's overridden method to execute the parent's version as well.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98" name="Shape 7"/>
          <p:cNvSpPr/>
          <p:nvPr/>
        </p:nvSpPr>
        <p:spPr>
          <a:xfrm>
            <a:off x="365760" y="1828800"/>
            <a:ext cx="8412120" cy="2834280"/>
          </a:xfrm>
          <a:prstGeom prst="rect">
            <a:avLst/>
          </a:prstGeom>
          <a:solidFill>
            <a:srgbClr val="0d1b2a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9" name="Text 8"/>
          <p:cNvSpPr/>
          <p:nvPr/>
        </p:nvSpPr>
        <p:spPr>
          <a:xfrm>
            <a:off x="502920" y="1938600"/>
            <a:ext cx="8137800" cy="261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Vehicle: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start(self):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print("Checking fuel/battery...")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print("Ignition system initialized")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ElectricCar(Vehicle):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start(self):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super().start()             # Calls Vehicle's start() first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print("Electric motor powered on!")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print("Navigation system ready")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car = ElectricCar()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car.start()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# OUTPUT: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# Checking fuel/battery...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# Ignition system initialized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# Electric motor powered on!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# Navigation system ready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00" name="Shape 9"/>
          <p:cNvSpPr/>
          <p:nvPr/>
        </p:nvSpPr>
        <p:spPr>
          <a:xfrm>
            <a:off x="365760" y="4754880"/>
            <a:ext cx="8412120" cy="18252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1" name="Shape 10"/>
          <p:cNvSpPr/>
          <p:nvPr/>
        </p:nvSpPr>
        <p:spPr>
          <a:xfrm>
            <a:off x="365760" y="4754880"/>
            <a:ext cx="109440" cy="18252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2" name="Text 11"/>
          <p:cNvSpPr/>
          <p:nvPr/>
        </p:nvSpPr>
        <p:spPr>
          <a:xfrm>
            <a:off x="567000" y="4864680"/>
            <a:ext cx="8119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fd166"/>
                </a:solidFill>
                <a:latin typeface="Calibri"/>
                <a:ea typeface="Calibri"/>
              </a:rPr>
              <a:t>Execution Order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03" name="Text 12"/>
          <p:cNvSpPr/>
          <p:nvPr/>
        </p:nvSpPr>
        <p:spPr>
          <a:xfrm>
            <a:off x="567000" y="4846320"/>
            <a:ext cx="8119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super().start() → parent's code runs first → then child's own code continues.</a:t>
            </a:r>
            <a:endParaRPr b="0" lang="en-IN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Shape 0"/>
          <p:cNvSpPr/>
          <p:nvPr/>
        </p:nvSpPr>
        <p:spPr>
          <a:xfrm>
            <a:off x="0" y="0"/>
            <a:ext cx="228240" cy="5143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5" name="Shape 1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6" name="Text 2"/>
          <p:cNvSpPr/>
          <p:nvPr/>
        </p:nvSpPr>
        <p:spPr>
          <a:xfrm>
            <a:off x="548640" y="1097280"/>
            <a:ext cx="7772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90e0ef"/>
                </a:solidFill>
                <a:latin typeface="Calibri"/>
                <a:ea typeface="Calibri"/>
              </a:rPr>
              <a:t>Section 06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07" name="Text 3"/>
          <p:cNvSpPr/>
          <p:nvPr/>
        </p:nvSpPr>
        <p:spPr>
          <a:xfrm>
            <a:off x="548640" y="1554480"/>
            <a:ext cx="77720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ffffff"/>
                </a:solidFill>
                <a:latin typeface="Calibri"/>
                <a:ea typeface="Calibri"/>
              </a:rPr>
              <a:t>Method Overloading</a:t>
            </a:r>
            <a:endParaRPr b="0" lang="en-IN" sz="4000" spc="-1" strike="noStrike">
              <a:latin typeface="Arial"/>
            </a:endParaRPr>
          </a:p>
        </p:txBody>
      </p:sp>
      <p:sp>
        <p:nvSpPr>
          <p:cNvPr id="108" name="Text 4"/>
          <p:cNvSpPr/>
          <p:nvPr/>
        </p:nvSpPr>
        <p:spPr>
          <a:xfrm>
            <a:off x="548640" y="3017520"/>
            <a:ext cx="73148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700" spc="-1" strike="noStrike">
                <a:solidFill>
                  <a:srgbClr val="94a3b8"/>
                </a:solidFill>
                <a:latin typeface="Calibri"/>
                <a:ea typeface="Calibri"/>
              </a:rPr>
              <a:t>Type 2 of Polymorphism</a:t>
            </a:r>
            <a:endParaRPr b="0" lang="en-IN" sz="17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0" name="Text 1"/>
          <p:cNvSpPr/>
          <p:nvPr/>
        </p:nvSpPr>
        <p:spPr>
          <a:xfrm>
            <a:off x="365760" y="164520"/>
            <a:ext cx="8229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Method Overloading — Concept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111" name="Shape 2"/>
          <p:cNvSpPr/>
          <p:nvPr/>
        </p:nvSpPr>
        <p:spPr>
          <a:xfrm>
            <a:off x="365760" y="704160"/>
            <a:ext cx="8412120" cy="2700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2" name="Shape 3"/>
          <p:cNvSpPr/>
          <p:nvPr/>
        </p:nvSpPr>
        <p:spPr>
          <a:xfrm>
            <a:off x="365760" y="868680"/>
            <a:ext cx="8412120" cy="100548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13" name="Shape 4"/>
          <p:cNvSpPr/>
          <p:nvPr/>
        </p:nvSpPr>
        <p:spPr>
          <a:xfrm>
            <a:off x="365760" y="868680"/>
            <a:ext cx="109440" cy="1005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4" name="Text 5"/>
          <p:cNvSpPr/>
          <p:nvPr/>
        </p:nvSpPr>
        <p:spPr>
          <a:xfrm>
            <a:off x="567000" y="978480"/>
            <a:ext cx="8119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What is Method Overloading?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15" name="Text 6"/>
          <p:cNvSpPr/>
          <p:nvPr/>
        </p:nvSpPr>
        <p:spPr>
          <a:xfrm>
            <a:off x="567000" y="1234440"/>
            <a:ext cx="8119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Method Overloading means having multiple methods with the SAME name but DIFFERENT number or types of parameters. The correct version is called based on the arguments passed.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16" name="Shape 7"/>
          <p:cNvSpPr/>
          <p:nvPr/>
        </p:nvSpPr>
        <p:spPr>
          <a:xfrm>
            <a:off x="365760" y="2011680"/>
            <a:ext cx="4023000" cy="1645560"/>
          </a:xfrm>
          <a:prstGeom prst="rect">
            <a:avLst/>
          </a:prstGeom>
          <a:solidFill>
            <a:srgbClr val="2d1010"/>
          </a:solidFill>
          <a:ln w="19050">
            <a:solidFill>
              <a:srgbClr val="ef233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7" name="Text 8"/>
          <p:cNvSpPr/>
          <p:nvPr/>
        </p:nvSpPr>
        <p:spPr>
          <a:xfrm>
            <a:off x="548640" y="2103120"/>
            <a:ext cx="3657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ef233c"/>
                </a:solidFill>
                <a:latin typeface="Calibri"/>
                <a:ea typeface="Calibri"/>
              </a:rPr>
              <a:t>❌ </a:t>
            </a:r>
            <a:r>
              <a:rPr b="1" lang="en-US" sz="1400" spc="-1" strike="noStrike">
                <a:solidFill>
                  <a:srgbClr val="ef233c"/>
                </a:solidFill>
                <a:latin typeface="Calibri"/>
                <a:ea typeface="Calibri"/>
              </a:rPr>
              <a:t>Python's Limitation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118" name="Shape 9"/>
          <p:cNvSpPr/>
          <p:nvPr/>
        </p:nvSpPr>
        <p:spPr>
          <a:xfrm>
            <a:off x="365760" y="2487240"/>
            <a:ext cx="3931560" cy="1096920"/>
          </a:xfrm>
          <a:prstGeom prst="rect">
            <a:avLst/>
          </a:prstGeom>
          <a:solidFill>
            <a:srgbClr val="0d1b2a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9" name="Text 10"/>
          <p:cNvSpPr/>
          <p:nvPr/>
        </p:nvSpPr>
        <p:spPr>
          <a:xfrm>
            <a:off x="502920" y="2597040"/>
            <a:ext cx="3657240" cy="8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calculate(a, b):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return a + b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calculate(a, b, c):  # OVERRIDES previous!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return a + b + c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# Only the LAST definition is kept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# calculate(1, 2) → TypeError! (expects 3 args)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20" name="Shape 11"/>
          <p:cNvSpPr/>
          <p:nvPr/>
        </p:nvSpPr>
        <p:spPr>
          <a:xfrm>
            <a:off x="4663440" y="2011680"/>
            <a:ext cx="4114440" cy="1645560"/>
          </a:xfrm>
          <a:prstGeom prst="rect">
            <a:avLst/>
          </a:prstGeom>
          <a:solidFill>
            <a:srgbClr val="0d2818"/>
          </a:solidFill>
          <a:ln w="19050">
            <a:solidFill>
              <a:srgbClr val="06d6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1" name="Text 12"/>
          <p:cNvSpPr/>
          <p:nvPr/>
        </p:nvSpPr>
        <p:spPr>
          <a:xfrm>
            <a:off x="4846320" y="2103120"/>
            <a:ext cx="3748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06d6a0"/>
                </a:solidFill>
                <a:latin typeface="Calibri"/>
                <a:ea typeface="Calibri"/>
              </a:rPr>
              <a:t>✅ </a:t>
            </a:r>
            <a:r>
              <a:rPr b="1" lang="en-US" sz="1400" spc="-1" strike="noStrike">
                <a:solidFill>
                  <a:srgbClr val="06d6a0"/>
                </a:solidFill>
                <a:latin typeface="Calibri"/>
                <a:ea typeface="Calibri"/>
              </a:rPr>
              <a:t>Python Solution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122" name="Shape 13"/>
          <p:cNvSpPr/>
          <p:nvPr/>
        </p:nvSpPr>
        <p:spPr>
          <a:xfrm>
            <a:off x="4663440" y="2487240"/>
            <a:ext cx="4023000" cy="1096920"/>
          </a:xfrm>
          <a:prstGeom prst="rect">
            <a:avLst/>
          </a:prstGeom>
          <a:solidFill>
            <a:srgbClr val="0d1b2a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3" name="Text 14"/>
          <p:cNvSpPr/>
          <p:nvPr/>
        </p:nvSpPr>
        <p:spPr>
          <a:xfrm>
            <a:off x="4800600" y="2597040"/>
            <a:ext cx="3748680" cy="8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calculate(a, b, c=0):  # Default parameter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return a + b + c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calculate(1, 2)     # → 3  (c defaults to 0)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calculate(1, 2, 3)  # → 6  (c = 3)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24" name="Shape 15"/>
          <p:cNvSpPr/>
          <p:nvPr/>
        </p:nvSpPr>
        <p:spPr>
          <a:xfrm>
            <a:off x="365760" y="3794760"/>
            <a:ext cx="8412120" cy="105120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25" name="Shape 16"/>
          <p:cNvSpPr/>
          <p:nvPr/>
        </p:nvSpPr>
        <p:spPr>
          <a:xfrm>
            <a:off x="365760" y="3794760"/>
            <a:ext cx="109440" cy="1051200"/>
          </a:xfrm>
          <a:prstGeom prst="rect">
            <a:avLst/>
          </a:prstGeom>
          <a:solidFill>
            <a:srgbClr val="f77f00"/>
          </a:solidFill>
          <a:ln w="12700">
            <a:solidFill>
              <a:srgbClr val="f77f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6" name="Text 17"/>
          <p:cNvSpPr/>
          <p:nvPr/>
        </p:nvSpPr>
        <p:spPr>
          <a:xfrm>
            <a:off x="567000" y="3904560"/>
            <a:ext cx="8119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77f00"/>
                </a:solidFill>
                <a:latin typeface="Calibri"/>
                <a:ea typeface="Calibri"/>
              </a:rPr>
              <a:t>Key Insight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27" name="Text 18"/>
          <p:cNvSpPr/>
          <p:nvPr/>
        </p:nvSpPr>
        <p:spPr>
          <a:xfrm>
            <a:off x="567000" y="4160520"/>
            <a:ext cx="81194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Python does NOT natively support method overloading. If you define the same method twice, only the last definition survives. Use default parameters to simulate overloading.</a:t>
            </a:r>
            <a:endParaRPr b="0" lang="en-IN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9" name="Text 1"/>
          <p:cNvSpPr/>
          <p:nvPr/>
        </p:nvSpPr>
        <p:spPr>
          <a:xfrm>
            <a:off x="365760" y="164520"/>
            <a:ext cx="8229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Simulating Method Overloading with Default Parameters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130" name="Shape 2"/>
          <p:cNvSpPr/>
          <p:nvPr/>
        </p:nvSpPr>
        <p:spPr>
          <a:xfrm>
            <a:off x="365760" y="704160"/>
            <a:ext cx="8412120" cy="2700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1" name="Shape 3"/>
          <p:cNvSpPr/>
          <p:nvPr/>
        </p:nvSpPr>
        <p:spPr>
          <a:xfrm>
            <a:off x="365760" y="868680"/>
            <a:ext cx="8412120" cy="3200040"/>
          </a:xfrm>
          <a:prstGeom prst="rect">
            <a:avLst/>
          </a:prstGeom>
          <a:solidFill>
            <a:srgbClr val="0d1b2a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2" name="Text 4"/>
          <p:cNvSpPr/>
          <p:nvPr/>
        </p:nvSpPr>
        <p:spPr>
          <a:xfrm>
            <a:off x="502920" y="978480"/>
            <a:ext cx="8137800" cy="298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Calculator: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add(self, x, y, z=0, w=0):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"""Simulates overloading — can accept 2, 3, or 4 numbers"""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return x + y + z + w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greet(self, name, greeting="Hello"):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"""Default greeting if not provided"""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return f"{greeting}, {name}!"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calc = Calculator()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print(calc.add(5, 10))           # 15  (z=0, w=0 by default)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print(calc.add(5, 10, 15))       # 30  (w=0 by default)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print(calc.add(5, 10, 15, 20))   # 50  (all four provided)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print(calc.greet("Arjun"))           # Hello, Arjun!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print(calc.greet("Arjun", "Namaste")) # Namaste, Arjun!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33" name="Text 5"/>
          <p:cNvSpPr/>
          <p:nvPr/>
        </p:nvSpPr>
        <p:spPr>
          <a:xfrm>
            <a:off x="365760" y="4206240"/>
            <a:ext cx="8412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• </a:t>
            </a: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Default parameters make arguments optional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34" name="Text 6"/>
          <p:cNvSpPr/>
          <p:nvPr/>
        </p:nvSpPr>
        <p:spPr>
          <a:xfrm>
            <a:off x="365760" y="4498920"/>
            <a:ext cx="8412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• </a:t>
            </a: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Python keeps only the LAST definition — so simulate with one method + defaults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35" name="Text 7"/>
          <p:cNvSpPr/>
          <p:nvPr/>
        </p:nvSpPr>
        <p:spPr>
          <a:xfrm>
            <a:off x="365760" y="4791600"/>
            <a:ext cx="8412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• </a:t>
            </a: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Java/C++ support true overloading; Python does not</a:t>
            </a:r>
            <a:endParaRPr b="0" lang="en-IN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Shape 0"/>
          <p:cNvSpPr/>
          <p:nvPr/>
        </p:nvSpPr>
        <p:spPr>
          <a:xfrm>
            <a:off x="0" y="0"/>
            <a:ext cx="228240" cy="5143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7" name="Shape 1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8" name="Text 2"/>
          <p:cNvSpPr/>
          <p:nvPr/>
        </p:nvSpPr>
        <p:spPr>
          <a:xfrm>
            <a:off x="548640" y="1097280"/>
            <a:ext cx="7772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90e0ef"/>
                </a:solidFill>
                <a:latin typeface="Calibri"/>
                <a:ea typeface="Calibri"/>
              </a:rPr>
              <a:t>Section 07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39" name="Text 3"/>
          <p:cNvSpPr/>
          <p:nvPr/>
        </p:nvSpPr>
        <p:spPr>
          <a:xfrm>
            <a:off x="548640" y="1554480"/>
            <a:ext cx="77720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ffffff"/>
                </a:solidFill>
                <a:latin typeface="Calibri"/>
                <a:ea typeface="Calibri"/>
              </a:rPr>
              <a:t>Operator Overloading</a:t>
            </a:r>
            <a:endParaRPr b="0" lang="en-IN" sz="4000" spc="-1" strike="noStrike">
              <a:latin typeface="Arial"/>
            </a:endParaRPr>
          </a:p>
        </p:txBody>
      </p:sp>
      <p:sp>
        <p:nvSpPr>
          <p:cNvPr id="140" name="Text 4"/>
          <p:cNvSpPr/>
          <p:nvPr/>
        </p:nvSpPr>
        <p:spPr>
          <a:xfrm>
            <a:off x="548640" y="3017520"/>
            <a:ext cx="73148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700" spc="-1" strike="noStrike">
                <a:solidFill>
                  <a:srgbClr val="94a3b8"/>
                </a:solidFill>
                <a:latin typeface="Calibri"/>
                <a:ea typeface="Calibri"/>
              </a:rPr>
              <a:t>Type 3 of Polymorphism</a:t>
            </a:r>
            <a:endParaRPr b="0" lang="en-IN" sz="17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2" name="Text 1"/>
          <p:cNvSpPr/>
          <p:nvPr/>
        </p:nvSpPr>
        <p:spPr>
          <a:xfrm>
            <a:off x="365760" y="164520"/>
            <a:ext cx="8229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What is Operator Overloading?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143" name="Shape 2"/>
          <p:cNvSpPr/>
          <p:nvPr/>
        </p:nvSpPr>
        <p:spPr>
          <a:xfrm>
            <a:off x="365760" y="704160"/>
            <a:ext cx="8412120" cy="2700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4" name="Shape 3"/>
          <p:cNvSpPr/>
          <p:nvPr/>
        </p:nvSpPr>
        <p:spPr>
          <a:xfrm>
            <a:off x="365760" y="868680"/>
            <a:ext cx="8412120" cy="9140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45" name="Shape 4"/>
          <p:cNvSpPr/>
          <p:nvPr/>
        </p:nvSpPr>
        <p:spPr>
          <a:xfrm>
            <a:off x="365760" y="868680"/>
            <a:ext cx="109440" cy="9140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6" name="Text 5"/>
          <p:cNvSpPr/>
          <p:nvPr/>
        </p:nvSpPr>
        <p:spPr>
          <a:xfrm>
            <a:off x="567000" y="978480"/>
            <a:ext cx="8119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Definition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47" name="Text 6"/>
          <p:cNvSpPr/>
          <p:nvPr/>
        </p:nvSpPr>
        <p:spPr>
          <a:xfrm>
            <a:off x="567000" y="1234440"/>
            <a:ext cx="8119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The same operator (+, -, *, /) behaves differently based on the type of the operands. This is already built into Python for primitive types.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48" name="Shape 7"/>
          <p:cNvSpPr/>
          <p:nvPr/>
        </p:nvSpPr>
        <p:spPr>
          <a:xfrm>
            <a:off x="365760" y="1920240"/>
            <a:ext cx="2651400" cy="1371240"/>
          </a:xfrm>
          <a:prstGeom prst="rect">
            <a:avLst/>
          </a:prstGeom>
          <a:solidFill>
            <a:srgbClr val="0f3460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9" name="Text 8"/>
          <p:cNvSpPr/>
          <p:nvPr/>
        </p:nvSpPr>
        <p:spPr>
          <a:xfrm>
            <a:off x="502920" y="2011680"/>
            <a:ext cx="2377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00b4d8"/>
                </a:solidFill>
                <a:latin typeface="Courier New"/>
                <a:ea typeface="Courier New"/>
              </a:rPr>
              <a:t>3 + 5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150" name="Text 9"/>
          <p:cNvSpPr/>
          <p:nvPr/>
        </p:nvSpPr>
        <p:spPr>
          <a:xfrm>
            <a:off x="502920" y="2377440"/>
            <a:ext cx="2377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ourier New"/>
                <a:ea typeface="Courier New"/>
              </a:rPr>
              <a:t>→ </a:t>
            </a:r>
            <a:r>
              <a:rPr b="0" lang="en-US" sz="1300" spc="-1" strike="noStrike">
                <a:solidFill>
                  <a:srgbClr val="e8f4f8"/>
                </a:solidFill>
                <a:latin typeface="Courier New"/>
                <a:ea typeface="Courier New"/>
              </a:rPr>
              <a:t>8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51" name="Text 10"/>
          <p:cNvSpPr/>
          <p:nvPr/>
        </p:nvSpPr>
        <p:spPr>
          <a:xfrm>
            <a:off x="502920" y="2697480"/>
            <a:ext cx="23770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94a3b8"/>
                </a:solidFill>
                <a:latin typeface="Calibri"/>
                <a:ea typeface="Calibri"/>
              </a:rPr>
              <a:t>Number addition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52" name="Shape 11"/>
          <p:cNvSpPr/>
          <p:nvPr/>
        </p:nvSpPr>
        <p:spPr>
          <a:xfrm>
            <a:off x="3200400" y="1920240"/>
            <a:ext cx="2651400" cy="1371240"/>
          </a:xfrm>
          <a:prstGeom prst="rect">
            <a:avLst/>
          </a:prstGeom>
          <a:solidFill>
            <a:srgbClr val="0f3460"/>
          </a:solidFill>
          <a:ln w="19050">
            <a:solidFill>
              <a:srgbClr val="ffd16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3" name="Text 12"/>
          <p:cNvSpPr/>
          <p:nvPr/>
        </p:nvSpPr>
        <p:spPr>
          <a:xfrm>
            <a:off x="3337560" y="2011680"/>
            <a:ext cx="2377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d166"/>
                </a:solidFill>
                <a:latin typeface="Courier New"/>
                <a:ea typeface="Courier New"/>
              </a:rPr>
              <a:t>"Hello" + " World"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154" name="Text 13"/>
          <p:cNvSpPr/>
          <p:nvPr/>
        </p:nvSpPr>
        <p:spPr>
          <a:xfrm>
            <a:off x="3337560" y="2377440"/>
            <a:ext cx="2377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ourier New"/>
                <a:ea typeface="Courier New"/>
              </a:rPr>
              <a:t>→ </a:t>
            </a:r>
            <a:r>
              <a:rPr b="0" lang="en-US" sz="1300" spc="-1" strike="noStrike">
                <a:solidFill>
                  <a:srgbClr val="e8f4f8"/>
                </a:solidFill>
                <a:latin typeface="Courier New"/>
                <a:ea typeface="Courier New"/>
              </a:rPr>
              <a:t>"Hello World"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55" name="Text 14"/>
          <p:cNvSpPr/>
          <p:nvPr/>
        </p:nvSpPr>
        <p:spPr>
          <a:xfrm>
            <a:off x="3337560" y="2697480"/>
            <a:ext cx="23770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94a3b8"/>
                </a:solidFill>
                <a:latin typeface="Calibri"/>
                <a:ea typeface="Calibri"/>
              </a:rPr>
              <a:t>String concatenation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56" name="Shape 15"/>
          <p:cNvSpPr/>
          <p:nvPr/>
        </p:nvSpPr>
        <p:spPr>
          <a:xfrm>
            <a:off x="6035040" y="1920240"/>
            <a:ext cx="2651400" cy="1371240"/>
          </a:xfrm>
          <a:prstGeom prst="rect">
            <a:avLst/>
          </a:prstGeom>
          <a:solidFill>
            <a:srgbClr val="0f3460"/>
          </a:solidFill>
          <a:ln w="19050">
            <a:solidFill>
              <a:srgbClr val="06d6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7" name="Text 16"/>
          <p:cNvSpPr/>
          <p:nvPr/>
        </p:nvSpPr>
        <p:spPr>
          <a:xfrm>
            <a:off x="6172200" y="2011680"/>
            <a:ext cx="2377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06d6a0"/>
                </a:solidFill>
                <a:latin typeface="Courier New"/>
                <a:ea typeface="Courier New"/>
              </a:rPr>
              <a:t>[1,2] + [3,4]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158" name="Text 17"/>
          <p:cNvSpPr/>
          <p:nvPr/>
        </p:nvSpPr>
        <p:spPr>
          <a:xfrm>
            <a:off x="6172200" y="2377440"/>
            <a:ext cx="2377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ourier New"/>
                <a:ea typeface="Courier New"/>
              </a:rPr>
              <a:t>→ </a:t>
            </a:r>
            <a:r>
              <a:rPr b="0" lang="en-US" sz="1300" spc="-1" strike="noStrike">
                <a:solidFill>
                  <a:srgbClr val="e8f4f8"/>
                </a:solidFill>
                <a:latin typeface="Courier New"/>
                <a:ea typeface="Courier New"/>
              </a:rPr>
              <a:t>[1, 2, 3, 4]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59" name="Text 18"/>
          <p:cNvSpPr/>
          <p:nvPr/>
        </p:nvSpPr>
        <p:spPr>
          <a:xfrm>
            <a:off x="6172200" y="2697480"/>
            <a:ext cx="23770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94a3b8"/>
                </a:solidFill>
                <a:latin typeface="Calibri"/>
                <a:ea typeface="Calibri"/>
              </a:rPr>
              <a:t>List concatenation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60" name="Shape 19"/>
          <p:cNvSpPr/>
          <p:nvPr/>
        </p:nvSpPr>
        <p:spPr>
          <a:xfrm>
            <a:off x="365760" y="3429000"/>
            <a:ext cx="8412120" cy="82260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61" name="Shape 20"/>
          <p:cNvSpPr/>
          <p:nvPr/>
        </p:nvSpPr>
        <p:spPr>
          <a:xfrm>
            <a:off x="365760" y="3429000"/>
            <a:ext cx="109440" cy="822600"/>
          </a:xfrm>
          <a:prstGeom prst="rect">
            <a:avLst/>
          </a:prstGeom>
          <a:solidFill>
            <a:srgbClr val="f77f00"/>
          </a:solidFill>
          <a:ln w="12700">
            <a:solidFill>
              <a:srgbClr val="f77f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2" name="Text 21"/>
          <p:cNvSpPr/>
          <p:nvPr/>
        </p:nvSpPr>
        <p:spPr>
          <a:xfrm>
            <a:off x="567000" y="3538800"/>
            <a:ext cx="8119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77f00"/>
                </a:solidFill>
                <a:latin typeface="Calibri"/>
                <a:ea typeface="Calibri"/>
              </a:rPr>
              <a:t>For Custom Classes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63" name="Text 22"/>
          <p:cNvSpPr/>
          <p:nvPr/>
        </p:nvSpPr>
        <p:spPr>
          <a:xfrm>
            <a:off x="567000" y="3794760"/>
            <a:ext cx="8119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We can define how operators behave on our own custom class objects using special methods called Magic Methods (Dunder Methods).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64" name="Text 23"/>
          <p:cNvSpPr/>
          <p:nvPr/>
        </p:nvSpPr>
        <p:spPr>
          <a:xfrm>
            <a:off x="365760" y="4389120"/>
            <a:ext cx="8412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90e0ef"/>
                </a:solidFill>
                <a:latin typeface="Courier New"/>
                <a:ea typeface="Courier New"/>
              </a:rPr>
              <a:t>__add__  __sub__  __mul__  __truediv__  __str__  __repr__  and more...</a:t>
            </a:r>
            <a:endParaRPr b="0" lang="en-IN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6" name="Text 1"/>
          <p:cNvSpPr/>
          <p:nvPr/>
        </p:nvSpPr>
        <p:spPr>
          <a:xfrm>
            <a:off x="365760" y="164520"/>
            <a:ext cx="8229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Magic Methods (Dunder Methods)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167" name="Shape 2"/>
          <p:cNvSpPr/>
          <p:nvPr/>
        </p:nvSpPr>
        <p:spPr>
          <a:xfrm>
            <a:off x="365760" y="704160"/>
            <a:ext cx="8412120" cy="2700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8" name="Shape 3"/>
          <p:cNvSpPr/>
          <p:nvPr/>
        </p:nvSpPr>
        <p:spPr>
          <a:xfrm>
            <a:off x="365760" y="868680"/>
            <a:ext cx="8412120" cy="9140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69" name="Shape 4"/>
          <p:cNvSpPr/>
          <p:nvPr/>
        </p:nvSpPr>
        <p:spPr>
          <a:xfrm>
            <a:off x="365760" y="868680"/>
            <a:ext cx="109440" cy="9140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0" name="Text 5"/>
          <p:cNvSpPr/>
          <p:nvPr/>
        </p:nvSpPr>
        <p:spPr>
          <a:xfrm>
            <a:off x="567000" y="978480"/>
            <a:ext cx="8119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What are Magic Methods?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71" name="Text 6"/>
          <p:cNvSpPr/>
          <p:nvPr/>
        </p:nvSpPr>
        <p:spPr>
          <a:xfrm>
            <a:off x="567000" y="1234440"/>
            <a:ext cx="8119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Methods with double underscore prefix and suffix (e.g. __add__) that Python calls automatically when operators are used. Also called 'dunder' methods.</a:t>
            </a:r>
            <a:endParaRPr b="0" lang="en-IN" sz="1300" spc="-1" strike="noStrike">
              <a:latin typeface="Arial"/>
            </a:endParaRPr>
          </a:p>
        </p:txBody>
      </p:sp>
      <p:graphicFrame>
        <p:nvGraphicFramePr>
          <p:cNvPr id="172" name="Table 0"/>
          <p:cNvGraphicFramePr/>
          <p:nvPr/>
        </p:nvGraphicFramePr>
        <p:xfrm>
          <a:off x="365760" y="1920240"/>
          <a:ext cx="8412120" cy="283428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3474720"/>
              </a:tblGrid>
              <a:tr h="4046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en-US" sz="1300" spc="-1" strike="noStrike">
                          <a:solidFill>
                            <a:srgbClr val="00b4d8"/>
                          </a:solidFill>
                          <a:latin typeface="Calibri"/>
                          <a:ea typeface="Calibri"/>
                        </a:rPr>
                        <a:t>Operator</a:t>
                      </a:r>
                      <a:endParaRPr b="0" lang="en-IN" sz="13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en-US" sz="1300" spc="-1" strike="noStrike">
                          <a:solidFill>
                            <a:srgbClr val="00b4d8"/>
                          </a:solidFill>
                          <a:latin typeface="Calibri"/>
                          <a:ea typeface="Calibri"/>
                        </a:rPr>
                        <a:t>Magic Method</a:t>
                      </a:r>
                      <a:endParaRPr b="0" lang="en-IN" sz="13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en-US" sz="1300" spc="-1" strike="noStrike">
                          <a:solidFill>
                            <a:srgbClr val="00b4d8"/>
                          </a:solidFill>
                          <a:latin typeface="Calibri"/>
                          <a:ea typeface="Calibri"/>
                        </a:rPr>
                        <a:t>Example</a:t>
                      </a:r>
                      <a:endParaRPr b="0" lang="en-IN" sz="13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</a:tr>
              <a:tr h="4046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  </a:t>
                      </a:r>
                      <a:r>
                        <a:rPr b="0" lang="en-US" sz="13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+  (add)</a:t>
                      </a:r>
                      <a:endParaRPr b="0" lang="en-IN" sz="13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__add__(self, other)</a:t>
                      </a:r>
                      <a:endParaRPr b="0" lang="en-IN" sz="13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obj1 + obj2</a:t>
                      </a:r>
                      <a:endParaRPr b="0" lang="en-IN" sz="13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</a:tr>
              <a:tr h="4046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  </a:t>
                      </a:r>
                      <a:r>
                        <a:rPr b="0" lang="en-US" sz="13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-  (subtract)</a:t>
                      </a:r>
                      <a:endParaRPr b="0" lang="en-IN" sz="13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__sub__(self, other)</a:t>
                      </a:r>
                      <a:endParaRPr b="0" lang="en-IN" sz="13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obj1 - obj2</a:t>
                      </a:r>
                      <a:endParaRPr b="0" lang="en-IN" sz="13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</a:tr>
              <a:tr h="4046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  </a:t>
                      </a:r>
                      <a:r>
                        <a:rPr b="0" lang="en-US" sz="13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*  (multiply)</a:t>
                      </a:r>
                      <a:endParaRPr b="0" lang="en-IN" sz="13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__mul__(self, other)</a:t>
                      </a:r>
                      <a:endParaRPr b="0" lang="en-IN" sz="13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obj1 * obj2</a:t>
                      </a:r>
                      <a:endParaRPr b="0" lang="en-IN" sz="13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</a:tr>
              <a:tr h="4046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  </a:t>
                      </a:r>
                      <a:r>
                        <a:rPr b="0" lang="en-US" sz="13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/  (divide)</a:t>
                      </a:r>
                      <a:endParaRPr b="0" lang="en-IN" sz="13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__truediv__(self, other)</a:t>
                      </a:r>
                      <a:endParaRPr b="0" lang="en-IN" sz="13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obj1 / obj2</a:t>
                      </a:r>
                      <a:endParaRPr b="0" lang="en-IN" sz="13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</a:tr>
              <a:tr h="4046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  </a:t>
                      </a:r>
                      <a:r>
                        <a:rPr b="0" lang="en-US" sz="13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==  (equal)</a:t>
                      </a:r>
                      <a:endParaRPr b="0" lang="en-IN" sz="13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__eq__(self, other)</a:t>
                      </a:r>
                      <a:endParaRPr b="0" lang="en-IN" sz="13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obj1 == obj2</a:t>
                      </a:r>
                      <a:endParaRPr b="0" lang="en-IN" sz="13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</a:tr>
              <a:tr h="4064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  </a:t>
                      </a:r>
                      <a:r>
                        <a:rPr b="0" lang="en-US" sz="13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str()</a:t>
                      </a:r>
                      <a:endParaRPr b="0" lang="en-IN" sz="13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__str__(self)</a:t>
                      </a:r>
                      <a:endParaRPr b="0" lang="en-IN" sz="13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3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print(obj) or str(obj)</a:t>
                      </a:r>
                      <a:endParaRPr b="0" lang="en-IN" sz="13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4" name="Text 1"/>
          <p:cNvSpPr/>
          <p:nvPr/>
        </p:nvSpPr>
        <p:spPr>
          <a:xfrm>
            <a:off x="365760" y="164520"/>
            <a:ext cx="8229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Operator Overloading — Fraction Class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175" name="Shape 2"/>
          <p:cNvSpPr/>
          <p:nvPr/>
        </p:nvSpPr>
        <p:spPr>
          <a:xfrm>
            <a:off x="365760" y="704160"/>
            <a:ext cx="8412120" cy="2700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6" name="Shape 3"/>
          <p:cNvSpPr/>
          <p:nvPr/>
        </p:nvSpPr>
        <p:spPr>
          <a:xfrm>
            <a:off x="365760" y="868680"/>
            <a:ext cx="8412120" cy="82260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77" name="Shape 4"/>
          <p:cNvSpPr/>
          <p:nvPr/>
        </p:nvSpPr>
        <p:spPr>
          <a:xfrm>
            <a:off x="365760" y="868680"/>
            <a:ext cx="109440" cy="8226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8" name="Text 5"/>
          <p:cNvSpPr/>
          <p:nvPr/>
        </p:nvSpPr>
        <p:spPr>
          <a:xfrm>
            <a:off x="567000" y="978480"/>
            <a:ext cx="8119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Use Case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79" name="Text 6"/>
          <p:cNvSpPr/>
          <p:nvPr/>
        </p:nvSpPr>
        <p:spPr>
          <a:xfrm>
            <a:off x="567000" y="1234440"/>
            <a:ext cx="8119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We created a Fraction class (from Monday's session). Now let's make + - * / operators work naturally on Fraction objects using magic methods.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80" name="Shape 7"/>
          <p:cNvSpPr/>
          <p:nvPr/>
        </p:nvSpPr>
        <p:spPr>
          <a:xfrm>
            <a:off x="365760" y="1828800"/>
            <a:ext cx="8412120" cy="3108600"/>
          </a:xfrm>
          <a:prstGeom prst="rect">
            <a:avLst/>
          </a:prstGeom>
          <a:solidFill>
            <a:srgbClr val="0d1b2a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1" name="Text 8"/>
          <p:cNvSpPr/>
          <p:nvPr/>
        </p:nvSpPr>
        <p:spPr>
          <a:xfrm>
            <a:off x="502920" y="1938600"/>
            <a:ext cx="8137800" cy="28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Fraction: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__init__(self, numerator, denominator):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self.num = numerator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self.den = denominator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__str__(self):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return f"{self.num}/{self.den}"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__add__(self, other):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# a/b + c/d = (a*d + b*c) / (b*d)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new_num = self.num * other.den + self.den * other.num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new_den = self.den * other.den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return Fraction(new_num, new_den)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# Usage: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f1 = Fraction(1, 2)    # 1/2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f2 = Fraction(1, 3)    # 1/3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result = f1 + f2       # Calls f1.__add__(f2)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print(result)          # OUTPUT: 5/6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82" name="Text 9"/>
          <p:cNvSpPr/>
          <p:nvPr/>
        </p:nvSpPr>
        <p:spPr>
          <a:xfrm>
            <a:off x="365760" y="5029200"/>
            <a:ext cx="841212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0" bIns="90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ffd166"/>
                </a:solidFill>
                <a:latin typeface="Calibri"/>
                <a:ea typeface="Calibri"/>
              </a:rPr>
              <a:t>f1 + f2  →  Python automatically calls  f1.__add__(f2)</a:t>
            </a:r>
            <a:endParaRPr b="0" lang="en-IN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4" name="Text 1"/>
          <p:cNvSpPr/>
          <p:nvPr/>
        </p:nvSpPr>
        <p:spPr>
          <a:xfrm>
            <a:off x="365760" y="164520"/>
            <a:ext cx="8229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Fraction Class — All 4 Operators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185" name="Shape 2"/>
          <p:cNvSpPr/>
          <p:nvPr/>
        </p:nvSpPr>
        <p:spPr>
          <a:xfrm>
            <a:off x="365760" y="704160"/>
            <a:ext cx="8412120" cy="2700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6" name="Shape 3"/>
          <p:cNvSpPr/>
          <p:nvPr/>
        </p:nvSpPr>
        <p:spPr>
          <a:xfrm>
            <a:off x="365760" y="868680"/>
            <a:ext cx="8412120" cy="3931560"/>
          </a:xfrm>
          <a:prstGeom prst="rect">
            <a:avLst/>
          </a:prstGeom>
          <a:solidFill>
            <a:srgbClr val="0d1b2a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7" name="Text 4"/>
          <p:cNvSpPr/>
          <p:nvPr/>
        </p:nvSpPr>
        <p:spPr>
          <a:xfrm>
            <a:off x="502920" y="978480"/>
            <a:ext cx="8137800" cy="371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Fraction: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__init__(self, num, den):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self.num = num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self.den = den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__str__(self):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return f"{self.num}/{self.den}"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__add__(self, other):          # Handles:  f1 + f2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n = self.num * other.den + self.den * other.num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 = self.den * other.den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return Fraction(n, d)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__sub__(self, other):          # Handles:  f1 - f2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n = self.num * other.den - self.den * other.num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 = self.den * other.den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return Fraction(n, d)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__mul__(self, other):          # Handles:  f1 * f2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return Fraction(self.num * other.num, self.den * other.den)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__truediv__(self, other):      # Handles:  f1 / f2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return Fraction(self.num * other.den, self.den * other.num)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88" name="Shape 5"/>
          <p:cNvSpPr/>
          <p:nvPr/>
        </p:nvSpPr>
        <p:spPr>
          <a:xfrm>
            <a:off x="365760" y="4864680"/>
            <a:ext cx="8412120" cy="182520"/>
          </a:xfrm>
          <a:prstGeom prst="rect">
            <a:avLst/>
          </a:prstGeom>
          <a:solidFill>
            <a:srgbClr val="0d1b2a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9" name="Text 6"/>
          <p:cNvSpPr/>
          <p:nvPr/>
        </p:nvSpPr>
        <p:spPr>
          <a:xfrm>
            <a:off x="502920" y="4937760"/>
            <a:ext cx="8137800" cy="3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0" bIns="90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f1, f2 = Fraction(3, 4), Fraction(1, 2)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print(f1 + f2)   # 10/8    print(f1 - f2)   # 2/8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print(f1 * f2)   # 3/8     print(f1 / f2)   # 6/4</a:t>
            </a:r>
            <a:endParaRPr b="0" lang="en-IN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0"/>
          <p:cNvSpPr/>
          <p:nvPr/>
        </p:nvSpPr>
        <p:spPr>
          <a:xfrm>
            <a:off x="0" y="0"/>
            <a:ext cx="228240" cy="5143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1" name="Shape 1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2" name="Text 2"/>
          <p:cNvSpPr/>
          <p:nvPr/>
        </p:nvSpPr>
        <p:spPr>
          <a:xfrm>
            <a:off x="548640" y="1097280"/>
            <a:ext cx="7772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90e0ef"/>
                </a:solidFill>
                <a:latin typeface="Calibri"/>
                <a:ea typeface="Calibri"/>
              </a:rPr>
              <a:t>Section 08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93" name="Text 3"/>
          <p:cNvSpPr/>
          <p:nvPr/>
        </p:nvSpPr>
        <p:spPr>
          <a:xfrm>
            <a:off x="548640" y="1554480"/>
            <a:ext cx="77720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ffffff"/>
                </a:solidFill>
                <a:latin typeface="Calibri"/>
                <a:ea typeface="Calibri"/>
              </a:rPr>
              <a:t>Practice Questions</a:t>
            </a:r>
            <a:endParaRPr b="0" lang="en-IN" sz="4000" spc="-1" strike="noStrike">
              <a:latin typeface="Arial"/>
            </a:endParaRPr>
          </a:p>
        </p:txBody>
      </p:sp>
      <p:sp>
        <p:nvSpPr>
          <p:cNvPr id="194" name="Text 4"/>
          <p:cNvSpPr/>
          <p:nvPr/>
        </p:nvSpPr>
        <p:spPr>
          <a:xfrm>
            <a:off x="548640" y="3017520"/>
            <a:ext cx="73148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700" spc="-1" strike="noStrike">
                <a:solidFill>
                  <a:srgbClr val="94a3b8"/>
                </a:solidFill>
                <a:latin typeface="Calibri"/>
                <a:ea typeface="Calibri"/>
              </a:rPr>
              <a:t>Output Prediction Exercises</a:t>
            </a:r>
            <a:endParaRPr b="0" lang="en-IN" sz="17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6" name="Text 1"/>
          <p:cNvSpPr/>
          <p:nvPr/>
        </p:nvSpPr>
        <p:spPr>
          <a:xfrm>
            <a:off x="365760" y="164520"/>
            <a:ext cx="8229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Practice Q1 &amp; Q2 — Inheritance Constructor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197" name="Shape 2"/>
          <p:cNvSpPr/>
          <p:nvPr/>
        </p:nvSpPr>
        <p:spPr>
          <a:xfrm>
            <a:off x="365760" y="704160"/>
            <a:ext cx="8412120" cy="2700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8" name="Text 3"/>
          <p:cNvSpPr/>
          <p:nvPr/>
        </p:nvSpPr>
        <p:spPr>
          <a:xfrm>
            <a:off x="365760" y="914400"/>
            <a:ext cx="4023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d166"/>
                </a:solidFill>
                <a:latin typeface="Calibri"/>
                <a:ea typeface="Calibri"/>
              </a:rPr>
              <a:t>Q1: What is the output?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199" name="Shape 4"/>
          <p:cNvSpPr/>
          <p:nvPr/>
        </p:nvSpPr>
        <p:spPr>
          <a:xfrm>
            <a:off x="365760" y="1325880"/>
            <a:ext cx="4023000" cy="1919880"/>
          </a:xfrm>
          <a:prstGeom prst="rect">
            <a:avLst/>
          </a:prstGeom>
          <a:solidFill>
            <a:srgbClr val="0d1b2a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0" name="Text 5"/>
          <p:cNvSpPr/>
          <p:nvPr/>
        </p:nvSpPr>
        <p:spPr>
          <a:xfrm>
            <a:off x="502920" y="1435680"/>
            <a:ext cx="3748680" cy="170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Alpha: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__init__(self, x):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self.x = x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Beta(Alpha):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pass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obj = Beta(100)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print(obj.x)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01" name="Shape 6"/>
          <p:cNvSpPr/>
          <p:nvPr/>
        </p:nvSpPr>
        <p:spPr>
          <a:xfrm>
            <a:off x="365760" y="3310200"/>
            <a:ext cx="4023000" cy="411120"/>
          </a:xfrm>
          <a:prstGeom prst="rect">
            <a:avLst/>
          </a:prstGeom>
          <a:solidFill>
            <a:srgbClr val="0d2818"/>
          </a:solidFill>
          <a:ln w="12700">
            <a:solidFill>
              <a:srgbClr val="06d6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2" name="Text 7"/>
          <p:cNvSpPr/>
          <p:nvPr/>
        </p:nvSpPr>
        <p:spPr>
          <a:xfrm>
            <a:off x="502920" y="3355920"/>
            <a:ext cx="3748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6d6a0"/>
                </a:solidFill>
                <a:latin typeface="Calibri"/>
                <a:ea typeface="Calibri"/>
              </a:rPr>
              <a:t>Answer: 100 — Beta has no constructor, so Alpha's __init__ runs. obj.x = 100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03" name="Text 8"/>
          <p:cNvSpPr/>
          <p:nvPr/>
        </p:nvSpPr>
        <p:spPr>
          <a:xfrm>
            <a:off x="4663440" y="91440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d166"/>
                </a:solidFill>
                <a:latin typeface="Calibri"/>
                <a:ea typeface="Calibri"/>
              </a:rPr>
              <a:t>Q2: What is the output?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204" name="Shape 9"/>
          <p:cNvSpPr/>
          <p:nvPr/>
        </p:nvSpPr>
        <p:spPr>
          <a:xfrm>
            <a:off x="4663440" y="1325880"/>
            <a:ext cx="4114440" cy="1919880"/>
          </a:xfrm>
          <a:prstGeom prst="rect">
            <a:avLst/>
          </a:prstGeom>
          <a:solidFill>
            <a:srgbClr val="0d1b2a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5" name="Text 10"/>
          <p:cNvSpPr/>
          <p:nvPr/>
        </p:nvSpPr>
        <p:spPr>
          <a:xfrm>
            <a:off x="4800600" y="1435680"/>
            <a:ext cx="3840120" cy="170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Alpha: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__init__(self, x):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self.x = x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Beta(Alpha):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__init__(self, y):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self.y = y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obj = Beta(10)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print(obj.x)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06" name="Shape 11"/>
          <p:cNvSpPr/>
          <p:nvPr/>
        </p:nvSpPr>
        <p:spPr>
          <a:xfrm>
            <a:off x="4663440" y="3310200"/>
            <a:ext cx="4114440" cy="411120"/>
          </a:xfrm>
          <a:prstGeom prst="rect">
            <a:avLst/>
          </a:prstGeom>
          <a:solidFill>
            <a:srgbClr val="2d1010"/>
          </a:solidFill>
          <a:ln w="12700">
            <a:solidFill>
              <a:srgbClr val="ef233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7" name="Text 12"/>
          <p:cNvSpPr/>
          <p:nvPr/>
        </p:nvSpPr>
        <p:spPr>
          <a:xfrm>
            <a:off x="4800600" y="3355920"/>
            <a:ext cx="38401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ef233c"/>
                </a:solidFill>
                <a:latin typeface="Calibri"/>
                <a:ea typeface="Calibri"/>
              </a:rPr>
              <a:t>Answer: AttributeError — Beta's __init__ ran; Alpha's never called, so obj.x doesn't exist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08" name="Shape 13"/>
          <p:cNvSpPr/>
          <p:nvPr/>
        </p:nvSpPr>
        <p:spPr>
          <a:xfrm>
            <a:off x="365760" y="3840480"/>
            <a:ext cx="8412120" cy="82260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09" name="Shape 14"/>
          <p:cNvSpPr/>
          <p:nvPr/>
        </p:nvSpPr>
        <p:spPr>
          <a:xfrm>
            <a:off x="365760" y="3840480"/>
            <a:ext cx="109440" cy="8226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0" name="Text 15"/>
          <p:cNvSpPr/>
          <p:nvPr/>
        </p:nvSpPr>
        <p:spPr>
          <a:xfrm>
            <a:off x="567000" y="3950280"/>
            <a:ext cx="8119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Fix for Q2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11" name="Text 16"/>
          <p:cNvSpPr/>
          <p:nvPr/>
        </p:nvSpPr>
        <p:spPr>
          <a:xfrm>
            <a:off x="567000" y="4206240"/>
            <a:ext cx="8119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Add  super().__init__(x)  inside Beta's constructor to initialize self.x from Alpha's constructor.</a:t>
            </a:r>
            <a:endParaRPr b="0" lang="en-IN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3" name="Text 1"/>
          <p:cNvSpPr/>
          <p:nvPr/>
        </p:nvSpPr>
        <p:spPr>
          <a:xfrm>
            <a:off x="365760" y="164520"/>
            <a:ext cx="8229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Practice Q3 &amp; Q4 — Method Overriding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214" name="Shape 2"/>
          <p:cNvSpPr/>
          <p:nvPr/>
        </p:nvSpPr>
        <p:spPr>
          <a:xfrm>
            <a:off x="365760" y="704160"/>
            <a:ext cx="8412120" cy="2700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5" name="Text 3"/>
          <p:cNvSpPr/>
          <p:nvPr/>
        </p:nvSpPr>
        <p:spPr>
          <a:xfrm>
            <a:off x="365760" y="914400"/>
            <a:ext cx="4023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d166"/>
                </a:solidFill>
                <a:latin typeface="Calibri"/>
                <a:ea typeface="Calibri"/>
              </a:rPr>
              <a:t>Q3: Predict the output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216" name="Shape 4"/>
          <p:cNvSpPr/>
          <p:nvPr/>
        </p:nvSpPr>
        <p:spPr>
          <a:xfrm>
            <a:off x="365760" y="1325880"/>
            <a:ext cx="4023000" cy="2011320"/>
          </a:xfrm>
          <a:prstGeom prst="rect">
            <a:avLst/>
          </a:prstGeom>
          <a:solidFill>
            <a:srgbClr val="0d1b2a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7" name="Text 5"/>
          <p:cNvSpPr/>
          <p:nvPr/>
        </p:nvSpPr>
        <p:spPr>
          <a:xfrm>
            <a:off x="502920" y="1435680"/>
            <a:ext cx="3748680" cy="179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Shape: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area(self):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print("Calculating area of shape")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Circle(Shape):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area(self):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print("Calculating area of circle")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obj = Circle()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obj.area()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18" name="Shape 6"/>
          <p:cNvSpPr/>
          <p:nvPr/>
        </p:nvSpPr>
        <p:spPr>
          <a:xfrm>
            <a:off x="365760" y="3401640"/>
            <a:ext cx="4023000" cy="411120"/>
          </a:xfrm>
          <a:prstGeom prst="rect">
            <a:avLst/>
          </a:prstGeom>
          <a:solidFill>
            <a:srgbClr val="0d2818"/>
          </a:solidFill>
          <a:ln w="12700">
            <a:solidFill>
              <a:srgbClr val="06d6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9" name="Text 7"/>
          <p:cNvSpPr/>
          <p:nvPr/>
        </p:nvSpPr>
        <p:spPr>
          <a:xfrm>
            <a:off x="502920" y="3447360"/>
            <a:ext cx="3748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6d6a0"/>
                </a:solidFill>
                <a:latin typeface="Calibri"/>
                <a:ea typeface="Calibri"/>
              </a:rPr>
              <a:t>Answer: 'Calculating area of circle' — Child's overriding method runs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20" name="Text 8"/>
          <p:cNvSpPr/>
          <p:nvPr/>
        </p:nvSpPr>
        <p:spPr>
          <a:xfrm>
            <a:off x="4663440" y="914400"/>
            <a:ext cx="4114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d166"/>
                </a:solidFill>
                <a:latin typeface="Calibri"/>
                <a:ea typeface="Calibri"/>
              </a:rPr>
              <a:t>Q4: Predict the output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221" name="Shape 9"/>
          <p:cNvSpPr/>
          <p:nvPr/>
        </p:nvSpPr>
        <p:spPr>
          <a:xfrm>
            <a:off x="4663440" y="1325880"/>
            <a:ext cx="4114440" cy="2011320"/>
          </a:xfrm>
          <a:prstGeom prst="rect">
            <a:avLst/>
          </a:prstGeom>
          <a:solidFill>
            <a:srgbClr val="0d1b2a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2" name="Text 10"/>
          <p:cNvSpPr/>
          <p:nvPr/>
        </p:nvSpPr>
        <p:spPr>
          <a:xfrm>
            <a:off x="4800600" y="1435680"/>
            <a:ext cx="3840120" cy="179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Shape: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area(self):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print("Shape area")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Circle(Shape):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area(self):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super().area()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print("Circle area")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obj = Circle()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obj.area()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23" name="Shape 11"/>
          <p:cNvSpPr/>
          <p:nvPr/>
        </p:nvSpPr>
        <p:spPr>
          <a:xfrm>
            <a:off x="4663440" y="3401640"/>
            <a:ext cx="4114440" cy="411120"/>
          </a:xfrm>
          <a:prstGeom prst="rect">
            <a:avLst/>
          </a:prstGeom>
          <a:solidFill>
            <a:srgbClr val="0d2818"/>
          </a:solidFill>
          <a:ln w="12700">
            <a:solidFill>
              <a:srgbClr val="06d6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4" name="Text 12"/>
          <p:cNvSpPr/>
          <p:nvPr/>
        </p:nvSpPr>
        <p:spPr>
          <a:xfrm>
            <a:off x="4800600" y="3447360"/>
            <a:ext cx="38401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6d6a0"/>
                </a:solidFill>
                <a:latin typeface="Calibri"/>
                <a:ea typeface="Calibri"/>
              </a:rPr>
              <a:t>Answer: 'Shape area' then 'Circle area' — super().area() runs parent first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25" name="Shape 13"/>
          <p:cNvSpPr/>
          <p:nvPr/>
        </p:nvSpPr>
        <p:spPr>
          <a:xfrm>
            <a:off x="365760" y="3931920"/>
            <a:ext cx="8412120" cy="82260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26" name="Shape 14"/>
          <p:cNvSpPr/>
          <p:nvPr/>
        </p:nvSpPr>
        <p:spPr>
          <a:xfrm>
            <a:off x="365760" y="3931920"/>
            <a:ext cx="109440" cy="8226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7" name="Text 15"/>
          <p:cNvSpPr/>
          <p:nvPr/>
        </p:nvSpPr>
        <p:spPr>
          <a:xfrm>
            <a:off x="567000" y="4041720"/>
            <a:ext cx="8119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Key Rule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28" name="Text 16"/>
          <p:cNvSpPr/>
          <p:nvPr/>
        </p:nvSpPr>
        <p:spPr>
          <a:xfrm>
            <a:off x="567000" y="4297680"/>
            <a:ext cx="8119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With super().method() inside child's overriding method → parent runs first, then child's code continues.</a:t>
            </a:r>
            <a:endParaRPr b="0" lang="en-IN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0" name="Text 1"/>
          <p:cNvSpPr/>
          <p:nvPr/>
        </p:nvSpPr>
        <p:spPr>
          <a:xfrm>
            <a:off x="365760" y="164520"/>
            <a:ext cx="8229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Practice Q5 — The Infinite Recursion Trap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231" name="Shape 2"/>
          <p:cNvSpPr/>
          <p:nvPr/>
        </p:nvSpPr>
        <p:spPr>
          <a:xfrm>
            <a:off x="365760" y="704160"/>
            <a:ext cx="8412120" cy="2700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2" name="Shape 3"/>
          <p:cNvSpPr/>
          <p:nvPr/>
        </p:nvSpPr>
        <p:spPr>
          <a:xfrm>
            <a:off x="365760" y="868680"/>
            <a:ext cx="8412120" cy="82260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33" name="Shape 4"/>
          <p:cNvSpPr/>
          <p:nvPr/>
        </p:nvSpPr>
        <p:spPr>
          <a:xfrm>
            <a:off x="365760" y="868680"/>
            <a:ext cx="109440" cy="822600"/>
          </a:xfrm>
          <a:prstGeom prst="rect">
            <a:avLst/>
          </a:prstGeom>
          <a:solidFill>
            <a:srgbClr val="ef233c"/>
          </a:solidFill>
          <a:ln w="12700">
            <a:solidFill>
              <a:srgbClr val="ef233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4" name="Text 5"/>
          <p:cNvSpPr/>
          <p:nvPr/>
        </p:nvSpPr>
        <p:spPr>
          <a:xfrm>
            <a:off x="567000" y="978480"/>
            <a:ext cx="8119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ef233c"/>
                </a:solidFill>
                <a:latin typeface="Calibri"/>
                <a:ea typeface="Calibri"/>
              </a:rPr>
              <a:t>Danger Question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35" name="Text 6"/>
          <p:cNvSpPr/>
          <p:nvPr/>
        </p:nvSpPr>
        <p:spPr>
          <a:xfrm>
            <a:off x="567000" y="1234440"/>
            <a:ext cx="8119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This is a common interview question. Look carefully at whether self.method() or super().method() is used inside an overridden method.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36" name="Shape 7"/>
          <p:cNvSpPr/>
          <p:nvPr/>
        </p:nvSpPr>
        <p:spPr>
          <a:xfrm>
            <a:off x="365760" y="1828800"/>
            <a:ext cx="4937400" cy="2559960"/>
          </a:xfrm>
          <a:prstGeom prst="rect">
            <a:avLst/>
          </a:prstGeom>
          <a:solidFill>
            <a:srgbClr val="0d1b2a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7" name="Text 8"/>
          <p:cNvSpPr/>
          <p:nvPr/>
        </p:nvSpPr>
        <p:spPr>
          <a:xfrm>
            <a:off x="502920" y="1938600"/>
            <a:ext cx="4663080" cy="234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Alpha: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process(self):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print("Alpha processing")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Beta(Alpha):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process(self):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print("Beta processing")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self.process()    # ← What happens here?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obj = Beta()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obj.process()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38" name="Shape 9"/>
          <p:cNvSpPr/>
          <p:nvPr/>
        </p:nvSpPr>
        <p:spPr>
          <a:xfrm>
            <a:off x="5486400" y="1828800"/>
            <a:ext cx="3291480" cy="2559960"/>
          </a:xfrm>
          <a:prstGeom prst="rect">
            <a:avLst/>
          </a:prstGeom>
          <a:solidFill>
            <a:srgbClr val="2d1010"/>
          </a:solidFill>
          <a:ln w="19050">
            <a:solidFill>
              <a:srgbClr val="ef233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9" name="Text 10"/>
          <p:cNvSpPr/>
          <p:nvPr/>
        </p:nvSpPr>
        <p:spPr>
          <a:xfrm>
            <a:off x="5623560" y="1965960"/>
            <a:ext cx="30171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ef233c"/>
                </a:solidFill>
                <a:latin typeface="Calibri"/>
                <a:ea typeface="Calibri"/>
              </a:rPr>
              <a:t>What happens?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240" name="Text 11"/>
          <p:cNvSpPr/>
          <p:nvPr/>
        </p:nvSpPr>
        <p:spPr>
          <a:xfrm>
            <a:off x="5623560" y="2350080"/>
            <a:ext cx="3017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8f4f8"/>
                </a:solidFill>
                <a:latin typeface="Calibri"/>
                <a:ea typeface="Calibri"/>
              </a:rPr>
              <a:t>1. obj.process() → calls Beta.process()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41" name="Text 12"/>
          <p:cNvSpPr/>
          <p:nvPr/>
        </p:nvSpPr>
        <p:spPr>
          <a:xfrm>
            <a:off x="5623560" y="2651760"/>
            <a:ext cx="3017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8f4f8"/>
                </a:solidFill>
                <a:latin typeface="Calibri"/>
                <a:ea typeface="Calibri"/>
              </a:rPr>
              <a:t>2. Prints 'Beta processing'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42" name="Text 13"/>
          <p:cNvSpPr/>
          <p:nvPr/>
        </p:nvSpPr>
        <p:spPr>
          <a:xfrm>
            <a:off x="5623560" y="2953440"/>
            <a:ext cx="3017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8f4f8"/>
                </a:solidFill>
                <a:latin typeface="Calibri"/>
                <a:ea typeface="Calibri"/>
              </a:rPr>
              <a:t>3. self.process() → calls Beta.process() AGAIN (not Alpha!)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43" name="Text 14"/>
          <p:cNvSpPr/>
          <p:nvPr/>
        </p:nvSpPr>
        <p:spPr>
          <a:xfrm>
            <a:off x="5623560" y="3255120"/>
            <a:ext cx="3017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8f4f8"/>
                </a:solidFill>
                <a:latin typeface="Calibri"/>
                <a:ea typeface="Calibri"/>
              </a:rPr>
              <a:t>4. Prints 'Beta processing' again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44" name="Text 15"/>
          <p:cNvSpPr/>
          <p:nvPr/>
        </p:nvSpPr>
        <p:spPr>
          <a:xfrm>
            <a:off x="5623560" y="3557160"/>
            <a:ext cx="3017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8f4f8"/>
                </a:solidFill>
                <a:latin typeface="Calibri"/>
                <a:ea typeface="Calibri"/>
              </a:rPr>
              <a:t>5. self.process() → calls Beta.process() AGAIN...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45" name="Text 16"/>
          <p:cNvSpPr/>
          <p:nvPr/>
        </p:nvSpPr>
        <p:spPr>
          <a:xfrm>
            <a:off x="5623560" y="3858840"/>
            <a:ext cx="3017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f233c"/>
                </a:solidFill>
                <a:latin typeface="Calibri"/>
                <a:ea typeface="Calibri"/>
              </a:rPr>
              <a:t>6. ∞ loop → RecursionError!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46" name="Shape 17"/>
          <p:cNvSpPr/>
          <p:nvPr/>
        </p:nvSpPr>
        <p:spPr>
          <a:xfrm>
            <a:off x="365760" y="4526280"/>
            <a:ext cx="8412120" cy="411120"/>
          </a:xfrm>
          <a:prstGeom prst="rect">
            <a:avLst/>
          </a:prstGeom>
          <a:solidFill>
            <a:srgbClr val="0d2818"/>
          </a:solidFill>
          <a:ln w="12700">
            <a:solidFill>
              <a:srgbClr val="06d6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7" name="Text 18"/>
          <p:cNvSpPr/>
          <p:nvPr/>
        </p:nvSpPr>
        <p:spPr>
          <a:xfrm>
            <a:off x="502920" y="457200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06d6a0"/>
                </a:solidFill>
                <a:latin typeface="Calibri"/>
                <a:ea typeface="Calibri"/>
              </a:rPr>
              <a:t>FIX: Replace  self.process()  with  super().process()  to call Alpha's version instead of Beta's own.</a:t>
            </a:r>
            <a:endParaRPr b="0" lang="en-IN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9" name="Text 1"/>
          <p:cNvSpPr/>
          <p:nvPr/>
        </p:nvSpPr>
        <p:spPr>
          <a:xfrm>
            <a:off x="365760" y="164520"/>
            <a:ext cx="8229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Practice Q6 — Multi-Level Inheritance with super()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250" name="Shape 2"/>
          <p:cNvSpPr/>
          <p:nvPr/>
        </p:nvSpPr>
        <p:spPr>
          <a:xfrm>
            <a:off x="365760" y="704160"/>
            <a:ext cx="8412120" cy="2700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1" name="Shape 3"/>
          <p:cNvSpPr/>
          <p:nvPr/>
        </p:nvSpPr>
        <p:spPr>
          <a:xfrm>
            <a:off x="365760" y="868680"/>
            <a:ext cx="4937400" cy="3657240"/>
          </a:xfrm>
          <a:prstGeom prst="rect">
            <a:avLst/>
          </a:prstGeom>
          <a:solidFill>
            <a:srgbClr val="0d1b2a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2" name="Text 4"/>
          <p:cNvSpPr/>
          <p:nvPr/>
        </p:nvSpPr>
        <p:spPr>
          <a:xfrm>
            <a:off x="502920" y="978480"/>
            <a:ext cx="4663080" cy="343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Grandparent: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__init__(self, x):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print("Grandparent constructor")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self.x = x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Parent(Grandparent):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__init__(self, x, y):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print("Parent constructor")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super().__init__(x)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self.y = y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Child(Parent):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__init__(self, x, y, z):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print("Child constructor")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super().__init__(x, y)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self.z = z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obj = Child(1, 2, 3)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print(obj.x, obj.y, obj.z)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53" name="Shape 5"/>
          <p:cNvSpPr/>
          <p:nvPr/>
        </p:nvSpPr>
        <p:spPr>
          <a:xfrm>
            <a:off x="5486400" y="868680"/>
            <a:ext cx="3291480" cy="3657240"/>
          </a:xfrm>
          <a:prstGeom prst="rect">
            <a:avLst/>
          </a:prstGeom>
          <a:solidFill>
            <a:srgbClr val="0d1b2a"/>
          </a:solidFill>
          <a:ln w="19050">
            <a:solidFill>
              <a:srgbClr val="ffd16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4" name="Text 6"/>
          <p:cNvSpPr/>
          <p:nvPr/>
        </p:nvSpPr>
        <p:spPr>
          <a:xfrm>
            <a:off x="5623560" y="1005840"/>
            <a:ext cx="3017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d166"/>
                </a:solidFill>
                <a:latin typeface="Calibri"/>
                <a:ea typeface="Calibri"/>
              </a:rPr>
              <a:t>Execution Order: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255" name="Text 7"/>
          <p:cNvSpPr/>
          <p:nvPr/>
        </p:nvSpPr>
        <p:spPr>
          <a:xfrm>
            <a:off x="5623560" y="1417320"/>
            <a:ext cx="3017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b4d8"/>
                </a:solidFill>
                <a:latin typeface="Calibri"/>
                <a:ea typeface="Calibri"/>
              </a:rPr>
              <a:t>Child constructor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56" name="Text 8"/>
          <p:cNvSpPr/>
          <p:nvPr/>
        </p:nvSpPr>
        <p:spPr>
          <a:xfrm>
            <a:off x="5623560" y="1719000"/>
            <a:ext cx="3017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94a3b8"/>
                </a:solidFill>
                <a:latin typeface="Calibri"/>
                <a:ea typeface="Calibri"/>
              </a:rPr>
              <a:t>↓ </a:t>
            </a:r>
            <a:r>
              <a:rPr b="0" lang="en-US" sz="1200" spc="-1" strike="noStrike">
                <a:solidFill>
                  <a:srgbClr val="94a3b8"/>
                </a:solidFill>
                <a:latin typeface="Calibri"/>
                <a:ea typeface="Calibri"/>
              </a:rPr>
              <a:t>super().__init__(x,y)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57" name="Text 9"/>
          <p:cNvSpPr/>
          <p:nvPr/>
        </p:nvSpPr>
        <p:spPr>
          <a:xfrm>
            <a:off x="5623560" y="2020680"/>
            <a:ext cx="3017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b4d8"/>
                </a:solidFill>
                <a:latin typeface="Calibri"/>
                <a:ea typeface="Calibri"/>
              </a:rPr>
              <a:t>Parent constructor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58" name="Text 10"/>
          <p:cNvSpPr/>
          <p:nvPr/>
        </p:nvSpPr>
        <p:spPr>
          <a:xfrm>
            <a:off x="5623560" y="2322720"/>
            <a:ext cx="3017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94a3b8"/>
                </a:solidFill>
                <a:latin typeface="Calibri"/>
                <a:ea typeface="Calibri"/>
              </a:rPr>
              <a:t>↓ </a:t>
            </a:r>
            <a:r>
              <a:rPr b="0" lang="en-US" sz="1200" spc="-1" strike="noStrike">
                <a:solidFill>
                  <a:srgbClr val="94a3b8"/>
                </a:solidFill>
                <a:latin typeface="Calibri"/>
                <a:ea typeface="Calibri"/>
              </a:rPr>
              <a:t>super().__init__(x)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59" name="Text 11"/>
          <p:cNvSpPr/>
          <p:nvPr/>
        </p:nvSpPr>
        <p:spPr>
          <a:xfrm>
            <a:off x="5623560" y="2624400"/>
            <a:ext cx="3017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0b4d8"/>
                </a:solidFill>
                <a:latin typeface="Calibri"/>
                <a:ea typeface="Calibri"/>
              </a:rPr>
              <a:t>Grandparent constructor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60" name="Text 12"/>
          <p:cNvSpPr/>
          <p:nvPr/>
        </p:nvSpPr>
        <p:spPr>
          <a:xfrm>
            <a:off x="5623560" y="2926080"/>
            <a:ext cx="3017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6d6a0"/>
                </a:solidFill>
                <a:latin typeface="Calibri"/>
                <a:ea typeface="Calibri"/>
              </a:rPr>
              <a:t>self.x = 1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61" name="Text 13"/>
          <p:cNvSpPr/>
          <p:nvPr/>
        </p:nvSpPr>
        <p:spPr>
          <a:xfrm>
            <a:off x="5623560" y="3227760"/>
            <a:ext cx="3017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94a3b8"/>
                </a:solidFill>
                <a:latin typeface="Calibri"/>
                <a:ea typeface="Calibri"/>
              </a:rPr>
              <a:t>← </a:t>
            </a:r>
            <a:r>
              <a:rPr b="0" lang="en-US" sz="1200" spc="-1" strike="noStrike">
                <a:solidFill>
                  <a:srgbClr val="94a3b8"/>
                </a:solidFill>
                <a:latin typeface="Calibri"/>
                <a:ea typeface="Calibri"/>
              </a:rPr>
              <a:t>Returns to Parent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62" name="Text 14"/>
          <p:cNvSpPr/>
          <p:nvPr/>
        </p:nvSpPr>
        <p:spPr>
          <a:xfrm>
            <a:off x="5623560" y="3529440"/>
            <a:ext cx="3017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6d6a0"/>
                </a:solidFill>
                <a:latin typeface="Calibri"/>
                <a:ea typeface="Calibri"/>
              </a:rPr>
              <a:t>self.y = 2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63" name="Text 15"/>
          <p:cNvSpPr/>
          <p:nvPr/>
        </p:nvSpPr>
        <p:spPr>
          <a:xfrm>
            <a:off x="5623560" y="3831480"/>
            <a:ext cx="3017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94a3b8"/>
                </a:solidFill>
                <a:latin typeface="Calibri"/>
                <a:ea typeface="Calibri"/>
              </a:rPr>
              <a:t>← </a:t>
            </a:r>
            <a:r>
              <a:rPr b="0" lang="en-US" sz="1200" spc="-1" strike="noStrike">
                <a:solidFill>
                  <a:srgbClr val="94a3b8"/>
                </a:solidFill>
                <a:latin typeface="Calibri"/>
                <a:ea typeface="Calibri"/>
              </a:rPr>
              <a:t>Returns to Child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64" name="Text 16"/>
          <p:cNvSpPr/>
          <p:nvPr/>
        </p:nvSpPr>
        <p:spPr>
          <a:xfrm>
            <a:off x="5623560" y="4133160"/>
            <a:ext cx="3017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6d6a0"/>
                </a:solidFill>
                <a:latin typeface="Calibri"/>
                <a:ea typeface="Calibri"/>
              </a:rPr>
              <a:t>self.z = 3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65" name="Shape 17"/>
          <p:cNvSpPr/>
          <p:nvPr/>
        </p:nvSpPr>
        <p:spPr>
          <a:xfrm>
            <a:off x="365760" y="4663440"/>
            <a:ext cx="8412120" cy="27396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66" name="Shape 18"/>
          <p:cNvSpPr/>
          <p:nvPr/>
        </p:nvSpPr>
        <p:spPr>
          <a:xfrm>
            <a:off x="365760" y="4663440"/>
            <a:ext cx="109440" cy="27396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7" name="Text 19"/>
          <p:cNvSpPr/>
          <p:nvPr/>
        </p:nvSpPr>
        <p:spPr>
          <a:xfrm>
            <a:off x="567000" y="4773240"/>
            <a:ext cx="8119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6d6a0"/>
                </a:solidFill>
                <a:latin typeface="Calibri"/>
                <a:ea typeface="Calibri"/>
              </a:rPr>
              <a:t>Output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68" name="Text 20"/>
          <p:cNvSpPr/>
          <p:nvPr/>
        </p:nvSpPr>
        <p:spPr>
          <a:xfrm>
            <a:off x="567000" y="4846320"/>
            <a:ext cx="81194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Child constructor → Parent constructor → Grandparent constructor → 1 2 3</a:t>
            </a:r>
            <a:endParaRPr b="0" lang="en-IN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0" name="Text 1"/>
          <p:cNvSpPr/>
          <p:nvPr/>
        </p:nvSpPr>
        <p:spPr>
          <a:xfrm>
            <a:off x="365760" y="164520"/>
            <a:ext cx="8229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Practice Q7 — Multiple Inheritance &amp; MRO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271" name="Shape 2"/>
          <p:cNvSpPr/>
          <p:nvPr/>
        </p:nvSpPr>
        <p:spPr>
          <a:xfrm>
            <a:off x="365760" y="704160"/>
            <a:ext cx="8412120" cy="2700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2" name="Shape 3"/>
          <p:cNvSpPr/>
          <p:nvPr/>
        </p:nvSpPr>
        <p:spPr>
          <a:xfrm>
            <a:off x="365760" y="868680"/>
            <a:ext cx="4937400" cy="3382920"/>
          </a:xfrm>
          <a:prstGeom prst="rect">
            <a:avLst/>
          </a:prstGeom>
          <a:solidFill>
            <a:srgbClr val="0d1b2a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3" name="Text 4"/>
          <p:cNvSpPr/>
          <p:nvPr/>
        </p:nvSpPr>
        <p:spPr>
          <a:xfrm>
            <a:off x="502920" y="978480"/>
            <a:ext cx="4663080" cy="31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X: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show(self):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print("X show")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Y: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show(self):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print("Y show")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Z(X, Y):     # Z inherits from X first, then Y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pass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W(Y, X):     # W inherits from Y first, then X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pass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obj1 = Z()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obj1.show()       # Output: ?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obj2 = W()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obj2.show()       # Output: ?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74" name="Shape 5"/>
          <p:cNvSpPr/>
          <p:nvPr/>
        </p:nvSpPr>
        <p:spPr>
          <a:xfrm>
            <a:off x="5486400" y="868680"/>
            <a:ext cx="3291480" cy="3382920"/>
          </a:xfrm>
          <a:prstGeom prst="rect">
            <a:avLst/>
          </a:prstGeom>
          <a:solidFill>
            <a:srgbClr val="0d1b2a"/>
          </a:solidFill>
          <a:ln w="19050">
            <a:solidFill>
              <a:srgbClr val="f77f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5" name="Text 6"/>
          <p:cNvSpPr/>
          <p:nvPr/>
        </p:nvSpPr>
        <p:spPr>
          <a:xfrm>
            <a:off x="5623560" y="1005840"/>
            <a:ext cx="3017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77f00"/>
                </a:solidFill>
                <a:latin typeface="Calibri"/>
                <a:ea typeface="Calibri"/>
              </a:rPr>
              <a:t>Answers: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276" name="Text 7"/>
          <p:cNvSpPr/>
          <p:nvPr/>
        </p:nvSpPr>
        <p:spPr>
          <a:xfrm>
            <a:off x="5623560" y="1417320"/>
            <a:ext cx="30171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06d6a0"/>
                </a:solidFill>
                <a:latin typeface="Calibri"/>
                <a:ea typeface="Calibri"/>
              </a:rPr>
              <a:t>obj1.show() → "X show"</a:t>
            </a:r>
            <a:endParaRPr b="0" lang="en-IN" sz="13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06d6a0"/>
                </a:solidFill>
                <a:latin typeface="Calibri"/>
                <a:ea typeface="Calibri"/>
              </a:rPr>
              <a:t>Z(X, Y) → X is first → X.show() runs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77" name="Text 8"/>
          <p:cNvSpPr/>
          <p:nvPr/>
        </p:nvSpPr>
        <p:spPr>
          <a:xfrm>
            <a:off x="5623560" y="2194560"/>
            <a:ext cx="30171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06d6a0"/>
                </a:solidFill>
                <a:latin typeface="Calibri"/>
                <a:ea typeface="Calibri"/>
              </a:rPr>
              <a:t>obj2.show() → "Y show"</a:t>
            </a:r>
            <a:endParaRPr b="0" lang="en-IN" sz="13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06d6a0"/>
                </a:solidFill>
                <a:latin typeface="Calibri"/>
                <a:ea typeface="Calibri"/>
              </a:rPr>
              <a:t>W(Y, X) → Y is first → Y.show() runs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78" name="Text 9"/>
          <p:cNvSpPr/>
          <p:nvPr/>
        </p:nvSpPr>
        <p:spPr>
          <a:xfrm>
            <a:off x="5623560" y="2971800"/>
            <a:ext cx="30171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d166"/>
                </a:solidFill>
                <a:latin typeface="Calibri"/>
                <a:ea typeface="Calibri"/>
              </a:rPr>
              <a:t>MRO Rule: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d166"/>
                </a:solidFill>
                <a:latin typeface="Calibri"/>
                <a:ea typeface="Calibri"/>
              </a:rPr>
              <a:t>First-listed parent wins when both have same method.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79" name="Shape 10"/>
          <p:cNvSpPr/>
          <p:nvPr/>
        </p:nvSpPr>
        <p:spPr>
          <a:xfrm>
            <a:off x="365760" y="4389120"/>
            <a:ext cx="8412120" cy="54828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80" name="Shape 11"/>
          <p:cNvSpPr/>
          <p:nvPr/>
        </p:nvSpPr>
        <p:spPr>
          <a:xfrm>
            <a:off x="365760" y="4389120"/>
            <a:ext cx="109440" cy="5482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1" name="Text 12"/>
          <p:cNvSpPr/>
          <p:nvPr/>
        </p:nvSpPr>
        <p:spPr>
          <a:xfrm>
            <a:off x="567000" y="4498920"/>
            <a:ext cx="8119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Interview Tip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82" name="Text 13"/>
          <p:cNvSpPr/>
          <p:nvPr/>
        </p:nvSpPr>
        <p:spPr>
          <a:xfrm>
            <a:off x="567000" y="4754880"/>
            <a:ext cx="8119440" cy="9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0000" bIns="90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Always check the ORDER of parents in the class definition bracket to determine which method runs.</a:t>
            </a:r>
            <a:endParaRPr b="0" lang="en-IN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4" name="Text 1"/>
          <p:cNvSpPr/>
          <p:nvPr/>
        </p:nvSpPr>
        <p:spPr>
          <a:xfrm>
            <a:off x="365760" y="164520"/>
            <a:ext cx="8229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Practice Q8 — Operator Overloading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285" name="Shape 2"/>
          <p:cNvSpPr/>
          <p:nvPr/>
        </p:nvSpPr>
        <p:spPr>
          <a:xfrm>
            <a:off x="365760" y="704160"/>
            <a:ext cx="8412120" cy="2700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6" name="Shape 3"/>
          <p:cNvSpPr/>
          <p:nvPr/>
        </p:nvSpPr>
        <p:spPr>
          <a:xfrm>
            <a:off x="365760" y="868680"/>
            <a:ext cx="4937400" cy="3840120"/>
          </a:xfrm>
          <a:prstGeom prst="rect">
            <a:avLst/>
          </a:prstGeom>
          <a:solidFill>
            <a:srgbClr val="0d1b2a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7" name="Text 4"/>
          <p:cNvSpPr/>
          <p:nvPr/>
        </p:nvSpPr>
        <p:spPr>
          <a:xfrm>
            <a:off x="502920" y="978480"/>
            <a:ext cx="4663080" cy="362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class Vector: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__init__(self, x, y):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self.x = x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self.y = y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__str__(self):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return f"Vector({self.x}, {self.y})"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__add__(self, other):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return Vector(self.x + other.x, self.y + other.y)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def __mul__(self, scalar):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return Vector(self.x * scalar, self.y * scalar)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v1 = Vector(2, 3)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v2 = Vector(4, 1)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result1 = v1 + v2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print(result1)           # Output: ?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result2 = v1 * 3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a8ff78"/>
                </a:solidFill>
                <a:latin typeface="Courier New"/>
                <a:ea typeface="Courier New"/>
              </a:rPr>
              <a:t>print(result2)           # Output: ?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88" name="Shape 5"/>
          <p:cNvSpPr/>
          <p:nvPr/>
        </p:nvSpPr>
        <p:spPr>
          <a:xfrm>
            <a:off x="5486400" y="868680"/>
            <a:ext cx="3291480" cy="3840120"/>
          </a:xfrm>
          <a:prstGeom prst="rect">
            <a:avLst/>
          </a:prstGeom>
          <a:solidFill>
            <a:srgbClr val="0d1b2a"/>
          </a:solidFill>
          <a:ln w="1905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9" name="Text 6"/>
          <p:cNvSpPr/>
          <p:nvPr/>
        </p:nvSpPr>
        <p:spPr>
          <a:xfrm>
            <a:off x="5623560" y="1005840"/>
            <a:ext cx="3017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00b4d8"/>
                </a:solidFill>
                <a:latin typeface="Calibri"/>
                <a:ea typeface="Calibri"/>
              </a:rPr>
              <a:t>Answers: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290" name="Text 7"/>
          <p:cNvSpPr/>
          <p:nvPr/>
        </p:nvSpPr>
        <p:spPr>
          <a:xfrm>
            <a:off x="5623560" y="1417320"/>
            <a:ext cx="301716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06d6a0"/>
                </a:solidFill>
                <a:latin typeface="Calibri"/>
                <a:ea typeface="Calibri"/>
              </a:rPr>
              <a:t>v1 + v2 calls v1.__add__(v2)</a:t>
            </a:r>
            <a:endParaRPr b="0" lang="en-IN" sz="13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06d6a0"/>
                </a:solidFill>
                <a:latin typeface="Calibri"/>
                <a:ea typeface="Calibri"/>
              </a:rPr>
              <a:t>→ </a:t>
            </a:r>
            <a:r>
              <a:rPr b="0" lang="en-US" sz="1300" spc="-1" strike="noStrike">
                <a:solidFill>
                  <a:srgbClr val="06d6a0"/>
                </a:solidFill>
                <a:latin typeface="Calibri"/>
                <a:ea typeface="Calibri"/>
              </a:rPr>
              <a:t>Vector(2+4, 3+1)</a:t>
            </a:r>
            <a:endParaRPr b="0" lang="en-IN" sz="13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06d6a0"/>
                </a:solidFill>
                <a:latin typeface="Calibri"/>
                <a:ea typeface="Calibri"/>
              </a:rPr>
              <a:t>→ </a:t>
            </a:r>
            <a:r>
              <a:rPr b="0" lang="en-US" sz="1300" spc="-1" strike="noStrike">
                <a:solidFill>
                  <a:srgbClr val="06d6a0"/>
                </a:solidFill>
                <a:latin typeface="Calibri"/>
                <a:ea typeface="Calibri"/>
              </a:rPr>
              <a:t>Vector(6, 4)</a:t>
            </a:r>
            <a:endParaRPr b="0" lang="en-IN" sz="13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06d6a0"/>
                </a:solidFill>
                <a:latin typeface="Calibri"/>
                <a:ea typeface="Calibri"/>
              </a:rPr>
              <a:t>Output: Vector(6, 4)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91" name="Text 8"/>
          <p:cNvSpPr/>
          <p:nvPr/>
        </p:nvSpPr>
        <p:spPr>
          <a:xfrm>
            <a:off x="5623560" y="2697480"/>
            <a:ext cx="301716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06d6a0"/>
                </a:solidFill>
                <a:latin typeface="Calibri"/>
                <a:ea typeface="Calibri"/>
              </a:rPr>
              <a:t>v1 * 3 calls v1.__mul__(3)</a:t>
            </a:r>
            <a:endParaRPr b="0" lang="en-IN" sz="13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06d6a0"/>
                </a:solidFill>
                <a:latin typeface="Calibri"/>
                <a:ea typeface="Calibri"/>
              </a:rPr>
              <a:t>→ </a:t>
            </a:r>
            <a:r>
              <a:rPr b="0" lang="en-US" sz="1300" spc="-1" strike="noStrike">
                <a:solidFill>
                  <a:srgbClr val="06d6a0"/>
                </a:solidFill>
                <a:latin typeface="Calibri"/>
                <a:ea typeface="Calibri"/>
              </a:rPr>
              <a:t>Vector(2*3, 3*3)</a:t>
            </a:r>
            <a:endParaRPr b="0" lang="en-IN" sz="13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06d6a0"/>
                </a:solidFill>
                <a:latin typeface="Calibri"/>
                <a:ea typeface="Calibri"/>
              </a:rPr>
              <a:t>→ </a:t>
            </a:r>
            <a:r>
              <a:rPr b="0" lang="en-US" sz="1300" spc="-1" strike="noStrike">
                <a:solidFill>
                  <a:srgbClr val="06d6a0"/>
                </a:solidFill>
                <a:latin typeface="Calibri"/>
                <a:ea typeface="Calibri"/>
              </a:rPr>
              <a:t>Vector(6, 9)</a:t>
            </a:r>
            <a:endParaRPr b="0" lang="en-IN" sz="13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06d6a0"/>
                </a:solidFill>
                <a:latin typeface="Calibri"/>
                <a:ea typeface="Calibri"/>
              </a:rPr>
              <a:t>Output: Vector(6, 9)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92" name="Shape 9"/>
          <p:cNvSpPr/>
          <p:nvPr/>
        </p:nvSpPr>
        <p:spPr>
          <a:xfrm>
            <a:off x="365760" y="4827960"/>
            <a:ext cx="8412120" cy="18252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  <a:effectLst>
            <a:outerShdw algn="bl" blurRad="50760" dir="8100000" dist="25455" kx="0" ky="0" rotWithShape="0" sx="100000" sy="100000">
              <a:srgbClr val="000000">
                <a:alpha val="20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93" name="Shape 10"/>
          <p:cNvSpPr/>
          <p:nvPr/>
        </p:nvSpPr>
        <p:spPr>
          <a:xfrm>
            <a:off x="365760" y="4827960"/>
            <a:ext cx="109440" cy="18252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4" name="Text 11"/>
          <p:cNvSpPr/>
          <p:nvPr/>
        </p:nvSpPr>
        <p:spPr>
          <a:xfrm>
            <a:off x="567000" y="4937760"/>
            <a:ext cx="8119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fd166"/>
                </a:solidFill>
                <a:latin typeface="Calibri"/>
                <a:ea typeface="Calibri"/>
              </a:rPr>
              <a:t>Key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95" name="Text 12"/>
          <p:cNvSpPr/>
          <p:nvPr/>
        </p:nvSpPr>
        <p:spPr>
          <a:xfrm>
            <a:off x="567000" y="4919400"/>
            <a:ext cx="8119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8f4f8"/>
                </a:solidFill>
                <a:latin typeface="Calibri"/>
                <a:ea typeface="Calibri"/>
              </a:rPr>
              <a:t>Python maps operators to magic methods automatically. You define __add__ and + 'just works'.</a:t>
            </a:r>
            <a:endParaRPr b="0" lang="en-IN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Shape 0"/>
          <p:cNvSpPr/>
          <p:nvPr/>
        </p:nvSpPr>
        <p:spPr>
          <a:xfrm>
            <a:off x="0" y="0"/>
            <a:ext cx="228240" cy="5143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7" name="Shape 1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8" name="Text 2"/>
          <p:cNvSpPr/>
          <p:nvPr/>
        </p:nvSpPr>
        <p:spPr>
          <a:xfrm>
            <a:off x="548640" y="1097280"/>
            <a:ext cx="7772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90e0ef"/>
                </a:solidFill>
                <a:latin typeface="Calibri"/>
                <a:ea typeface="Calibri"/>
              </a:rPr>
              <a:t>Section 09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99" name="Text 3"/>
          <p:cNvSpPr/>
          <p:nvPr/>
        </p:nvSpPr>
        <p:spPr>
          <a:xfrm>
            <a:off x="548640" y="1554480"/>
            <a:ext cx="77720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ffffff"/>
                </a:solidFill>
                <a:latin typeface="Calibri"/>
                <a:ea typeface="Calibri"/>
              </a:rPr>
              <a:t>OOP Complete Summary</a:t>
            </a:r>
            <a:endParaRPr b="0" lang="en-IN" sz="4000" spc="-1" strike="noStrike">
              <a:latin typeface="Arial"/>
            </a:endParaRPr>
          </a:p>
        </p:txBody>
      </p:sp>
      <p:sp>
        <p:nvSpPr>
          <p:cNvPr id="300" name="Text 4"/>
          <p:cNvSpPr/>
          <p:nvPr/>
        </p:nvSpPr>
        <p:spPr>
          <a:xfrm>
            <a:off x="548640" y="3017520"/>
            <a:ext cx="73148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700" spc="-1" strike="noStrike">
                <a:solidFill>
                  <a:srgbClr val="94a3b8"/>
                </a:solidFill>
                <a:latin typeface="Calibri"/>
                <a:ea typeface="Calibri"/>
              </a:rPr>
              <a:t>All concepts from Part 1 &amp; Part 2</a:t>
            </a:r>
            <a:endParaRPr b="0" lang="en-IN" sz="17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2" name="Text 1"/>
          <p:cNvSpPr/>
          <p:nvPr/>
        </p:nvSpPr>
        <p:spPr>
          <a:xfrm>
            <a:off x="365760" y="164520"/>
            <a:ext cx="8229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OOP in Python — Complete Summary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303" name="Shape 2"/>
          <p:cNvSpPr/>
          <p:nvPr/>
        </p:nvSpPr>
        <p:spPr>
          <a:xfrm>
            <a:off x="365760" y="704160"/>
            <a:ext cx="8412120" cy="2700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graphicFrame>
        <p:nvGraphicFramePr>
          <p:cNvPr id="304" name="Table 0"/>
          <p:cNvGraphicFramePr/>
          <p:nvPr/>
        </p:nvGraphicFramePr>
        <p:xfrm>
          <a:off x="365760" y="914400"/>
          <a:ext cx="8412120" cy="3931560"/>
        </p:xfrm>
        <a:graphic>
          <a:graphicData uri="http://schemas.openxmlformats.org/drawingml/2006/table">
            <a:tbl>
              <a:tblPr/>
              <a:tblGrid>
                <a:gridCol w="2011680"/>
                <a:gridCol w="3931920"/>
                <a:gridCol w="2468880"/>
              </a:tblGrid>
              <a:tr h="4914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en-US" sz="1200" spc="-1" strike="noStrike">
                          <a:solidFill>
                            <a:srgbClr val="00b4d8"/>
                          </a:solidFill>
                          <a:latin typeface="Calibri"/>
                          <a:ea typeface="Calibri"/>
                        </a:rPr>
                        <a:t>Concept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en-US" sz="1200" spc="-1" strike="noStrike">
                          <a:solidFill>
                            <a:srgbClr val="00b4d8"/>
                          </a:solidFill>
                          <a:latin typeface="Calibri"/>
                          <a:ea typeface="Calibri"/>
                        </a:rPr>
                        <a:t>Key Point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en-US" sz="1200" spc="-1" strike="noStrike">
                          <a:solidFill>
                            <a:srgbClr val="00b4d8"/>
                          </a:solidFill>
                          <a:latin typeface="Calibri"/>
                          <a:ea typeface="Calibri"/>
                        </a:rPr>
                        <a:t>Keyword/Syntax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</a:tr>
              <a:tr h="4914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Aggregation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HAS-A — one class owns another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class A: has object of B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</a:tr>
              <a:tr h="4914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Inheritance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IS-A — child gets parent's data/methods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class Child(Parent):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</a:tr>
              <a:tr h="4914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super()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Call parent's constructor or methods from child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super().__init__() / super().method()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</a:tr>
              <a:tr h="4914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Method Overriding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Child redefines parent's method — child's version runs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def same_name(self):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</a:tr>
              <a:tr h="4914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Method Overloading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Simulated in Python using default parameters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def f(a, b, c=0):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</a:tr>
              <a:tr h="4914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Operator Overloading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Custom operator behavior via magic methods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__add__, __sub__, __mul__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</a:tr>
              <a:tr h="4917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MRO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Resolves multiple inheritance conflicts — first parent wins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8f4f8"/>
                          </a:solidFill>
                          <a:latin typeface="Calibri"/>
                          <a:ea typeface="Calibri"/>
                        </a:rPr>
                        <a:t>class C(A, B):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f3460"/>
                      </a:solidFill>
                    </a:lnL>
                    <a:lnR w="12240">
                      <a:solidFill>
                        <a:srgbClr val="0f3460"/>
                      </a:solidFill>
                    </a:lnR>
                    <a:lnT w="12240">
                      <a:solidFill>
                        <a:srgbClr val="0f3460"/>
                      </a:solidFill>
                    </a:lnT>
                    <a:lnB w="12240">
                      <a:solidFill>
                        <a:srgbClr val="0f3460"/>
                      </a:solidFill>
                    </a:lnB>
                    <a:solidFill>
                      <a:srgbClr val="0f3460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6" name="Text 1"/>
          <p:cNvSpPr/>
          <p:nvPr/>
        </p:nvSpPr>
        <p:spPr>
          <a:xfrm>
            <a:off x="365760" y="164520"/>
            <a:ext cx="8229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Interview Preparation Tips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307" name="Shape 2"/>
          <p:cNvSpPr/>
          <p:nvPr/>
        </p:nvSpPr>
        <p:spPr>
          <a:xfrm>
            <a:off x="365760" y="704160"/>
            <a:ext cx="8412120" cy="2700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8" name="Shape 3"/>
          <p:cNvSpPr/>
          <p:nvPr/>
        </p:nvSpPr>
        <p:spPr>
          <a:xfrm>
            <a:off x="365760" y="914400"/>
            <a:ext cx="8412120" cy="566640"/>
          </a:xfrm>
          <a:prstGeom prst="rect">
            <a:avLst/>
          </a:prstGeom>
          <a:solidFill>
            <a:srgbClr val="0f3460"/>
          </a:solidFill>
          <a:ln w="635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9" name="Shape 4"/>
          <p:cNvSpPr/>
          <p:nvPr/>
        </p:nvSpPr>
        <p:spPr>
          <a:xfrm>
            <a:off x="365760" y="914400"/>
            <a:ext cx="91080" cy="5666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0" name="Text 5"/>
          <p:cNvSpPr/>
          <p:nvPr/>
        </p:nvSpPr>
        <p:spPr>
          <a:xfrm>
            <a:off x="548640" y="951120"/>
            <a:ext cx="3931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d166"/>
                </a:solidFill>
                <a:latin typeface="Calibri"/>
                <a:ea typeface="Calibri"/>
              </a:rPr>
              <a:t>Q: What are the 4 pillars of OOP?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11" name="Text 6"/>
          <p:cNvSpPr/>
          <p:nvPr/>
        </p:nvSpPr>
        <p:spPr>
          <a:xfrm>
            <a:off x="4663440" y="951120"/>
            <a:ext cx="3931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6d6a0"/>
                </a:solidFill>
                <a:latin typeface="Calibri"/>
                <a:ea typeface="Calibri"/>
              </a:rPr>
              <a:t>A: Encapsulation, Abstraction, Inheritance, Polymorphism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12" name="Shape 7"/>
          <p:cNvSpPr/>
          <p:nvPr/>
        </p:nvSpPr>
        <p:spPr>
          <a:xfrm>
            <a:off x="365760" y="1581840"/>
            <a:ext cx="8412120" cy="566640"/>
          </a:xfrm>
          <a:prstGeom prst="rect">
            <a:avLst/>
          </a:prstGeom>
          <a:solidFill>
            <a:srgbClr val="0f3460"/>
          </a:solidFill>
          <a:ln w="635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3" name="Shape 8"/>
          <p:cNvSpPr/>
          <p:nvPr/>
        </p:nvSpPr>
        <p:spPr>
          <a:xfrm>
            <a:off x="365760" y="1581840"/>
            <a:ext cx="91080" cy="5666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4" name="Text 9"/>
          <p:cNvSpPr/>
          <p:nvPr/>
        </p:nvSpPr>
        <p:spPr>
          <a:xfrm>
            <a:off x="548640" y="1618560"/>
            <a:ext cx="3931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d166"/>
                </a:solidFill>
                <a:latin typeface="Calibri"/>
                <a:ea typeface="Calibri"/>
              </a:rPr>
              <a:t>Q: Difference between Aggregation and Inheritance?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15" name="Text 10"/>
          <p:cNvSpPr/>
          <p:nvPr/>
        </p:nvSpPr>
        <p:spPr>
          <a:xfrm>
            <a:off x="4663440" y="1618560"/>
            <a:ext cx="3931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6d6a0"/>
                </a:solidFill>
                <a:latin typeface="Calibri"/>
                <a:ea typeface="Calibri"/>
              </a:rPr>
              <a:t>A: Aggregation = HAS-A (ownership). Inheritance = IS-A (extension)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16" name="Shape 11"/>
          <p:cNvSpPr/>
          <p:nvPr/>
        </p:nvSpPr>
        <p:spPr>
          <a:xfrm>
            <a:off x="365760" y="2249280"/>
            <a:ext cx="8412120" cy="566640"/>
          </a:xfrm>
          <a:prstGeom prst="rect">
            <a:avLst/>
          </a:prstGeom>
          <a:solidFill>
            <a:srgbClr val="0f3460"/>
          </a:solidFill>
          <a:ln w="635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7" name="Shape 12"/>
          <p:cNvSpPr/>
          <p:nvPr/>
        </p:nvSpPr>
        <p:spPr>
          <a:xfrm>
            <a:off x="365760" y="2249280"/>
            <a:ext cx="91080" cy="5666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8" name="Text 13"/>
          <p:cNvSpPr/>
          <p:nvPr/>
        </p:nvSpPr>
        <p:spPr>
          <a:xfrm>
            <a:off x="548640" y="2286000"/>
            <a:ext cx="3931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d166"/>
                </a:solidFill>
                <a:latin typeface="Calibri"/>
                <a:ea typeface="Calibri"/>
              </a:rPr>
              <a:t>Q: What is MRO and Diamond Problem?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19" name="Text 14"/>
          <p:cNvSpPr/>
          <p:nvPr/>
        </p:nvSpPr>
        <p:spPr>
          <a:xfrm>
            <a:off x="4663440" y="2286000"/>
            <a:ext cx="3931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6d6a0"/>
                </a:solidFill>
                <a:latin typeface="Calibri"/>
                <a:ea typeface="Calibri"/>
              </a:rPr>
              <a:t>A: MRO resolves same-method conflict in Multiple Inheritance — first parent listed wins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20" name="Shape 15"/>
          <p:cNvSpPr/>
          <p:nvPr/>
        </p:nvSpPr>
        <p:spPr>
          <a:xfrm>
            <a:off x="365760" y="2917080"/>
            <a:ext cx="8412120" cy="566640"/>
          </a:xfrm>
          <a:prstGeom prst="rect">
            <a:avLst/>
          </a:prstGeom>
          <a:solidFill>
            <a:srgbClr val="0f3460"/>
          </a:solidFill>
          <a:ln w="635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1" name="Shape 16"/>
          <p:cNvSpPr/>
          <p:nvPr/>
        </p:nvSpPr>
        <p:spPr>
          <a:xfrm>
            <a:off x="365760" y="2917080"/>
            <a:ext cx="91080" cy="5666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2" name="Text 17"/>
          <p:cNvSpPr/>
          <p:nvPr/>
        </p:nvSpPr>
        <p:spPr>
          <a:xfrm>
            <a:off x="548640" y="2953440"/>
            <a:ext cx="3931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d166"/>
                </a:solidFill>
                <a:latin typeface="Calibri"/>
                <a:ea typeface="Calibri"/>
              </a:rPr>
              <a:t>Q: Does Python support Method Overloading?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23" name="Text 18"/>
          <p:cNvSpPr/>
          <p:nvPr/>
        </p:nvSpPr>
        <p:spPr>
          <a:xfrm>
            <a:off x="4663440" y="2953440"/>
            <a:ext cx="3931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6d6a0"/>
                </a:solidFill>
                <a:latin typeface="Calibri"/>
                <a:ea typeface="Calibri"/>
              </a:rPr>
              <a:t>A: No — last definition overwrites. Simulate using default parameters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24" name="Shape 19"/>
          <p:cNvSpPr/>
          <p:nvPr/>
        </p:nvSpPr>
        <p:spPr>
          <a:xfrm>
            <a:off x="365760" y="3584520"/>
            <a:ext cx="8412120" cy="566640"/>
          </a:xfrm>
          <a:prstGeom prst="rect">
            <a:avLst/>
          </a:prstGeom>
          <a:solidFill>
            <a:srgbClr val="0f3460"/>
          </a:solidFill>
          <a:ln w="635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5" name="Shape 20"/>
          <p:cNvSpPr/>
          <p:nvPr/>
        </p:nvSpPr>
        <p:spPr>
          <a:xfrm>
            <a:off x="365760" y="3584520"/>
            <a:ext cx="91080" cy="5666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6" name="Text 21"/>
          <p:cNvSpPr/>
          <p:nvPr/>
        </p:nvSpPr>
        <p:spPr>
          <a:xfrm>
            <a:off x="548640" y="3620880"/>
            <a:ext cx="3931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d166"/>
                </a:solidFill>
                <a:latin typeface="Calibri"/>
                <a:ea typeface="Calibri"/>
              </a:rPr>
              <a:t>Q: When to use super()?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27" name="Text 22"/>
          <p:cNvSpPr/>
          <p:nvPr/>
        </p:nvSpPr>
        <p:spPr>
          <a:xfrm>
            <a:off x="4663440" y="3620880"/>
            <a:ext cx="3931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6d6a0"/>
                </a:solidFill>
                <a:latin typeface="Calibri"/>
                <a:ea typeface="Calibri"/>
              </a:rPr>
              <a:t>A: When child has its own constructor but also needs parent's attributes initialized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28" name="Shape 23"/>
          <p:cNvSpPr/>
          <p:nvPr/>
        </p:nvSpPr>
        <p:spPr>
          <a:xfrm>
            <a:off x="365760" y="4251960"/>
            <a:ext cx="8412120" cy="566640"/>
          </a:xfrm>
          <a:prstGeom prst="rect">
            <a:avLst/>
          </a:prstGeom>
          <a:solidFill>
            <a:srgbClr val="0f3460"/>
          </a:solidFill>
          <a:ln w="635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9" name="Shape 24"/>
          <p:cNvSpPr/>
          <p:nvPr/>
        </p:nvSpPr>
        <p:spPr>
          <a:xfrm>
            <a:off x="365760" y="4251960"/>
            <a:ext cx="91080" cy="5666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0" name="Text 25"/>
          <p:cNvSpPr/>
          <p:nvPr/>
        </p:nvSpPr>
        <p:spPr>
          <a:xfrm>
            <a:off x="548640" y="4288680"/>
            <a:ext cx="3931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fd166"/>
                </a:solidFill>
                <a:latin typeface="Calibri"/>
                <a:ea typeface="Calibri"/>
              </a:rPr>
              <a:t>Q: What is Method Overriding?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31" name="Text 26"/>
          <p:cNvSpPr/>
          <p:nvPr/>
        </p:nvSpPr>
        <p:spPr>
          <a:xfrm>
            <a:off x="4663440" y="4288680"/>
            <a:ext cx="3931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6d6a0"/>
                </a:solidFill>
                <a:latin typeface="Calibri"/>
                <a:ea typeface="Calibri"/>
              </a:rPr>
              <a:t>A: Child redefines parent's method with same name — child's version runs on child object</a:t>
            </a:r>
            <a:endParaRPr b="0" lang="en-IN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3" name="Text 1"/>
          <p:cNvSpPr/>
          <p:nvPr/>
        </p:nvSpPr>
        <p:spPr>
          <a:xfrm>
            <a:off x="365760" y="164520"/>
            <a:ext cx="8229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Calibri"/>
              </a:rPr>
              <a:t>Important Keywords &amp; Concepts at a Glance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334" name="Shape 2"/>
          <p:cNvSpPr/>
          <p:nvPr/>
        </p:nvSpPr>
        <p:spPr>
          <a:xfrm>
            <a:off x="365760" y="704160"/>
            <a:ext cx="8412120" cy="2700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5" name="Shape 3"/>
          <p:cNvSpPr/>
          <p:nvPr/>
        </p:nvSpPr>
        <p:spPr>
          <a:xfrm>
            <a:off x="365760" y="914400"/>
            <a:ext cx="4160160" cy="804240"/>
          </a:xfrm>
          <a:prstGeom prst="rect">
            <a:avLst/>
          </a:prstGeom>
          <a:solidFill>
            <a:srgbClr val="0f3460"/>
          </a:solidFill>
          <a:ln w="1016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6" name="Shape 4"/>
          <p:cNvSpPr/>
          <p:nvPr/>
        </p:nvSpPr>
        <p:spPr>
          <a:xfrm>
            <a:off x="365760" y="914400"/>
            <a:ext cx="1462680" cy="8042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7" name="Text 5"/>
          <p:cNvSpPr/>
          <p:nvPr/>
        </p:nvSpPr>
        <p:spPr>
          <a:xfrm>
            <a:off x="457200" y="1024200"/>
            <a:ext cx="13255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90e0ef"/>
                </a:solidFill>
                <a:latin typeface="Courier New"/>
                <a:ea typeface="Courier New"/>
              </a:rPr>
              <a:t>class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338" name="Text 6"/>
          <p:cNvSpPr/>
          <p:nvPr/>
        </p:nvSpPr>
        <p:spPr>
          <a:xfrm>
            <a:off x="1965960" y="1024200"/>
            <a:ext cx="24228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e8f4f8"/>
                </a:solidFill>
                <a:latin typeface="Calibri"/>
                <a:ea typeface="Calibri"/>
              </a:rPr>
              <a:t>Defines a blueprint/template for objects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39" name="Shape 7"/>
          <p:cNvSpPr/>
          <p:nvPr/>
        </p:nvSpPr>
        <p:spPr>
          <a:xfrm>
            <a:off x="365760" y="1892880"/>
            <a:ext cx="4160160" cy="804240"/>
          </a:xfrm>
          <a:prstGeom prst="rect">
            <a:avLst/>
          </a:prstGeom>
          <a:solidFill>
            <a:srgbClr val="0f3460"/>
          </a:solidFill>
          <a:ln w="1016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40" name="Shape 8"/>
          <p:cNvSpPr/>
          <p:nvPr/>
        </p:nvSpPr>
        <p:spPr>
          <a:xfrm>
            <a:off x="365760" y="1892880"/>
            <a:ext cx="1462680" cy="8042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41" name="Text 9"/>
          <p:cNvSpPr/>
          <p:nvPr/>
        </p:nvSpPr>
        <p:spPr>
          <a:xfrm>
            <a:off x="457200" y="2002680"/>
            <a:ext cx="13255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90e0ef"/>
                </a:solidFill>
                <a:latin typeface="Courier New"/>
                <a:ea typeface="Courier New"/>
              </a:rPr>
              <a:t>self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342" name="Text 10"/>
          <p:cNvSpPr/>
          <p:nvPr/>
        </p:nvSpPr>
        <p:spPr>
          <a:xfrm>
            <a:off x="1965960" y="2002680"/>
            <a:ext cx="24228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e8f4f8"/>
                </a:solidFill>
                <a:latin typeface="Calibri"/>
                <a:ea typeface="Calibri"/>
              </a:rPr>
              <a:t>Refers to the current instance of the class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43" name="Shape 11"/>
          <p:cNvSpPr/>
          <p:nvPr/>
        </p:nvSpPr>
        <p:spPr>
          <a:xfrm>
            <a:off x="365760" y="2871360"/>
            <a:ext cx="4160160" cy="804240"/>
          </a:xfrm>
          <a:prstGeom prst="rect">
            <a:avLst/>
          </a:prstGeom>
          <a:solidFill>
            <a:srgbClr val="0f3460"/>
          </a:solidFill>
          <a:ln w="1016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44" name="Shape 12"/>
          <p:cNvSpPr/>
          <p:nvPr/>
        </p:nvSpPr>
        <p:spPr>
          <a:xfrm>
            <a:off x="365760" y="2871360"/>
            <a:ext cx="1462680" cy="8042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45" name="Text 13"/>
          <p:cNvSpPr/>
          <p:nvPr/>
        </p:nvSpPr>
        <p:spPr>
          <a:xfrm>
            <a:off x="457200" y="2980800"/>
            <a:ext cx="13255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90e0ef"/>
                </a:solidFill>
                <a:latin typeface="Courier New"/>
                <a:ea typeface="Courier New"/>
              </a:rPr>
              <a:t>__init__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346" name="Text 14"/>
          <p:cNvSpPr/>
          <p:nvPr/>
        </p:nvSpPr>
        <p:spPr>
          <a:xfrm>
            <a:off x="1965960" y="2980800"/>
            <a:ext cx="24228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e8f4f8"/>
                </a:solidFill>
                <a:latin typeface="Calibri"/>
                <a:ea typeface="Calibri"/>
              </a:rPr>
              <a:t>Constructor — runs automatically when object is created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47" name="Shape 15"/>
          <p:cNvSpPr/>
          <p:nvPr/>
        </p:nvSpPr>
        <p:spPr>
          <a:xfrm>
            <a:off x="365760" y="3849480"/>
            <a:ext cx="4160160" cy="804240"/>
          </a:xfrm>
          <a:prstGeom prst="rect">
            <a:avLst/>
          </a:prstGeom>
          <a:solidFill>
            <a:srgbClr val="0f3460"/>
          </a:solidFill>
          <a:ln w="1016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48" name="Shape 16"/>
          <p:cNvSpPr/>
          <p:nvPr/>
        </p:nvSpPr>
        <p:spPr>
          <a:xfrm>
            <a:off x="365760" y="3849480"/>
            <a:ext cx="1462680" cy="8042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49" name="Text 17"/>
          <p:cNvSpPr/>
          <p:nvPr/>
        </p:nvSpPr>
        <p:spPr>
          <a:xfrm>
            <a:off x="457200" y="3959280"/>
            <a:ext cx="13255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90e0ef"/>
                </a:solidFill>
                <a:latin typeface="Courier New"/>
                <a:ea typeface="Courier New"/>
              </a:rPr>
              <a:t>super()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350" name="Text 18"/>
          <p:cNvSpPr/>
          <p:nvPr/>
        </p:nvSpPr>
        <p:spPr>
          <a:xfrm>
            <a:off x="1965960" y="3959280"/>
            <a:ext cx="24228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e8f4f8"/>
                </a:solidFill>
                <a:latin typeface="Calibri"/>
                <a:ea typeface="Calibri"/>
              </a:rPr>
              <a:t>Calls parent class's constructor or method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51" name="Shape 19"/>
          <p:cNvSpPr/>
          <p:nvPr/>
        </p:nvSpPr>
        <p:spPr>
          <a:xfrm>
            <a:off x="4800600" y="914400"/>
            <a:ext cx="4160160" cy="804240"/>
          </a:xfrm>
          <a:prstGeom prst="rect">
            <a:avLst/>
          </a:prstGeom>
          <a:solidFill>
            <a:srgbClr val="0f3460"/>
          </a:solidFill>
          <a:ln w="1016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2" name="Shape 20"/>
          <p:cNvSpPr/>
          <p:nvPr/>
        </p:nvSpPr>
        <p:spPr>
          <a:xfrm>
            <a:off x="4800600" y="914400"/>
            <a:ext cx="1462680" cy="8042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3" name="Text 21"/>
          <p:cNvSpPr/>
          <p:nvPr/>
        </p:nvSpPr>
        <p:spPr>
          <a:xfrm>
            <a:off x="4892040" y="1024200"/>
            <a:ext cx="13255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90e0ef"/>
                </a:solidFill>
                <a:latin typeface="Courier New"/>
                <a:ea typeface="Courier New"/>
              </a:rPr>
              <a:t>pass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354" name="Text 22"/>
          <p:cNvSpPr/>
          <p:nvPr/>
        </p:nvSpPr>
        <p:spPr>
          <a:xfrm>
            <a:off x="6400800" y="1024200"/>
            <a:ext cx="24228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e8f4f8"/>
                </a:solidFill>
                <a:latin typeface="Calibri"/>
                <a:ea typeface="Calibri"/>
              </a:rPr>
              <a:t>Placeholder — empty class/method body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55" name="Shape 23"/>
          <p:cNvSpPr/>
          <p:nvPr/>
        </p:nvSpPr>
        <p:spPr>
          <a:xfrm>
            <a:off x="4800600" y="1892880"/>
            <a:ext cx="4160160" cy="804240"/>
          </a:xfrm>
          <a:prstGeom prst="rect">
            <a:avLst/>
          </a:prstGeom>
          <a:solidFill>
            <a:srgbClr val="0f3460"/>
          </a:solidFill>
          <a:ln w="1016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6" name="Shape 24"/>
          <p:cNvSpPr/>
          <p:nvPr/>
        </p:nvSpPr>
        <p:spPr>
          <a:xfrm>
            <a:off x="4800600" y="1892880"/>
            <a:ext cx="1462680" cy="8042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7" name="Text 25"/>
          <p:cNvSpPr/>
          <p:nvPr/>
        </p:nvSpPr>
        <p:spPr>
          <a:xfrm>
            <a:off x="4892040" y="2002680"/>
            <a:ext cx="13255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90e0ef"/>
                </a:solidFill>
                <a:latin typeface="Courier New"/>
                <a:ea typeface="Courier New"/>
              </a:rPr>
              <a:t>__add__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358" name="Text 26"/>
          <p:cNvSpPr/>
          <p:nvPr/>
        </p:nvSpPr>
        <p:spPr>
          <a:xfrm>
            <a:off x="6400800" y="2002680"/>
            <a:ext cx="24228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e8f4f8"/>
                </a:solidFill>
                <a:latin typeface="Calibri"/>
                <a:ea typeface="Calibri"/>
              </a:rPr>
              <a:t>Magic method for + operator overloading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59" name="Shape 27"/>
          <p:cNvSpPr/>
          <p:nvPr/>
        </p:nvSpPr>
        <p:spPr>
          <a:xfrm>
            <a:off x="4800600" y="2871360"/>
            <a:ext cx="4160160" cy="804240"/>
          </a:xfrm>
          <a:prstGeom prst="rect">
            <a:avLst/>
          </a:prstGeom>
          <a:solidFill>
            <a:srgbClr val="0f3460"/>
          </a:solidFill>
          <a:ln w="1016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0" name="Shape 28"/>
          <p:cNvSpPr/>
          <p:nvPr/>
        </p:nvSpPr>
        <p:spPr>
          <a:xfrm>
            <a:off x="4800600" y="2871360"/>
            <a:ext cx="1462680" cy="8042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1" name="Text 29"/>
          <p:cNvSpPr/>
          <p:nvPr/>
        </p:nvSpPr>
        <p:spPr>
          <a:xfrm>
            <a:off x="4892040" y="2980800"/>
            <a:ext cx="13255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90e0ef"/>
                </a:solidFill>
                <a:latin typeface="Courier New"/>
                <a:ea typeface="Courier New"/>
              </a:rPr>
              <a:t>__str__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362" name="Text 30"/>
          <p:cNvSpPr/>
          <p:nvPr/>
        </p:nvSpPr>
        <p:spPr>
          <a:xfrm>
            <a:off x="6400800" y="2980800"/>
            <a:ext cx="24228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e8f4f8"/>
                </a:solidFill>
                <a:latin typeface="Calibri"/>
                <a:ea typeface="Calibri"/>
              </a:rPr>
              <a:t>Defines string representation of an object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363" name="Shape 31"/>
          <p:cNvSpPr/>
          <p:nvPr/>
        </p:nvSpPr>
        <p:spPr>
          <a:xfrm>
            <a:off x="4800600" y="3849480"/>
            <a:ext cx="4160160" cy="804240"/>
          </a:xfrm>
          <a:prstGeom prst="rect">
            <a:avLst/>
          </a:prstGeom>
          <a:solidFill>
            <a:srgbClr val="0f3460"/>
          </a:solidFill>
          <a:ln w="1016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4" name="Shape 32"/>
          <p:cNvSpPr/>
          <p:nvPr/>
        </p:nvSpPr>
        <p:spPr>
          <a:xfrm>
            <a:off x="4800600" y="3849480"/>
            <a:ext cx="1462680" cy="8042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5" name="Text 33"/>
          <p:cNvSpPr/>
          <p:nvPr/>
        </p:nvSpPr>
        <p:spPr>
          <a:xfrm>
            <a:off x="4892040" y="3959280"/>
            <a:ext cx="13255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90e0ef"/>
                </a:solidFill>
                <a:latin typeface="Courier New"/>
                <a:ea typeface="Courier New"/>
              </a:rPr>
              <a:t>MRO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366" name="Text 34"/>
          <p:cNvSpPr/>
          <p:nvPr/>
        </p:nvSpPr>
        <p:spPr>
          <a:xfrm>
            <a:off x="6400800" y="3959280"/>
            <a:ext cx="24228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e8f4f8"/>
                </a:solidFill>
                <a:latin typeface="Calibri"/>
                <a:ea typeface="Calibri"/>
              </a:rPr>
              <a:t>Method Resolution Order — Python's rule for multiple inheritance</a:t>
            </a:r>
            <a:endParaRPr b="0" lang="en-IN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Shape 0"/>
          <p:cNvSpPr/>
          <p:nvPr/>
        </p:nvSpPr>
        <p:spPr>
          <a:xfrm>
            <a:off x="0" y="0"/>
            <a:ext cx="9143640" cy="72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8" name="Shape 1"/>
          <p:cNvSpPr/>
          <p:nvPr/>
        </p:nvSpPr>
        <p:spPr>
          <a:xfrm>
            <a:off x="5486400" y="-457200"/>
            <a:ext cx="5028840" cy="5028840"/>
          </a:xfrm>
          <a:prstGeom prst="ellipse">
            <a:avLst/>
          </a:prstGeom>
          <a:solidFill>
            <a:srgbClr val="0f3460">
              <a:alpha val="50000"/>
            </a:srgbClr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9" name="Shape 2"/>
          <p:cNvSpPr/>
          <p:nvPr/>
        </p:nvSpPr>
        <p:spPr>
          <a:xfrm>
            <a:off x="6858000" y="731520"/>
            <a:ext cx="2742840" cy="2742840"/>
          </a:xfrm>
          <a:prstGeom prst="ellipse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0" name="Text 3"/>
          <p:cNvSpPr/>
          <p:nvPr/>
        </p:nvSpPr>
        <p:spPr>
          <a:xfrm>
            <a:off x="548640" y="822960"/>
            <a:ext cx="5486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90e0ef"/>
                </a:solidFill>
                <a:latin typeface="Calibri"/>
                <a:ea typeface="Calibri"/>
              </a:rPr>
              <a:t>You're all set! 🎯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371" name="Text 4"/>
          <p:cNvSpPr/>
          <p:nvPr/>
        </p:nvSpPr>
        <p:spPr>
          <a:xfrm>
            <a:off x="548640" y="1463040"/>
            <a:ext cx="64004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600" spc="-1" strike="noStrike">
                <a:solidFill>
                  <a:srgbClr val="ffffff"/>
                </a:solidFill>
                <a:latin typeface="Calibri"/>
                <a:ea typeface="Calibri"/>
              </a:rPr>
              <a:t>OOP in Python — Part 3 Complete</a:t>
            </a:r>
            <a:endParaRPr b="0" lang="en-IN" sz="3600" spc="-1" strike="noStrike">
              <a:latin typeface="Arial"/>
            </a:endParaRPr>
          </a:p>
        </p:txBody>
      </p:sp>
      <p:sp>
        <p:nvSpPr>
          <p:cNvPr id="372" name="Text 5"/>
          <p:cNvSpPr/>
          <p:nvPr/>
        </p:nvSpPr>
        <p:spPr>
          <a:xfrm>
            <a:off x="548640" y="2606040"/>
            <a:ext cx="40230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b4d8"/>
                </a:solidFill>
                <a:latin typeface="Calibri"/>
                <a:ea typeface="Calibri"/>
              </a:rPr>
              <a:t>✅ </a:t>
            </a:r>
            <a:r>
              <a:rPr b="0" lang="en-US" sz="1400" spc="-1" strike="noStrike">
                <a:solidFill>
                  <a:srgbClr val="00b4d8"/>
                </a:solidFill>
                <a:latin typeface="Calibri"/>
                <a:ea typeface="Calibri"/>
              </a:rPr>
              <a:t>Aggregation (HAS-A)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373" name="Text 6"/>
          <p:cNvSpPr/>
          <p:nvPr/>
        </p:nvSpPr>
        <p:spPr>
          <a:xfrm>
            <a:off x="548640" y="2926080"/>
            <a:ext cx="40230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b4d8"/>
                </a:solidFill>
                <a:latin typeface="Calibri"/>
                <a:ea typeface="Calibri"/>
              </a:rPr>
              <a:t>✅ </a:t>
            </a:r>
            <a:r>
              <a:rPr b="0" lang="en-US" sz="1400" spc="-1" strike="noStrike">
                <a:solidFill>
                  <a:srgbClr val="00b4d8"/>
                </a:solidFill>
                <a:latin typeface="Calibri"/>
                <a:ea typeface="Calibri"/>
              </a:rPr>
              <a:t>Inheritance (IS-A)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374" name="Text 7"/>
          <p:cNvSpPr/>
          <p:nvPr/>
        </p:nvSpPr>
        <p:spPr>
          <a:xfrm>
            <a:off x="548640" y="3246120"/>
            <a:ext cx="40230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b4d8"/>
                </a:solidFill>
                <a:latin typeface="Calibri"/>
                <a:ea typeface="Calibri"/>
              </a:rPr>
              <a:t>✅ </a:t>
            </a:r>
            <a:r>
              <a:rPr b="0" lang="en-US" sz="1400" spc="-1" strike="noStrike">
                <a:solidFill>
                  <a:srgbClr val="00b4d8"/>
                </a:solidFill>
                <a:latin typeface="Calibri"/>
                <a:ea typeface="Calibri"/>
              </a:rPr>
              <a:t>super() keyword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375" name="Text 8"/>
          <p:cNvSpPr/>
          <p:nvPr/>
        </p:nvSpPr>
        <p:spPr>
          <a:xfrm>
            <a:off x="548640" y="3566160"/>
            <a:ext cx="40230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ffd166"/>
                </a:solidFill>
                <a:latin typeface="Calibri"/>
                <a:ea typeface="Calibri"/>
              </a:rPr>
              <a:t>✅ </a:t>
            </a:r>
            <a:r>
              <a:rPr b="0" lang="en-US" sz="1400" spc="-1" strike="noStrike">
                <a:solidFill>
                  <a:srgbClr val="ffd166"/>
                </a:solidFill>
                <a:latin typeface="Calibri"/>
                <a:ea typeface="Calibri"/>
              </a:rPr>
              <a:t>Method Overriding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376" name="Text 9"/>
          <p:cNvSpPr/>
          <p:nvPr/>
        </p:nvSpPr>
        <p:spPr>
          <a:xfrm>
            <a:off x="548640" y="3886200"/>
            <a:ext cx="40230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ffd166"/>
                </a:solidFill>
                <a:latin typeface="Calibri"/>
                <a:ea typeface="Calibri"/>
              </a:rPr>
              <a:t>✅ </a:t>
            </a:r>
            <a:r>
              <a:rPr b="0" lang="en-US" sz="1400" spc="-1" strike="noStrike">
                <a:solidFill>
                  <a:srgbClr val="ffd166"/>
                </a:solidFill>
                <a:latin typeface="Calibri"/>
                <a:ea typeface="Calibri"/>
              </a:rPr>
              <a:t>Types of Inheritance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377" name="Text 10"/>
          <p:cNvSpPr/>
          <p:nvPr/>
        </p:nvSpPr>
        <p:spPr>
          <a:xfrm>
            <a:off x="4846320" y="2606040"/>
            <a:ext cx="40230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ffd166"/>
                </a:solidFill>
                <a:latin typeface="Calibri"/>
                <a:ea typeface="Calibri"/>
              </a:rPr>
              <a:t>✅ </a:t>
            </a:r>
            <a:r>
              <a:rPr b="0" lang="en-US" sz="1400" spc="-1" strike="noStrike">
                <a:solidFill>
                  <a:srgbClr val="ffd166"/>
                </a:solidFill>
                <a:latin typeface="Calibri"/>
                <a:ea typeface="Calibri"/>
              </a:rPr>
              <a:t>Polymorphism (3 types)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378" name="Text 11"/>
          <p:cNvSpPr/>
          <p:nvPr/>
        </p:nvSpPr>
        <p:spPr>
          <a:xfrm>
            <a:off x="4846320" y="2926080"/>
            <a:ext cx="40230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6d6a0"/>
                </a:solidFill>
                <a:latin typeface="Calibri"/>
                <a:ea typeface="Calibri"/>
              </a:rPr>
              <a:t>✅ </a:t>
            </a:r>
            <a:r>
              <a:rPr b="0" lang="en-US" sz="1400" spc="-1" strike="noStrike">
                <a:solidFill>
                  <a:srgbClr val="06d6a0"/>
                </a:solidFill>
                <a:latin typeface="Calibri"/>
                <a:ea typeface="Calibri"/>
              </a:rPr>
              <a:t>Operator Overloading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379" name="Text 12"/>
          <p:cNvSpPr/>
          <p:nvPr/>
        </p:nvSpPr>
        <p:spPr>
          <a:xfrm>
            <a:off x="4846320" y="3246120"/>
            <a:ext cx="40230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6d6a0"/>
                </a:solidFill>
                <a:latin typeface="Calibri"/>
                <a:ea typeface="Calibri"/>
              </a:rPr>
              <a:t>✅ </a:t>
            </a:r>
            <a:r>
              <a:rPr b="0" lang="en-US" sz="1400" spc="-1" strike="noStrike">
                <a:solidFill>
                  <a:srgbClr val="06d6a0"/>
                </a:solidFill>
                <a:latin typeface="Calibri"/>
                <a:ea typeface="Calibri"/>
              </a:rPr>
              <a:t>Magic Methods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380" name="Text 13"/>
          <p:cNvSpPr/>
          <p:nvPr/>
        </p:nvSpPr>
        <p:spPr>
          <a:xfrm>
            <a:off x="4846320" y="3566160"/>
            <a:ext cx="40230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6d6a0"/>
                </a:solidFill>
                <a:latin typeface="Calibri"/>
                <a:ea typeface="Calibri"/>
              </a:rPr>
              <a:t>✅ </a:t>
            </a:r>
            <a:r>
              <a:rPr b="0" lang="en-US" sz="1400" spc="-1" strike="noStrike">
                <a:solidFill>
                  <a:srgbClr val="06d6a0"/>
                </a:solidFill>
                <a:latin typeface="Calibri"/>
                <a:ea typeface="Calibri"/>
              </a:rPr>
              <a:t>MRO &amp; Diamond Problem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381" name="Shape 14"/>
          <p:cNvSpPr/>
          <p:nvPr/>
        </p:nvSpPr>
        <p:spPr>
          <a:xfrm>
            <a:off x="0" y="4754880"/>
            <a:ext cx="9143640" cy="38844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82" name="Text 15"/>
          <p:cNvSpPr/>
          <p:nvPr/>
        </p:nvSpPr>
        <p:spPr>
          <a:xfrm>
            <a:off x="365760" y="4827960"/>
            <a:ext cx="8412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90e0ef"/>
                </a:solidFill>
                <a:latin typeface="Calibri"/>
                <a:ea typeface="Calibri"/>
              </a:rPr>
              <a:t>Next: Friday — Real-World OOP Project  |  Saturday — Interview Questions  |  Monday — Exception Handling &amp; Modules</a:t>
            </a:r>
            <a:endParaRPr b="0" lang="en-IN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LibreOffice/7.3.7.2$Linux_X86_64 LibreOffice_project/30$Build-2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2026-03-02T09:58:59Z</dcterms:created>
  <dc:creator>PptxGenJS</dc:creator>
  <dc:description/>
  <dc:language>en-IN</dc:language>
  <cp:lastModifiedBy>PptxGenJS</cp:lastModifiedBy>
  <dcterms:modified xsi:type="dcterms:W3CDTF">2026-03-02T09:58:59Z</dcterms:modified>
  <cp:revision>1</cp:revision>
  <dc:subject>PptxGenJS Presentation</dc:subject>
  <dc:title>OOP in Python — Polymorphism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25</vt:i4>
  </property>
  <property fmtid="{D5CDD505-2E9C-101B-9397-08002B2CF9AE}" pid="3" name="PresentationFormat">
    <vt:lpwstr>On-screen Show (16:9)</vt:lpwstr>
  </property>
  <property fmtid="{D5CDD505-2E9C-101B-9397-08002B2CF9AE}" pid="4" name="Slides">
    <vt:i4>25</vt:i4>
  </property>
</Properties>
</file>