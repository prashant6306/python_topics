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k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68075A2-308B-4692-B094-E04BFA2B44C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57B0CB-11C3-4BDB-8EC4-CF2489C1F03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15543A-DAAF-468E-BF81-5C3C94CE36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336FC1-ED2C-44B5-95FE-F67E28C8B2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9BF38D-A79D-410F-B458-5EC06AE736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54BDD0-974A-4C4B-9776-D26782BAF5F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B7634-1F20-4146-843B-BC369333E38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D605E8-7995-45DA-A847-A946F866594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2A18FA-D9CA-413B-8BF0-26E7309B8B2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BDEB04-1EA3-4FC4-BB7F-129D7C162A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3ADA5F-953B-4D5E-BA6D-8EA47E0970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84F4E1-0E38-409C-9591-619A4172DD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6FFE2F-9C15-4992-A0DF-0A83E41EB8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342C69-BA66-4421-A96E-3BBDEEB14A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76ACE2-7255-45B4-A3C4-465B440192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4FE730-9847-48CB-AF64-B594EA50D6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B2D7A7-5E62-48A0-B6D6-D090749039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7CF9D4-5487-4D3D-B89B-5137752D70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134B0A-BB36-43CA-8D26-A064FCA26C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FEC9B3-6271-4C82-BEFD-BC21B08CBF6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846837-9F4D-459F-B436-FC4536AB48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1BEBD5-4CC9-4B7A-98CA-219CAD9096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760172D-223D-4AE6-BA82-137E55FB31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478E72-0350-48ED-92DB-F0F752167A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258D44-9E65-49A3-9E5F-8055DAAFEB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81CE60-F208-483C-B05A-568082BD4B2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1B03D07-6146-42F1-B05B-66382AD694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4FEB91-2282-4F3C-9F0D-24DEB51E84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5943600" y="-457200"/>
            <a:ext cx="4571640" cy="457164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6858000" y="457200"/>
            <a:ext cx="2742840" cy="27428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548640" y="9144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OOP in Python — Part 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48640" y="1463040"/>
            <a:ext cx="7772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Class Relationships,</a:t>
            </a:r>
            <a:endParaRPr b="0" lang="en-IN" sz="4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Aggregation &amp; Inheritance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548640" y="3108960"/>
            <a:ext cx="109692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548640" y="32918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90e0ef"/>
                </a:solidFill>
                <a:latin typeface="Calibri"/>
                <a:ea typeface="Calibri"/>
              </a:rPr>
              <a:t>Comprehensive Study Notes — Part 1 of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65760" y="495612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Class Relationships · Aggregation · Inheritance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Class Relationships in 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3"/>
          <p:cNvSpPr/>
          <p:nvPr/>
        </p:nvSpPr>
        <p:spPr>
          <a:xfrm>
            <a:off x="365760" y="914400"/>
            <a:ext cx="4023000" cy="1279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4"/>
          <p:cNvSpPr/>
          <p:nvPr/>
        </p:nvSpPr>
        <p:spPr>
          <a:xfrm>
            <a:off x="365760" y="914400"/>
            <a:ext cx="109440" cy="1279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5"/>
          <p:cNvSpPr/>
          <p:nvPr/>
        </p:nvSpPr>
        <p:spPr>
          <a:xfrm>
            <a:off x="567000" y="1024200"/>
            <a:ext cx="3730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Real-world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567000" y="1280160"/>
            <a:ext cx="3730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 any application (e-commerce, social media, etc.), multiple classes exist and must communicate with each other.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365760" y="2377440"/>
            <a:ext cx="4023000" cy="137124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8"/>
          <p:cNvSpPr/>
          <p:nvPr/>
        </p:nvSpPr>
        <p:spPr>
          <a:xfrm>
            <a:off x="548640" y="24688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1. AGGREGATION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48640" y="278892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HAS-A Relationship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One class owns another class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754880" y="2377440"/>
            <a:ext cx="4023000" cy="137124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1"/>
          <p:cNvSpPr/>
          <p:nvPr/>
        </p:nvSpPr>
        <p:spPr>
          <a:xfrm>
            <a:off x="4937760" y="24688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2. INHERITANCE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937760" y="278892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IS-A Relationship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One class extends another class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4754880" y="914400"/>
            <a:ext cx="4023000" cy="1279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4"/>
          <p:cNvSpPr/>
          <p:nvPr/>
        </p:nvSpPr>
        <p:spPr>
          <a:xfrm>
            <a:off x="4754880" y="914400"/>
            <a:ext cx="109440" cy="1279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5"/>
          <p:cNvSpPr/>
          <p:nvPr/>
        </p:nvSpPr>
        <p:spPr>
          <a:xfrm>
            <a:off x="4956120" y="1024200"/>
            <a:ext cx="3730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Example: Swiggy-like App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956120" y="1280160"/>
            <a:ext cx="3730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User  ·  Restaurant  ·  Payment  ·  Delivery  — all these classes need to interact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2"/>
          <p:cNvSpPr/>
          <p:nvPr/>
        </p:nvSpPr>
        <p:spPr>
          <a:xfrm>
            <a:off x="548640" y="10972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48640" y="15544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Aggregation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48640" y="30175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HAS-A Relationship between classes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is Aggregation?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3"/>
          <p:cNvSpPr/>
          <p:nvPr/>
        </p:nvSpPr>
        <p:spPr>
          <a:xfrm>
            <a:off x="365760" y="914400"/>
            <a:ext cx="8412120" cy="1005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4"/>
          <p:cNvSpPr/>
          <p:nvPr/>
        </p:nvSpPr>
        <p:spPr>
          <a:xfrm>
            <a:off x="365760" y="91440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5"/>
          <p:cNvSpPr/>
          <p:nvPr/>
        </p:nvSpPr>
        <p:spPr>
          <a:xfrm>
            <a:off x="567000" y="102420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567000" y="1280160"/>
            <a:ext cx="8119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Aggregation is a type of class relationship where one class owns another class as its property.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365760" y="21031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b4d8"/>
                </a:solidFill>
                <a:latin typeface="Calibri"/>
                <a:ea typeface="Calibri"/>
              </a:rPr>
              <a:t>Key Examples: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365760" y="2468880"/>
            <a:ext cx="8412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f4f8"/>
                </a:solidFill>
                <a:latin typeface="Calibri"/>
                <a:ea typeface="Calibri"/>
              </a:rPr>
              <a:t>Customer  HAS-A  Address  →  Address is a property of Customer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f4f8"/>
                </a:solidFill>
                <a:latin typeface="Calibri"/>
                <a:ea typeface="Calibri"/>
              </a:rPr>
              <a:t>Restaurant  HAS-A  Menu  →  Menu belongs to the Restaurant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f4f8"/>
                </a:solidFill>
                <a:latin typeface="Calibri"/>
                <a:ea typeface="Calibri"/>
              </a:rPr>
              <a:t>Order  HAS-A  PaymentDetails  →  Payment info is part of Order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365760" y="3840480"/>
            <a:ext cx="8412120" cy="1005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10"/>
          <p:cNvSpPr/>
          <p:nvPr/>
        </p:nvSpPr>
        <p:spPr>
          <a:xfrm>
            <a:off x="365760" y="3840480"/>
            <a:ext cx="109440" cy="1005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1"/>
          <p:cNvSpPr/>
          <p:nvPr/>
        </p:nvSpPr>
        <p:spPr>
          <a:xfrm>
            <a:off x="567000" y="39502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UML Notation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567000" y="4206240"/>
            <a:ext cx="8119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Aggregation is shown with a ◇ diamond symbol pointing from the owner to the owned class.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- (minus) = Private   |   + (plus) = Public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Aggregation — Address &amp; Customer Classes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3"/>
          <p:cNvSpPr/>
          <p:nvPr/>
        </p:nvSpPr>
        <p:spPr>
          <a:xfrm>
            <a:off x="365760" y="822960"/>
            <a:ext cx="4937400" cy="3291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4"/>
          <p:cNvSpPr/>
          <p:nvPr/>
        </p:nvSpPr>
        <p:spPr>
          <a:xfrm>
            <a:off x="502920" y="932760"/>
            <a:ext cx="4663080" cy="30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Location: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town, postal, region):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self.town   = town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self.postal = postal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self.region = region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Client: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full_name, gender, location):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self.full_name = full_name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self.gender    = gender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self.location  = location   # location is an object of Location class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show_location(self):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print(self.location.town)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print(self.location.postal)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print(self.location.region)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5577840" y="9144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How It Works: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5577840" y="1325880"/>
            <a:ext cx="273960" cy="365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7"/>
          <p:cNvSpPr/>
          <p:nvPr/>
        </p:nvSpPr>
        <p:spPr>
          <a:xfrm>
            <a:off x="5943600" y="13258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1. Create a Location object (town, postal, region)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5577840" y="1965960"/>
            <a:ext cx="273960" cy="365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9"/>
          <p:cNvSpPr/>
          <p:nvPr/>
        </p:nvSpPr>
        <p:spPr>
          <a:xfrm>
            <a:off x="5943600" y="196596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2. Pass it as argument while creating Client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5577840" y="2606040"/>
            <a:ext cx="273960" cy="365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1"/>
          <p:cNvSpPr/>
          <p:nvPr/>
        </p:nvSpPr>
        <p:spPr>
          <a:xfrm>
            <a:off x="5943600" y="26060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3. Client stores it as self.location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5577840" y="3246120"/>
            <a:ext cx="273960" cy="365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3"/>
          <p:cNvSpPr/>
          <p:nvPr/>
        </p:nvSpPr>
        <p:spPr>
          <a:xfrm>
            <a:off x="5943600" y="32461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4. Access location data via self.location.town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Shape 14"/>
          <p:cNvSpPr/>
          <p:nvPr/>
        </p:nvSpPr>
        <p:spPr>
          <a:xfrm>
            <a:off x="5577840" y="3977640"/>
            <a:ext cx="3242160" cy="17823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5"/>
          <p:cNvSpPr/>
          <p:nvPr/>
        </p:nvSpPr>
        <p:spPr>
          <a:xfrm>
            <a:off x="5715000" y="4087440"/>
            <a:ext cx="3017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Usage: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loc = Location("Bengaluru","560001","Karnataka")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client = Client("Arjun", "Male", loc)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client.show_location()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Bengaluru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560001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Karnataka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Private Variables in Aggregation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3"/>
          <p:cNvSpPr/>
          <p:nvPr/>
        </p:nvSpPr>
        <p:spPr>
          <a:xfrm>
            <a:off x="365760" y="8686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Can the owning class access private attributes of the owned class?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365760" y="1371600"/>
            <a:ext cx="3931560" cy="914040"/>
          </a:xfrm>
          <a:prstGeom prst="rect">
            <a:avLst/>
          </a:prstGeom>
          <a:solidFill>
            <a:srgbClr val="2d1b1b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5"/>
          <p:cNvSpPr/>
          <p:nvPr/>
        </p:nvSpPr>
        <p:spPr>
          <a:xfrm>
            <a:off x="548640" y="141732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❌ </a:t>
            </a: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NO — Private attributes (double underscore __) are NOT accessible from outside the class, even via aggregation.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572000" y="1371600"/>
            <a:ext cx="4205880" cy="914040"/>
          </a:xfrm>
          <a:prstGeom prst="rect">
            <a:avLst/>
          </a:prstGeom>
          <a:solidFill>
            <a:srgbClr val="0d2b1a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7"/>
          <p:cNvSpPr/>
          <p:nvPr/>
        </p:nvSpPr>
        <p:spPr>
          <a:xfrm>
            <a:off x="4754880" y="141732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✅ </a:t>
            </a: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Solution — Create a getter method in the owned class and access private data through it.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365760" y="2423160"/>
            <a:ext cx="8412120" cy="2468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9"/>
          <p:cNvSpPr/>
          <p:nvPr/>
        </p:nvSpPr>
        <p:spPr>
          <a:xfrm>
            <a:off x="502920" y="2532960"/>
            <a:ext cx="813780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Location: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town, postal, region):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self.__town = town      # private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self.postal = postal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self.region = region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get_town(self):         # getter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return self.__town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Client: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show_location(self):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print(self.location.get_town())   # use getter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print(self.location.postal)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Aggregation — Delegating Responsibility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3"/>
          <p:cNvSpPr/>
          <p:nvPr/>
        </p:nvSpPr>
        <p:spPr>
          <a:xfrm>
            <a:off x="365760" y="868680"/>
            <a:ext cx="8412120" cy="1051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4"/>
          <p:cNvSpPr/>
          <p:nvPr/>
        </p:nvSpPr>
        <p:spPr>
          <a:xfrm>
            <a:off x="365760" y="868680"/>
            <a:ext cx="109440" cy="1051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5"/>
          <p:cNvSpPr/>
          <p:nvPr/>
        </p:nvSpPr>
        <p:spPr>
          <a:xfrm>
            <a:off x="567000" y="9784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Key Principle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67000" y="1234440"/>
            <a:ext cx="8119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Address-related tasks should stay inside the Location class. The Client class delegates location editing by calling Location's own method. This keeps responsibilities properly separated.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365760" y="2057400"/>
            <a:ext cx="8412120" cy="2559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8"/>
          <p:cNvSpPr/>
          <p:nvPr/>
        </p:nvSpPr>
        <p:spPr>
          <a:xfrm>
            <a:off x="502920" y="2167200"/>
            <a:ext cx="8137800" cy="23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Location: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modify_location(self, new_town, new_postal, new_region):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self.town   = new_town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self.postal = new_postal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self.region = new_region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Client: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update_profile(self, new_name, new_town, new_postal, new_region):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self.full_name = new_name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Delegate location update to Location class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self.location.modify_location(new_town, new_postal, new_region)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Usage: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client.update_profile("Rohan", "Hyderabad", "500001", "Telangana")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365760" y="46634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Good OOP practice — each class manages its own data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"/>
          <p:cNvSpPr/>
          <p:nvPr/>
        </p:nvSpPr>
        <p:spPr>
          <a:xfrm>
            <a:off x="548640" y="10972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548640" y="15544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Inheritance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548640" y="30175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IS-A Relationship — Code Reusability via Parent &amp; Child Classes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is Inheritance?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3"/>
          <p:cNvSpPr/>
          <p:nvPr/>
        </p:nvSpPr>
        <p:spPr>
          <a:xfrm>
            <a:off x="365760" y="914400"/>
            <a:ext cx="8412120" cy="1005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4"/>
          <p:cNvSpPr/>
          <p:nvPr/>
        </p:nvSpPr>
        <p:spPr>
          <a:xfrm>
            <a:off x="365760" y="914400"/>
            <a:ext cx="109440" cy="1005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5"/>
          <p:cNvSpPr/>
          <p:nvPr/>
        </p:nvSpPr>
        <p:spPr>
          <a:xfrm>
            <a:off x="567000" y="102420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67000" y="1280160"/>
            <a:ext cx="8119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Inheritance allows a child class to acquire the attributes and methods of a parent class — just like a child inherits properties from parents in real life.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365760" y="2103120"/>
            <a:ext cx="2651400" cy="155412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8"/>
          <p:cNvSpPr/>
          <p:nvPr/>
        </p:nvSpPr>
        <p:spPr>
          <a:xfrm>
            <a:off x="502920" y="224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0b4d8"/>
                </a:solidFill>
                <a:latin typeface="Calibri"/>
                <a:ea typeface="Calibri"/>
              </a:rPr>
              <a:t>Parent Class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02920" y="260604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Base Class / Super Class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The one that gives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3200400" y="2103120"/>
            <a:ext cx="2651400" cy="155412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1"/>
          <p:cNvSpPr/>
          <p:nvPr/>
        </p:nvSpPr>
        <p:spPr>
          <a:xfrm>
            <a:off x="3337560" y="224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d166"/>
                </a:solidFill>
                <a:latin typeface="Calibri"/>
                <a:ea typeface="Calibri"/>
              </a:rPr>
              <a:t>Child Class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3337560" y="260604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Derived Class / Sub Class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The one that receives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6035040" y="2103120"/>
            <a:ext cx="2651400" cy="1554120"/>
          </a:xfrm>
          <a:prstGeom prst="rect">
            <a:avLst/>
          </a:prstGeom>
          <a:solidFill>
            <a:srgbClr val="0f3460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4"/>
          <p:cNvSpPr/>
          <p:nvPr/>
        </p:nvSpPr>
        <p:spPr>
          <a:xfrm>
            <a:off x="6172200" y="22402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Benefit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6172200" y="260604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Code Reusability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DRY — Don't Repeat Yourself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365760" y="3840480"/>
            <a:ext cx="8412120" cy="1005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Shape 17"/>
          <p:cNvSpPr/>
          <p:nvPr/>
        </p:nvSpPr>
        <p:spPr>
          <a:xfrm>
            <a:off x="365760" y="3840480"/>
            <a:ext cx="109440" cy="1005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8"/>
          <p:cNvSpPr/>
          <p:nvPr/>
        </p:nvSpPr>
        <p:spPr>
          <a:xfrm>
            <a:off x="567000" y="39502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UML Notation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567000" y="4206240"/>
            <a:ext cx="8119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Inheritance is shown with a ▷ hollow triangle/arrow pointing toward the parent class.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Diamond = Aggregation   |   Triangle = Inheritance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Inheritance? — Solving the DRY Violation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3"/>
          <p:cNvSpPr/>
          <p:nvPr/>
        </p:nvSpPr>
        <p:spPr>
          <a:xfrm>
            <a:off x="365760" y="914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Without Inheritance — BAD (Violates DRY)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365760" y="1371600"/>
            <a:ext cx="4114440" cy="2559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5"/>
          <p:cNvSpPr/>
          <p:nvPr/>
        </p:nvSpPr>
        <p:spPr>
          <a:xfrm>
            <a:off x="502920" y="1481400"/>
            <a:ext cx="3840120" cy="23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Learner: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 ...   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register(self): ...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enroll(self):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give_feedback(self):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Mentor: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 ...   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register(self): ...  # REPEATED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create_course(self):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answer_queries(self): 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4663440" y="914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With Inheritance — GOOD (DRY followed)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4663440" y="1371600"/>
            <a:ext cx="4114440" cy="2559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8"/>
          <p:cNvSpPr/>
          <p:nvPr/>
        </p:nvSpPr>
        <p:spPr>
          <a:xfrm>
            <a:off x="4800600" y="1481400"/>
            <a:ext cx="3840120" cy="23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AppUser:              # 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register(self):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Learner(AppUser):     # Child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enroll(self):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give_feedback(self):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Mentor(AppUser):      # Child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create_course(self): ...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answer_queries(self): ...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365760" y="4069080"/>
            <a:ext cx="8412120" cy="822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Shape 10"/>
          <p:cNvSpPr/>
          <p:nvPr/>
        </p:nvSpPr>
        <p:spPr>
          <a:xfrm>
            <a:off x="365760" y="4069080"/>
            <a:ext cx="109440" cy="822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1"/>
          <p:cNvSpPr/>
          <p:nvPr/>
        </p:nvSpPr>
        <p:spPr>
          <a:xfrm>
            <a:off x="567000" y="41788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DRY Principle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567000" y="4434840"/>
            <a:ext cx="8119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Don't Repeat Yourself — login() and register() are written ONCE in AppUser and shared by all child classes.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Inheritance Syntax in Python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3"/>
          <p:cNvSpPr/>
          <p:nvPr/>
        </p:nvSpPr>
        <p:spPr>
          <a:xfrm>
            <a:off x="365760" y="822960"/>
            <a:ext cx="8412120" cy="3200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4"/>
          <p:cNvSpPr/>
          <p:nvPr/>
        </p:nvSpPr>
        <p:spPr>
          <a:xfrm>
            <a:off x="502920" y="932760"/>
            <a:ext cx="8137800" cy="29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AppUser:                       # Parent Class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username):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self.username = username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login(self):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print(f"{self.username} logged in!")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Learner(AppUser):              # Child inherits from AppUser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roll_num):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self.roll_num = roll_num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enroll(self):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print("Enrolled in course!")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Child object can access parent's methods: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 = Learner(101)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s.enroll()                           # Own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s.login() → works if parent constructor was called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365760" y="41605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A Child Class Can Access: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389520" y="445428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685800" indent="-34308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Parent's non-private attributes (instance variables)</a:t>
            </a:r>
            <a:endParaRPr b="0" lang="en-IN" sz="1300" spc="-1" strike="noStrike">
              <a:latin typeface="Arial"/>
            </a:endParaRPr>
          </a:p>
          <a:p>
            <a:pPr lvl="1" marL="685800" indent="-34308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Parent's non-private methods</a:t>
            </a:r>
            <a:endParaRPr b="0" lang="en-IN" sz="1300" spc="-1" strike="noStrike">
              <a:latin typeface="Arial"/>
            </a:endParaRPr>
          </a:p>
          <a:p>
            <a:pPr lvl="1" marL="685800" indent="-34308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Parent's constructor (under specific conditions)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Does Child Inherit? — Constructor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"/>
          <p:cNvSpPr/>
          <p:nvPr/>
        </p:nvSpPr>
        <p:spPr>
          <a:xfrm>
            <a:off x="365760" y="8686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RULE: Python looks for constructor in child first → if not found, uses parent's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365760" y="14173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Case 1: Child has NO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365760" y="1828800"/>
            <a:ext cx="4114440" cy="2285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6"/>
          <p:cNvSpPr/>
          <p:nvPr/>
        </p:nvSpPr>
        <p:spPr>
          <a:xfrm>
            <a:off x="502920" y="1938600"/>
            <a:ext cx="384012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self.brand = brand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              # No constructor here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SmartDevice(25000, "Samsung")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print(d.price)        # 25000  ← parent's __init__ used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print(d.brand)        # Samsung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4663440" y="14173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Case 2: Child HAS its own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4663440" y="1828800"/>
            <a:ext cx="4114440" cy="2285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9"/>
          <p:cNvSpPr/>
          <p:nvPr/>
        </p:nvSpPr>
        <p:spPr>
          <a:xfrm>
            <a:off x="4800600" y="1938600"/>
            <a:ext cx="384012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os, ram):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self.os  = os   # Only this runs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self.ram = ram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SmartDevice("Android", 8)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print(d.price)  # ❌ AttributeError!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Device.__init__ was NEVER called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365760" y="4251960"/>
            <a:ext cx="8454240" cy="788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Shape 11"/>
          <p:cNvSpPr/>
          <p:nvPr/>
        </p:nvSpPr>
        <p:spPr>
          <a:xfrm>
            <a:off x="365760" y="4251960"/>
            <a:ext cx="109440" cy="639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12"/>
          <p:cNvSpPr/>
          <p:nvPr/>
        </p:nvSpPr>
        <p:spPr>
          <a:xfrm>
            <a:off x="567000" y="424440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77f00"/>
                </a:solidFill>
                <a:latin typeface="Calibri"/>
                <a:ea typeface="Calibri"/>
              </a:rPr>
              <a:t>Constructor Overriding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567000" y="4500000"/>
            <a:ext cx="8119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When child defines its own constructor, it overrides the parent's constructor — parent's constructor never runs automatically.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super() Keyword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3"/>
          <p:cNvSpPr/>
          <p:nvPr/>
        </p:nvSpPr>
        <p:spPr>
          <a:xfrm>
            <a:off x="365760" y="868680"/>
            <a:ext cx="8412120" cy="914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Shape 4"/>
          <p:cNvSpPr/>
          <p:nvPr/>
        </p:nvSpPr>
        <p:spPr>
          <a:xfrm>
            <a:off x="365760" y="868680"/>
            <a:ext cx="109440" cy="914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5"/>
          <p:cNvSpPr/>
          <p:nvPr/>
        </p:nvSpPr>
        <p:spPr>
          <a:xfrm>
            <a:off x="567000" y="9784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Problem &amp; Solution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567000" y="1234440"/>
            <a:ext cx="81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When child has its own constructor, parent's constructor doesn't run. Use super().__init__() inside child's constructor to explicitly call parent's constructor.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365760" y="1920240"/>
            <a:ext cx="8412120" cy="2834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8"/>
          <p:cNvSpPr/>
          <p:nvPr/>
        </p:nvSpPr>
        <p:spPr>
          <a:xfrm>
            <a:off x="502920" y="2030040"/>
            <a:ext cx="8137800" cy="26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print("Inside Device constructor")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self.brand  = brand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self.camera = camera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camera, os, ram):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print("Inside SmartDevice constructor")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super().__init__(price, brand, camera)  # Call parent's constructor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self.os  = os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self.ram = ram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SmartDevice(20000, "OnePlus", 50, "Android", 8)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print(d.price)   # 20000 ← initialized in parent's constructor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print(d.os)      # Android ← initialized in child's constructor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365760" y="48279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d166"/>
                </a:solidFill>
                <a:latin typeface="Courier New"/>
                <a:ea typeface="Courier New"/>
              </a:rPr>
              <a:t>Output: Inside SmartDevice constructor → Inside Device constructor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super() — Execution Flow Explained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3"/>
          <p:cNvSpPr/>
          <p:nvPr/>
        </p:nvSpPr>
        <p:spPr>
          <a:xfrm>
            <a:off x="365760" y="960120"/>
            <a:ext cx="411120" cy="383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"/>
          <p:cNvSpPr/>
          <p:nvPr/>
        </p:nvSpPr>
        <p:spPr>
          <a:xfrm>
            <a:off x="365760" y="9691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914400" y="9784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SmartDevice object created → enters SmartDevice's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365760" y="1618560"/>
            <a:ext cx="411120" cy="383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7"/>
          <p:cNvSpPr/>
          <p:nvPr/>
        </p:nvSpPr>
        <p:spPr>
          <a:xfrm>
            <a:off x="365760" y="162756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914400" y="163692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Prints: 'Inside SmartDevice constructor'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365760" y="2277000"/>
            <a:ext cx="411120" cy="383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0"/>
          <p:cNvSpPr/>
          <p:nvPr/>
        </p:nvSpPr>
        <p:spPr>
          <a:xfrm>
            <a:off x="365760" y="22860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914400" y="22950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super().__init__() called → jumps to Device's constructor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5" name="Shape 12"/>
          <p:cNvSpPr/>
          <p:nvPr/>
        </p:nvSpPr>
        <p:spPr>
          <a:xfrm>
            <a:off x="365760" y="2935080"/>
            <a:ext cx="411120" cy="383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3"/>
          <p:cNvSpPr/>
          <p:nvPr/>
        </p:nvSpPr>
        <p:spPr>
          <a:xfrm>
            <a:off x="365760" y="29444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914400" y="29534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Prints: 'Inside Device constructor' → price, brand, camera initialized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365760" y="3593520"/>
            <a:ext cx="411120" cy="383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6"/>
          <p:cNvSpPr/>
          <p:nvPr/>
        </p:nvSpPr>
        <p:spPr>
          <a:xfrm>
            <a:off x="365760" y="360288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914400" y="36118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Returns to SmartDevice constructor → os, ram initialized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1" name="Shape 18"/>
          <p:cNvSpPr/>
          <p:nvPr/>
        </p:nvSpPr>
        <p:spPr>
          <a:xfrm>
            <a:off x="365760" y="4251960"/>
            <a:ext cx="411120" cy="383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9"/>
          <p:cNvSpPr/>
          <p:nvPr/>
        </p:nvSpPr>
        <p:spPr>
          <a:xfrm>
            <a:off x="365760" y="426096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914400" y="427032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All attributes (price, brand, camera, os, ram) are now available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4" name="Shape 21"/>
          <p:cNvSpPr/>
          <p:nvPr/>
        </p:nvSpPr>
        <p:spPr>
          <a:xfrm>
            <a:off x="365760" y="4773240"/>
            <a:ext cx="8412120" cy="200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2"/>
          <p:cNvSpPr/>
          <p:nvPr/>
        </p:nvSpPr>
        <p:spPr>
          <a:xfrm>
            <a:off x="457200" y="477324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super() can also call parent's regular methods: super().method_name()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super() — Rules &amp; Restrictions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3"/>
          <p:cNvSpPr/>
          <p:nvPr/>
        </p:nvSpPr>
        <p:spPr>
          <a:xfrm>
            <a:off x="365760" y="932760"/>
            <a:ext cx="8412120" cy="6580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4"/>
          <p:cNvSpPr/>
          <p:nvPr/>
        </p:nvSpPr>
        <p:spPr>
          <a:xfrm>
            <a:off x="548640" y="97848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Used INSIDE the class only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548640" y="13075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 cannot be used outside class definitions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365760" y="1710000"/>
            <a:ext cx="8412120" cy="6580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7"/>
          <p:cNvSpPr/>
          <p:nvPr/>
        </p:nvSpPr>
        <p:spPr>
          <a:xfrm>
            <a:off x="548640" y="175572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Used inside the CHILD class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548640" y="208476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Specifically to call parent's methods or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Shape 9"/>
          <p:cNvSpPr/>
          <p:nvPr/>
        </p:nvSpPr>
        <p:spPr>
          <a:xfrm>
            <a:off x="365760" y="2487240"/>
            <a:ext cx="8412120" cy="65808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0"/>
          <p:cNvSpPr/>
          <p:nvPr/>
        </p:nvSpPr>
        <p:spPr>
          <a:xfrm>
            <a:off x="548640" y="253296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Cannot access attributes directly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548640" y="28620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super().price won't work — super() is for methods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Shape 12"/>
          <p:cNvSpPr/>
          <p:nvPr/>
        </p:nvSpPr>
        <p:spPr>
          <a:xfrm>
            <a:off x="365760" y="3264480"/>
            <a:ext cx="8412120" cy="65808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3"/>
          <p:cNvSpPr/>
          <p:nvPr/>
        </p:nvSpPr>
        <p:spPr>
          <a:xfrm>
            <a:off x="548640" y="331020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No self with super()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548640" y="363924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 is a built-in function, not an instance — don't use super(self)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365760" y="4041720"/>
            <a:ext cx="8412120" cy="6580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6"/>
          <p:cNvSpPr/>
          <p:nvPr/>
        </p:nvSpPr>
        <p:spPr>
          <a:xfrm>
            <a:off x="548640" y="408744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1" lang="en-US" sz="1400" spc="-1" strike="noStrike">
                <a:solidFill>
                  <a:srgbClr val="06d6a0"/>
                </a:solidFill>
                <a:latin typeface="Calibri"/>
                <a:ea typeface="Calibri"/>
              </a:rPr>
              <a:t>Can call parent's methods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548640" y="4416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super().buy()  or  super().__init__()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3"/>
          <p:cNvSpPr/>
          <p:nvPr/>
        </p:nvSpPr>
        <p:spPr>
          <a:xfrm>
            <a:off x="365760" y="868680"/>
            <a:ext cx="8412120" cy="914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4"/>
          <p:cNvSpPr/>
          <p:nvPr/>
        </p:nvSpPr>
        <p:spPr>
          <a:xfrm>
            <a:off x="365760" y="868680"/>
            <a:ext cx="109440" cy="914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5"/>
          <p:cNvSpPr/>
          <p:nvPr/>
        </p:nvSpPr>
        <p:spPr>
          <a:xfrm>
            <a:off x="567000" y="9784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6"/>
          <p:cNvSpPr/>
          <p:nvPr/>
        </p:nvSpPr>
        <p:spPr>
          <a:xfrm>
            <a:off x="567000" y="1234440"/>
            <a:ext cx="81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When both parent and child class define a method with the same name, the child's version runs when called on the child object. The parent's version is overridden.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365760" y="187452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166"/>
                </a:solidFill>
                <a:latin typeface="Calibri"/>
                <a:ea typeface="Calibri"/>
              </a:rPr>
              <a:t>🎯 </a:t>
            </a:r>
            <a:r>
              <a:rPr b="0" i="1" lang="en-US" sz="1300" spc="-1" strike="noStrike">
                <a:solidFill>
                  <a:srgbClr val="ffd166"/>
                </a:solidFill>
                <a:latin typeface="Calibri"/>
                <a:ea typeface="Calibri"/>
              </a:rPr>
              <a:t>Analogy: Just like a child overrides a parent's career wishes with their own — the child's version always wins!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2" name="Shape 8"/>
          <p:cNvSpPr/>
          <p:nvPr/>
        </p:nvSpPr>
        <p:spPr>
          <a:xfrm>
            <a:off x="365760" y="2423160"/>
            <a:ext cx="8412120" cy="2285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9"/>
          <p:cNvSpPr/>
          <p:nvPr/>
        </p:nvSpPr>
        <p:spPr>
          <a:xfrm>
            <a:off x="502920" y="2532960"/>
            <a:ext cx="813780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device")        # Parent's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smart device")  # Child's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SmartDevice(20000, "OnePlus", 50)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d.buy()   # OUTPUT: Buying a smart device  ← Child's version runs!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4" name="Shape 10"/>
          <p:cNvSpPr/>
          <p:nvPr/>
        </p:nvSpPr>
        <p:spPr>
          <a:xfrm>
            <a:off x="365760" y="4827960"/>
            <a:ext cx="8412120" cy="18252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11"/>
          <p:cNvSpPr/>
          <p:nvPr/>
        </p:nvSpPr>
        <p:spPr>
          <a:xfrm>
            <a:off x="457200" y="483732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Python always executes the most specific (child) version of an overridden method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super() with 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3"/>
          <p:cNvSpPr/>
          <p:nvPr/>
        </p:nvSpPr>
        <p:spPr>
          <a:xfrm>
            <a:off x="365760" y="868680"/>
            <a:ext cx="8454240" cy="3991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4"/>
          <p:cNvSpPr/>
          <p:nvPr/>
        </p:nvSpPr>
        <p:spPr>
          <a:xfrm>
            <a:off x="502920" y="978480"/>
            <a:ext cx="8137800" cy="34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self.price  = price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self.brand  = brand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self.camera = camera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device")        # Parent's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price, brand, camera, os, ram):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super().__init__(price, brand, camera)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self.os  = os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self.ram = ram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a smart device")  # Child's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super().buy()                   # Also calls parent's 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 = SmartDevice(20000, "OnePlus", 50, "Android", 8)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d.buy()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Buying a smart device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Buying a device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360000" y="5440320"/>
            <a:ext cx="8460000" cy="6796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2" name="Shape 6"/>
          <p:cNvSpPr/>
          <p:nvPr/>
        </p:nvSpPr>
        <p:spPr>
          <a:xfrm>
            <a:off x="360000" y="5580000"/>
            <a:ext cx="109440" cy="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7"/>
          <p:cNvSpPr/>
          <p:nvPr/>
        </p:nvSpPr>
        <p:spPr>
          <a:xfrm>
            <a:off x="540000" y="540000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d166"/>
                </a:solidFill>
                <a:latin typeface="Calibri"/>
                <a:ea typeface="Calibri"/>
              </a:rPr>
              <a:t>Important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340560" y="5580000"/>
            <a:ext cx="8119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Using super().buy() inside the child's buy() method calls the parent's buy() as well. Both execute in sequence.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"/>
          <p:cNvSpPr/>
          <p:nvPr/>
        </p:nvSpPr>
        <p:spPr>
          <a:xfrm>
            <a:off x="548640" y="10972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548640" y="15544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Types of Inheritance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48640" y="30175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Single · Multi-Level · Hierarchical · Multiple · MRO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5 Types of Inheritance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Shape 3"/>
          <p:cNvSpPr/>
          <p:nvPr/>
        </p:nvSpPr>
        <p:spPr>
          <a:xfrm>
            <a:off x="365760" y="914400"/>
            <a:ext cx="4023000" cy="1051200"/>
          </a:xfrm>
          <a:prstGeom prst="rect">
            <a:avLst/>
          </a:prstGeom>
          <a:solidFill>
            <a:srgbClr val="0f3460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4"/>
          <p:cNvSpPr/>
          <p:nvPr/>
        </p:nvSpPr>
        <p:spPr>
          <a:xfrm>
            <a:off x="530280" y="1005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b4d8"/>
                </a:solidFill>
                <a:latin typeface="Calibri"/>
                <a:ea typeface="Calibri"/>
              </a:rPr>
              <a:t>Single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530280" y="1325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1 parent → 1 child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530280" y="16002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Device → SmartDevice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7" name="Shape 7"/>
          <p:cNvSpPr/>
          <p:nvPr/>
        </p:nvSpPr>
        <p:spPr>
          <a:xfrm>
            <a:off x="365760" y="2194560"/>
            <a:ext cx="4023000" cy="1051200"/>
          </a:xfrm>
          <a:prstGeom prst="rect">
            <a:avLst/>
          </a:prstGeom>
          <a:solidFill>
            <a:srgbClr val="0f3460"/>
          </a:solidFill>
          <a:ln w="1905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8"/>
          <p:cNvSpPr/>
          <p:nvPr/>
        </p:nvSpPr>
        <p:spPr>
          <a:xfrm>
            <a:off x="530280" y="2286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d166"/>
                </a:solidFill>
                <a:latin typeface="Calibri"/>
                <a:ea typeface="Calibri"/>
              </a:rPr>
              <a:t>Multi-Level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530280" y="2606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Chain: A → B → 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530280" y="28803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Device → SmartDevice → FoldablePhone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365760" y="3474720"/>
            <a:ext cx="4023000" cy="1051200"/>
          </a:xfrm>
          <a:prstGeom prst="rect">
            <a:avLst/>
          </a:prstGeom>
          <a:solidFill>
            <a:srgbClr val="0f3460"/>
          </a:solidFill>
          <a:ln w="1905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2"/>
          <p:cNvSpPr/>
          <p:nvPr/>
        </p:nvSpPr>
        <p:spPr>
          <a:xfrm>
            <a:off x="530280" y="3566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d6a0"/>
                </a:solidFill>
                <a:latin typeface="Calibri"/>
                <a:ea typeface="Calibri"/>
              </a:rPr>
              <a:t>Hierarchical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530280" y="3886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1 parent → many children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530280" y="4160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Device → SmartDevice, FeaturePhone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4709160" y="914400"/>
            <a:ext cx="4023000" cy="1051200"/>
          </a:xfrm>
          <a:prstGeom prst="rect">
            <a:avLst/>
          </a:prstGeom>
          <a:solidFill>
            <a:srgbClr val="0f3460"/>
          </a:solidFill>
          <a:ln w="1905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6"/>
          <p:cNvSpPr/>
          <p:nvPr/>
        </p:nvSpPr>
        <p:spPr>
          <a:xfrm>
            <a:off x="4873680" y="1005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77f00"/>
                </a:solidFill>
                <a:latin typeface="Calibri"/>
                <a:ea typeface="Calibri"/>
              </a:rPr>
              <a:t>Multiple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4873680" y="1325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Many parents → 1 child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4873680" y="16002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(Product, Device) → SmartDevice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>
            <a:off x="4709160" y="2194560"/>
            <a:ext cx="4023000" cy="1051200"/>
          </a:xfrm>
          <a:prstGeom prst="rect">
            <a:avLst/>
          </a:prstGeom>
          <a:solidFill>
            <a:srgbClr val="0f3460"/>
          </a:solidFill>
          <a:ln w="1905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20"/>
          <p:cNvSpPr/>
          <p:nvPr/>
        </p:nvSpPr>
        <p:spPr>
          <a:xfrm>
            <a:off x="4873680" y="2286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f233c"/>
                </a:solidFill>
                <a:latin typeface="Calibri"/>
                <a:ea typeface="Calibri"/>
              </a:rPr>
              <a:t>Diamond Problem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4873680" y="2606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MRO resolves ambiguity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2" name="Text 22"/>
          <p:cNvSpPr/>
          <p:nvPr/>
        </p:nvSpPr>
        <p:spPr>
          <a:xfrm>
            <a:off x="4873680" y="28803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Python: first-listed parent wins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Single &amp; Multi-Level Inheritance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3"/>
          <p:cNvSpPr/>
          <p:nvPr/>
        </p:nvSpPr>
        <p:spPr>
          <a:xfrm>
            <a:off x="365760" y="9144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b4d8"/>
                </a:solidFill>
                <a:latin typeface="Calibri"/>
                <a:ea typeface="Calibri"/>
              </a:rPr>
              <a:t>Single Inheritance — 1 parent, 1 child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365760" y="1371600"/>
            <a:ext cx="4023000" cy="2285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5"/>
          <p:cNvSpPr/>
          <p:nvPr/>
        </p:nvSpPr>
        <p:spPr>
          <a:xfrm>
            <a:off x="502920" y="1481400"/>
            <a:ext cx="374868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 device")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activate_5g(self):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print("5G activated")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 = SmartDevice(...)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sd.buy()           # Parent's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sd.activate_5g()   # Own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4754880" y="914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d166"/>
                </a:solidFill>
                <a:latin typeface="Calibri"/>
                <a:ea typeface="Calibri"/>
              </a:rPr>
              <a:t>Multi-Level — Chain of inheritance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0" name="Shape 7"/>
          <p:cNvSpPr/>
          <p:nvPr/>
        </p:nvSpPr>
        <p:spPr>
          <a:xfrm>
            <a:off x="4754880" y="1371600"/>
            <a:ext cx="4114440" cy="2651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8"/>
          <p:cNvSpPr/>
          <p:nvPr/>
        </p:nvSpPr>
        <p:spPr>
          <a:xfrm>
            <a:off x="4892040" y="1481400"/>
            <a:ext cx="3840120" cy="24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         # Grandparent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review(self):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print("Reviewing device")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SmartDevice(Device): # 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smart device")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FoldablePhone(SmartDevice): # Child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fp = FoldablePhone(...)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fp.buy()     # Parent's 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fp.review()  # Grandparent's method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365760" y="4160520"/>
            <a:ext cx="8412120" cy="731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3" name="Shape 10"/>
          <p:cNvSpPr/>
          <p:nvPr/>
        </p:nvSpPr>
        <p:spPr>
          <a:xfrm>
            <a:off x="365760" y="4160520"/>
            <a:ext cx="109440" cy="731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11"/>
          <p:cNvSpPr/>
          <p:nvPr/>
        </p:nvSpPr>
        <p:spPr>
          <a:xfrm>
            <a:off x="567000" y="427032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Multi-Level Key Point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567000" y="4526280"/>
            <a:ext cx="8119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 child class can access methods from its direct parent AND grandparent (and beyond). It searches upward through the chain.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Multiple Inheritance &amp; Method Resolution Order (MRO)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Shape 3"/>
          <p:cNvSpPr/>
          <p:nvPr/>
        </p:nvSpPr>
        <p:spPr>
          <a:xfrm>
            <a:off x="365760" y="868680"/>
            <a:ext cx="8412120" cy="2834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4"/>
          <p:cNvSpPr/>
          <p:nvPr/>
        </p:nvSpPr>
        <p:spPr>
          <a:xfrm>
            <a:off x="502920" y="978480"/>
            <a:ext cx="8137800" cy="26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Product: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from Product class")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Device: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buy(self):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print("Buying from Device class")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SmartDevice(Product, Device):   # Multiple parents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 = SmartDevice()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sd.buy()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Buying from Product class  ← Product listed first!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365760" y="3794760"/>
            <a:ext cx="4023000" cy="1096920"/>
          </a:xfrm>
          <a:prstGeom prst="rect">
            <a:avLst/>
          </a:prstGeom>
          <a:solidFill>
            <a:srgbClr val="0f3460"/>
          </a:solidFill>
          <a:ln w="1905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6"/>
          <p:cNvSpPr/>
          <p:nvPr/>
        </p:nvSpPr>
        <p:spPr>
          <a:xfrm>
            <a:off x="548640" y="3886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77f00"/>
                </a:solidFill>
                <a:latin typeface="Calibri"/>
                <a:ea typeface="Calibri"/>
              </a:rPr>
              <a:t>MRO Rule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548640" y="42062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The FIRST parent listed in brackets takes priority when both have the same method name.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4754880" y="3794760"/>
            <a:ext cx="4114440" cy="1096920"/>
          </a:xfrm>
          <a:prstGeom prst="rect">
            <a:avLst/>
          </a:prstGeom>
          <a:solidFill>
            <a:srgbClr val="0f3460"/>
          </a:solidFill>
          <a:ln w="1905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9"/>
          <p:cNvSpPr/>
          <p:nvPr/>
        </p:nvSpPr>
        <p:spPr>
          <a:xfrm>
            <a:off x="4937760" y="38862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233c"/>
                </a:solidFill>
                <a:latin typeface="Calibri"/>
                <a:ea typeface="Calibri"/>
              </a:rPr>
              <a:t>Diamond Problem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4937760" y="420624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When two parent classes have same method — ambiguity arises. Java avoids it by not supporting Multiple Inheritance. Python resolves via MRO.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2"/>
          <p:cNvSpPr/>
          <p:nvPr/>
        </p:nvSpPr>
        <p:spPr>
          <a:xfrm>
            <a:off x="548640" y="109728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e0ef"/>
                </a:solidFill>
                <a:latin typeface="Calibri"/>
                <a:ea typeface="Calibri"/>
              </a:rPr>
              <a:t>Section 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548640" y="15544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Practice Scenarios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11" name="Text 4"/>
          <p:cNvSpPr/>
          <p:nvPr/>
        </p:nvSpPr>
        <p:spPr>
          <a:xfrm>
            <a:off x="548640" y="301752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Calibri"/>
              </a:rPr>
              <a:t>Output Prediction &amp; Key Scenarios to Master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Scenario 1 &amp; 2 — Constructor Behavior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3"/>
          <p:cNvSpPr/>
          <p:nvPr/>
        </p:nvSpPr>
        <p:spPr>
          <a:xfrm>
            <a:off x="36576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Scenario 1: Child has NO constructor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365760" y="1325880"/>
            <a:ext cx="4023000" cy="2011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5"/>
          <p:cNvSpPr/>
          <p:nvPr/>
        </p:nvSpPr>
        <p:spPr>
          <a:xfrm>
            <a:off x="502920" y="1435680"/>
            <a:ext cx="3748680" cy="179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self.val = 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Child(42)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print(obj.val)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42  ← Parent's constructor used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365760" y="34106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Parent's __init__ runs → obj.val = 42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4663440" y="91440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233c"/>
                </a:solidFill>
                <a:latin typeface="Calibri"/>
                <a:ea typeface="Calibri"/>
              </a:rPr>
              <a:t>Scenario 2: Child HAS its own constructor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4663440" y="1325880"/>
            <a:ext cx="4114440" cy="2011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9"/>
          <p:cNvSpPr/>
          <p:nvPr/>
        </p:nvSpPr>
        <p:spPr>
          <a:xfrm>
            <a:off x="4800600" y="1435680"/>
            <a:ext cx="3840120" cy="179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self.val = 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num):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self.num = num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Child(42)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print(obj.val)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AttributeError!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4663440" y="34106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❌ </a:t>
            </a:r>
            <a:r>
              <a:rPr b="0" lang="en-US" sz="1200" spc="-1" strike="noStrike">
                <a:solidFill>
                  <a:srgbClr val="ef233c"/>
                </a:solidFill>
                <a:latin typeface="Calibri"/>
                <a:ea typeface="Calibri"/>
              </a:rPr>
              <a:t>Parent's __init__ never called → obj.val doesn't exist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365760" y="3822120"/>
            <a:ext cx="8412120" cy="804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Shape 12"/>
          <p:cNvSpPr/>
          <p:nvPr/>
        </p:nvSpPr>
        <p:spPr>
          <a:xfrm>
            <a:off x="365760" y="3822120"/>
            <a:ext cx="109440" cy="804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13"/>
          <p:cNvSpPr/>
          <p:nvPr/>
        </p:nvSpPr>
        <p:spPr>
          <a:xfrm>
            <a:off x="567000" y="393192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Fix for Scenario 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567000" y="4187880"/>
            <a:ext cx="8119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Add super().__init__(val) inside Child's constructor to initialize both parent and child attributes.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Scenario 3 &amp; 4 — super() and 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3"/>
          <p:cNvSpPr/>
          <p:nvPr/>
        </p:nvSpPr>
        <p:spPr>
          <a:xfrm>
            <a:off x="365760" y="914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Scenario 3: Using super() in constructor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365760" y="1325880"/>
            <a:ext cx="4023000" cy="2285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5"/>
          <p:cNvSpPr/>
          <p:nvPr/>
        </p:nvSpPr>
        <p:spPr>
          <a:xfrm>
            <a:off x="502920" y="1435680"/>
            <a:ext cx="374868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self.val = 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__init__(self, val, num):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super().__init__(val)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self.num = num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Child(10, 20)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print(obj.val)   # 10 ← from parent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print(obj.num)   # 20 ← from child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365760" y="36759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Both constructors run — all attributes initialized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4663440" y="91440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d166"/>
                </a:solidFill>
                <a:latin typeface="Calibri"/>
                <a:ea typeface="Calibri"/>
              </a:rPr>
              <a:t>Scenario 4: Method Overriding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4663440" y="1325880"/>
            <a:ext cx="4114440" cy="2285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9"/>
          <p:cNvSpPr/>
          <p:nvPr/>
        </p:nvSpPr>
        <p:spPr>
          <a:xfrm>
            <a:off x="4800600" y="1435680"/>
            <a:ext cx="3840120" cy="20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greet(self):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print("Hello from Parent")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greet(self):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print("Hello from Child")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obj.greet()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OUTPUT: Hello from Child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        ← Child's version runs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7" name="Text 10"/>
          <p:cNvSpPr/>
          <p:nvPr/>
        </p:nvSpPr>
        <p:spPr>
          <a:xfrm>
            <a:off x="4663440" y="367596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Child's greet() overrides Parent's greet()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Shape 11"/>
          <p:cNvSpPr/>
          <p:nvPr/>
        </p:nvSpPr>
        <p:spPr>
          <a:xfrm>
            <a:off x="365760" y="4069080"/>
            <a:ext cx="8412120" cy="8042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9" name="Shape 12"/>
          <p:cNvSpPr/>
          <p:nvPr/>
        </p:nvSpPr>
        <p:spPr>
          <a:xfrm>
            <a:off x="365760" y="4069080"/>
            <a:ext cx="109440" cy="804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13"/>
          <p:cNvSpPr/>
          <p:nvPr/>
        </p:nvSpPr>
        <p:spPr>
          <a:xfrm>
            <a:off x="567000" y="41788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super() in method overriding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1" name="Text 14"/>
          <p:cNvSpPr/>
          <p:nvPr/>
        </p:nvSpPr>
        <p:spPr>
          <a:xfrm>
            <a:off x="567000" y="4434840"/>
            <a:ext cx="8119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Inside Child's overridden method, call super().greet() to execute the parent's version as well.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⚠️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Beware — Infinite Recursion with Method Overriding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44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Shape 3"/>
          <p:cNvSpPr/>
          <p:nvPr/>
        </p:nvSpPr>
        <p:spPr>
          <a:xfrm>
            <a:off x="365760" y="868680"/>
            <a:ext cx="8412120" cy="1005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6" name="Shape 4"/>
          <p:cNvSpPr/>
          <p:nvPr/>
        </p:nvSpPr>
        <p:spPr>
          <a:xfrm>
            <a:off x="365760" y="868680"/>
            <a:ext cx="109440" cy="100548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5"/>
          <p:cNvSpPr/>
          <p:nvPr/>
        </p:nvSpPr>
        <p:spPr>
          <a:xfrm>
            <a:off x="567000" y="978480"/>
            <a:ext cx="8119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233c"/>
                </a:solidFill>
                <a:latin typeface="Calibri"/>
                <a:ea typeface="Calibri"/>
              </a:rPr>
              <a:t>Warning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567000" y="1234440"/>
            <a:ext cx="8119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8f4f8"/>
                </a:solidFill>
                <a:latin typeface="Calibri"/>
                <a:ea typeface="Calibri"/>
              </a:rPr>
              <a:t>If inside a child's overridden method you call self.method_name() — it calls the child's own version again (not parent). This creates an infinite loop → RecursionError!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365760" y="2011680"/>
            <a:ext cx="8412120" cy="2559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8"/>
          <p:cNvSpPr/>
          <p:nvPr/>
        </p:nvSpPr>
        <p:spPr>
          <a:xfrm>
            <a:off x="502920" y="2121480"/>
            <a:ext cx="8137800" cy="23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Parent: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m1(self):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print("Parent m1")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class Child(Parent):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def m1(self):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print("Child m1")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self.m1()    # ❌ WRONG! Calls Child's m1() again (not Parent's)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                     </a:t>
            </a: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# → Infinite recursion → RecursionError!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 = Child()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8ff78"/>
                </a:solidFill>
                <a:latin typeface="Courier New"/>
                <a:ea typeface="Courier New"/>
              </a:rPr>
              <a:t>obj.m1()  # RecursionError: maximum recursion depth exceeded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365760" y="4663440"/>
            <a:ext cx="4023000" cy="319680"/>
          </a:xfrm>
          <a:prstGeom prst="rect">
            <a:avLst/>
          </a:prstGeom>
          <a:solidFill>
            <a:srgbClr val="2d101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10"/>
          <p:cNvSpPr/>
          <p:nvPr/>
        </p:nvSpPr>
        <p:spPr>
          <a:xfrm>
            <a:off x="457200" y="46818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f233c"/>
                </a:solidFill>
                <a:latin typeface="Courier New"/>
                <a:ea typeface="Courier New"/>
              </a:rPr>
              <a:t>self.m1() → calls Child's m1 → calls self.m1() → ∞ loop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3" name="Shape 11"/>
          <p:cNvSpPr/>
          <p:nvPr/>
        </p:nvSpPr>
        <p:spPr>
          <a:xfrm>
            <a:off x="4754880" y="4663440"/>
            <a:ext cx="4114440" cy="319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12"/>
          <p:cNvSpPr/>
          <p:nvPr/>
        </p:nvSpPr>
        <p:spPr>
          <a:xfrm>
            <a:off x="4846320" y="468180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ourier New"/>
                <a:ea typeface="Courier New"/>
              </a:rPr>
              <a:t>Fix: use super().m1() to call Parent's version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"/>
          <p:cNvSpPr/>
          <p:nvPr/>
        </p:nvSpPr>
        <p:spPr>
          <a:xfrm>
            <a:off x="365760" y="1645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Inheritance — Key Takeaways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365760" y="704160"/>
            <a:ext cx="8412120" cy="27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Shape 3"/>
          <p:cNvSpPr/>
          <p:nvPr/>
        </p:nvSpPr>
        <p:spPr>
          <a:xfrm>
            <a:off x="365760" y="91440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Shape 4"/>
          <p:cNvSpPr/>
          <p:nvPr/>
        </p:nvSpPr>
        <p:spPr>
          <a:xfrm>
            <a:off x="365760" y="914400"/>
            <a:ext cx="109440" cy="840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5"/>
          <p:cNvSpPr/>
          <p:nvPr/>
        </p:nvSpPr>
        <p:spPr>
          <a:xfrm>
            <a:off x="594360" y="96012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Syntax: class Child(Parent): — child gains access to parent's non-private attributes and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1" name="Shape 6"/>
          <p:cNvSpPr/>
          <p:nvPr/>
        </p:nvSpPr>
        <p:spPr>
          <a:xfrm>
            <a:off x="365760" y="192024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7"/>
          <p:cNvSpPr/>
          <p:nvPr/>
        </p:nvSpPr>
        <p:spPr>
          <a:xfrm>
            <a:off x="365760" y="1920240"/>
            <a:ext cx="109440" cy="840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8"/>
          <p:cNvSpPr/>
          <p:nvPr/>
        </p:nvSpPr>
        <p:spPr>
          <a:xfrm>
            <a:off x="594360" y="196596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If child has NO constructor → parent's constructor runs automatically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Shape 9"/>
          <p:cNvSpPr/>
          <p:nvPr/>
        </p:nvSpPr>
        <p:spPr>
          <a:xfrm>
            <a:off x="365760" y="292608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10"/>
          <p:cNvSpPr/>
          <p:nvPr/>
        </p:nvSpPr>
        <p:spPr>
          <a:xfrm>
            <a:off x="365760" y="2926080"/>
            <a:ext cx="109440" cy="840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11"/>
          <p:cNvSpPr/>
          <p:nvPr/>
        </p:nvSpPr>
        <p:spPr>
          <a:xfrm>
            <a:off x="594360" y="297180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If child HAS its own constructor → parent's constructor does NOT run (use super())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7" name="Shape 12"/>
          <p:cNvSpPr/>
          <p:nvPr/>
        </p:nvSpPr>
        <p:spPr>
          <a:xfrm>
            <a:off x="365760" y="393192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Shape 13"/>
          <p:cNvSpPr/>
          <p:nvPr/>
        </p:nvSpPr>
        <p:spPr>
          <a:xfrm>
            <a:off x="365760" y="3931920"/>
            <a:ext cx="109440" cy="840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14"/>
          <p:cNvSpPr/>
          <p:nvPr/>
        </p:nvSpPr>
        <p:spPr>
          <a:xfrm>
            <a:off x="594360" y="397764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super().__init__() — calls parent's constructor from inside child's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0" name="Shape 15"/>
          <p:cNvSpPr/>
          <p:nvPr/>
        </p:nvSpPr>
        <p:spPr>
          <a:xfrm>
            <a:off x="4800600" y="91440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Shape 16"/>
          <p:cNvSpPr/>
          <p:nvPr/>
        </p:nvSpPr>
        <p:spPr>
          <a:xfrm>
            <a:off x="4800600" y="914400"/>
            <a:ext cx="109440" cy="8409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17"/>
          <p:cNvSpPr/>
          <p:nvPr/>
        </p:nvSpPr>
        <p:spPr>
          <a:xfrm>
            <a:off x="5029200" y="96012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Method Overriding — child's version of a method runs instead of parent's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3" name="Shape 18"/>
          <p:cNvSpPr/>
          <p:nvPr/>
        </p:nvSpPr>
        <p:spPr>
          <a:xfrm>
            <a:off x="4800600" y="192024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Shape 19"/>
          <p:cNvSpPr/>
          <p:nvPr/>
        </p:nvSpPr>
        <p:spPr>
          <a:xfrm>
            <a:off x="4800600" y="1920240"/>
            <a:ext cx="109440" cy="84096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Text 20"/>
          <p:cNvSpPr/>
          <p:nvPr/>
        </p:nvSpPr>
        <p:spPr>
          <a:xfrm>
            <a:off x="5029200" y="196596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Inheritance is ONE-WAY — parent cannot access child's data/methods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6" name="Shape 21"/>
          <p:cNvSpPr/>
          <p:nvPr/>
        </p:nvSpPr>
        <p:spPr>
          <a:xfrm>
            <a:off x="4800600" y="292608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Shape 22"/>
          <p:cNvSpPr/>
          <p:nvPr/>
        </p:nvSpPr>
        <p:spPr>
          <a:xfrm>
            <a:off x="4800600" y="2926080"/>
            <a:ext cx="109440" cy="840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23"/>
          <p:cNvSpPr/>
          <p:nvPr/>
        </p:nvSpPr>
        <p:spPr>
          <a:xfrm>
            <a:off x="5029200" y="297180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MRO — in Multiple Inheritance, first-listed parent's method takes priority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9" name="Shape 24"/>
          <p:cNvSpPr/>
          <p:nvPr/>
        </p:nvSpPr>
        <p:spPr>
          <a:xfrm>
            <a:off x="4800600" y="3931920"/>
            <a:ext cx="4160160" cy="840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Shape 25"/>
          <p:cNvSpPr/>
          <p:nvPr/>
        </p:nvSpPr>
        <p:spPr>
          <a:xfrm>
            <a:off x="4800600" y="3931920"/>
            <a:ext cx="109440" cy="840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26"/>
          <p:cNvSpPr/>
          <p:nvPr/>
        </p:nvSpPr>
        <p:spPr>
          <a:xfrm>
            <a:off x="5029200" y="3977640"/>
            <a:ext cx="3767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8f4f8"/>
                </a:solidFill>
                <a:latin typeface="Calibri"/>
                <a:ea typeface="Calibri"/>
              </a:rPr>
              <a:t>Diamond Problem — ambiguity in Multiple Inheritance; Python resolves via MRO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Shape 1"/>
          <p:cNvSpPr/>
          <p:nvPr/>
        </p:nvSpPr>
        <p:spPr>
          <a:xfrm>
            <a:off x="5486400" y="-457200"/>
            <a:ext cx="4571640" cy="457164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2"/>
          <p:cNvSpPr/>
          <p:nvPr/>
        </p:nvSpPr>
        <p:spPr>
          <a:xfrm>
            <a:off x="548640" y="5486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b4d8"/>
                </a:solidFill>
                <a:latin typeface="Calibri"/>
                <a:ea typeface="Calibri"/>
              </a:rPr>
              <a:t>Topics Covered ✅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548640" y="105156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Aggregation (HAS-A)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548640" y="155448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Inheritance (IS-A)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548640" y="205740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super() keyword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548640" y="256032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Method Overriding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548640" y="306324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Types of Inheritance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548640" y="356616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06d6a0"/>
                </a:solidFill>
                <a:latin typeface="Calibri"/>
                <a:ea typeface="Calibri"/>
              </a:rPr>
              <a:t>MRO &amp; Diamond Problem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548640" y="38862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d166"/>
                </a:solidFill>
                <a:latin typeface="Calibri"/>
                <a:ea typeface="Calibri"/>
              </a:rPr>
              <a:t>Up Next — Part 2 🚀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548640" y="438912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Polymorphism (3 types)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548640" y="45720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Method Overloading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548640" y="475488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Operator Overloading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548640" y="493776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▶ </a:t>
            </a:r>
            <a:r>
              <a:rPr b="0" lang="en-US" sz="1400" spc="-1" strike="noStrike">
                <a:solidFill>
                  <a:srgbClr val="e8f4f8"/>
                </a:solidFill>
                <a:latin typeface="Calibri"/>
                <a:ea typeface="Calibri"/>
              </a:rPr>
              <a:t>Practice Questions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6" name="Shape 14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15"/>
          <p:cNvSpPr/>
          <p:nvPr/>
        </p:nvSpPr>
        <p:spPr>
          <a:xfrm>
            <a:off x="365760" y="495612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OOP in Python — Part 3 | Notes Part 1 of 2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2026-03-02T09:56:03Z</dcterms:created>
  <dc:creator>PptxGenJS</dc:creator>
  <dc:description/>
  <dc:language>en-IN</dc:language>
  <cp:lastModifiedBy/>
  <dcterms:modified xsi:type="dcterms:W3CDTF">2026-03-03T10:10:50Z</dcterms:modified>
  <cp:revision>2</cp:revision>
  <dc:subject>PptxGenJS Presentation</dc:subject>
  <dc:title>OOP in Python — Part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