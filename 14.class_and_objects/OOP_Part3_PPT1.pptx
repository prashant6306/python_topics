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move the slide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6907708-92E3-40D7-BC3D-23BD61A5FDC8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15F2F0-3368-4B2E-BB99-DEC3389A5B8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C673128-CDA6-4E9F-B1BD-B4D61B5F26F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93C77-56F1-480D-8A94-9D5D5B10279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286634-8236-4C1B-BF0B-EF560653A5B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5208826-B37E-4CA1-945B-C3C1472B923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E0A6388-6DFF-4EDA-B7D8-146A6C9DA75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B573E77-3834-483B-ADAD-CFE96699CA3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97D9407-AEBB-4884-8B79-891F115D924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078375-6CBD-4E64-A430-2D2806758F8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3FB626-8026-4A95-9360-E571516AF60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C86C703-058D-4C60-96BC-98F267007D3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0385764-C2C1-46C1-8BF1-C2AD1896DA70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51FEA65-32EE-4170-B3F5-9760BEBEC48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0BB492D-C2CC-4155-A7E1-3702DF029B30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B20C9FA-D40E-4F54-B218-555D2B674DE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02C3DFF-D298-4DAA-8DFB-19AC7139D07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7D4CB03-EE46-432B-BB4D-D4B05B0786F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4DC0C5-7A21-47D7-B0C5-EA85239DA3E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440C7F8-568E-4CE0-9591-C3B1CA08166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E9F046B-F4A7-43F8-AD1D-28256D2B6A0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CC12FA3-C2E6-4D62-BAD9-51044AF3981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C808D7-1CC2-4D78-A375-9FDCCA5E6DF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1919381-2477-4591-8DD9-7C4C3D08BDE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624D67-3C5A-4EB2-BF07-37925C87D3A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10B2B8A-68AE-4625-A9F1-FDD05873042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7CB7BA9-1071-4BF5-A11B-B00E94E5F31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70A4045-6D06-4B1B-A5C3-58174DF56AD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edit the title text 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5943600" y="-457200"/>
            <a:ext cx="4571280" cy="4571280"/>
          </a:xfrm>
          <a:prstGeom prst="ellipse">
            <a:avLst/>
          </a:prstGeom>
          <a:solidFill>
            <a:srgbClr val="0f3460">
              <a:alpha val="60000"/>
            </a:srgbClr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6858000" y="457200"/>
            <a:ext cx="2742480" cy="2742480"/>
          </a:xfrm>
          <a:prstGeom prst="ellipse">
            <a:avLst/>
          </a:prstGeom>
          <a:solidFill>
            <a:srgbClr val="00b4d8">
              <a:alpha val="30000"/>
            </a:srgbClr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Text 3"/>
          <p:cNvSpPr/>
          <p:nvPr/>
        </p:nvSpPr>
        <p:spPr>
          <a:xfrm>
            <a:off x="548640" y="91440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90e0ef"/>
                </a:solidFill>
                <a:latin typeface="Calibri"/>
                <a:ea typeface="Calibri"/>
              </a:rPr>
              <a:t>OOP in Python — Part 3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548640" y="1463040"/>
            <a:ext cx="77716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Class Relationships,</a:t>
            </a:r>
            <a:endParaRPr b="0" lang="en-IN" sz="4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Aggregation &amp; Inheritance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548640" y="3108960"/>
            <a:ext cx="109656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Text 6"/>
          <p:cNvSpPr/>
          <p:nvPr/>
        </p:nvSpPr>
        <p:spPr>
          <a:xfrm>
            <a:off x="548640" y="3291840"/>
            <a:ext cx="73144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90e0ef"/>
                </a:solidFill>
                <a:latin typeface="Calibri"/>
                <a:ea typeface="Calibri"/>
              </a:rPr>
              <a:t>Comprehensive Study Notes — Part 1 of 2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Text 8"/>
          <p:cNvSpPr/>
          <p:nvPr/>
        </p:nvSpPr>
        <p:spPr>
          <a:xfrm>
            <a:off x="365760" y="4956120"/>
            <a:ext cx="8228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90e0ef"/>
                </a:solidFill>
                <a:latin typeface="Calibri"/>
                <a:ea typeface="Calibri"/>
              </a:rPr>
              <a:t>Class Relationships · Aggregation · Inheritance</a:t>
            </a:r>
            <a:endParaRPr b="0" lang="en-IN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Class Relationships in OOP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5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Shape 3"/>
          <p:cNvSpPr/>
          <p:nvPr/>
        </p:nvSpPr>
        <p:spPr>
          <a:xfrm>
            <a:off x="365760" y="914400"/>
            <a:ext cx="4022640" cy="12794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7" name="Shape 4"/>
          <p:cNvSpPr/>
          <p:nvPr/>
        </p:nvSpPr>
        <p:spPr>
          <a:xfrm>
            <a:off x="365760" y="914400"/>
            <a:ext cx="109080" cy="1279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5"/>
          <p:cNvSpPr/>
          <p:nvPr/>
        </p:nvSpPr>
        <p:spPr>
          <a:xfrm>
            <a:off x="567000" y="1024200"/>
            <a:ext cx="3729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Real-world Context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567000" y="1280160"/>
            <a:ext cx="37299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In any application (e-commerce, social media, etc.), multiple classes exist and must communicate with each other.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0" name="Shape 7"/>
          <p:cNvSpPr/>
          <p:nvPr/>
        </p:nvSpPr>
        <p:spPr>
          <a:xfrm>
            <a:off x="365760" y="2377440"/>
            <a:ext cx="4022640" cy="1370880"/>
          </a:xfrm>
          <a:prstGeom prst="rect">
            <a:avLst/>
          </a:prstGeom>
          <a:solidFill>
            <a:srgbClr val="0f3460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Text 8"/>
          <p:cNvSpPr/>
          <p:nvPr/>
        </p:nvSpPr>
        <p:spPr>
          <a:xfrm>
            <a:off x="548640" y="246888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1. AGGREGATION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548640" y="2788920"/>
            <a:ext cx="36568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HAS-A Relationship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One class owns another class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63" name="Shape 10"/>
          <p:cNvSpPr/>
          <p:nvPr/>
        </p:nvSpPr>
        <p:spPr>
          <a:xfrm>
            <a:off x="4754880" y="2377440"/>
            <a:ext cx="4022640" cy="1370880"/>
          </a:xfrm>
          <a:prstGeom prst="rect">
            <a:avLst/>
          </a:prstGeom>
          <a:solidFill>
            <a:srgbClr val="0f3460"/>
          </a:solidFill>
          <a:ln w="1905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Text 11"/>
          <p:cNvSpPr/>
          <p:nvPr/>
        </p:nvSpPr>
        <p:spPr>
          <a:xfrm>
            <a:off x="4937760" y="246888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2. INHERITANCE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65" name="Text 12"/>
          <p:cNvSpPr/>
          <p:nvPr/>
        </p:nvSpPr>
        <p:spPr>
          <a:xfrm>
            <a:off x="4937760" y="2788920"/>
            <a:ext cx="36568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IS-A Relationship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One class extends another class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66" name="Shape 13"/>
          <p:cNvSpPr/>
          <p:nvPr/>
        </p:nvSpPr>
        <p:spPr>
          <a:xfrm>
            <a:off x="4754880" y="914400"/>
            <a:ext cx="4022640" cy="12794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" name="Shape 14"/>
          <p:cNvSpPr/>
          <p:nvPr/>
        </p:nvSpPr>
        <p:spPr>
          <a:xfrm>
            <a:off x="4754880" y="914400"/>
            <a:ext cx="109080" cy="12794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Text 15"/>
          <p:cNvSpPr/>
          <p:nvPr/>
        </p:nvSpPr>
        <p:spPr>
          <a:xfrm>
            <a:off x="4956120" y="1024200"/>
            <a:ext cx="3729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d166"/>
                </a:solidFill>
                <a:latin typeface="Calibri"/>
                <a:ea typeface="Calibri"/>
              </a:rPr>
              <a:t>Example: Swiggy-like App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69" name="Text 16"/>
          <p:cNvSpPr/>
          <p:nvPr/>
        </p:nvSpPr>
        <p:spPr>
          <a:xfrm>
            <a:off x="4956120" y="1280160"/>
            <a:ext cx="37299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User  ·  Restaurant  ·  Payment  ·  Delivery  — all these classes need to interact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0"/>
          <p:cNvSpPr/>
          <p:nvPr/>
        </p:nvSpPr>
        <p:spPr>
          <a:xfrm>
            <a:off x="0" y="0"/>
            <a:ext cx="2278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Shape 1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2"/>
          <p:cNvSpPr/>
          <p:nvPr/>
        </p:nvSpPr>
        <p:spPr>
          <a:xfrm>
            <a:off x="548640" y="109728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01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3" name="Text 3"/>
          <p:cNvSpPr/>
          <p:nvPr/>
        </p:nvSpPr>
        <p:spPr>
          <a:xfrm>
            <a:off x="548640" y="1554480"/>
            <a:ext cx="77716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Aggregation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74" name="Text 4"/>
          <p:cNvSpPr/>
          <p:nvPr/>
        </p:nvSpPr>
        <p:spPr>
          <a:xfrm>
            <a:off x="548640" y="3017520"/>
            <a:ext cx="73144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HAS-A Relationship between classes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What is Aggregation?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77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Shape 3"/>
          <p:cNvSpPr/>
          <p:nvPr/>
        </p:nvSpPr>
        <p:spPr>
          <a:xfrm>
            <a:off x="365760" y="914400"/>
            <a:ext cx="8411760" cy="1005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" name="Shape 4"/>
          <p:cNvSpPr/>
          <p:nvPr/>
        </p:nvSpPr>
        <p:spPr>
          <a:xfrm>
            <a:off x="365760" y="914400"/>
            <a:ext cx="109080" cy="10051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Text 5"/>
          <p:cNvSpPr/>
          <p:nvPr/>
        </p:nvSpPr>
        <p:spPr>
          <a:xfrm>
            <a:off x="567000" y="102420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Definition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567000" y="1280160"/>
            <a:ext cx="8119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Aggregation is a type of class relationship where one class owns another class as its property.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82" name="Text 7"/>
          <p:cNvSpPr/>
          <p:nvPr/>
        </p:nvSpPr>
        <p:spPr>
          <a:xfrm>
            <a:off x="365760" y="2103120"/>
            <a:ext cx="8411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00b4d8"/>
                </a:solidFill>
                <a:latin typeface="Calibri"/>
                <a:ea typeface="Calibri"/>
              </a:rPr>
              <a:t>Key Examples: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83" name="Text 8"/>
          <p:cNvSpPr/>
          <p:nvPr/>
        </p:nvSpPr>
        <p:spPr>
          <a:xfrm>
            <a:off x="365760" y="2468880"/>
            <a:ext cx="841176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buClr>
                <a:srgbClr val="e8f4f8"/>
              </a:buClr>
              <a:buFont typeface="Symbol"/>
              <a:buChar char=""/>
            </a:pPr>
            <a:r>
              <a:rPr b="0" lang="en-US" sz="1500" spc="-1" strike="noStrike">
                <a:solidFill>
                  <a:srgbClr val="e8f4f8"/>
                </a:solidFill>
                <a:latin typeface="Calibri"/>
                <a:ea typeface="Calibri"/>
              </a:rPr>
              <a:t>Customer  HAS-A  Address  →  Address is a property of Customer</a:t>
            </a:r>
            <a:endParaRPr b="0" lang="en-IN" sz="15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8f4f8"/>
              </a:buClr>
              <a:buFont typeface="Symbol"/>
              <a:buChar char=""/>
            </a:pPr>
            <a:r>
              <a:rPr b="0" lang="en-US" sz="1500" spc="-1" strike="noStrike">
                <a:solidFill>
                  <a:srgbClr val="e8f4f8"/>
                </a:solidFill>
                <a:latin typeface="Calibri"/>
                <a:ea typeface="Calibri"/>
              </a:rPr>
              <a:t>Restaurant  HAS-A  Menu  →  Menu belongs to the Restaurant</a:t>
            </a:r>
            <a:endParaRPr b="0" lang="en-IN" sz="15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8f4f8"/>
              </a:buClr>
              <a:buFont typeface="Symbol"/>
              <a:buChar char=""/>
            </a:pPr>
            <a:r>
              <a:rPr b="0" lang="en-US" sz="1500" spc="-1" strike="noStrike">
                <a:solidFill>
                  <a:srgbClr val="e8f4f8"/>
                </a:solidFill>
                <a:latin typeface="Calibri"/>
                <a:ea typeface="Calibri"/>
              </a:rPr>
              <a:t>Order  HAS-A  PaymentDetails  →  Payment info is part of Order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84" name="Shape 9"/>
          <p:cNvSpPr/>
          <p:nvPr/>
        </p:nvSpPr>
        <p:spPr>
          <a:xfrm>
            <a:off x="365760" y="3840480"/>
            <a:ext cx="8411760" cy="1005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" name="Shape 10"/>
          <p:cNvSpPr/>
          <p:nvPr/>
        </p:nvSpPr>
        <p:spPr>
          <a:xfrm>
            <a:off x="365760" y="3840480"/>
            <a:ext cx="109080" cy="10051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11"/>
          <p:cNvSpPr/>
          <p:nvPr/>
        </p:nvSpPr>
        <p:spPr>
          <a:xfrm>
            <a:off x="567000" y="395028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d166"/>
                </a:solidFill>
                <a:latin typeface="Calibri"/>
                <a:ea typeface="Calibri"/>
              </a:rPr>
              <a:t>UML Notation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87" name="Text 12"/>
          <p:cNvSpPr/>
          <p:nvPr/>
        </p:nvSpPr>
        <p:spPr>
          <a:xfrm>
            <a:off x="567000" y="4206240"/>
            <a:ext cx="8119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Aggregation is shown with a ◇ diamond symbol pointing from the owner to the owned class.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- (minus) = Private   |   + (plus) = Public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Aggregation — Address &amp; Customer Classes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90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Shape 3"/>
          <p:cNvSpPr/>
          <p:nvPr/>
        </p:nvSpPr>
        <p:spPr>
          <a:xfrm>
            <a:off x="365760" y="822960"/>
            <a:ext cx="4937040" cy="32911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4"/>
          <p:cNvSpPr/>
          <p:nvPr/>
        </p:nvSpPr>
        <p:spPr>
          <a:xfrm>
            <a:off x="502920" y="932760"/>
            <a:ext cx="4662720" cy="307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Location: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town, postal, region):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self.town   = town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self.postal = postal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self.region = region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Client: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full_name, gender, location):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self.full_name = full_name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self.gender    = gender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self.location  = location   # location is an object of Location class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show_location(self):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print(self.location.town)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print(self.location.postal)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print(self.location.region)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5577840" y="914400"/>
            <a:ext cx="32911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How It Works: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94" name="Shape 6"/>
          <p:cNvSpPr/>
          <p:nvPr/>
        </p:nvSpPr>
        <p:spPr>
          <a:xfrm>
            <a:off x="5577840" y="1325880"/>
            <a:ext cx="273600" cy="365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Text 7"/>
          <p:cNvSpPr/>
          <p:nvPr/>
        </p:nvSpPr>
        <p:spPr>
          <a:xfrm>
            <a:off x="5943600" y="1325880"/>
            <a:ext cx="2833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1. Create a Location object (town, postal, region)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6" name="Shape 8"/>
          <p:cNvSpPr/>
          <p:nvPr/>
        </p:nvSpPr>
        <p:spPr>
          <a:xfrm>
            <a:off x="5577840" y="1965960"/>
            <a:ext cx="273600" cy="365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9"/>
          <p:cNvSpPr/>
          <p:nvPr/>
        </p:nvSpPr>
        <p:spPr>
          <a:xfrm>
            <a:off x="5943600" y="1965960"/>
            <a:ext cx="2833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2. Pass it as argument while creating Client object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8" name="Shape 10"/>
          <p:cNvSpPr/>
          <p:nvPr/>
        </p:nvSpPr>
        <p:spPr>
          <a:xfrm>
            <a:off x="5577840" y="2606040"/>
            <a:ext cx="273600" cy="365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11"/>
          <p:cNvSpPr/>
          <p:nvPr/>
        </p:nvSpPr>
        <p:spPr>
          <a:xfrm>
            <a:off x="5943600" y="2606040"/>
            <a:ext cx="2833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3. Client stores it as self.location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5577840" y="3246120"/>
            <a:ext cx="273600" cy="365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Text 13"/>
          <p:cNvSpPr/>
          <p:nvPr/>
        </p:nvSpPr>
        <p:spPr>
          <a:xfrm>
            <a:off x="5943600" y="3246120"/>
            <a:ext cx="28339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4. Access location data via self.location.town etc.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2" name="Shape 14"/>
          <p:cNvSpPr/>
          <p:nvPr/>
        </p:nvSpPr>
        <p:spPr>
          <a:xfrm>
            <a:off x="358200" y="4338000"/>
            <a:ext cx="3241800" cy="178200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Text 15"/>
          <p:cNvSpPr/>
          <p:nvPr/>
        </p:nvSpPr>
        <p:spPr>
          <a:xfrm>
            <a:off x="403200" y="4434480"/>
            <a:ext cx="3016800" cy="7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Usage: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loc = Location("Bengaluru","560001","Karnataka")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client = Client("Arjun", "Male", loc)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client.show_location()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OUTPUT: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Bengaluru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560001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Karnataka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Private Variables in Aggregation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3"/>
          <p:cNvSpPr/>
          <p:nvPr/>
        </p:nvSpPr>
        <p:spPr>
          <a:xfrm>
            <a:off x="365760" y="868680"/>
            <a:ext cx="8411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90e0ef"/>
                </a:solidFill>
                <a:latin typeface="Calibri"/>
                <a:ea typeface="Calibri"/>
              </a:rPr>
              <a:t>Can the owning class access private attributes of the owned class?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365760" y="1371600"/>
            <a:ext cx="3931200" cy="913680"/>
          </a:xfrm>
          <a:prstGeom prst="rect">
            <a:avLst/>
          </a:prstGeom>
          <a:solidFill>
            <a:srgbClr val="2d1b1b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5"/>
          <p:cNvSpPr/>
          <p:nvPr/>
        </p:nvSpPr>
        <p:spPr>
          <a:xfrm>
            <a:off x="548640" y="1417320"/>
            <a:ext cx="36568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❌ </a:t>
            </a: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NO — Private attributes (double underscore __) are NOT accessible from outside the class, even via aggregation.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10" name="Shape 6"/>
          <p:cNvSpPr/>
          <p:nvPr/>
        </p:nvSpPr>
        <p:spPr>
          <a:xfrm>
            <a:off x="4572000" y="1371600"/>
            <a:ext cx="4205520" cy="913680"/>
          </a:xfrm>
          <a:prstGeom prst="rect">
            <a:avLst/>
          </a:prstGeom>
          <a:solidFill>
            <a:srgbClr val="0d2b1a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Text 7"/>
          <p:cNvSpPr/>
          <p:nvPr/>
        </p:nvSpPr>
        <p:spPr>
          <a:xfrm>
            <a:off x="4754880" y="1417320"/>
            <a:ext cx="383976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✅ </a:t>
            </a: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Solution — Create a getter method in the owned class and access private data through it.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12" name="Shape 8"/>
          <p:cNvSpPr/>
          <p:nvPr/>
        </p:nvSpPr>
        <p:spPr>
          <a:xfrm>
            <a:off x="365760" y="2423160"/>
            <a:ext cx="8411760" cy="246816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9"/>
          <p:cNvSpPr/>
          <p:nvPr/>
        </p:nvSpPr>
        <p:spPr>
          <a:xfrm>
            <a:off x="502920" y="2532960"/>
            <a:ext cx="8137440" cy="224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Location: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town, postal, region):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self.__town = town      # private variable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self.postal = postal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self.region = region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get_town(self):         # getter 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self.__town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Client: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show_location(self):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print(self.location.get_town())   # use getter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print(self.location.postal)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Aggregation — Delegating Responsibility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hape 3"/>
          <p:cNvSpPr/>
          <p:nvPr/>
        </p:nvSpPr>
        <p:spPr>
          <a:xfrm>
            <a:off x="365760" y="868680"/>
            <a:ext cx="8411760" cy="10508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8" name="Shape 4"/>
          <p:cNvSpPr/>
          <p:nvPr/>
        </p:nvSpPr>
        <p:spPr>
          <a:xfrm>
            <a:off x="365760" y="868680"/>
            <a:ext cx="109080" cy="10508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Text 5"/>
          <p:cNvSpPr/>
          <p:nvPr/>
        </p:nvSpPr>
        <p:spPr>
          <a:xfrm>
            <a:off x="567000" y="97848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Key Principle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567000" y="1234440"/>
            <a:ext cx="81190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Address-related tasks should stay inside the Location class. The Client class delegates location editing by calling Location's own method. This keeps responsibilities properly separated.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21" name="Shape 7"/>
          <p:cNvSpPr/>
          <p:nvPr/>
        </p:nvSpPr>
        <p:spPr>
          <a:xfrm>
            <a:off x="365760" y="2057400"/>
            <a:ext cx="8411760" cy="255960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Text 8"/>
          <p:cNvSpPr/>
          <p:nvPr/>
        </p:nvSpPr>
        <p:spPr>
          <a:xfrm>
            <a:off x="502920" y="2167200"/>
            <a:ext cx="8137440" cy="234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Location: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modify_location(self, new_town, new_postal, new_region):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self.town   = new_town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self.postal = new_postal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self.region = new_region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Client: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update_profile(self, new_name, new_town, new_postal, new_region):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self.full_name = new_name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Delegate location update to Location class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self.location.modify_location(new_town, new_postal, new_region)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Usage: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client.update_profile("Rohan", "Hyderabad", "500001", "Telangana")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3" name="Text 9"/>
          <p:cNvSpPr/>
          <p:nvPr/>
        </p:nvSpPr>
        <p:spPr>
          <a:xfrm>
            <a:off x="365760" y="4663440"/>
            <a:ext cx="8411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1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Good OOP practice — each class manages its own data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0" y="0"/>
            <a:ext cx="2278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Shape 1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2"/>
          <p:cNvSpPr/>
          <p:nvPr/>
        </p:nvSpPr>
        <p:spPr>
          <a:xfrm>
            <a:off x="548640" y="109728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02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548640" y="1554480"/>
            <a:ext cx="77716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Inheritance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548640" y="3017520"/>
            <a:ext cx="73144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IS-A Relationship — Code Reusability via Parent &amp; Child Classes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What is Inheritance?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31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Shape 3"/>
          <p:cNvSpPr/>
          <p:nvPr/>
        </p:nvSpPr>
        <p:spPr>
          <a:xfrm>
            <a:off x="365760" y="914400"/>
            <a:ext cx="8411760" cy="1005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3" name="Shape 4"/>
          <p:cNvSpPr/>
          <p:nvPr/>
        </p:nvSpPr>
        <p:spPr>
          <a:xfrm>
            <a:off x="365760" y="914400"/>
            <a:ext cx="109080" cy="10051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5"/>
          <p:cNvSpPr/>
          <p:nvPr/>
        </p:nvSpPr>
        <p:spPr>
          <a:xfrm>
            <a:off x="567000" y="102420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Definition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567000" y="1280160"/>
            <a:ext cx="8119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Inheritance allows a child class to acquire the attributes and methods of a parent class — just like a child inherits properties from parents in real life.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36" name="Shape 7"/>
          <p:cNvSpPr/>
          <p:nvPr/>
        </p:nvSpPr>
        <p:spPr>
          <a:xfrm>
            <a:off x="365760" y="2103120"/>
            <a:ext cx="2651040" cy="1553760"/>
          </a:xfrm>
          <a:prstGeom prst="rect">
            <a:avLst/>
          </a:prstGeom>
          <a:solidFill>
            <a:srgbClr val="0f3460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 8"/>
          <p:cNvSpPr/>
          <p:nvPr/>
        </p:nvSpPr>
        <p:spPr>
          <a:xfrm>
            <a:off x="502920" y="2240280"/>
            <a:ext cx="2376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00b4d8"/>
                </a:solidFill>
                <a:latin typeface="Calibri"/>
                <a:ea typeface="Calibri"/>
              </a:rPr>
              <a:t>Parent Class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502920" y="2606040"/>
            <a:ext cx="23767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Base Class / Super Class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The one that gives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39" name="Shape 10"/>
          <p:cNvSpPr/>
          <p:nvPr/>
        </p:nvSpPr>
        <p:spPr>
          <a:xfrm>
            <a:off x="3200400" y="2103120"/>
            <a:ext cx="2651040" cy="1553760"/>
          </a:xfrm>
          <a:prstGeom prst="rect">
            <a:avLst/>
          </a:prstGeom>
          <a:solidFill>
            <a:srgbClr val="0f3460"/>
          </a:solidFill>
          <a:ln w="1905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11"/>
          <p:cNvSpPr/>
          <p:nvPr/>
        </p:nvSpPr>
        <p:spPr>
          <a:xfrm>
            <a:off x="3337560" y="2240280"/>
            <a:ext cx="2376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d166"/>
                </a:solidFill>
                <a:latin typeface="Calibri"/>
                <a:ea typeface="Calibri"/>
              </a:rPr>
              <a:t>Child Class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141" name="Text 12"/>
          <p:cNvSpPr/>
          <p:nvPr/>
        </p:nvSpPr>
        <p:spPr>
          <a:xfrm>
            <a:off x="3337560" y="2606040"/>
            <a:ext cx="23767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Derived Class / Sub Class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The one that receives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2" name="Shape 13"/>
          <p:cNvSpPr/>
          <p:nvPr/>
        </p:nvSpPr>
        <p:spPr>
          <a:xfrm>
            <a:off x="6035040" y="2103120"/>
            <a:ext cx="2651040" cy="1553760"/>
          </a:xfrm>
          <a:prstGeom prst="rect">
            <a:avLst/>
          </a:prstGeom>
          <a:solidFill>
            <a:srgbClr val="0f3460"/>
          </a:solidFill>
          <a:ln w="1905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4"/>
          <p:cNvSpPr/>
          <p:nvPr/>
        </p:nvSpPr>
        <p:spPr>
          <a:xfrm>
            <a:off x="6172200" y="2240280"/>
            <a:ext cx="23767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Benefit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144" name="Text 15"/>
          <p:cNvSpPr/>
          <p:nvPr/>
        </p:nvSpPr>
        <p:spPr>
          <a:xfrm>
            <a:off x="6172200" y="2606040"/>
            <a:ext cx="237672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Code Reusability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DRY — Don't Repeat Yourself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5" name="Shape 16"/>
          <p:cNvSpPr/>
          <p:nvPr/>
        </p:nvSpPr>
        <p:spPr>
          <a:xfrm>
            <a:off x="365760" y="3840480"/>
            <a:ext cx="8411760" cy="1005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6" name="Shape 17"/>
          <p:cNvSpPr/>
          <p:nvPr/>
        </p:nvSpPr>
        <p:spPr>
          <a:xfrm>
            <a:off x="365760" y="3840480"/>
            <a:ext cx="109080" cy="10051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8"/>
          <p:cNvSpPr/>
          <p:nvPr/>
        </p:nvSpPr>
        <p:spPr>
          <a:xfrm>
            <a:off x="567000" y="395028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d166"/>
                </a:solidFill>
                <a:latin typeface="Calibri"/>
                <a:ea typeface="Calibri"/>
              </a:rPr>
              <a:t>UML Notation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8" name="Text 19"/>
          <p:cNvSpPr/>
          <p:nvPr/>
        </p:nvSpPr>
        <p:spPr>
          <a:xfrm>
            <a:off x="567000" y="4206240"/>
            <a:ext cx="8119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Inheritance is shown with a ▷ hollow triangle/arrow pointing toward the parent class.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Diamond = Aggregation   |   Triangle = Inheritance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Why Inheritance? — Solving the DRY Violation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51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Text 3"/>
          <p:cNvSpPr/>
          <p:nvPr/>
        </p:nvSpPr>
        <p:spPr>
          <a:xfrm>
            <a:off x="365760" y="914400"/>
            <a:ext cx="4114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❌ </a:t>
            </a: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Without Inheritance — BAD (Violates DRY)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3" name="Shape 4"/>
          <p:cNvSpPr/>
          <p:nvPr/>
        </p:nvSpPr>
        <p:spPr>
          <a:xfrm>
            <a:off x="365760" y="1371600"/>
            <a:ext cx="4114080" cy="255960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Text 5"/>
          <p:cNvSpPr/>
          <p:nvPr/>
        </p:nvSpPr>
        <p:spPr>
          <a:xfrm>
            <a:off x="502920" y="1481400"/>
            <a:ext cx="3839760" cy="234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Learner: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login(self): ...     # REPEATED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register(self): ...  # REPEATED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enroll(self): 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give_feedback(self): 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Mentor: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login(self): ...     # REPEATED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register(self): ...  # REPEATED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create_course(self): 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answer_queries(self): ...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4663440" y="914400"/>
            <a:ext cx="4114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With Inheritance — GOOD (DRY followed)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6" name="Shape 7"/>
          <p:cNvSpPr/>
          <p:nvPr/>
        </p:nvSpPr>
        <p:spPr>
          <a:xfrm>
            <a:off x="4663440" y="1371600"/>
            <a:ext cx="4114080" cy="255960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8"/>
          <p:cNvSpPr/>
          <p:nvPr/>
        </p:nvSpPr>
        <p:spPr>
          <a:xfrm>
            <a:off x="4800600" y="1481400"/>
            <a:ext cx="3839760" cy="234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AppUser:              # Parent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login(self): 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register(self): 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Learner(AppUser):     # Child 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enroll(self): 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give_feedback(self): 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Mentor(AppUser):      # Child 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create_course(self): 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answer_queries(self): ...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58" name="Shape 9"/>
          <p:cNvSpPr/>
          <p:nvPr/>
        </p:nvSpPr>
        <p:spPr>
          <a:xfrm>
            <a:off x="365760" y="4069080"/>
            <a:ext cx="8411760" cy="822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9" name="Shape 10"/>
          <p:cNvSpPr/>
          <p:nvPr/>
        </p:nvSpPr>
        <p:spPr>
          <a:xfrm>
            <a:off x="365760" y="4069080"/>
            <a:ext cx="109080" cy="8222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11"/>
          <p:cNvSpPr/>
          <p:nvPr/>
        </p:nvSpPr>
        <p:spPr>
          <a:xfrm>
            <a:off x="567000" y="417888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DRY Principle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567000" y="4434840"/>
            <a:ext cx="8119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Don't Repeat Yourself — login() and register() are written ONCE in AppUser and shared by all child classes.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Inheritance Syntax in Python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64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hape 3"/>
          <p:cNvSpPr/>
          <p:nvPr/>
        </p:nvSpPr>
        <p:spPr>
          <a:xfrm>
            <a:off x="365760" y="822960"/>
            <a:ext cx="8411760" cy="31996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Text 4"/>
          <p:cNvSpPr/>
          <p:nvPr/>
        </p:nvSpPr>
        <p:spPr>
          <a:xfrm>
            <a:off x="502920" y="932760"/>
            <a:ext cx="8137440" cy="29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AppUser:                       # Parent Class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username):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self.username = username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login(self):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print(f"{self.username} logged in!")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Learner(AppUser):              # Child inherits from AppUser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roll_num):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self.roll_num = roll_num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enroll(self):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print("Enrolled in course!")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Child object can access parent's methods: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 = Learner(101)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s.enroll()                           # Own 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s.login() → works if parent constructor was called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365760" y="4160520"/>
            <a:ext cx="4022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A Child Class Can Access: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389520" y="4454280"/>
            <a:ext cx="841176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lvl="1" marL="685800" indent="-343080">
              <a:lnSpc>
                <a:spcPct val="100000"/>
              </a:lnSpc>
              <a:buClr>
                <a:srgbClr val="e8f4f8"/>
              </a:buClr>
              <a:buFont typeface="Symbol"/>
              <a:buChar char=""/>
            </a:pPr>
            <a:r>
              <a:rPr b="1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Parent's non-private attributes (instance variables)</a:t>
            </a:r>
            <a:endParaRPr b="0" lang="en-IN" sz="1300" spc="-1" strike="noStrike">
              <a:latin typeface="Arial"/>
            </a:endParaRPr>
          </a:p>
          <a:p>
            <a:pPr lvl="1" marL="685800" indent="-343080">
              <a:lnSpc>
                <a:spcPct val="100000"/>
              </a:lnSpc>
              <a:buClr>
                <a:srgbClr val="e8f4f8"/>
              </a:buClr>
              <a:buFont typeface="Symbol"/>
              <a:buChar char=""/>
            </a:pPr>
            <a:r>
              <a:rPr b="1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Parent's non-private methods</a:t>
            </a:r>
            <a:endParaRPr b="0" lang="en-IN" sz="1300" spc="-1" strike="noStrike">
              <a:latin typeface="Arial"/>
            </a:endParaRPr>
          </a:p>
          <a:p>
            <a:pPr lvl="1" marL="685800" indent="-343080">
              <a:lnSpc>
                <a:spcPct val="100000"/>
              </a:lnSpc>
              <a:buClr>
                <a:srgbClr val="e8f4f8"/>
              </a:buClr>
              <a:buFont typeface="Symbol"/>
              <a:buChar char=""/>
            </a:pPr>
            <a:r>
              <a:rPr b="1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Parent's constructor (under specific conditions)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What Does Child Inherit? — Constructor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Text 3"/>
          <p:cNvSpPr/>
          <p:nvPr/>
        </p:nvSpPr>
        <p:spPr>
          <a:xfrm>
            <a:off x="365760" y="868680"/>
            <a:ext cx="8411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RULE: Python looks for constructor in child first → if not found, uses parent's constructor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365760" y="1417320"/>
            <a:ext cx="4022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Case 1: Child has NO constructor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74" name="Shape 5"/>
          <p:cNvSpPr/>
          <p:nvPr/>
        </p:nvSpPr>
        <p:spPr>
          <a:xfrm>
            <a:off x="365760" y="1828800"/>
            <a:ext cx="4114080" cy="22852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6"/>
          <p:cNvSpPr/>
          <p:nvPr/>
        </p:nvSpPr>
        <p:spPr>
          <a:xfrm>
            <a:off x="502920" y="1938600"/>
            <a:ext cx="3839760" cy="20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Device: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price, brand):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self.price = price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self.brand = brand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SmartDevice(Device):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pass              # No constructor here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 = SmartDevice(25000, "Samsung")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print(d.price)        # 25000  ← parent's __init__ used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print(d.brand)        # Samsung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76" name="Text 7"/>
          <p:cNvSpPr/>
          <p:nvPr/>
        </p:nvSpPr>
        <p:spPr>
          <a:xfrm>
            <a:off x="4663440" y="1417320"/>
            <a:ext cx="4022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Case 2: Child HAS its own constructor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77" name="Shape 8"/>
          <p:cNvSpPr/>
          <p:nvPr/>
        </p:nvSpPr>
        <p:spPr>
          <a:xfrm>
            <a:off x="4663440" y="1828800"/>
            <a:ext cx="4114080" cy="22852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9"/>
          <p:cNvSpPr/>
          <p:nvPr/>
        </p:nvSpPr>
        <p:spPr>
          <a:xfrm>
            <a:off x="4800600" y="1938600"/>
            <a:ext cx="3839760" cy="20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Device: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price, brand):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self.price = price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SmartDevice(Device):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os, ram):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self.os  = os   # Only this runs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self.ram = ram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 = SmartDevice("Android", 8)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print(d.price)  # ❌ AttributeError!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Device.__init__ was NEVER called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365760" y="4251960"/>
            <a:ext cx="8453880" cy="7876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0" name="Shape 11"/>
          <p:cNvSpPr/>
          <p:nvPr/>
        </p:nvSpPr>
        <p:spPr>
          <a:xfrm>
            <a:off x="365760" y="4251960"/>
            <a:ext cx="109080" cy="639360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Text 12"/>
          <p:cNvSpPr/>
          <p:nvPr/>
        </p:nvSpPr>
        <p:spPr>
          <a:xfrm>
            <a:off x="567000" y="424440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77f00"/>
                </a:solidFill>
                <a:latin typeface="Calibri"/>
                <a:ea typeface="Calibri"/>
              </a:rPr>
              <a:t>Constructor Overriding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82" name="Text 13"/>
          <p:cNvSpPr/>
          <p:nvPr/>
        </p:nvSpPr>
        <p:spPr>
          <a:xfrm>
            <a:off x="567000" y="4500000"/>
            <a:ext cx="8119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When child defines its own constructor, it overrides the parent's constructor — parent's constructor never runs automatically.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The super() Keyword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Shape 3"/>
          <p:cNvSpPr/>
          <p:nvPr/>
        </p:nvSpPr>
        <p:spPr>
          <a:xfrm>
            <a:off x="365760" y="868680"/>
            <a:ext cx="8411760" cy="9136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7" name="Shape 4"/>
          <p:cNvSpPr/>
          <p:nvPr/>
        </p:nvSpPr>
        <p:spPr>
          <a:xfrm>
            <a:off x="365760" y="868680"/>
            <a:ext cx="109080" cy="913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Text 5"/>
          <p:cNvSpPr/>
          <p:nvPr/>
        </p:nvSpPr>
        <p:spPr>
          <a:xfrm>
            <a:off x="567000" y="97848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Problem &amp; Solution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567000" y="1234440"/>
            <a:ext cx="8119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When child has its own constructor, parent's constructor doesn't run. Use super().__init__() inside child's constructor to explicitly call parent's constructor.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90" name="Shape 7"/>
          <p:cNvSpPr/>
          <p:nvPr/>
        </p:nvSpPr>
        <p:spPr>
          <a:xfrm>
            <a:off x="365760" y="1920240"/>
            <a:ext cx="8411760" cy="28339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8"/>
          <p:cNvSpPr/>
          <p:nvPr/>
        </p:nvSpPr>
        <p:spPr>
          <a:xfrm>
            <a:off x="502920" y="2030040"/>
            <a:ext cx="8137440" cy="26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Device: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price, brand, camera):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print("Inside Device constructor")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self.price  = price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self.brand  = brand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self.camera = camera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SmartDevice(Device):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price, brand, camera, os, ram):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print("Inside SmartDevice constructor")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super().__init__(price, brand, camera)  # Call parent's constructor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self.os  = os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self.ram = ram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 = SmartDevice(20000, "OnePlus", 50, "Android", 8)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print(d.price)   # 20000 ← initialized in parent's constructor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print(d.os)      # Android ← initialized in child's constructor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92" name="Text 9"/>
          <p:cNvSpPr/>
          <p:nvPr/>
        </p:nvSpPr>
        <p:spPr>
          <a:xfrm>
            <a:off x="365760" y="4827960"/>
            <a:ext cx="8411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d166"/>
                </a:solidFill>
                <a:latin typeface="Courier New"/>
                <a:ea typeface="Courier New"/>
              </a:rPr>
              <a:t>Output: Inside SmartDevice constructor → Inside Device constructor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super() — Execution Flow Explained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95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Shape 3"/>
          <p:cNvSpPr/>
          <p:nvPr/>
        </p:nvSpPr>
        <p:spPr>
          <a:xfrm>
            <a:off x="365760" y="960120"/>
            <a:ext cx="410760" cy="383400"/>
          </a:xfrm>
          <a:prstGeom prst="ellipse">
            <a:avLst/>
          </a:prstGeom>
          <a:solidFill>
            <a:srgbClr val="0f346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4"/>
          <p:cNvSpPr/>
          <p:nvPr/>
        </p:nvSpPr>
        <p:spPr>
          <a:xfrm>
            <a:off x="365760" y="96912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1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914400" y="978480"/>
            <a:ext cx="7863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SmartDevice object created → enters SmartDevice's constructor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9" name="Shape 6"/>
          <p:cNvSpPr/>
          <p:nvPr/>
        </p:nvSpPr>
        <p:spPr>
          <a:xfrm>
            <a:off x="365760" y="1618560"/>
            <a:ext cx="410760" cy="383400"/>
          </a:xfrm>
          <a:prstGeom prst="ellipse">
            <a:avLst/>
          </a:prstGeom>
          <a:solidFill>
            <a:srgbClr val="0f346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Text 7"/>
          <p:cNvSpPr/>
          <p:nvPr/>
        </p:nvSpPr>
        <p:spPr>
          <a:xfrm>
            <a:off x="365760" y="162756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2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1" name="Text 8"/>
          <p:cNvSpPr/>
          <p:nvPr/>
        </p:nvSpPr>
        <p:spPr>
          <a:xfrm>
            <a:off x="914400" y="1636920"/>
            <a:ext cx="7863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Prints: 'Inside SmartDevice constructor'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2" name="Shape 9"/>
          <p:cNvSpPr/>
          <p:nvPr/>
        </p:nvSpPr>
        <p:spPr>
          <a:xfrm>
            <a:off x="365760" y="2277000"/>
            <a:ext cx="410760" cy="383400"/>
          </a:xfrm>
          <a:prstGeom prst="ellipse">
            <a:avLst/>
          </a:prstGeom>
          <a:solidFill>
            <a:srgbClr val="0f3460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Text 10"/>
          <p:cNvSpPr/>
          <p:nvPr/>
        </p:nvSpPr>
        <p:spPr>
          <a:xfrm>
            <a:off x="365760" y="228600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3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4" name="Text 11"/>
          <p:cNvSpPr/>
          <p:nvPr/>
        </p:nvSpPr>
        <p:spPr>
          <a:xfrm>
            <a:off x="914400" y="2295000"/>
            <a:ext cx="7863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super().__init__() called → jumps to Device's constructor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5" name="Shape 12"/>
          <p:cNvSpPr/>
          <p:nvPr/>
        </p:nvSpPr>
        <p:spPr>
          <a:xfrm>
            <a:off x="365760" y="2935080"/>
            <a:ext cx="410760" cy="383400"/>
          </a:xfrm>
          <a:prstGeom prst="ellipse">
            <a:avLst/>
          </a:prstGeom>
          <a:solidFill>
            <a:srgbClr val="0f3460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Text 13"/>
          <p:cNvSpPr/>
          <p:nvPr/>
        </p:nvSpPr>
        <p:spPr>
          <a:xfrm>
            <a:off x="365760" y="294444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4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7" name="Text 14"/>
          <p:cNvSpPr/>
          <p:nvPr/>
        </p:nvSpPr>
        <p:spPr>
          <a:xfrm>
            <a:off x="914400" y="2953440"/>
            <a:ext cx="7863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Prints: 'Inside Device constructor' → price, brand, camera initialized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8" name="Shape 15"/>
          <p:cNvSpPr/>
          <p:nvPr/>
        </p:nvSpPr>
        <p:spPr>
          <a:xfrm>
            <a:off x="365760" y="3593520"/>
            <a:ext cx="410760" cy="383400"/>
          </a:xfrm>
          <a:prstGeom prst="ellipse">
            <a:avLst/>
          </a:prstGeom>
          <a:solidFill>
            <a:srgbClr val="0f346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Text 16"/>
          <p:cNvSpPr/>
          <p:nvPr/>
        </p:nvSpPr>
        <p:spPr>
          <a:xfrm>
            <a:off x="365760" y="360288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5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0" name="Text 17"/>
          <p:cNvSpPr/>
          <p:nvPr/>
        </p:nvSpPr>
        <p:spPr>
          <a:xfrm>
            <a:off x="914400" y="3611880"/>
            <a:ext cx="7863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Returns to SmartDevice constructor → os, ram initialized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1" name="Shape 18"/>
          <p:cNvSpPr/>
          <p:nvPr/>
        </p:nvSpPr>
        <p:spPr>
          <a:xfrm>
            <a:off x="365760" y="4251960"/>
            <a:ext cx="410760" cy="383400"/>
          </a:xfrm>
          <a:prstGeom prst="ellipse">
            <a:avLst/>
          </a:prstGeom>
          <a:solidFill>
            <a:srgbClr val="0f346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19"/>
          <p:cNvSpPr/>
          <p:nvPr/>
        </p:nvSpPr>
        <p:spPr>
          <a:xfrm>
            <a:off x="365760" y="426096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6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3" name="Text 20"/>
          <p:cNvSpPr/>
          <p:nvPr/>
        </p:nvSpPr>
        <p:spPr>
          <a:xfrm>
            <a:off x="914400" y="4270320"/>
            <a:ext cx="7863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All attributes (price, brand, camera, os, ram) are now available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4" name="Shape 21"/>
          <p:cNvSpPr/>
          <p:nvPr/>
        </p:nvSpPr>
        <p:spPr>
          <a:xfrm>
            <a:off x="365760" y="4773240"/>
            <a:ext cx="8411760" cy="2005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Text 22"/>
          <p:cNvSpPr/>
          <p:nvPr/>
        </p:nvSpPr>
        <p:spPr>
          <a:xfrm>
            <a:off x="457200" y="4773240"/>
            <a:ext cx="82288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0e0ef"/>
                </a:solidFill>
                <a:latin typeface="Calibri"/>
                <a:ea typeface="Calibri"/>
              </a:rPr>
              <a:t>super() can also call parent's regular methods: super().method_name()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super() — Rules &amp; Restrictions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18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Shape 3"/>
          <p:cNvSpPr/>
          <p:nvPr/>
        </p:nvSpPr>
        <p:spPr>
          <a:xfrm>
            <a:off x="365760" y="932760"/>
            <a:ext cx="8411760" cy="657720"/>
          </a:xfrm>
          <a:prstGeom prst="rect">
            <a:avLst/>
          </a:prstGeom>
          <a:solidFill>
            <a:srgbClr val="0d281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Text 4"/>
          <p:cNvSpPr/>
          <p:nvPr/>
        </p:nvSpPr>
        <p:spPr>
          <a:xfrm>
            <a:off x="548640" y="978480"/>
            <a:ext cx="3474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Used INSIDE the class only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1" name="Text 5"/>
          <p:cNvSpPr/>
          <p:nvPr/>
        </p:nvSpPr>
        <p:spPr>
          <a:xfrm>
            <a:off x="548640" y="130752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super() cannot be used outside class definitions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2" name="Shape 6"/>
          <p:cNvSpPr/>
          <p:nvPr/>
        </p:nvSpPr>
        <p:spPr>
          <a:xfrm>
            <a:off x="365760" y="1710000"/>
            <a:ext cx="8411760" cy="657720"/>
          </a:xfrm>
          <a:prstGeom prst="rect">
            <a:avLst/>
          </a:prstGeom>
          <a:solidFill>
            <a:srgbClr val="0d281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7"/>
          <p:cNvSpPr/>
          <p:nvPr/>
        </p:nvSpPr>
        <p:spPr>
          <a:xfrm>
            <a:off x="548640" y="1755720"/>
            <a:ext cx="3474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Used inside the CHILD class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4" name="Text 8"/>
          <p:cNvSpPr/>
          <p:nvPr/>
        </p:nvSpPr>
        <p:spPr>
          <a:xfrm>
            <a:off x="548640" y="208476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Specifically to call parent's methods or constructor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5" name="Shape 9"/>
          <p:cNvSpPr/>
          <p:nvPr/>
        </p:nvSpPr>
        <p:spPr>
          <a:xfrm>
            <a:off x="365760" y="2487240"/>
            <a:ext cx="8411760" cy="657720"/>
          </a:xfrm>
          <a:prstGeom prst="rect">
            <a:avLst/>
          </a:prstGeom>
          <a:solidFill>
            <a:srgbClr val="2d1010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Text 10"/>
          <p:cNvSpPr/>
          <p:nvPr/>
        </p:nvSpPr>
        <p:spPr>
          <a:xfrm>
            <a:off x="548640" y="2532960"/>
            <a:ext cx="3474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❌ </a:t>
            </a: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Cannot access attributes directly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7" name="Text 11"/>
          <p:cNvSpPr/>
          <p:nvPr/>
        </p:nvSpPr>
        <p:spPr>
          <a:xfrm>
            <a:off x="548640" y="286200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super().price won't work — super() is for methods only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8" name="Shape 12"/>
          <p:cNvSpPr/>
          <p:nvPr/>
        </p:nvSpPr>
        <p:spPr>
          <a:xfrm>
            <a:off x="365760" y="3264480"/>
            <a:ext cx="8411760" cy="657720"/>
          </a:xfrm>
          <a:prstGeom prst="rect">
            <a:avLst/>
          </a:prstGeom>
          <a:solidFill>
            <a:srgbClr val="2d1010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9" name="Text 13"/>
          <p:cNvSpPr/>
          <p:nvPr/>
        </p:nvSpPr>
        <p:spPr>
          <a:xfrm>
            <a:off x="548640" y="3310200"/>
            <a:ext cx="3474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❌ </a:t>
            </a: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No self with super()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548640" y="363924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super() is a built-in function, not an instance — don't use super(self)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365760" y="4041720"/>
            <a:ext cx="8411760" cy="657720"/>
          </a:xfrm>
          <a:prstGeom prst="rect">
            <a:avLst/>
          </a:prstGeom>
          <a:solidFill>
            <a:srgbClr val="0d281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16"/>
          <p:cNvSpPr/>
          <p:nvPr/>
        </p:nvSpPr>
        <p:spPr>
          <a:xfrm>
            <a:off x="548640" y="4087440"/>
            <a:ext cx="347400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Can call parent's methods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33" name="Text 17"/>
          <p:cNvSpPr/>
          <p:nvPr/>
        </p:nvSpPr>
        <p:spPr>
          <a:xfrm>
            <a:off x="548640" y="4416480"/>
            <a:ext cx="80460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super().buy()  or  super().__init__()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Method Overriding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36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Shape 3"/>
          <p:cNvSpPr/>
          <p:nvPr/>
        </p:nvSpPr>
        <p:spPr>
          <a:xfrm>
            <a:off x="365760" y="868680"/>
            <a:ext cx="8411760" cy="9136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8" name="Shape 4"/>
          <p:cNvSpPr/>
          <p:nvPr/>
        </p:nvSpPr>
        <p:spPr>
          <a:xfrm>
            <a:off x="365760" y="868680"/>
            <a:ext cx="109080" cy="913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5"/>
          <p:cNvSpPr/>
          <p:nvPr/>
        </p:nvSpPr>
        <p:spPr>
          <a:xfrm>
            <a:off x="567000" y="97848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Definition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0" name="Text 6"/>
          <p:cNvSpPr/>
          <p:nvPr/>
        </p:nvSpPr>
        <p:spPr>
          <a:xfrm>
            <a:off x="567000" y="1234440"/>
            <a:ext cx="8119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When both parent and child class define a method with the same name, the child's version runs when called on the child object. The parent's version is overridden.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365760" y="1874520"/>
            <a:ext cx="84117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d166"/>
                </a:solidFill>
                <a:latin typeface="Calibri"/>
                <a:ea typeface="Calibri"/>
              </a:rPr>
              <a:t>🎯 </a:t>
            </a:r>
            <a:r>
              <a:rPr b="0" i="1" lang="en-US" sz="1300" spc="-1" strike="noStrike">
                <a:solidFill>
                  <a:srgbClr val="ffd166"/>
                </a:solidFill>
                <a:latin typeface="Calibri"/>
                <a:ea typeface="Calibri"/>
              </a:rPr>
              <a:t>Analogy: Just like a child overrides a parent's career wishes with their own — the child's version always wins!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2" name="Shape 8"/>
          <p:cNvSpPr/>
          <p:nvPr/>
        </p:nvSpPr>
        <p:spPr>
          <a:xfrm>
            <a:off x="365760" y="2423160"/>
            <a:ext cx="8411760" cy="22852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Text 9"/>
          <p:cNvSpPr/>
          <p:nvPr/>
        </p:nvSpPr>
        <p:spPr>
          <a:xfrm>
            <a:off x="502920" y="2532960"/>
            <a:ext cx="8137440" cy="20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Device: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buy(self):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print("Buying a device")        # Parent's buy()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SmartDevice(Device):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buy(self):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print("Buying a smart device")  # Child's buy()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 = SmartDevice(20000, "OnePlus", 50)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d.buy()   # OUTPUT: Buying a smart device  ← Child's version runs!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44" name="Shape 10"/>
          <p:cNvSpPr/>
          <p:nvPr/>
        </p:nvSpPr>
        <p:spPr>
          <a:xfrm>
            <a:off x="365760" y="4827960"/>
            <a:ext cx="8411760" cy="182160"/>
          </a:xfrm>
          <a:prstGeom prst="rect">
            <a:avLst/>
          </a:prstGeom>
          <a:solidFill>
            <a:srgbClr val="1a3a1a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Text 11"/>
          <p:cNvSpPr/>
          <p:nvPr/>
        </p:nvSpPr>
        <p:spPr>
          <a:xfrm>
            <a:off x="457200" y="4837320"/>
            <a:ext cx="8228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Python always executes the most specific (child) version of an overridden method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super() with Method Overriding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48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Shape 3"/>
          <p:cNvSpPr/>
          <p:nvPr/>
        </p:nvSpPr>
        <p:spPr>
          <a:xfrm>
            <a:off x="365760" y="868680"/>
            <a:ext cx="8453880" cy="399096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4"/>
          <p:cNvSpPr/>
          <p:nvPr/>
        </p:nvSpPr>
        <p:spPr>
          <a:xfrm>
            <a:off x="502920" y="978480"/>
            <a:ext cx="8137440" cy="343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Device: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price, brand, camera):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self.price  = price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self.brand  = brand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self.camera = camera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buy(self):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print("Buying a device")        # Parent's buy()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SmartDevice(Device):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price, brand, camera, os, ram):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super().__init__(price, brand, camera)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self.os  = os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self.ram = ram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buy(self):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print("Buying a smart device")  # Child's buy()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super().buy()                   # Also calls parent's buy()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 = SmartDevice(20000, "OnePlus", 50, "Android", 8)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d.buy()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OUTPUT: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Buying a smart device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Buying a device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1" name="Shape 5"/>
          <p:cNvSpPr/>
          <p:nvPr/>
        </p:nvSpPr>
        <p:spPr>
          <a:xfrm>
            <a:off x="360000" y="5440320"/>
            <a:ext cx="8459640" cy="6793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2" name="Shape 6"/>
          <p:cNvSpPr/>
          <p:nvPr/>
        </p:nvSpPr>
        <p:spPr>
          <a:xfrm>
            <a:off x="360000" y="5580000"/>
            <a:ext cx="109080" cy="3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Text 7"/>
          <p:cNvSpPr/>
          <p:nvPr/>
        </p:nvSpPr>
        <p:spPr>
          <a:xfrm>
            <a:off x="540000" y="540000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d166"/>
                </a:solidFill>
                <a:latin typeface="Calibri"/>
                <a:ea typeface="Calibri"/>
              </a:rPr>
              <a:t>Important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54" name="Text 8"/>
          <p:cNvSpPr/>
          <p:nvPr/>
        </p:nvSpPr>
        <p:spPr>
          <a:xfrm>
            <a:off x="340560" y="5580000"/>
            <a:ext cx="8119080" cy="13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36800" bIns="1368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Using super().buy() inside the child's buy() method calls the parent's buy() as well. Both execute in sequence.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0" y="0"/>
            <a:ext cx="2278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Shape 1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7" name="Text 2"/>
          <p:cNvSpPr/>
          <p:nvPr/>
        </p:nvSpPr>
        <p:spPr>
          <a:xfrm>
            <a:off x="548640" y="109728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03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8" name="Text 3"/>
          <p:cNvSpPr/>
          <p:nvPr/>
        </p:nvSpPr>
        <p:spPr>
          <a:xfrm>
            <a:off x="548640" y="1554480"/>
            <a:ext cx="77716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Types of Inheritance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259" name="Text 4"/>
          <p:cNvSpPr/>
          <p:nvPr/>
        </p:nvSpPr>
        <p:spPr>
          <a:xfrm>
            <a:off x="548640" y="3017520"/>
            <a:ext cx="73144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Single · Multi-Level · Hierarchical · Multiple · MRO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5 Types of Inheritance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62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Shape 3"/>
          <p:cNvSpPr/>
          <p:nvPr/>
        </p:nvSpPr>
        <p:spPr>
          <a:xfrm>
            <a:off x="365760" y="914400"/>
            <a:ext cx="4022640" cy="1050840"/>
          </a:xfrm>
          <a:prstGeom prst="rect">
            <a:avLst/>
          </a:prstGeom>
          <a:solidFill>
            <a:srgbClr val="0f3460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4"/>
          <p:cNvSpPr/>
          <p:nvPr/>
        </p:nvSpPr>
        <p:spPr>
          <a:xfrm>
            <a:off x="530280" y="10058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0b4d8"/>
                </a:solidFill>
                <a:latin typeface="Calibri"/>
                <a:ea typeface="Calibri"/>
              </a:rPr>
              <a:t>Single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530280" y="132588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1 parent → 1 child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530280" y="1600200"/>
            <a:ext cx="3656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4a3b8"/>
                </a:solidFill>
                <a:latin typeface="Calibri"/>
                <a:ea typeface="Calibri"/>
              </a:rPr>
              <a:t>Device → SmartDevice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7" name="Shape 7"/>
          <p:cNvSpPr/>
          <p:nvPr/>
        </p:nvSpPr>
        <p:spPr>
          <a:xfrm>
            <a:off x="365760" y="2194560"/>
            <a:ext cx="4022640" cy="1050840"/>
          </a:xfrm>
          <a:prstGeom prst="rect">
            <a:avLst/>
          </a:prstGeom>
          <a:solidFill>
            <a:srgbClr val="0f3460"/>
          </a:solidFill>
          <a:ln w="1905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8" name="Text 8"/>
          <p:cNvSpPr/>
          <p:nvPr/>
        </p:nvSpPr>
        <p:spPr>
          <a:xfrm>
            <a:off x="530280" y="228600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d166"/>
                </a:solidFill>
                <a:latin typeface="Calibri"/>
                <a:ea typeface="Calibri"/>
              </a:rPr>
              <a:t>Multi-Level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269" name="Text 9"/>
          <p:cNvSpPr/>
          <p:nvPr/>
        </p:nvSpPr>
        <p:spPr>
          <a:xfrm>
            <a:off x="530280" y="260604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Chain: A → B → C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70" name="Text 10"/>
          <p:cNvSpPr/>
          <p:nvPr/>
        </p:nvSpPr>
        <p:spPr>
          <a:xfrm>
            <a:off x="530280" y="2880360"/>
            <a:ext cx="3656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4a3b8"/>
                </a:solidFill>
                <a:latin typeface="Calibri"/>
                <a:ea typeface="Calibri"/>
              </a:rPr>
              <a:t>Device → SmartDevice → FoldablePhone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1" name="Shape 11"/>
          <p:cNvSpPr/>
          <p:nvPr/>
        </p:nvSpPr>
        <p:spPr>
          <a:xfrm>
            <a:off x="365760" y="3474720"/>
            <a:ext cx="4022640" cy="1050840"/>
          </a:xfrm>
          <a:prstGeom prst="rect">
            <a:avLst/>
          </a:prstGeom>
          <a:solidFill>
            <a:srgbClr val="0f3460"/>
          </a:solidFill>
          <a:ln w="1905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Text 12"/>
          <p:cNvSpPr/>
          <p:nvPr/>
        </p:nvSpPr>
        <p:spPr>
          <a:xfrm>
            <a:off x="530280" y="356616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06d6a0"/>
                </a:solidFill>
                <a:latin typeface="Calibri"/>
                <a:ea typeface="Calibri"/>
              </a:rPr>
              <a:t>Hierarchical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273" name="Text 13"/>
          <p:cNvSpPr/>
          <p:nvPr/>
        </p:nvSpPr>
        <p:spPr>
          <a:xfrm>
            <a:off x="530280" y="388620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1 parent → many children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74" name="Text 14"/>
          <p:cNvSpPr/>
          <p:nvPr/>
        </p:nvSpPr>
        <p:spPr>
          <a:xfrm>
            <a:off x="530280" y="4160520"/>
            <a:ext cx="3656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4a3b8"/>
                </a:solidFill>
                <a:latin typeface="Calibri"/>
                <a:ea typeface="Calibri"/>
              </a:rPr>
              <a:t>Device → SmartDevice, FeaturePhone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5" name="Shape 15"/>
          <p:cNvSpPr/>
          <p:nvPr/>
        </p:nvSpPr>
        <p:spPr>
          <a:xfrm>
            <a:off x="4709160" y="914400"/>
            <a:ext cx="4022640" cy="1050840"/>
          </a:xfrm>
          <a:prstGeom prst="rect">
            <a:avLst/>
          </a:prstGeom>
          <a:solidFill>
            <a:srgbClr val="0f3460"/>
          </a:solidFill>
          <a:ln w="1905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Text 16"/>
          <p:cNvSpPr/>
          <p:nvPr/>
        </p:nvSpPr>
        <p:spPr>
          <a:xfrm>
            <a:off x="4873680" y="100584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77f00"/>
                </a:solidFill>
                <a:latin typeface="Calibri"/>
                <a:ea typeface="Calibri"/>
              </a:rPr>
              <a:t>Multiple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277" name="Text 17"/>
          <p:cNvSpPr/>
          <p:nvPr/>
        </p:nvSpPr>
        <p:spPr>
          <a:xfrm>
            <a:off x="4873680" y="132588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Many parents → 1 child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78" name="Text 18"/>
          <p:cNvSpPr/>
          <p:nvPr/>
        </p:nvSpPr>
        <p:spPr>
          <a:xfrm>
            <a:off x="4873680" y="1600200"/>
            <a:ext cx="3656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4a3b8"/>
                </a:solidFill>
                <a:latin typeface="Calibri"/>
                <a:ea typeface="Calibri"/>
              </a:rPr>
              <a:t>(Product, Device) → SmartDevice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79" name="Shape 19"/>
          <p:cNvSpPr/>
          <p:nvPr/>
        </p:nvSpPr>
        <p:spPr>
          <a:xfrm>
            <a:off x="4709160" y="2194560"/>
            <a:ext cx="4022640" cy="1050840"/>
          </a:xfrm>
          <a:prstGeom prst="rect">
            <a:avLst/>
          </a:prstGeom>
          <a:solidFill>
            <a:srgbClr val="0f3460"/>
          </a:solidFill>
          <a:ln w="1905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0" name="Text 20"/>
          <p:cNvSpPr/>
          <p:nvPr/>
        </p:nvSpPr>
        <p:spPr>
          <a:xfrm>
            <a:off x="4873680" y="228600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ef233c"/>
                </a:solidFill>
                <a:latin typeface="Calibri"/>
                <a:ea typeface="Calibri"/>
              </a:rPr>
              <a:t>Diamond Problem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281" name="Text 21"/>
          <p:cNvSpPr/>
          <p:nvPr/>
        </p:nvSpPr>
        <p:spPr>
          <a:xfrm>
            <a:off x="4873680" y="2606040"/>
            <a:ext cx="36568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MRO resolves ambiguity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82" name="Text 22"/>
          <p:cNvSpPr/>
          <p:nvPr/>
        </p:nvSpPr>
        <p:spPr>
          <a:xfrm>
            <a:off x="4873680" y="2880360"/>
            <a:ext cx="3656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94a3b8"/>
                </a:solidFill>
                <a:latin typeface="Calibri"/>
                <a:ea typeface="Calibri"/>
              </a:rPr>
              <a:t>Python: first-listed parent wins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Single &amp; Multi-Level Inheritance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85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3"/>
          <p:cNvSpPr/>
          <p:nvPr/>
        </p:nvSpPr>
        <p:spPr>
          <a:xfrm>
            <a:off x="365760" y="914400"/>
            <a:ext cx="40226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Single Inheritance — 1 parent, 1 child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87" name="Shape 4"/>
          <p:cNvSpPr/>
          <p:nvPr/>
        </p:nvSpPr>
        <p:spPr>
          <a:xfrm>
            <a:off x="365760" y="1371600"/>
            <a:ext cx="4022640" cy="22852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5"/>
          <p:cNvSpPr/>
          <p:nvPr/>
        </p:nvSpPr>
        <p:spPr>
          <a:xfrm>
            <a:off x="502920" y="1481400"/>
            <a:ext cx="3748320" cy="20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Device: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buy(self):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print("Buy device")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SmartDevice(Device):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activate_5g(self):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print("5G activated")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sd = SmartDevice(...)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sd.buy()           # Parent's 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sd.activate_5g()   # Own method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89" name="Text 6"/>
          <p:cNvSpPr/>
          <p:nvPr/>
        </p:nvSpPr>
        <p:spPr>
          <a:xfrm>
            <a:off x="4754880" y="914400"/>
            <a:ext cx="4114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Multi-Level — Chain of inheritance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90" name="Shape 7"/>
          <p:cNvSpPr/>
          <p:nvPr/>
        </p:nvSpPr>
        <p:spPr>
          <a:xfrm>
            <a:off x="4754880" y="1371600"/>
            <a:ext cx="4114080" cy="265104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8"/>
          <p:cNvSpPr/>
          <p:nvPr/>
        </p:nvSpPr>
        <p:spPr>
          <a:xfrm>
            <a:off x="4892040" y="1481400"/>
            <a:ext cx="3839760" cy="243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Device:         # Grandparent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review(self):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print("Reviewing device")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SmartDevice(Device): # Parent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buy(self):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print("Buying smart device")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FoldablePhone(SmartDevice): # Child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fp = FoldablePhone(...)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fp.buy()     # Parent's 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fp.review()  # Grandparent's method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92" name="Shape 9"/>
          <p:cNvSpPr/>
          <p:nvPr/>
        </p:nvSpPr>
        <p:spPr>
          <a:xfrm>
            <a:off x="365760" y="4160520"/>
            <a:ext cx="8411760" cy="7308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3" name="Shape 10"/>
          <p:cNvSpPr/>
          <p:nvPr/>
        </p:nvSpPr>
        <p:spPr>
          <a:xfrm>
            <a:off x="365760" y="4160520"/>
            <a:ext cx="109080" cy="7308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Text 11"/>
          <p:cNvSpPr/>
          <p:nvPr/>
        </p:nvSpPr>
        <p:spPr>
          <a:xfrm>
            <a:off x="567000" y="427032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Multi-Level Key Point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95" name="Text 12"/>
          <p:cNvSpPr/>
          <p:nvPr/>
        </p:nvSpPr>
        <p:spPr>
          <a:xfrm>
            <a:off x="567000" y="4526280"/>
            <a:ext cx="8119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A child class can access methods from its direct parent AND grandparent (and beyond). It searches upward through the chain.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7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Multiple Inheritance &amp; Method Resolution Order (MRO)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98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9" name="Shape 3"/>
          <p:cNvSpPr/>
          <p:nvPr/>
        </p:nvSpPr>
        <p:spPr>
          <a:xfrm>
            <a:off x="365760" y="868680"/>
            <a:ext cx="8411760" cy="28339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0" name="Text 4"/>
          <p:cNvSpPr/>
          <p:nvPr/>
        </p:nvSpPr>
        <p:spPr>
          <a:xfrm>
            <a:off x="502920" y="978480"/>
            <a:ext cx="8137440" cy="261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Product: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buy(self):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print("Buying from Product class")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Device: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buy(self):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print("Buying from Device class")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SmartDevice(Product, Device):   # Multiple parents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sd = SmartDevice()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sd.buy()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OUTPUT: Buying from Product class  ← Product listed first!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01" name="Shape 5"/>
          <p:cNvSpPr/>
          <p:nvPr/>
        </p:nvSpPr>
        <p:spPr>
          <a:xfrm>
            <a:off x="365760" y="3794760"/>
            <a:ext cx="4022640" cy="1096560"/>
          </a:xfrm>
          <a:prstGeom prst="rect">
            <a:avLst/>
          </a:prstGeom>
          <a:solidFill>
            <a:srgbClr val="0f3460"/>
          </a:solidFill>
          <a:ln w="1905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6"/>
          <p:cNvSpPr/>
          <p:nvPr/>
        </p:nvSpPr>
        <p:spPr>
          <a:xfrm>
            <a:off x="548640" y="388620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77f00"/>
                </a:solidFill>
                <a:latin typeface="Calibri"/>
                <a:ea typeface="Calibri"/>
              </a:rPr>
              <a:t>MRO Rule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548640" y="4206240"/>
            <a:ext cx="36568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The FIRST parent listed in brackets takes priority when both have the same method name.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04" name="Shape 8"/>
          <p:cNvSpPr/>
          <p:nvPr/>
        </p:nvSpPr>
        <p:spPr>
          <a:xfrm>
            <a:off x="4754880" y="3794760"/>
            <a:ext cx="4114080" cy="1096560"/>
          </a:xfrm>
          <a:prstGeom prst="rect">
            <a:avLst/>
          </a:prstGeom>
          <a:solidFill>
            <a:srgbClr val="0f3460"/>
          </a:solidFill>
          <a:ln w="1905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9"/>
          <p:cNvSpPr/>
          <p:nvPr/>
        </p:nvSpPr>
        <p:spPr>
          <a:xfrm>
            <a:off x="4937760" y="3886200"/>
            <a:ext cx="37483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Diamond Problem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06" name="Text 10"/>
          <p:cNvSpPr/>
          <p:nvPr/>
        </p:nvSpPr>
        <p:spPr>
          <a:xfrm>
            <a:off x="4937760" y="4206240"/>
            <a:ext cx="37483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When two parent classes have same method — ambiguity arises. Java avoids it by not supporting Multiple Inheritance. Python resolves via MRO.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0"/>
          <p:cNvSpPr/>
          <p:nvPr/>
        </p:nvSpPr>
        <p:spPr>
          <a:xfrm>
            <a:off x="0" y="0"/>
            <a:ext cx="227880" cy="514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Shape 1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2"/>
          <p:cNvSpPr/>
          <p:nvPr/>
        </p:nvSpPr>
        <p:spPr>
          <a:xfrm>
            <a:off x="548640" y="1097280"/>
            <a:ext cx="77716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04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10" name="Text 3"/>
          <p:cNvSpPr/>
          <p:nvPr/>
        </p:nvSpPr>
        <p:spPr>
          <a:xfrm>
            <a:off x="548640" y="1554480"/>
            <a:ext cx="777168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Practice Scenarios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311" name="Text 4"/>
          <p:cNvSpPr/>
          <p:nvPr/>
        </p:nvSpPr>
        <p:spPr>
          <a:xfrm>
            <a:off x="548640" y="3017520"/>
            <a:ext cx="73144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Output Prediction &amp; Key Scenarios to Master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Scenario 1 &amp; 2 — Constructor Behavior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14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5" name="Text 3"/>
          <p:cNvSpPr/>
          <p:nvPr/>
        </p:nvSpPr>
        <p:spPr>
          <a:xfrm>
            <a:off x="365760" y="914400"/>
            <a:ext cx="4022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Scenario 1: Child has NO constructor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365760" y="1325880"/>
            <a:ext cx="4022640" cy="201096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Text 5"/>
          <p:cNvSpPr/>
          <p:nvPr/>
        </p:nvSpPr>
        <p:spPr>
          <a:xfrm>
            <a:off x="502920" y="1435680"/>
            <a:ext cx="3748320" cy="17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Parent: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val):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self.val = val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Child(Parent):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Child(42)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print(obj.val)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OUTPUT: 42  ← Parent's constructor used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365760" y="3410640"/>
            <a:ext cx="4022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Parent's __init__ runs → obj.val = 42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19" name="Text 7"/>
          <p:cNvSpPr/>
          <p:nvPr/>
        </p:nvSpPr>
        <p:spPr>
          <a:xfrm>
            <a:off x="4663440" y="914400"/>
            <a:ext cx="4114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ef233c"/>
                </a:solidFill>
                <a:latin typeface="Calibri"/>
                <a:ea typeface="Calibri"/>
              </a:rPr>
              <a:t>Scenario 2: Child HAS its own constructor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20" name="Shape 8"/>
          <p:cNvSpPr/>
          <p:nvPr/>
        </p:nvSpPr>
        <p:spPr>
          <a:xfrm>
            <a:off x="4663440" y="1325880"/>
            <a:ext cx="4114080" cy="201096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1" name="Text 9"/>
          <p:cNvSpPr/>
          <p:nvPr/>
        </p:nvSpPr>
        <p:spPr>
          <a:xfrm>
            <a:off x="4800600" y="1435680"/>
            <a:ext cx="3839760" cy="17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Parent: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val):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self.val = val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Child(Parent):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num):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self.num = num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Child(42)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print(obj.val)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OUTPUT: AttributeError!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22" name="Text 10"/>
          <p:cNvSpPr/>
          <p:nvPr/>
        </p:nvSpPr>
        <p:spPr>
          <a:xfrm>
            <a:off x="4663440" y="3410640"/>
            <a:ext cx="4114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f233c"/>
                </a:solidFill>
                <a:latin typeface="Calibri"/>
                <a:ea typeface="Calibri"/>
              </a:rPr>
              <a:t>❌ </a:t>
            </a:r>
            <a:r>
              <a:rPr b="0" lang="en-US" sz="1200" spc="-1" strike="noStrike">
                <a:solidFill>
                  <a:srgbClr val="ef233c"/>
                </a:solidFill>
                <a:latin typeface="Calibri"/>
                <a:ea typeface="Calibri"/>
              </a:rPr>
              <a:t>Parent's __init__ never called → obj.val doesn't exist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23" name="Shape 11"/>
          <p:cNvSpPr/>
          <p:nvPr/>
        </p:nvSpPr>
        <p:spPr>
          <a:xfrm>
            <a:off x="365760" y="3822120"/>
            <a:ext cx="8411760" cy="8038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4" name="Shape 12"/>
          <p:cNvSpPr/>
          <p:nvPr/>
        </p:nvSpPr>
        <p:spPr>
          <a:xfrm>
            <a:off x="365760" y="3822120"/>
            <a:ext cx="109080" cy="803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5" name="Text 13"/>
          <p:cNvSpPr/>
          <p:nvPr/>
        </p:nvSpPr>
        <p:spPr>
          <a:xfrm>
            <a:off x="567000" y="393192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Fix for Scenario 2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26" name="Text 14"/>
          <p:cNvSpPr/>
          <p:nvPr/>
        </p:nvSpPr>
        <p:spPr>
          <a:xfrm>
            <a:off x="567000" y="4187880"/>
            <a:ext cx="8119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Add super().__init__(val) inside Child's constructor to initialize both parent and child attributes.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8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Scenario 3 &amp; 4 — super() and Method Overriding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29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3"/>
          <p:cNvSpPr/>
          <p:nvPr/>
        </p:nvSpPr>
        <p:spPr>
          <a:xfrm>
            <a:off x="365760" y="914400"/>
            <a:ext cx="40226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0b4d8"/>
                </a:solidFill>
                <a:latin typeface="Calibri"/>
                <a:ea typeface="Calibri"/>
              </a:rPr>
              <a:t>Scenario 3: Using super() in constructor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31" name="Shape 4"/>
          <p:cNvSpPr/>
          <p:nvPr/>
        </p:nvSpPr>
        <p:spPr>
          <a:xfrm>
            <a:off x="365760" y="1325880"/>
            <a:ext cx="4022640" cy="22852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2" name="Text 5"/>
          <p:cNvSpPr/>
          <p:nvPr/>
        </p:nvSpPr>
        <p:spPr>
          <a:xfrm>
            <a:off x="502920" y="1435680"/>
            <a:ext cx="3748320" cy="20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Parent: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val):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self.val = val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Child(Parent):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val, num):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super().__init__(val)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self.num = num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Child(10, 20)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print(obj.val)   # 10 ← from parent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print(obj.num)   # 20 ← from child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33" name="Text 6"/>
          <p:cNvSpPr/>
          <p:nvPr/>
        </p:nvSpPr>
        <p:spPr>
          <a:xfrm>
            <a:off x="365760" y="3675960"/>
            <a:ext cx="4022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Both constructors run — all attributes initialized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4" name="Text 7"/>
          <p:cNvSpPr/>
          <p:nvPr/>
        </p:nvSpPr>
        <p:spPr>
          <a:xfrm>
            <a:off x="4663440" y="914400"/>
            <a:ext cx="4114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d166"/>
                </a:solidFill>
                <a:latin typeface="Calibri"/>
                <a:ea typeface="Calibri"/>
              </a:rPr>
              <a:t>Scenario 4: Method Overriding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35" name="Shape 8"/>
          <p:cNvSpPr/>
          <p:nvPr/>
        </p:nvSpPr>
        <p:spPr>
          <a:xfrm>
            <a:off x="4663440" y="1325880"/>
            <a:ext cx="4114080" cy="22852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Text 9"/>
          <p:cNvSpPr/>
          <p:nvPr/>
        </p:nvSpPr>
        <p:spPr>
          <a:xfrm>
            <a:off x="4800600" y="1435680"/>
            <a:ext cx="3839760" cy="206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Parent: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greet(self):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print("Hello from Parent")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Child(Parent):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greet(self):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print("Hello from Child")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Child()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obj.greet()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OUTPUT: Hello from Child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        ← Child's version runs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37" name="Text 10"/>
          <p:cNvSpPr/>
          <p:nvPr/>
        </p:nvSpPr>
        <p:spPr>
          <a:xfrm>
            <a:off x="4663440" y="3675960"/>
            <a:ext cx="4114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Child's greet() overrides Parent's greet()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8" name="Shape 11"/>
          <p:cNvSpPr/>
          <p:nvPr/>
        </p:nvSpPr>
        <p:spPr>
          <a:xfrm>
            <a:off x="365760" y="4069080"/>
            <a:ext cx="8411760" cy="8038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9" name="Shape 12"/>
          <p:cNvSpPr/>
          <p:nvPr/>
        </p:nvSpPr>
        <p:spPr>
          <a:xfrm>
            <a:off x="365760" y="4069080"/>
            <a:ext cx="109080" cy="8038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Text 13"/>
          <p:cNvSpPr/>
          <p:nvPr/>
        </p:nvSpPr>
        <p:spPr>
          <a:xfrm>
            <a:off x="567000" y="417888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super() in method overriding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41" name="Text 14"/>
          <p:cNvSpPr/>
          <p:nvPr/>
        </p:nvSpPr>
        <p:spPr>
          <a:xfrm>
            <a:off x="567000" y="4434840"/>
            <a:ext cx="8119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Inside Child's overridden method, call super().greet() to execute the parent's version as well.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⚠️ </a:t>
            </a: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Beware — Infinite Recursion with Method Overriding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44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365760" y="868680"/>
            <a:ext cx="8411760" cy="1005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6" name="Shape 4"/>
          <p:cNvSpPr/>
          <p:nvPr/>
        </p:nvSpPr>
        <p:spPr>
          <a:xfrm>
            <a:off x="365760" y="868680"/>
            <a:ext cx="109080" cy="1005120"/>
          </a:xfrm>
          <a:prstGeom prst="rect">
            <a:avLst/>
          </a:prstGeom>
          <a:solidFill>
            <a:srgbClr val="ef233c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Text 5"/>
          <p:cNvSpPr/>
          <p:nvPr/>
        </p:nvSpPr>
        <p:spPr>
          <a:xfrm>
            <a:off x="567000" y="978480"/>
            <a:ext cx="81190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ef233c"/>
                </a:solidFill>
                <a:latin typeface="Calibri"/>
                <a:ea typeface="Calibri"/>
              </a:rPr>
              <a:t>Warning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348" name="Text 6"/>
          <p:cNvSpPr/>
          <p:nvPr/>
        </p:nvSpPr>
        <p:spPr>
          <a:xfrm>
            <a:off x="567000" y="1234440"/>
            <a:ext cx="81190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If inside a child's overridden method you call self.method_name() — it calls the child's own version again (not parent). This creates an infinite loop → RecursionError!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349" name="Shape 7"/>
          <p:cNvSpPr/>
          <p:nvPr/>
        </p:nvSpPr>
        <p:spPr>
          <a:xfrm>
            <a:off x="365760" y="2011680"/>
            <a:ext cx="8411760" cy="255960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0" name="Text 8"/>
          <p:cNvSpPr/>
          <p:nvPr/>
        </p:nvSpPr>
        <p:spPr>
          <a:xfrm>
            <a:off x="502920" y="2121480"/>
            <a:ext cx="8137440" cy="234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Parent: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m1(self):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print("Parent m1")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Child(Parent):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m1(self):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print("Child m1")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self.m1()    # ❌ WRONG! Calls Child's m1() again (not Parent's)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     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→ Infinite recursion → RecursionError!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Child()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obj.m1()  # RecursionError: maximum recursion depth exceeded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351" name="Shape 9"/>
          <p:cNvSpPr/>
          <p:nvPr/>
        </p:nvSpPr>
        <p:spPr>
          <a:xfrm>
            <a:off x="365760" y="4663440"/>
            <a:ext cx="4022640" cy="319320"/>
          </a:xfrm>
          <a:prstGeom prst="rect">
            <a:avLst/>
          </a:prstGeom>
          <a:solidFill>
            <a:srgbClr val="2d1010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2" name="Text 10"/>
          <p:cNvSpPr/>
          <p:nvPr/>
        </p:nvSpPr>
        <p:spPr>
          <a:xfrm>
            <a:off x="457200" y="4681800"/>
            <a:ext cx="383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f233c"/>
                </a:solidFill>
                <a:latin typeface="Courier New"/>
                <a:ea typeface="Courier New"/>
              </a:rPr>
              <a:t>self.m1() → calls Child's m1 → calls self.m1() → ∞ loop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53" name="Shape 11"/>
          <p:cNvSpPr/>
          <p:nvPr/>
        </p:nvSpPr>
        <p:spPr>
          <a:xfrm>
            <a:off x="4754880" y="4663440"/>
            <a:ext cx="4114080" cy="319320"/>
          </a:xfrm>
          <a:prstGeom prst="rect">
            <a:avLst/>
          </a:prstGeom>
          <a:solidFill>
            <a:srgbClr val="0d281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4" name="Text 12"/>
          <p:cNvSpPr/>
          <p:nvPr/>
        </p:nvSpPr>
        <p:spPr>
          <a:xfrm>
            <a:off x="4846320" y="4681800"/>
            <a:ext cx="383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ourier New"/>
                <a:ea typeface="Courier New"/>
              </a:rPr>
              <a:t>Fix: use super().m1() to call Parent's version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Shape 0"/>
          <p:cNvSpPr/>
          <p:nvPr/>
        </p:nvSpPr>
        <p:spPr>
          <a:xfrm>
            <a:off x="0" y="0"/>
            <a:ext cx="914328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6" name="Text 1"/>
          <p:cNvSpPr/>
          <p:nvPr/>
        </p:nvSpPr>
        <p:spPr>
          <a:xfrm>
            <a:off x="365760" y="16452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Inheritance — Key Takeaways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57" name="Shape 2"/>
          <p:cNvSpPr/>
          <p:nvPr/>
        </p:nvSpPr>
        <p:spPr>
          <a:xfrm>
            <a:off x="365760" y="704160"/>
            <a:ext cx="8411760" cy="266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Shape 3"/>
          <p:cNvSpPr/>
          <p:nvPr/>
        </p:nvSpPr>
        <p:spPr>
          <a:xfrm>
            <a:off x="365760" y="914400"/>
            <a:ext cx="4159800" cy="840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Shape 4"/>
          <p:cNvSpPr/>
          <p:nvPr/>
        </p:nvSpPr>
        <p:spPr>
          <a:xfrm>
            <a:off x="365760" y="914400"/>
            <a:ext cx="109080" cy="840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0" name="Text 5"/>
          <p:cNvSpPr/>
          <p:nvPr/>
        </p:nvSpPr>
        <p:spPr>
          <a:xfrm>
            <a:off x="594360" y="960120"/>
            <a:ext cx="37666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Syntax: class Child(Parent): — child gains access to parent's non-private attributes and methods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61" name="Shape 6"/>
          <p:cNvSpPr/>
          <p:nvPr/>
        </p:nvSpPr>
        <p:spPr>
          <a:xfrm>
            <a:off x="365760" y="1920240"/>
            <a:ext cx="4159800" cy="840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2" name="Shape 7"/>
          <p:cNvSpPr/>
          <p:nvPr/>
        </p:nvSpPr>
        <p:spPr>
          <a:xfrm>
            <a:off x="365760" y="1920240"/>
            <a:ext cx="109080" cy="840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3" name="Text 8"/>
          <p:cNvSpPr/>
          <p:nvPr/>
        </p:nvSpPr>
        <p:spPr>
          <a:xfrm>
            <a:off x="594360" y="1965960"/>
            <a:ext cx="37666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If child has NO constructor → parent's constructor runs automatically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64" name="Shape 9"/>
          <p:cNvSpPr/>
          <p:nvPr/>
        </p:nvSpPr>
        <p:spPr>
          <a:xfrm>
            <a:off x="365760" y="2926080"/>
            <a:ext cx="4159800" cy="840600"/>
          </a:xfrm>
          <a:prstGeom prst="rect">
            <a:avLst/>
          </a:prstGeom>
          <a:solidFill>
            <a:srgbClr val="0f3460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Shape 10"/>
          <p:cNvSpPr/>
          <p:nvPr/>
        </p:nvSpPr>
        <p:spPr>
          <a:xfrm>
            <a:off x="365760" y="2926080"/>
            <a:ext cx="109080" cy="8406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6" name="Text 11"/>
          <p:cNvSpPr/>
          <p:nvPr/>
        </p:nvSpPr>
        <p:spPr>
          <a:xfrm>
            <a:off x="594360" y="2971800"/>
            <a:ext cx="37666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If child HAS its own constructor → parent's constructor does NOT run (use super())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67" name="Shape 12"/>
          <p:cNvSpPr/>
          <p:nvPr/>
        </p:nvSpPr>
        <p:spPr>
          <a:xfrm>
            <a:off x="365760" y="3931920"/>
            <a:ext cx="4159800" cy="840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Shape 13"/>
          <p:cNvSpPr/>
          <p:nvPr/>
        </p:nvSpPr>
        <p:spPr>
          <a:xfrm>
            <a:off x="365760" y="3931920"/>
            <a:ext cx="109080" cy="840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4"/>
          <p:cNvSpPr/>
          <p:nvPr/>
        </p:nvSpPr>
        <p:spPr>
          <a:xfrm>
            <a:off x="594360" y="3977640"/>
            <a:ext cx="37666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super().__init__() — calls parent's constructor from inside child's constructor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70" name="Shape 15"/>
          <p:cNvSpPr/>
          <p:nvPr/>
        </p:nvSpPr>
        <p:spPr>
          <a:xfrm>
            <a:off x="4800600" y="914400"/>
            <a:ext cx="4159800" cy="840600"/>
          </a:xfrm>
          <a:prstGeom prst="rect">
            <a:avLst/>
          </a:prstGeom>
          <a:solidFill>
            <a:srgbClr val="0f3460"/>
          </a:solidFill>
          <a:ln w="1270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1" name="Shape 16"/>
          <p:cNvSpPr/>
          <p:nvPr/>
        </p:nvSpPr>
        <p:spPr>
          <a:xfrm>
            <a:off x="4800600" y="914400"/>
            <a:ext cx="109080" cy="840600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2" name="Text 17"/>
          <p:cNvSpPr/>
          <p:nvPr/>
        </p:nvSpPr>
        <p:spPr>
          <a:xfrm>
            <a:off x="5029200" y="960120"/>
            <a:ext cx="37666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Method Overriding — child's version of a method runs instead of parent's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73" name="Shape 18"/>
          <p:cNvSpPr/>
          <p:nvPr/>
        </p:nvSpPr>
        <p:spPr>
          <a:xfrm>
            <a:off x="4800600" y="1920240"/>
            <a:ext cx="4159800" cy="840600"/>
          </a:xfrm>
          <a:prstGeom prst="rect">
            <a:avLst/>
          </a:prstGeom>
          <a:solidFill>
            <a:srgbClr val="0f3460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4" name="Shape 19"/>
          <p:cNvSpPr/>
          <p:nvPr/>
        </p:nvSpPr>
        <p:spPr>
          <a:xfrm>
            <a:off x="4800600" y="1920240"/>
            <a:ext cx="109080" cy="840600"/>
          </a:xfrm>
          <a:prstGeom prst="rect">
            <a:avLst/>
          </a:prstGeom>
          <a:solidFill>
            <a:srgbClr val="ef233c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5" name="Text 20"/>
          <p:cNvSpPr/>
          <p:nvPr/>
        </p:nvSpPr>
        <p:spPr>
          <a:xfrm>
            <a:off x="5029200" y="1965960"/>
            <a:ext cx="37666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Inheritance is ONE-WAY — parent cannot access child's data/methods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76" name="Shape 21"/>
          <p:cNvSpPr/>
          <p:nvPr/>
        </p:nvSpPr>
        <p:spPr>
          <a:xfrm>
            <a:off x="4800600" y="2926080"/>
            <a:ext cx="4159800" cy="840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7" name="Shape 22"/>
          <p:cNvSpPr/>
          <p:nvPr/>
        </p:nvSpPr>
        <p:spPr>
          <a:xfrm>
            <a:off x="4800600" y="2926080"/>
            <a:ext cx="109080" cy="840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8" name="Text 23"/>
          <p:cNvSpPr/>
          <p:nvPr/>
        </p:nvSpPr>
        <p:spPr>
          <a:xfrm>
            <a:off x="5029200" y="2971800"/>
            <a:ext cx="37666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MRO — in Multiple Inheritance, first-listed parent's method takes priority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79" name="Shape 24"/>
          <p:cNvSpPr/>
          <p:nvPr/>
        </p:nvSpPr>
        <p:spPr>
          <a:xfrm>
            <a:off x="4800600" y="3931920"/>
            <a:ext cx="4159800" cy="840600"/>
          </a:xfrm>
          <a:prstGeom prst="rect">
            <a:avLst/>
          </a:prstGeom>
          <a:solidFill>
            <a:srgbClr val="0f3460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0" name="Shape 25"/>
          <p:cNvSpPr/>
          <p:nvPr/>
        </p:nvSpPr>
        <p:spPr>
          <a:xfrm>
            <a:off x="4800600" y="3931920"/>
            <a:ext cx="109080" cy="8406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1" name="Text 26"/>
          <p:cNvSpPr/>
          <p:nvPr/>
        </p:nvSpPr>
        <p:spPr>
          <a:xfrm>
            <a:off x="5029200" y="3977640"/>
            <a:ext cx="376668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Diamond Problem — ambiguity in Multiple Inheritance; Python resolves via MRO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Shape 0"/>
          <p:cNvSpPr/>
          <p:nvPr/>
        </p:nvSpPr>
        <p:spPr>
          <a:xfrm>
            <a:off x="0" y="0"/>
            <a:ext cx="9143280" cy="72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3" name="Shape 1"/>
          <p:cNvSpPr/>
          <p:nvPr/>
        </p:nvSpPr>
        <p:spPr>
          <a:xfrm>
            <a:off x="5486400" y="-457200"/>
            <a:ext cx="4571280" cy="4571280"/>
          </a:xfrm>
          <a:prstGeom prst="ellipse">
            <a:avLst/>
          </a:prstGeom>
          <a:solidFill>
            <a:srgbClr val="0f3460">
              <a:alpha val="60000"/>
            </a:srgbClr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4" name="Text 2"/>
          <p:cNvSpPr/>
          <p:nvPr/>
        </p:nvSpPr>
        <p:spPr>
          <a:xfrm>
            <a:off x="548640" y="548640"/>
            <a:ext cx="5028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00b4d8"/>
                </a:solidFill>
                <a:latin typeface="Calibri"/>
                <a:ea typeface="Calibri"/>
              </a:rPr>
              <a:t>Topics Covered ✅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385" name="Text 3"/>
          <p:cNvSpPr/>
          <p:nvPr/>
        </p:nvSpPr>
        <p:spPr>
          <a:xfrm>
            <a:off x="548640" y="1051560"/>
            <a:ext cx="5028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Aggregation (HAS-A)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386" name="Text 4"/>
          <p:cNvSpPr/>
          <p:nvPr/>
        </p:nvSpPr>
        <p:spPr>
          <a:xfrm>
            <a:off x="548640" y="1554480"/>
            <a:ext cx="5028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Inheritance (IS-A)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387" name="Text 5"/>
          <p:cNvSpPr/>
          <p:nvPr/>
        </p:nvSpPr>
        <p:spPr>
          <a:xfrm>
            <a:off x="548640" y="2057400"/>
            <a:ext cx="5028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super() keyword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388" name="Text 6"/>
          <p:cNvSpPr/>
          <p:nvPr/>
        </p:nvSpPr>
        <p:spPr>
          <a:xfrm>
            <a:off x="548640" y="2560320"/>
            <a:ext cx="5028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Method Overriding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389" name="Text 7"/>
          <p:cNvSpPr/>
          <p:nvPr/>
        </p:nvSpPr>
        <p:spPr>
          <a:xfrm>
            <a:off x="548640" y="3063240"/>
            <a:ext cx="5028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Types of Inheritance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390" name="Text 8"/>
          <p:cNvSpPr/>
          <p:nvPr/>
        </p:nvSpPr>
        <p:spPr>
          <a:xfrm>
            <a:off x="548640" y="3566160"/>
            <a:ext cx="502848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500" spc="-1" strike="noStrike">
                <a:solidFill>
                  <a:srgbClr val="06d6a0"/>
                </a:solidFill>
                <a:latin typeface="Calibri"/>
                <a:ea typeface="Calibri"/>
              </a:rPr>
              <a:t>MRO &amp; Diamond Problem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391" name="Text 9"/>
          <p:cNvSpPr/>
          <p:nvPr/>
        </p:nvSpPr>
        <p:spPr>
          <a:xfrm>
            <a:off x="548640" y="3886200"/>
            <a:ext cx="50284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d166"/>
                </a:solidFill>
                <a:latin typeface="Calibri"/>
                <a:ea typeface="Calibri"/>
              </a:rPr>
              <a:t>Up Next — Part 2 🚀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392" name="Text 10"/>
          <p:cNvSpPr/>
          <p:nvPr/>
        </p:nvSpPr>
        <p:spPr>
          <a:xfrm>
            <a:off x="548640" y="438912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▶ </a:t>
            </a: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Polymorphism (3 types)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93" name="Text 11"/>
          <p:cNvSpPr/>
          <p:nvPr/>
        </p:nvSpPr>
        <p:spPr>
          <a:xfrm>
            <a:off x="548640" y="457200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▶ </a:t>
            </a: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Method Overloading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94" name="Text 12"/>
          <p:cNvSpPr/>
          <p:nvPr/>
        </p:nvSpPr>
        <p:spPr>
          <a:xfrm>
            <a:off x="548640" y="475488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▶ </a:t>
            </a: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Operator Overloading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95" name="Text 13"/>
          <p:cNvSpPr/>
          <p:nvPr/>
        </p:nvSpPr>
        <p:spPr>
          <a:xfrm>
            <a:off x="548640" y="4937760"/>
            <a:ext cx="5028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▶ </a:t>
            </a:r>
            <a:r>
              <a:rPr b="0" lang="en-US" sz="1400" spc="-1" strike="noStrike">
                <a:solidFill>
                  <a:srgbClr val="e8f4f8"/>
                </a:solidFill>
                <a:latin typeface="Calibri"/>
                <a:ea typeface="Calibri"/>
              </a:rPr>
              <a:t>Practice Questions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96" name="Shape 14"/>
          <p:cNvSpPr/>
          <p:nvPr/>
        </p:nvSpPr>
        <p:spPr>
          <a:xfrm>
            <a:off x="0" y="4937760"/>
            <a:ext cx="9143280" cy="2052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7" name="Text 15"/>
          <p:cNvSpPr/>
          <p:nvPr/>
        </p:nvSpPr>
        <p:spPr>
          <a:xfrm>
            <a:off x="365760" y="4956120"/>
            <a:ext cx="8228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90e0ef"/>
                </a:solidFill>
                <a:latin typeface="Calibri"/>
                <a:ea typeface="Calibri"/>
              </a:rPr>
              <a:t>OOP in Python — Part 3 | Notes Part 1 of 2</a:t>
            </a:r>
            <a:endParaRPr b="0" lang="en-IN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2026-03-02T09:56:03Z</dcterms:created>
  <dc:creator>PptxGenJS</dc:creator>
  <dc:description/>
  <dc:language>en-IN</dc:language>
  <cp:lastModifiedBy/>
  <dcterms:modified xsi:type="dcterms:W3CDTF">2026-03-06T20:59:28Z</dcterms:modified>
  <cp:revision>3</cp:revision>
  <dc:subject>PptxGenJS Presentation</dc:subject>
  <dc:title>OOP in Python — Part 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28</vt:i4>
  </property>
  <property fmtid="{D5CDD505-2E9C-101B-9397-08002B2CF9AE}" pid="3" name="PresentationFormat">
    <vt:lpwstr>On-screen Show (16:9)</vt:lpwstr>
  </property>
  <property fmtid="{D5CDD505-2E9C-101B-9397-08002B2CF9AE}" pid="4" name="Slides">
    <vt:i4>28</vt:i4>
  </property>
</Properties>
</file>