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9.xml.rels" ContentType="application/vnd.openxmlformats-package.relationships+xml"/>
  <Override PartName="/ppt/notesSlides/_rels/notesSlide6.xml.rels" ContentType="application/vnd.openxmlformats-package.relationships+xml"/>
  <Override PartName="/ppt/notesSlides/_rels/notesSlide8.xml.rels" ContentType="application/vnd.openxmlformats-package.relationships+xml"/>
  <Override PartName="/ppt/notesSlides/_rels/notesSlide2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12.xml.rels" ContentType="application/vnd.openxmlformats-package.relationships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IN" sz="4400" spc="-1" strike="noStrike">
                <a:latin typeface="Arial"/>
              </a:rPr>
              <a:t>Click to move the slide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IN" sz="2000" spc="-1" strike="noStrike">
                <a:latin typeface="Arial"/>
              </a:rPr>
              <a:t>Click to edit the notes format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IN" sz="1400" spc="-1" strike="noStrike">
                <a:latin typeface="Times New Roman"/>
              </a:rPr>
              <a:t>&lt;header&gt;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IN" sz="1400" spc="-1" strike="noStrike">
                <a:latin typeface="Times New Roman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IN" sz="1400" spc="-1" strike="noStrike">
                <a:latin typeface="Times New Roman"/>
              </a:defRPr>
            </a:lvl1pPr>
          </a:lstStyle>
          <a:p>
            <a:r>
              <a:rPr b="0" lang="en-IN" sz="1400" spc="-1" strike="noStrike">
                <a:latin typeface="Times New Roman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3CCD9CF2-B395-458A-83AC-826446D78D6F}" type="slidenum">
              <a:rPr b="0" lang="en-IN" sz="1400" spc="-1" strike="noStrike">
                <a:latin typeface="Times New Roman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58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270E678-43CD-4B6C-9D94-06ADC9ED8763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61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ACFA45C0-1312-447C-B435-4324A51F1E5B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6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64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D742AAE-D2C6-44A5-904F-633ED43FBF3D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67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B356966-DDBC-456D-B26E-CD178DA407F4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6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70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A48BA633-CE08-4149-8005-1215C23232BF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7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73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0A712CC-33CA-42AD-B2F5-6FCE4FC20641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7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76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818B0D4-ABE5-49C5-BC53-C162326E8995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7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79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31F8BE3-A8F7-4022-B03F-E317F4E65F5C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8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82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F3E10F3-AAB9-4D43-85B3-C0EADC8263BF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8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85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67160E8-8FAE-4B96-B06E-38B021D5248C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8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88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D75110D-BCED-4A8F-9211-C8C1E9F45C20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9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91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7453BD9A-AEBD-4CE7-8092-52DE98F12825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IN" sz="4400" spc="-1" strike="noStrike">
                <a:latin typeface="Arial"/>
              </a:rPr>
              <a:t>Click to edit the title text format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latin typeface="Arial"/>
              </a:rPr>
              <a:t>Click to edit the outline text format</a:t>
            </a:r>
            <a:endParaRPr b="0" lang="en-IN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pc="-1" strike="noStrike">
                <a:latin typeface="Arial"/>
              </a:rPr>
              <a:t>Second Outline Level</a:t>
            </a:r>
            <a:endParaRPr b="0" lang="en-IN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latin typeface="Arial"/>
              </a:rPr>
              <a:t>Third Outline Level</a:t>
            </a:r>
            <a:endParaRPr b="0" lang="en-IN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latin typeface="Arial"/>
              </a:rPr>
              <a:t>Fourth Outline Level</a:t>
            </a:r>
            <a:endParaRPr b="0" lang="en-IN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Fifth Outline Level</a:t>
            </a:r>
            <a:endParaRPr b="0" lang="en-IN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Sixth Outline Level</a:t>
            </a:r>
            <a:endParaRPr b="0" lang="en-IN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Seventh Outline Level</a:t>
            </a:r>
            <a:endParaRPr b="0" lang="en-IN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 0"/>
          <p:cNvSpPr/>
          <p:nvPr/>
        </p:nvSpPr>
        <p:spPr>
          <a:xfrm>
            <a:off x="457200" y="1828800"/>
            <a:ext cx="8228880" cy="137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5400" spc="-1" strike="noStrike">
                <a:solidFill>
                  <a:srgbClr val="ffffff"/>
                </a:solidFill>
                <a:latin typeface="Georgia"/>
                <a:ea typeface="Georgia"/>
              </a:rPr>
              <a:t>Python Lists</a:t>
            </a:r>
            <a:endParaRPr b="0" lang="en-IN" sz="5400" spc="-1" strike="noStrike">
              <a:latin typeface="Arial"/>
            </a:endParaRPr>
          </a:p>
        </p:txBody>
      </p:sp>
      <p:sp>
        <p:nvSpPr>
          <p:cNvPr id="45" name="Text 1"/>
          <p:cNvSpPr/>
          <p:nvPr/>
        </p:nvSpPr>
        <p:spPr>
          <a:xfrm>
            <a:off x="457200" y="338328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2400" spc="-1" strike="noStrike">
                <a:solidFill>
                  <a:srgbClr val="f5f5f5"/>
                </a:solidFill>
                <a:latin typeface="Calibri"/>
                <a:ea typeface="Calibri"/>
              </a:rPr>
              <a:t>Part 6: List Methods &amp; Nested Lists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46" name="Text 2"/>
          <p:cNvSpPr/>
          <p:nvPr/>
        </p:nvSpPr>
        <p:spPr>
          <a:xfrm>
            <a:off x="457200" y="5943600"/>
            <a:ext cx="8228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f5f5f5"/>
                </a:solidFill>
                <a:latin typeface="Calibri"/>
                <a:ea typeface="Calibri"/>
              </a:rPr>
              <a:t>Complete Guide to List Manipulation</a:t>
            </a:r>
            <a:endParaRPr b="0" lang="en-IN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 0"/>
          <p:cNvSpPr/>
          <p:nvPr/>
        </p:nvSpPr>
        <p:spPr>
          <a:xfrm>
            <a:off x="457200" y="36576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21295c"/>
                </a:solidFill>
                <a:latin typeface="Georgia"/>
                <a:ea typeface="Georgia"/>
              </a:rPr>
              <a:t>append() Method</a:t>
            </a:r>
            <a:endParaRPr b="0" lang="en-IN" sz="4000" spc="-1" strike="noStrike">
              <a:latin typeface="Arial"/>
            </a:endParaRPr>
          </a:p>
        </p:txBody>
      </p:sp>
      <p:sp>
        <p:nvSpPr>
          <p:cNvPr id="48" name="Text 1"/>
          <p:cNvSpPr/>
          <p:nvPr/>
        </p:nvSpPr>
        <p:spPr>
          <a:xfrm>
            <a:off x="640080" y="1097280"/>
            <a:ext cx="78631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22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333333"/>
                </a:solidFill>
                <a:latin typeface="Calibri"/>
                <a:ea typeface="Calibri"/>
              </a:rPr>
              <a:t>The append() method adds a single item to the end of the list. It modifies the original list in-place.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49" name="Text 2"/>
          <p:cNvSpPr/>
          <p:nvPr/>
        </p:nvSpPr>
        <p:spPr>
          <a:xfrm>
            <a:off x="640080" y="1737360"/>
            <a:ext cx="78631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065a82"/>
                </a:solidFill>
                <a:latin typeface="Calibri"/>
                <a:ea typeface="Calibri"/>
              </a:rPr>
              <a:t>Syntax: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0" name="Shape 3"/>
          <p:cNvSpPr/>
          <p:nvPr/>
        </p:nvSpPr>
        <p:spPr>
          <a:xfrm>
            <a:off x="640080" y="2148840"/>
            <a:ext cx="7863120" cy="456480"/>
          </a:xfrm>
          <a:prstGeom prst="rect">
            <a:avLst/>
          </a:prstGeom>
          <a:solidFill>
            <a:srgbClr val="f0f8ff"/>
          </a:solidFill>
          <a:ln w="254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1" name="Text 4"/>
          <p:cNvSpPr/>
          <p:nvPr/>
        </p:nvSpPr>
        <p:spPr>
          <a:xfrm>
            <a:off x="914400" y="2286000"/>
            <a:ext cx="731448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065a82"/>
                </a:solidFill>
                <a:latin typeface="Consolas"/>
                <a:ea typeface="Consolas"/>
              </a:rPr>
              <a:t>list_name.append(item)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52" name="Text 5"/>
          <p:cNvSpPr/>
          <p:nvPr/>
        </p:nvSpPr>
        <p:spPr>
          <a:xfrm>
            <a:off x="640080" y="2834640"/>
            <a:ext cx="78631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065a82"/>
                </a:solidFill>
                <a:latin typeface="Calibri"/>
                <a:ea typeface="Calibri"/>
              </a:rPr>
              <a:t>Visual Example: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53" name="Text 6"/>
          <p:cNvSpPr/>
          <p:nvPr/>
        </p:nvSpPr>
        <p:spPr>
          <a:xfrm>
            <a:off x="914400" y="3291840"/>
            <a:ext cx="27424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666666"/>
                </a:solidFill>
                <a:latin typeface="Calibri"/>
                <a:ea typeface="Calibri"/>
              </a:rPr>
              <a:t>Before append: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54" name="Shape 7"/>
          <p:cNvSpPr/>
          <p:nvPr/>
        </p:nvSpPr>
        <p:spPr>
          <a:xfrm>
            <a:off x="914400" y="3611880"/>
            <a:ext cx="639360" cy="45648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5" name="Text 8"/>
          <p:cNvSpPr/>
          <p:nvPr/>
        </p:nvSpPr>
        <p:spPr>
          <a:xfrm>
            <a:off x="914400" y="3721680"/>
            <a:ext cx="6393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onsolas"/>
                <a:ea typeface="Consolas"/>
              </a:rPr>
              <a:t>10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56" name="Shape 9"/>
          <p:cNvSpPr/>
          <p:nvPr/>
        </p:nvSpPr>
        <p:spPr>
          <a:xfrm>
            <a:off x="1645920" y="3611880"/>
            <a:ext cx="639360" cy="45648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Text 10"/>
          <p:cNvSpPr/>
          <p:nvPr/>
        </p:nvSpPr>
        <p:spPr>
          <a:xfrm>
            <a:off x="1645920" y="3721680"/>
            <a:ext cx="6393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onsolas"/>
                <a:ea typeface="Consolas"/>
              </a:rPr>
              <a:t>20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58" name="Shape 11"/>
          <p:cNvSpPr/>
          <p:nvPr/>
        </p:nvSpPr>
        <p:spPr>
          <a:xfrm>
            <a:off x="2377440" y="3611880"/>
            <a:ext cx="639360" cy="45648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9" name="Text 12"/>
          <p:cNvSpPr/>
          <p:nvPr/>
        </p:nvSpPr>
        <p:spPr>
          <a:xfrm>
            <a:off x="2377440" y="3721680"/>
            <a:ext cx="6393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onsolas"/>
                <a:ea typeface="Consolas"/>
              </a:rPr>
              <a:t>30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60" name="Shape 13"/>
          <p:cNvSpPr/>
          <p:nvPr/>
        </p:nvSpPr>
        <p:spPr>
          <a:xfrm>
            <a:off x="3108960" y="3611880"/>
            <a:ext cx="639360" cy="45648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1" name="Text 14"/>
          <p:cNvSpPr/>
          <p:nvPr/>
        </p:nvSpPr>
        <p:spPr>
          <a:xfrm>
            <a:off x="3108960" y="3721680"/>
            <a:ext cx="6393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onsolas"/>
                <a:ea typeface="Consolas"/>
              </a:rPr>
              <a:t>40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62" name="Shape 15"/>
          <p:cNvSpPr/>
          <p:nvPr/>
        </p:nvSpPr>
        <p:spPr>
          <a:xfrm>
            <a:off x="3840480" y="3611880"/>
            <a:ext cx="639360" cy="45648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3" name="Text 16"/>
          <p:cNvSpPr/>
          <p:nvPr/>
        </p:nvSpPr>
        <p:spPr>
          <a:xfrm>
            <a:off x="3840480" y="3721680"/>
            <a:ext cx="6393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onsolas"/>
                <a:ea typeface="Consolas"/>
              </a:rPr>
              <a:t>50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64" name="Text 17"/>
          <p:cNvSpPr/>
          <p:nvPr/>
        </p:nvSpPr>
        <p:spPr>
          <a:xfrm>
            <a:off x="4389120" y="3703320"/>
            <a:ext cx="10965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21295c"/>
                </a:solidFill>
                <a:latin typeface="Consolas"/>
                <a:ea typeface="Consolas"/>
              </a:rPr>
              <a:t>append(60)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65" name="Text 18"/>
          <p:cNvSpPr/>
          <p:nvPr/>
        </p:nvSpPr>
        <p:spPr>
          <a:xfrm>
            <a:off x="5577840" y="3703320"/>
            <a:ext cx="2736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21295c"/>
                </a:solidFill>
                <a:latin typeface="Calibri"/>
                <a:ea typeface="Calibri"/>
              </a:rPr>
              <a:t>→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66" name="Text 19"/>
          <p:cNvSpPr/>
          <p:nvPr/>
        </p:nvSpPr>
        <p:spPr>
          <a:xfrm>
            <a:off x="914400" y="4297680"/>
            <a:ext cx="27424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666666"/>
                </a:solidFill>
                <a:latin typeface="Calibri"/>
                <a:ea typeface="Calibri"/>
              </a:rPr>
              <a:t>After append: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67" name="Shape 20"/>
          <p:cNvSpPr/>
          <p:nvPr/>
        </p:nvSpPr>
        <p:spPr>
          <a:xfrm>
            <a:off x="914400" y="4617720"/>
            <a:ext cx="639360" cy="45648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8" name="Text 21"/>
          <p:cNvSpPr/>
          <p:nvPr/>
        </p:nvSpPr>
        <p:spPr>
          <a:xfrm>
            <a:off x="914400" y="4727520"/>
            <a:ext cx="6393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onsolas"/>
                <a:ea typeface="Consolas"/>
              </a:rPr>
              <a:t>10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69" name="Shape 22"/>
          <p:cNvSpPr/>
          <p:nvPr/>
        </p:nvSpPr>
        <p:spPr>
          <a:xfrm>
            <a:off x="1645920" y="4617720"/>
            <a:ext cx="639360" cy="45648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0" name="Text 23"/>
          <p:cNvSpPr/>
          <p:nvPr/>
        </p:nvSpPr>
        <p:spPr>
          <a:xfrm>
            <a:off x="1645920" y="4727520"/>
            <a:ext cx="6393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onsolas"/>
                <a:ea typeface="Consolas"/>
              </a:rPr>
              <a:t>20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71" name="Shape 24"/>
          <p:cNvSpPr/>
          <p:nvPr/>
        </p:nvSpPr>
        <p:spPr>
          <a:xfrm>
            <a:off x="2377440" y="4617720"/>
            <a:ext cx="639360" cy="45648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2" name="Text 25"/>
          <p:cNvSpPr/>
          <p:nvPr/>
        </p:nvSpPr>
        <p:spPr>
          <a:xfrm>
            <a:off x="2377440" y="4727520"/>
            <a:ext cx="6393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onsolas"/>
                <a:ea typeface="Consolas"/>
              </a:rPr>
              <a:t>30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73" name="Shape 26"/>
          <p:cNvSpPr/>
          <p:nvPr/>
        </p:nvSpPr>
        <p:spPr>
          <a:xfrm>
            <a:off x="3108960" y="4617720"/>
            <a:ext cx="639360" cy="45648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4" name="Text 27"/>
          <p:cNvSpPr/>
          <p:nvPr/>
        </p:nvSpPr>
        <p:spPr>
          <a:xfrm>
            <a:off x="3108960" y="4727520"/>
            <a:ext cx="6393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onsolas"/>
                <a:ea typeface="Consolas"/>
              </a:rPr>
              <a:t>40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75" name="Shape 28"/>
          <p:cNvSpPr/>
          <p:nvPr/>
        </p:nvSpPr>
        <p:spPr>
          <a:xfrm>
            <a:off x="3840480" y="4617720"/>
            <a:ext cx="639360" cy="45648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6" name="Text 29"/>
          <p:cNvSpPr/>
          <p:nvPr/>
        </p:nvSpPr>
        <p:spPr>
          <a:xfrm>
            <a:off x="3840480" y="4727520"/>
            <a:ext cx="6393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onsolas"/>
                <a:ea typeface="Consolas"/>
              </a:rPr>
              <a:t>50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77" name="Shape 30"/>
          <p:cNvSpPr/>
          <p:nvPr/>
        </p:nvSpPr>
        <p:spPr>
          <a:xfrm>
            <a:off x="4572000" y="4617720"/>
            <a:ext cx="639360" cy="456480"/>
          </a:xfrm>
          <a:prstGeom prst="rect">
            <a:avLst/>
          </a:prstGeom>
          <a:solidFill>
            <a:srgbClr val="21295c"/>
          </a:solidFill>
          <a:ln w="381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8" name="Text 31"/>
          <p:cNvSpPr/>
          <p:nvPr/>
        </p:nvSpPr>
        <p:spPr>
          <a:xfrm>
            <a:off x="4572000" y="4727520"/>
            <a:ext cx="6393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onsolas"/>
                <a:ea typeface="Consolas"/>
              </a:rPr>
              <a:t>60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79" name="Shape 32"/>
          <p:cNvSpPr/>
          <p:nvPr/>
        </p:nvSpPr>
        <p:spPr>
          <a:xfrm>
            <a:off x="640080" y="5394960"/>
            <a:ext cx="7863120" cy="1279440"/>
          </a:xfrm>
          <a:prstGeom prst="rect">
            <a:avLst/>
          </a:prstGeom>
          <a:solidFill>
            <a:srgbClr val="f8f8f8"/>
          </a:solidFill>
          <a:ln w="254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0" name="Text 33"/>
          <p:cNvSpPr/>
          <p:nvPr/>
        </p:nvSpPr>
        <p:spPr>
          <a:xfrm>
            <a:off x="822960" y="5532120"/>
            <a:ext cx="74973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21295c"/>
                </a:solidFill>
                <a:latin typeface="Calibri"/>
                <a:ea typeface="Calibri"/>
              </a:rPr>
              <a:t>Code Example: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81" name="Text 34"/>
          <p:cNvSpPr/>
          <p:nvPr/>
        </p:nvSpPr>
        <p:spPr>
          <a:xfrm>
            <a:off x="822960" y="5852160"/>
            <a:ext cx="749736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65a82"/>
                </a:solidFill>
                <a:latin typeface="Consolas"/>
                <a:ea typeface="Consolas"/>
              </a:rPr>
              <a:t>numbers = [10, 20, 30, 40, 50]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65a82"/>
                </a:solidFill>
                <a:latin typeface="Consolas"/>
                <a:ea typeface="Consolas"/>
              </a:rPr>
              <a:t>numbers.append(60)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65a82"/>
                </a:solidFill>
                <a:latin typeface="Consolas"/>
                <a:ea typeface="Consolas"/>
              </a:rPr>
              <a:t>print(numbers)               # [10, 20, 30, 40, 50, 60]</a:t>
            </a:r>
            <a:endParaRPr b="0" lang="en-IN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ext 0"/>
          <p:cNvSpPr/>
          <p:nvPr/>
        </p:nvSpPr>
        <p:spPr>
          <a:xfrm>
            <a:off x="457200" y="36576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21295c"/>
                </a:solidFill>
                <a:latin typeface="Georgia"/>
                <a:ea typeface="Georgia"/>
              </a:rPr>
              <a:t>insert() Method</a:t>
            </a:r>
            <a:endParaRPr b="0" lang="en-IN" sz="4000" spc="-1" strike="noStrike">
              <a:latin typeface="Arial"/>
            </a:endParaRPr>
          </a:p>
        </p:txBody>
      </p:sp>
      <p:sp>
        <p:nvSpPr>
          <p:cNvPr id="83" name="Text 1"/>
          <p:cNvSpPr/>
          <p:nvPr/>
        </p:nvSpPr>
        <p:spPr>
          <a:xfrm>
            <a:off x="452160" y="1085040"/>
            <a:ext cx="78631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22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333333"/>
                </a:solidFill>
                <a:latin typeface="Calibri"/>
                <a:ea typeface="Calibri"/>
              </a:rPr>
              <a:t>The insert() method inserts an item at a particular index position. It shifts existing elements to the right.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84" name="Text 2"/>
          <p:cNvSpPr/>
          <p:nvPr/>
        </p:nvSpPr>
        <p:spPr>
          <a:xfrm>
            <a:off x="640080" y="1737360"/>
            <a:ext cx="78631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065a82"/>
                </a:solidFill>
                <a:latin typeface="Calibri"/>
                <a:ea typeface="Calibri"/>
              </a:rPr>
              <a:t>Syntax: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85" name="Shape 3"/>
          <p:cNvSpPr/>
          <p:nvPr/>
        </p:nvSpPr>
        <p:spPr>
          <a:xfrm>
            <a:off x="640080" y="2148840"/>
            <a:ext cx="7863120" cy="456480"/>
          </a:xfrm>
          <a:prstGeom prst="rect">
            <a:avLst/>
          </a:prstGeom>
          <a:solidFill>
            <a:srgbClr val="f0f8ff"/>
          </a:solidFill>
          <a:ln w="254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6" name="Text 4"/>
          <p:cNvSpPr/>
          <p:nvPr/>
        </p:nvSpPr>
        <p:spPr>
          <a:xfrm>
            <a:off x="914400" y="2286000"/>
            <a:ext cx="731448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065a82"/>
                </a:solidFill>
                <a:latin typeface="Consolas"/>
                <a:ea typeface="Consolas"/>
              </a:rPr>
              <a:t>list_name.insert(index, item)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87" name="Text 5"/>
          <p:cNvSpPr/>
          <p:nvPr/>
        </p:nvSpPr>
        <p:spPr>
          <a:xfrm>
            <a:off x="640080" y="2834640"/>
            <a:ext cx="78631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065a82"/>
                </a:solidFill>
                <a:latin typeface="Calibri"/>
                <a:ea typeface="Calibri"/>
              </a:rPr>
              <a:t>Visual Example: insert(2, 25)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88" name="Text 6"/>
          <p:cNvSpPr/>
          <p:nvPr/>
        </p:nvSpPr>
        <p:spPr>
          <a:xfrm>
            <a:off x="1371600" y="3291840"/>
            <a:ext cx="13708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666666"/>
                </a:solidFill>
                <a:latin typeface="Calibri"/>
                <a:ea typeface="Calibri"/>
              </a:rPr>
              <a:t>Before: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89" name="Text 7"/>
          <p:cNvSpPr/>
          <p:nvPr/>
        </p:nvSpPr>
        <p:spPr>
          <a:xfrm>
            <a:off x="1371600" y="3566160"/>
            <a:ext cx="73080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88888"/>
                </a:solidFill>
                <a:latin typeface="Consolas"/>
                <a:ea typeface="Consolas"/>
              </a:rPr>
              <a:t>0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90" name="Text 8"/>
          <p:cNvSpPr/>
          <p:nvPr/>
        </p:nvSpPr>
        <p:spPr>
          <a:xfrm>
            <a:off x="2194560" y="3566160"/>
            <a:ext cx="73080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88888"/>
                </a:solidFill>
                <a:latin typeface="Consolas"/>
                <a:ea typeface="Consolas"/>
              </a:rPr>
              <a:t>1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91" name="Text 9"/>
          <p:cNvSpPr/>
          <p:nvPr/>
        </p:nvSpPr>
        <p:spPr>
          <a:xfrm>
            <a:off x="3017520" y="3566160"/>
            <a:ext cx="73080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88888"/>
                </a:solidFill>
                <a:latin typeface="Consolas"/>
                <a:ea typeface="Consolas"/>
              </a:rPr>
              <a:t>2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92" name="Text 10"/>
          <p:cNvSpPr/>
          <p:nvPr/>
        </p:nvSpPr>
        <p:spPr>
          <a:xfrm>
            <a:off x="3840480" y="3566160"/>
            <a:ext cx="73080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88888"/>
                </a:solidFill>
                <a:latin typeface="Consolas"/>
                <a:ea typeface="Consolas"/>
              </a:rPr>
              <a:t>3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93" name="Text 11"/>
          <p:cNvSpPr/>
          <p:nvPr/>
        </p:nvSpPr>
        <p:spPr>
          <a:xfrm>
            <a:off x="4663440" y="3566160"/>
            <a:ext cx="73080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88888"/>
                </a:solidFill>
                <a:latin typeface="Consolas"/>
                <a:ea typeface="Consolas"/>
              </a:rPr>
              <a:t>4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94" name="Shape 12"/>
          <p:cNvSpPr/>
          <p:nvPr/>
        </p:nvSpPr>
        <p:spPr>
          <a:xfrm>
            <a:off x="1371600" y="3794760"/>
            <a:ext cx="730800" cy="45648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5" name="Text 13"/>
          <p:cNvSpPr/>
          <p:nvPr/>
        </p:nvSpPr>
        <p:spPr>
          <a:xfrm>
            <a:off x="1371600" y="3904560"/>
            <a:ext cx="7308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onsolas"/>
                <a:ea typeface="Consolas"/>
              </a:rPr>
              <a:t>10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96" name="Shape 14"/>
          <p:cNvSpPr/>
          <p:nvPr/>
        </p:nvSpPr>
        <p:spPr>
          <a:xfrm>
            <a:off x="2194560" y="3794760"/>
            <a:ext cx="730800" cy="45648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7" name="Text 15"/>
          <p:cNvSpPr/>
          <p:nvPr/>
        </p:nvSpPr>
        <p:spPr>
          <a:xfrm>
            <a:off x="2194560" y="3904560"/>
            <a:ext cx="7308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onsolas"/>
                <a:ea typeface="Consolas"/>
              </a:rPr>
              <a:t>20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98" name="Shape 16"/>
          <p:cNvSpPr/>
          <p:nvPr/>
        </p:nvSpPr>
        <p:spPr>
          <a:xfrm>
            <a:off x="3017520" y="3794760"/>
            <a:ext cx="730800" cy="45648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9" name="Text 17"/>
          <p:cNvSpPr/>
          <p:nvPr/>
        </p:nvSpPr>
        <p:spPr>
          <a:xfrm>
            <a:off x="3017520" y="3904560"/>
            <a:ext cx="7308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onsolas"/>
                <a:ea typeface="Consolas"/>
              </a:rPr>
              <a:t>30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00" name="Shape 18"/>
          <p:cNvSpPr/>
          <p:nvPr/>
        </p:nvSpPr>
        <p:spPr>
          <a:xfrm>
            <a:off x="3840480" y="3794760"/>
            <a:ext cx="730800" cy="45648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1" name="Text 19"/>
          <p:cNvSpPr/>
          <p:nvPr/>
        </p:nvSpPr>
        <p:spPr>
          <a:xfrm>
            <a:off x="3840480" y="3904560"/>
            <a:ext cx="7308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onsolas"/>
                <a:ea typeface="Consolas"/>
              </a:rPr>
              <a:t>40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02" name="Shape 20"/>
          <p:cNvSpPr/>
          <p:nvPr/>
        </p:nvSpPr>
        <p:spPr>
          <a:xfrm>
            <a:off x="4663440" y="3794760"/>
            <a:ext cx="730800" cy="45648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3" name="Text 21"/>
          <p:cNvSpPr/>
          <p:nvPr/>
        </p:nvSpPr>
        <p:spPr>
          <a:xfrm>
            <a:off x="4663440" y="3904560"/>
            <a:ext cx="7308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onsolas"/>
                <a:ea typeface="Consolas"/>
              </a:rPr>
              <a:t>50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04" name="Text 22"/>
          <p:cNvSpPr/>
          <p:nvPr/>
        </p:nvSpPr>
        <p:spPr>
          <a:xfrm>
            <a:off x="1371600" y="4480560"/>
            <a:ext cx="18280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666666"/>
                </a:solidFill>
                <a:latin typeface="Calibri"/>
                <a:ea typeface="Calibri"/>
              </a:rPr>
              <a:t>After insert(2, 25):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05" name="Text 23"/>
          <p:cNvSpPr/>
          <p:nvPr/>
        </p:nvSpPr>
        <p:spPr>
          <a:xfrm>
            <a:off x="1371600" y="4754880"/>
            <a:ext cx="73080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88888"/>
                </a:solidFill>
                <a:latin typeface="Consolas"/>
                <a:ea typeface="Consolas"/>
              </a:rPr>
              <a:t>0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06" name="Text 24"/>
          <p:cNvSpPr/>
          <p:nvPr/>
        </p:nvSpPr>
        <p:spPr>
          <a:xfrm>
            <a:off x="2194560" y="4754880"/>
            <a:ext cx="73080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88888"/>
                </a:solidFill>
                <a:latin typeface="Consolas"/>
                <a:ea typeface="Consolas"/>
              </a:rPr>
              <a:t>1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07" name="Text 25"/>
          <p:cNvSpPr/>
          <p:nvPr/>
        </p:nvSpPr>
        <p:spPr>
          <a:xfrm>
            <a:off x="3017520" y="4754880"/>
            <a:ext cx="73080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88888"/>
                </a:solidFill>
                <a:latin typeface="Consolas"/>
                <a:ea typeface="Consolas"/>
              </a:rPr>
              <a:t>2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08" name="Text 26"/>
          <p:cNvSpPr/>
          <p:nvPr/>
        </p:nvSpPr>
        <p:spPr>
          <a:xfrm>
            <a:off x="3840480" y="4754880"/>
            <a:ext cx="73080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88888"/>
                </a:solidFill>
                <a:latin typeface="Consolas"/>
                <a:ea typeface="Consolas"/>
              </a:rPr>
              <a:t>3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09" name="Text 27"/>
          <p:cNvSpPr/>
          <p:nvPr/>
        </p:nvSpPr>
        <p:spPr>
          <a:xfrm>
            <a:off x="4663440" y="4754880"/>
            <a:ext cx="73080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88888"/>
                </a:solidFill>
                <a:latin typeface="Consolas"/>
                <a:ea typeface="Consolas"/>
              </a:rPr>
              <a:t>4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10" name="Text 28"/>
          <p:cNvSpPr/>
          <p:nvPr/>
        </p:nvSpPr>
        <p:spPr>
          <a:xfrm>
            <a:off x="5486400" y="4754880"/>
            <a:ext cx="73080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88888"/>
                </a:solidFill>
                <a:latin typeface="Consolas"/>
                <a:ea typeface="Consolas"/>
              </a:rPr>
              <a:t>5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11" name="Shape 29"/>
          <p:cNvSpPr/>
          <p:nvPr/>
        </p:nvSpPr>
        <p:spPr>
          <a:xfrm>
            <a:off x="1371600" y="4983480"/>
            <a:ext cx="730800" cy="45648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2" name="Text 30"/>
          <p:cNvSpPr/>
          <p:nvPr/>
        </p:nvSpPr>
        <p:spPr>
          <a:xfrm>
            <a:off x="1371600" y="5093280"/>
            <a:ext cx="7308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onsolas"/>
                <a:ea typeface="Consolas"/>
              </a:rPr>
              <a:t>10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13" name="Shape 31"/>
          <p:cNvSpPr/>
          <p:nvPr/>
        </p:nvSpPr>
        <p:spPr>
          <a:xfrm>
            <a:off x="2194560" y="4983480"/>
            <a:ext cx="730800" cy="45648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4" name="Text 32"/>
          <p:cNvSpPr/>
          <p:nvPr/>
        </p:nvSpPr>
        <p:spPr>
          <a:xfrm>
            <a:off x="2194560" y="5093280"/>
            <a:ext cx="7308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onsolas"/>
                <a:ea typeface="Consolas"/>
              </a:rPr>
              <a:t>20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15" name="Shape 33"/>
          <p:cNvSpPr/>
          <p:nvPr/>
        </p:nvSpPr>
        <p:spPr>
          <a:xfrm>
            <a:off x="3017520" y="4983480"/>
            <a:ext cx="730800" cy="456480"/>
          </a:xfrm>
          <a:prstGeom prst="rect">
            <a:avLst/>
          </a:prstGeom>
          <a:solidFill>
            <a:srgbClr val="21295c"/>
          </a:solidFill>
          <a:ln w="381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6" name="Text 34"/>
          <p:cNvSpPr/>
          <p:nvPr/>
        </p:nvSpPr>
        <p:spPr>
          <a:xfrm>
            <a:off x="3017520" y="5093280"/>
            <a:ext cx="7308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onsolas"/>
                <a:ea typeface="Consolas"/>
              </a:rPr>
              <a:t>25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17" name="Shape 35"/>
          <p:cNvSpPr/>
          <p:nvPr/>
        </p:nvSpPr>
        <p:spPr>
          <a:xfrm>
            <a:off x="3840480" y="4983480"/>
            <a:ext cx="730800" cy="45648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8" name="Text 36"/>
          <p:cNvSpPr/>
          <p:nvPr/>
        </p:nvSpPr>
        <p:spPr>
          <a:xfrm>
            <a:off x="3840480" y="5093280"/>
            <a:ext cx="7308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onsolas"/>
                <a:ea typeface="Consolas"/>
              </a:rPr>
              <a:t>30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19" name="Shape 37"/>
          <p:cNvSpPr/>
          <p:nvPr/>
        </p:nvSpPr>
        <p:spPr>
          <a:xfrm>
            <a:off x="4663440" y="4983480"/>
            <a:ext cx="730800" cy="45648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0" name="Text 38"/>
          <p:cNvSpPr/>
          <p:nvPr/>
        </p:nvSpPr>
        <p:spPr>
          <a:xfrm>
            <a:off x="4663440" y="5093280"/>
            <a:ext cx="7308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onsolas"/>
                <a:ea typeface="Consolas"/>
              </a:rPr>
              <a:t>40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21" name="Shape 39"/>
          <p:cNvSpPr/>
          <p:nvPr/>
        </p:nvSpPr>
        <p:spPr>
          <a:xfrm>
            <a:off x="5486400" y="4983480"/>
            <a:ext cx="730800" cy="45648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2" name="Text 40"/>
          <p:cNvSpPr/>
          <p:nvPr/>
        </p:nvSpPr>
        <p:spPr>
          <a:xfrm>
            <a:off x="5486400" y="5093280"/>
            <a:ext cx="7308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onsolas"/>
                <a:ea typeface="Consolas"/>
              </a:rPr>
              <a:t>50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23" name="Shape 41"/>
          <p:cNvSpPr/>
          <p:nvPr/>
        </p:nvSpPr>
        <p:spPr>
          <a:xfrm>
            <a:off x="640080" y="5760720"/>
            <a:ext cx="7863120" cy="913680"/>
          </a:xfrm>
          <a:prstGeom prst="rect">
            <a:avLst/>
          </a:prstGeom>
          <a:solidFill>
            <a:srgbClr val="f8f8f8"/>
          </a:solidFill>
          <a:ln w="254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4" name="Text 42"/>
          <p:cNvSpPr/>
          <p:nvPr/>
        </p:nvSpPr>
        <p:spPr>
          <a:xfrm>
            <a:off x="822960" y="5897880"/>
            <a:ext cx="749736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65a82"/>
                </a:solidFill>
                <a:latin typeface="Consolas"/>
                <a:ea typeface="Consolas"/>
              </a:rPr>
              <a:t>data = [10, 20, 30, 40, 50]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65a82"/>
                </a:solidFill>
                <a:latin typeface="Consolas"/>
                <a:ea typeface="Consolas"/>
              </a:rPr>
              <a:t>data.insert(2, 25)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65a82"/>
                </a:solidFill>
                <a:latin typeface="Consolas"/>
                <a:ea typeface="Consolas"/>
              </a:rPr>
              <a:t>print(data)                  # [10, 20, 25, 30, 40, 50]</a:t>
            </a:r>
            <a:endParaRPr b="0" lang="en-IN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Text 0"/>
          <p:cNvSpPr/>
          <p:nvPr/>
        </p:nvSpPr>
        <p:spPr>
          <a:xfrm>
            <a:off x="457200" y="36576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21295c"/>
                </a:solidFill>
                <a:latin typeface="Georgia"/>
                <a:ea typeface="Georgia"/>
              </a:rPr>
              <a:t>extend() Method</a:t>
            </a:r>
            <a:endParaRPr b="0" lang="en-IN" sz="4000" spc="-1" strike="noStrike">
              <a:latin typeface="Arial"/>
            </a:endParaRPr>
          </a:p>
        </p:txBody>
      </p:sp>
      <p:sp>
        <p:nvSpPr>
          <p:cNvPr id="126" name="Text 1"/>
          <p:cNvSpPr/>
          <p:nvPr/>
        </p:nvSpPr>
        <p:spPr>
          <a:xfrm>
            <a:off x="640080" y="1097280"/>
            <a:ext cx="78631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22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333333"/>
                </a:solidFill>
                <a:latin typeface="Calibri"/>
                <a:ea typeface="Calibri"/>
              </a:rPr>
              <a:t>The extend() method adds all elements from another list to the end of the current list. It's like merging lists in-place.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127" name="Text 2"/>
          <p:cNvSpPr/>
          <p:nvPr/>
        </p:nvSpPr>
        <p:spPr>
          <a:xfrm>
            <a:off x="640080" y="1737360"/>
            <a:ext cx="78631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065a82"/>
                </a:solidFill>
                <a:latin typeface="Calibri"/>
                <a:ea typeface="Calibri"/>
              </a:rPr>
              <a:t>Syntax: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28" name="Shape 3"/>
          <p:cNvSpPr/>
          <p:nvPr/>
        </p:nvSpPr>
        <p:spPr>
          <a:xfrm>
            <a:off x="640080" y="2148840"/>
            <a:ext cx="7863120" cy="456480"/>
          </a:xfrm>
          <a:prstGeom prst="rect">
            <a:avLst/>
          </a:prstGeom>
          <a:solidFill>
            <a:srgbClr val="f0f8ff"/>
          </a:solidFill>
          <a:ln w="254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9" name="Text 4"/>
          <p:cNvSpPr/>
          <p:nvPr/>
        </p:nvSpPr>
        <p:spPr>
          <a:xfrm>
            <a:off x="914400" y="2286000"/>
            <a:ext cx="731448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065a82"/>
                </a:solidFill>
                <a:latin typeface="Consolas"/>
                <a:ea typeface="Consolas"/>
              </a:rPr>
              <a:t>list1.extend(list2)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30" name="Text 5"/>
          <p:cNvSpPr/>
          <p:nvPr/>
        </p:nvSpPr>
        <p:spPr>
          <a:xfrm>
            <a:off x="640080" y="2834640"/>
            <a:ext cx="78631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065a82"/>
                </a:solidFill>
                <a:latin typeface="Calibri"/>
                <a:ea typeface="Calibri"/>
              </a:rPr>
              <a:t>Visual Example: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31" name="Text 6"/>
          <p:cNvSpPr/>
          <p:nvPr/>
        </p:nvSpPr>
        <p:spPr>
          <a:xfrm>
            <a:off x="914400" y="3291840"/>
            <a:ext cx="9136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666666"/>
                </a:solidFill>
                <a:latin typeface="Calibri"/>
                <a:ea typeface="Calibri"/>
              </a:rPr>
              <a:t>list1: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32" name="Shape 7"/>
          <p:cNvSpPr/>
          <p:nvPr/>
        </p:nvSpPr>
        <p:spPr>
          <a:xfrm>
            <a:off x="914400" y="3611880"/>
            <a:ext cx="639360" cy="45648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3" name="Text 8"/>
          <p:cNvSpPr/>
          <p:nvPr/>
        </p:nvSpPr>
        <p:spPr>
          <a:xfrm>
            <a:off x="914400" y="3721680"/>
            <a:ext cx="6393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onsolas"/>
                <a:ea typeface="Consolas"/>
              </a:rPr>
              <a:t>10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34" name="Shape 9"/>
          <p:cNvSpPr/>
          <p:nvPr/>
        </p:nvSpPr>
        <p:spPr>
          <a:xfrm>
            <a:off x="1645920" y="3611880"/>
            <a:ext cx="639360" cy="45648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5" name="Text 10"/>
          <p:cNvSpPr/>
          <p:nvPr/>
        </p:nvSpPr>
        <p:spPr>
          <a:xfrm>
            <a:off x="1645920" y="3721680"/>
            <a:ext cx="6393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onsolas"/>
                <a:ea typeface="Consolas"/>
              </a:rPr>
              <a:t>20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36" name="Shape 11"/>
          <p:cNvSpPr/>
          <p:nvPr/>
        </p:nvSpPr>
        <p:spPr>
          <a:xfrm>
            <a:off x="2377440" y="3611880"/>
            <a:ext cx="639360" cy="45648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7" name="Text 12"/>
          <p:cNvSpPr/>
          <p:nvPr/>
        </p:nvSpPr>
        <p:spPr>
          <a:xfrm>
            <a:off x="2377440" y="3721680"/>
            <a:ext cx="6393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onsolas"/>
                <a:ea typeface="Consolas"/>
              </a:rPr>
              <a:t>30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38" name="Text 13"/>
          <p:cNvSpPr/>
          <p:nvPr/>
        </p:nvSpPr>
        <p:spPr>
          <a:xfrm>
            <a:off x="4114800" y="3291840"/>
            <a:ext cx="9136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666666"/>
                </a:solidFill>
                <a:latin typeface="Calibri"/>
                <a:ea typeface="Calibri"/>
              </a:rPr>
              <a:t>list2: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39" name="Shape 14"/>
          <p:cNvSpPr/>
          <p:nvPr/>
        </p:nvSpPr>
        <p:spPr>
          <a:xfrm>
            <a:off x="4114800" y="3611880"/>
            <a:ext cx="639360" cy="456480"/>
          </a:xfrm>
          <a:prstGeom prst="rect">
            <a:avLst/>
          </a:prstGeom>
          <a:solidFill>
            <a:srgbClr val="50808e"/>
          </a:solidFill>
          <a:ln w="25400">
            <a:solidFill>
              <a:srgbClr val="2f5a6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0" name="Text 15"/>
          <p:cNvSpPr/>
          <p:nvPr/>
        </p:nvSpPr>
        <p:spPr>
          <a:xfrm>
            <a:off x="4114800" y="3721680"/>
            <a:ext cx="6393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onsolas"/>
                <a:ea typeface="Consolas"/>
              </a:rPr>
              <a:t>40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41" name="Shape 16"/>
          <p:cNvSpPr/>
          <p:nvPr/>
        </p:nvSpPr>
        <p:spPr>
          <a:xfrm>
            <a:off x="4846320" y="3611880"/>
            <a:ext cx="639360" cy="456480"/>
          </a:xfrm>
          <a:prstGeom prst="rect">
            <a:avLst/>
          </a:prstGeom>
          <a:solidFill>
            <a:srgbClr val="50808e"/>
          </a:solidFill>
          <a:ln w="25400">
            <a:solidFill>
              <a:srgbClr val="2f5a6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2" name="Text 17"/>
          <p:cNvSpPr/>
          <p:nvPr/>
        </p:nvSpPr>
        <p:spPr>
          <a:xfrm>
            <a:off x="4846320" y="3721680"/>
            <a:ext cx="6393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onsolas"/>
                <a:ea typeface="Consolas"/>
              </a:rPr>
              <a:t>50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43" name="Text 18"/>
          <p:cNvSpPr/>
          <p:nvPr/>
        </p:nvSpPr>
        <p:spPr>
          <a:xfrm>
            <a:off x="914400" y="4389120"/>
            <a:ext cx="27424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666666"/>
                </a:solidFill>
                <a:latin typeface="Calibri"/>
                <a:ea typeface="Calibri"/>
              </a:rPr>
              <a:t>After list1.extend(list2):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44" name="Shape 19"/>
          <p:cNvSpPr/>
          <p:nvPr/>
        </p:nvSpPr>
        <p:spPr>
          <a:xfrm>
            <a:off x="914400" y="4709160"/>
            <a:ext cx="639360" cy="45648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5" name="Text 20"/>
          <p:cNvSpPr/>
          <p:nvPr/>
        </p:nvSpPr>
        <p:spPr>
          <a:xfrm>
            <a:off x="914400" y="4818960"/>
            <a:ext cx="6393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onsolas"/>
                <a:ea typeface="Consolas"/>
              </a:rPr>
              <a:t>10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46" name="Shape 21"/>
          <p:cNvSpPr/>
          <p:nvPr/>
        </p:nvSpPr>
        <p:spPr>
          <a:xfrm>
            <a:off x="1645920" y="4709160"/>
            <a:ext cx="639360" cy="45648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7" name="Text 22"/>
          <p:cNvSpPr/>
          <p:nvPr/>
        </p:nvSpPr>
        <p:spPr>
          <a:xfrm>
            <a:off x="1645920" y="4818960"/>
            <a:ext cx="6393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onsolas"/>
                <a:ea typeface="Consolas"/>
              </a:rPr>
              <a:t>20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48" name="Shape 23"/>
          <p:cNvSpPr/>
          <p:nvPr/>
        </p:nvSpPr>
        <p:spPr>
          <a:xfrm>
            <a:off x="2377440" y="4709160"/>
            <a:ext cx="639360" cy="45648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9" name="Text 24"/>
          <p:cNvSpPr/>
          <p:nvPr/>
        </p:nvSpPr>
        <p:spPr>
          <a:xfrm>
            <a:off x="2377440" y="4818960"/>
            <a:ext cx="6393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onsolas"/>
                <a:ea typeface="Consolas"/>
              </a:rPr>
              <a:t>30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50" name="Shape 25"/>
          <p:cNvSpPr/>
          <p:nvPr/>
        </p:nvSpPr>
        <p:spPr>
          <a:xfrm>
            <a:off x="3108960" y="4709160"/>
            <a:ext cx="639360" cy="456480"/>
          </a:xfrm>
          <a:prstGeom prst="rect">
            <a:avLst/>
          </a:prstGeom>
          <a:solidFill>
            <a:srgbClr val="50808e"/>
          </a:solidFill>
          <a:ln w="25400">
            <a:solidFill>
              <a:srgbClr val="2f5a6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1" name="Text 26"/>
          <p:cNvSpPr/>
          <p:nvPr/>
        </p:nvSpPr>
        <p:spPr>
          <a:xfrm>
            <a:off x="3108960" y="4818960"/>
            <a:ext cx="6393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onsolas"/>
                <a:ea typeface="Consolas"/>
              </a:rPr>
              <a:t>40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52" name="Shape 27"/>
          <p:cNvSpPr/>
          <p:nvPr/>
        </p:nvSpPr>
        <p:spPr>
          <a:xfrm>
            <a:off x="3840480" y="4709160"/>
            <a:ext cx="639360" cy="456480"/>
          </a:xfrm>
          <a:prstGeom prst="rect">
            <a:avLst/>
          </a:prstGeom>
          <a:solidFill>
            <a:srgbClr val="50808e"/>
          </a:solidFill>
          <a:ln w="25400">
            <a:solidFill>
              <a:srgbClr val="2f5a6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3" name="Text 28"/>
          <p:cNvSpPr/>
          <p:nvPr/>
        </p:nvSpPr>
        <p:spPr>
          <a:xfrm>
            <a:off x="3840480" y="4818960"/>
            <a:ext cx="6393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onsolas"/>
                <a:ea typeface="Consolas"/>
              </a:rPr>
              <a:t>50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54" name="Shape 29"/>
          <p:cNvSpPr/>
          <p:nvPr/>
        </p:nvSpPr>
        <p:spPr>
          <a:xfrm>
            <a:off x="640080" y="5486400"/>
            <a:ext cx="7863120" cy="1188000"/>
          </a:xfrm>
          <a:prstGeom prst="rect">
            <a:avLst/>
          </a:prstGeom>
          <a:solidFill>
            <a:srgbClr val="f8f8f8"/>
          </a:solidFill>
          <a:ln w="254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5" name="Text 30"/>
          <p:cNvSpPr/>
          <p:nvPr/>
        </p:nvSpPr>
        <p:spPr>
          <a:xfrm>
            <a:off x="822960" y="5623560"/>
            <a:ext cx="74973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21295c"/>
                </a:solidFill>
                <a:latin typeface="Calibri"/>
                <a:ea typeface="Calibri"/>
              </a:rPr>
              <a:t>Code Example: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56" name="Text 31"/>
          <p:cNvSpPr/>
          <p:nvPr/>
        </p:nvSpPr>
        <p:spPr>
          <a:xfrm>
            <a:off x="822960" y="5943600"/>
            <a:ext cx="749736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list1 = [10, 20, 30]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list2 = [40, 50]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list1.extend(list2)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print(list1)                 # [10, 20, 30, 40, 50]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Text 0"/>
          <p:cNvSpPr/>
          <p:nvPr/>
        </p:nvSpPr>
        <p:spPr>
          <a:xfrm>
            <a:off x="360000" y="36576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21295c"/>
                </a:solidFill>
                <a:latin typeface="Georgia"/>
                <a:ea typeface="Georgia"/>
              </a:rPr>
              <a:t>remove() Method</a:t>
            </a:r>
            <a:endParaRPr b="0" lang="en-IN" sz="4000" spc="-1" strike="noStrike">
              <a:latin typeface="Arial"/>
            </a:endParaRPr>
          </a:p>
        </p:txBody>
      </p:sp>
      <p:sp>
        <p:nvSpPr>
          <p:cNvPr id="158" name="Text 1"/>
          <p:cNvSpPr/>
          <p:nvPr/>
        </p:nvSpPr>
        <p:spPr>
          <a:xfrm>
            <a:off x="640080" y="1097280"/>
            <a:ext cx="78631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22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333333"/>
                </a:solidFill>
                <a:latin typeface="Calibri"/>
                <a:ea typeface="Calibri"/>
              </a:rPr>
              <a:t>The remove() method removes a particular item from the list by value. It removes the first occurrence of the specified value.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159" name="Text 2"/>
          <p:cNvSpPr/>
          <p:nvPr/>
        </p:nvSpPr>
        <p:spPr>
          <a:xfrm>
            <a:off x="640080" y="1737360"/>
            <a:ext cx="78631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065a82"/>
                </a:solidFill>
                <a:latin typeface="Calibri"/>
                <a:ea typeface="Calibri"/>
              </a:rPr>
              <a:t>Syntax: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60" name="Shape 3"/>
          <p:cNvSpPr/>
          <p:nvPr/>
        </p:nvSpPr>
        <p:spPr>
          <a:xfrm>
            <a:off x="640080" y="2148840"/>
            <a:ext cx="7863120" cy="456480"/>
          </a:xfrm>
          <a:prstGeom prst="rect">
            <a:avLst/>
          </a:prstGeom>
          <a:solidFill>
            <a:srgbClr val="f0f8ff"/>
          </a:solidFill>
          <a:ln w="254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1" name="Text 4"/>
          <p:cNvSpPr/>
          <p:nvPr/>
        </p:nvSpPr>
        <p:spPr>
          <a:xfrm>
            <a:off x="914400" y="2286000"/>
            <a:ext cx="731448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065a82"/>
                </a:solidFill>
                <a:latin typeface="Consolas"/>
                <a:ea typeface="Consolas"/>
              </a:rPr>
              <a:t>list_name.remove(value)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62" name="Text 5"/>
          <p:cNvSpPr/>
          <p:nvPr/>
        </p:nvSpPr>
        <p:spPr>
          <a:xfrm>
            <a:off x="640080" y="2834640"/>
            <a:ext cx="78631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065a82"/>
                </a:solidFill>
                <a:latin typeface="Calibri"/>
                <a:ea typeface="Calibri"/>
              </a:rPr>
              <a:t>Visual Example: remove(30)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63" name="Text 6"/>
          <p:cNvSpPr/>
          <p:nvPr/>
        </p:nvSpPr>
        <p:spPr>
          <a:xfrm>
            <a:off x="1371600" y="3291840"/>
            <a:ext cx="13708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666666"/>
                </a:solidFill>
                <a:latin typeface="Calibri"/>
                <a:ea typeface="Calibri"/>
              </a:rPr>
              <a:t>Before: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64" name="Shape 7"/>
          <p:cNvSpPr/>
          <p:nvPr/>
        </p:nvSpPr>
        <p:spPr>
          <a:xfrm>
            <a:off x="1371600" y="3611880"/>
            <a:ext cx="730800" cy="45648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5" name="Text 8"/>
          <p:cNvSpPr/>
          <p:nvPr/>
        </p:nvSpPr>
        <p:spPr>
          <a:xfrm>
            <a:off x="1371600" y="3721680"/>
            <a:ext cx="7308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onsolas"/>
                <a:ea typeface="Consolas"/>
              </a:rPr>
              <a:t>10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66" name="Shape 9"/>
          <p:cNvSpPr/>
          <p:nvPr/>
        </p:nvSpPr>
        <p:spPr>
          <a:xfrm>
            <a:off x="2194560" y="3611880"/>
            <a:ext cx="730800" cy="45648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7" name="Text 10"/>
          <p:cNvSpPr/>
          <p:nvPr/>
        </p:nvSpPr>
        <p:spPr>
          <a:xfrm>
            <a:off x="2194560" y="3721680"/>
            <a:ext cx="7308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onsolas"/>
                <a:ea typeface="Consolas"/>
              </a:rPr>
              <a:t>20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68" name="Shape 11"/>
          <p:cNvSpPr/>
          <p:nvPr/>
        </p:nvSpPr>
        <p:spPr>
          <a:xfrm>
            <a:off x="3017520" y="3611880"/>
            <a:ext cx="730800" cy="456480"/>
          </a:xfrm>
          <a:prstGeom prst="rect">
            <a:avLst/>
          </a:prstGeom>
          <a:solidFill>
            <a:srgbClr val="cc0000"/>
          </a:solidFill>
          <a:ln w="25400">
            <a:solidFill>
              <a:srgbClr val="99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9" name="Text 12"/>
          <p:cNvSpPr/>
          <p:nvPr/>
        </p:nvSpPr>
        <p:spPr>
          <a:xfrm>
            <a:off x="3017520" y="3721680"/>
            <a:ext cx="7308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onsolas"/>
                <a:ea typeface="Consolas"/>
              </a:rPr>
              <a:t>30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70" name="Text 13"/>
          <p:cNvSpPr/>
          <p:nvPr/>
        </p:nvSpPr>
        <p:spPr>
          <a:xfrm>
            <a:off x="3017520" y="4160520"/>
            <a:ext cx="7308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cc0000"/>
                </a:solidFill>
                <a:latin typeface="Calibri"/>
                <a:ea typeface="Calibri"/>
              </a:rPr>
              <a:t>✗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71" name="Shape 14"/>
          <p:cNvSpPr/>
          <p:nvPr/>
        </p:nvSpPr>
        <p:spPr>
          <a:xfrm>
            <a:off x="3840480" y="3611880"/>
            <a:ext cx="730800" cy="45648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2" name="Text 15"/>
          <p:cNvSpPr/>
          <p:nvPr/>
        </p:nvSpPr>
        <p:spPr>
          <a:xfrm>
            <a:off x="3840480" y="3721680"/>
            <a:ext cx="7308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onsolas"/>
                <a:ea typeface="Consolas"/>
              </a:rPr>
              <a:t>40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73" name="Shape 16"/>
          <p:cNvSpPr/>
          <p:nvPr/>
        </p:nvSpPr>
        <p:spPr>
          <a:xfrm>
            <a:off x="4663440" y="3611880"/>
            <a:ext cx="730800" cy="45648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4" name="Text 17"/>
          <p:cNvSpPr/>
          <p:nvPr/>
        </p:nvSpPr>
        <p:spPr>
          <a:xfrm>
            <a:off x="4663440" y="3721680"/>
            <a:ext cx="7308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onsolas"/>
                <a:ea typeface="Consolas"/>
              </a:rPr>
              <a:t>50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75" name="Text 18"/>
          <p:cNvSpPr/>
          <p:nvPr/>
        </p:nvSpPr>
        <p:spPr>
          <a:xfrm>
            <a:off x="1371600" y="4663440"/>
            <a:ext cx="18280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666666"/>
                </a:solidFill>
                <a:latin typeface="Calibri"/>
                <a:ea typeface="Calibri"/>
              </a:rPr>
              <a:t>After remove(30):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76" name="Shape 19"/>
          <p:cNvSpPr/>
          <p:nvPr/>
        </p:nvSpPr>
        <p:spPr>
          <a:xfrm>
            <a:off x="1371600" y="4983480"/>
            <a:ext cx="730800" cy="45648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7" name="Text 20"/>
          <p:cNvSpPr/>
          <p:nvPr/>
        </p:nvSpPr>
        <p:spPr>
          <a:xfrm>
            <a:off x="1371600" y="5093280"/>
            <a:ext cx="7308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onsolas"/>
                <a:ea typeface="Consolas"/>
              </a:rPr>
              <a:t>10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78" name="Shape 21"/>
          <p:cNvSpPr/>
          <p:nvPr/>
        </p:nvSpPr>
        <p:spPr>
          <a:xfrm>
            <a:off x="2194560" y="4983480"/>
            <a:ext cx="730800" cy="45648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9" name="Text 22"/>
          <p:cNvSpPr/>
          <p:nvPr/>
        </p:nvSpPr>
        <p:spPr>
          <a:xfrm>
            <a:off x="2194560" y="5093280"/>
            <a:ext cx="7308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onsolas"/>
                <a:ea typeface="Consolas"/>
              </a:rPr>
              <a:t>20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80" name="Shape 23"/>
          <p:cNvSpPr/>
          <p:nvPr/>
        </p:nvSpPr>
        <p:spPr>
          <a:xfrm>
            <a:off x="3017520" y="4983480"/>
            <a:ext cx="730800" cy="45648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1" name="Text 24"/>
          <p:cNvSpPr/>
          <p:nvPr/>
        </p:nvSpPr>
        <p:spPr>
          <a:xfrm>
            <a:off x="3017520" y="5093280"/>
            <a:ext cx="7308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onsolas"/>
                <a:ea typeface="Consolas"/>
              </a:rPr>
              <a:t>40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82" name="Shape 25"/>
          <p:cNvSpPr/>
          <p:nvPr/>
        </p:nvSpPr>
        <p:spPr>
          <a:xfrm>
            <a:off x="3840480" y="4983480"/>
            <a:ext cx="730800" cy="45648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3" name="Text 26"/>
          <p:cNvSpPr/>
          <p:nvPr/>
        </p:nvSpPr>
        <p:spPr>
          <a:xfrm>
            <a:off x="3840480" y="5093280"/>
            <a:ext cx="7308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onsolas"/>
                <a:ea typeface="Consolas"/>
              </a:rPr>
              <a:t>50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84" name="Shape 27"/>
          <p:cNvSpPr/>
          <p:nvPr/>
        </p:nvSpPr>
        <p:spPr>
          <a:xfrm>
            <a:off x="640080" y="5760720"/>
            <a:ext cx="7863120" cy="913680"/>
          </a:xfrm>
          <a:prstGeom prst="rect">
            <a:avLst/>
          </a:prstGeom>
          <a:solidFill>
            <a:srgbClr val="f8f8f8"/>
          </a:solidFill>
          <a:ln w="254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5" name="Text 28"/>
          <p:cNvSpPr/>
          <p:nvPr/>
        </p:nvSpPr>
        <p:spPr>
          <a:xfrm>
            <a:off x="822960" y="5897880"/>
            <a:ext cx="749736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65a82"/>
                </a:solidFill>
                <a:latin typeface="Consolas"/>
                <a:ea typeface="Consolas"/>
              </a:rPr>
              <a:t>items = [10, 20, 30, 40, 50]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65a82"/>
                </a:solidFill>
                <a:latin typeface="Consolas"/>
                <a:ea typeface="Consolas"/>
              </a:rPr>
              <a:t>items.remove(30)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65a82"/>
                </a:solidFill>
                <a:latin typeface="Consolas"/>
                <a:ea typeface="Consolas"/>
              </a:rPr>
              <a:t>print(items)                 # [10, 20, 40, 50]</a:t>
            </a:r>
            <a:endParaRPr b="0" lang="en-IN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Text 0"/>
          <p:cNvSpPr/>
          <p:nvPr/>
        </p:nvSpPr>
        <p:spPr>
          <a:xfrm>
            <a:off x="457200" y="36576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21295c"/>
                </a:solidFill>
                <a:latin typeface="Georgia"/>
                <a:ea typeface="Georgia"/>
              </a:rPr>
              <a:t>pop() Method</a:t>
            </a:r>
            <a:endParaRPr b="0" lang="en-IN" sz="4000" spc="-1" strike="noStrike">
              <a:latin typeface="Arial"/>
            </a:endParaRPr>
          </a:p>
        </p:txBody>
      </p:sp>
      <p:sp>
        <p:nvSpPr>
          <p:cNvPr id="187" name="Text 1"/>
          <p:cNvSpPr/>
          <p:nvPr/>
        </p:nvSpPr>
        <p:spPr>
          <a:xfrm>
            <a:off x="640080" y="1097280"/>
            <a:ext cx="786312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22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333333"/>
                </a:solidFill>
                <a:latin typeface="Calibri"/>
                <a:ea typeface="Calibri"/>
              </a:rPr>
              <a:t>The pop() method removes an item from the list and returns it. Two variations: pop() removes last item, pop(index) removes at specific index.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188" name="Text 2"/>
          <p:cNvSpPr/>
          <p:nvPr/>
        </p:nvSpPr>
        <p:spPr>
          <a:xfrm>
            <a:off x="640080" y="1828800"/>
            <a:ext cx="78631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065a82"/>
                </a:solidFill>
                <a:latin typeface="Calibri"/>
                <a:ea typeface="Calibri"/>
              </a:rPr>
              <a:t>1. pop() - Remove Last Item: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89" name="Shape 3"/>
          <p:cNvSpPr/>
          <p:nvPr/>
        </p:nvSpPr>
        <p:spPr>
          <a:xfrm>
            <a:off x="640080" y="2240280"/>
            <a:ext cx="7863120" cy="1188000"/>
          </a:xfrm>
          <a:prstGeom prst="rect">
            <a:avLst/>
          </a:prstGeom>
          <a:solidFill>
            <a:srgbClr val="f5f5f5"/>
          </a:solidFill>
          <a:ln w="254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0" name="Text 4"/>
          <p:cNvSpPr/>
          <p:nvPr/>
        </p:nvSpPr>
        <p:spPr>
          <a:xfrm>
            <a:off x="822960" y="2377440"/>
            <a:ext cx="749736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numbers = [10, 20, 30, 40]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removed = numbers.pop()      # Removes and returns 40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print(removed)               # 40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print(numbers)               # [10, 20, 30]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91" name="Text 5"/>
          <p:cNvSpPr/>
          <p:nvPr/>
        </p:nvSpPr>
        <p:spPr>
          <a:xfrm>
            <a:off x="640080" y="3611880"/>
            <a:ext cx="78631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065a82"/>
                </a:solidFill>
                <a:latin typeface="Calibri"/>
                <a:ea typeface="Calibri"/>
              </a:rPr>
              <a:t>2. pop(index) - Remove at Specific Index: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92" name="Shape 6"/>
          <p:cNvSpPr/>
          <p:nvPr/>
        </p:nvSpPr>
        <p:spPr>
          <a:xfrm>
            <a:off x="640080" y="4023360"/>
            <a:ext cx="7863120" cy="1188000"/>
          </a:xfrm>
          <a:prstGeom prst="rect">
            <a:avLst/>
          </a:prstGeom>
          <a:solidFill>
            <a:srgbClr val="f5f5f5"/>
          </a:solidFill>
          <a:ln w="254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3" name="Text 7"/>
          <p:cNvSpPr/>
          <p:nvPr/>
        </p:nvSpPr>
        <p:spPr>
          <a:xfrm>
            <a:off x="822960" y="4160520"/>
            <a:ext cx="749736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numbers = [10, 20, 30, 40, 50]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removed = numbers.pop(2)     # Removes and returns item at index 2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print(removed)               # 30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print(numbers)               # [10, 20, 40, 50]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94" name="Text 8"/>
          <p:cNvSpPr/>
          <p:nvPr/>
        </p:nvSpPr>
        <p:spPr>
          <a:xfrm>
            <a:off x="640080" y="5440680"/>
            <a:ext cx="78631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065a82"/>
                </a:solidFill>
                <a:latin typeface="Calibri"/>
                <a:ea typeface="Calibri"/>
              </a:rPr>
              <a:t>Visual Comparison: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95" name="Text 9"/>
          <p:cNvSpPr/>
          <p:nvPr/>
        </p:nvSpPr>
        <p:spPr>
          <a:xfrm>
            <a:off x="914400" y="5852160"/>
            <a:ext cx="228528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666666"/>
                </a:solidFill>
                <a:latin typeface="Calibri"/>
                <a:ea typeface="Calibri"/>
              </a:rPr>
              <a:t>pop() removes last: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96" name="Shape 10"/>
          <p:cNvSpPr/>
          <p:nvPr/>
        </p:nvSpPr>
        <p:spPr>
          <a:xfrm>
            <a:off x="914400" y="6126480"/>
            <a:ext cx="547920" cy="36504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7" name="Text 11"/>
          <p:cNvSpPr/>
          <p:nvPr/>
        </p:nvSpPr>
        <p:spPr>
          <a:xfrm>
            <a:off x="914400" y="6217920"/>
            <a:ext cx="54792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10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98" name="Shape 12"/>
          <p:cNvSpPr/>
          <p:nvPr/>
        </p:nvSpPr>
        <p:spPr>
          <a:xfrm>
            <a:off x="1554480" y="6126480"/>
            <a:ext cx="547920" cy="36504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9" name="Text 13"/>
          <p:cNvSpPr/>
          <p:nvPr/>
        </p:nvSpPr>
        <p:spPr>
          <a:xfrm>
            <a:off x="1554480" y="6217920"/>
            <a:ext cx="54792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20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00" name="Shape 14"/>
          <p:cNvSpPr/>
          <p:nvPr/>
        </p:nvSpPr>
        <p:spPr>
          <a:xfrm>
            <a:off x="2194560" y="6126480"/>
            <a:ext cx="547920" cy="36504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1" name="Text 15"/>
          <p:cNvSpPr/>
          <p:nvPr/>
        </p:nvSpPr>
        <p:spPr>
          <a:xfrm>
            <a:off x="2194560" y="6217920"/>
            <a:ext cx="54792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30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02" name="Shape 16"/>
          <p:cNvSpPr/>
          <p:nvPr/>
        </p:nvSpPr>
        <p:spPr>
          <a:xfrm>
            <a:off x="2834640" y="6126480"/>
            <a:ext cx="547920" cy="365040"/>
          </a:xfrm>
          <a:prstGeom prst="rect">
            <a:avLst/>
          </a:prstGeom>
          <a:solidFill>
            <a:srgbClr val="cc0000"/>
          </a:solidFill>
          <a:ln w="25400">
            <a:solidFill>
              <a:srgbClr val="99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3" name="Text 17"/>
          <p:cNvSpPr/>
          <p:nvPr/>
        </p:nvSpPr>
        <p:spPr>
          <a:xfrm>
            <a:off x="2834640" y="6217920"/>
            <a:ext cx="54792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40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04" name="Text 18"/>
          <p:cNvSpPr/>
          <p:nvPr/>
        </p:nvSpPr>
        <p:spPr>
          <a:xfrm>
            <a:off x="4572000" y="5852160"/>
            <a:ext cx="228528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666666"/>
                </a:solidFill>
                <a:latin typeface="Calibri"/>
                <a:ea typeface="Calibri"/>
              </a:rPr>
              <a:t>pop(2) removes index 2: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05" name="Shape 19"/>
          <p:cNvSpPr/>
          <p:nvPr/>
        </p:nvSpPr>
        <p:spPr>
          <a:xfrm>
            <a:off x="4572000" y="6126480"/>
            <a:ext cx="547920" cy="36504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6" name="Text 20"/>
          <p:cNvSpPr/>
          <p:nvPr/>
        </p:nvSpPr>
        <p:spPr>
          <a:xfrm>
            <a:off x="4572000" y="6217920"/>
            <a:ext cx="54792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10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07" name="Shape 21"/>
          <p:cNvSpPr/>
          <p:nvPr/>
        </p:nvSpPr>
        <p:spPr>
          <a:xfrm>
            <a:off x="5212080" y="6126480"/>
            <a:ext cx="547920" cy="36504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8" name="Text 22"/>
          <p:cNvSpPr/>
          <p:nvPr/>
        </p:nvSpPr>
        <p:spPr>
          <a:xfrm>
            <a:off x="5212080" y="6217920"/>
            <a:ext cx="54792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20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09" name="Shape 23"/>
          <p:cNvSpPr/>
          <p:nvPr/>
        </p:nvSpPr>
        <p:spPr>
          <a:xfrm>
            <a:off x="5852160" y="6126480"/>
            <a:ext cx="547920" cy="365040"/>
          </a:xfrm>
          <a:prstGeom prst="rect">
            <a:avLst/>
          </a:prstGeom>
          <a:solidFill>
            <a:srgbClr val="cc0000"/>
          </a:solidFill>
          <a:ln w="25400">
            <a:solidFill>
              <a:srgbClr val="99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0" name="Text 24"/>
          <p:cNvSpPr/>
          <p:nvPr/>
        </p:nvSpPr>
        <p:spPr>
          <a:xfrm>
            <a:off x="5852160" y="6217920"/>
            <a:ext cx="54792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30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11" name="Shape 25"/>
          <p:cNvSpPr/>
          <p:nvPr/>
        </p:nvSpPr>
        <p:spPr>
          <a:xfrm>
            <a:off x="6492240" y="6126480"/>
            <a:ext cx="547920" cy="36504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2" name="Text 26"/>
          <p:cNvSpPr/>
          <p:nvPr/>
        </p:nvSpPr>
        <p:spPr>
          <a:xfrm>
            <a:off x="6492240" y="6217920"/>
            <a:ext cx="54792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40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Text 0"/>
          <p:cNvSpPr/>
          <p:nvPr/>
        </p:nvSpPr>
        <p:spPr>
          <a:xfrm>
            <a:off x="457200" y="36576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21295c"/>
                </a:solidFill>
                <a:latin typeface="Georgia"/>
                <a:ea typeface="Georgia"/>
              </a:rPr>
              <a:t>clear() Method</a:t>
            </a:r>
            <a:endParaRPr b="0" lang="en-IN" sz="4000" spc="-1" strike="noStrike">
              <a:latin typeface="Arial"/>
            </a:endParaRPr>
          </a:p>
        </p:txBody>
      </p:sp>
      <p:sp>
        <p:nvSpPr>
          <p:cNvPr id="214" name="Text 1"/>
          <p:cNvSpPr/>
          <p:nvPr/>
        </p:nvSpPr>
        <p:spPr>
          <a:xfrm>
            <a:off x="640080" y="1097280"/>
            <a:ext cx="78631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22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333333"/>
                </a:solidFill>
                <a:latin typeface="Calibri"/>
                <a:ea typeface="Calibri"/>
              </a:rPr>
              <a:t>The clear() method deletes all items from the list, making it empty. The list still exists, but contains no elements.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215" name="Text 2"/>
          <p:cNvSpPr/>
          <p:nvPr/>
        </p:nvSpPr>
        <p:spPr>
          <a:xfrm>
            <a:off x="640080" y="1737360"/>
            <a:ext cx="78631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065a82"/>
                </a:solidFill>
                <a:latin typeface="Calibri"/>
                <a:ea typeface="Calibri"/>
              </a:rPr>
              <a:t>Syntax: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16" name="Shape 3"/>
          <p:cNvSpPr/>
          <p:nvPr/>
        </p:nvSpPr>
        <p:spPr>
          <a:xfrm>
            <a:off x="640080" y="2148840"/>
            <a:ext cx="7863120" cy="456480"/>
          </a:xfrm>
          <a:prstGeom prst="rect">
            <a:avLst/>
          </a:prstGeom>
          <a:solidFill>
            <a:srgbClr val="f0f8ff"/>
          </a:solidFill>
          <a:ln w="254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7" name="Text 4"/>
          <p:cNvSpPr/>
          <p:nvPr/>
        </p:nvSpPr>
        <p:spPr>
          <a:xfrm>
            <a:off x="914400" y="2286000"/>
            <a:ext cx="731448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065a82"/>
                </a:solidFill>
                <a:latin typeface="Consolas"/>
                <a:ea typeface="Consolas"/>
              </a:rPr>
              <a:t>list_name.clear()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218" name="Text 5"/>
          <p:cNvSpPr/>
          <p:nvPr/>
        </p:nvSpPr>
        <p:spPr>
          <a:xfrm>
            <a:off x="640080" y="2834640"/>
            <a:ext cx="78631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065a82"/>
                </a:solidFill>
                <a:latin typeface="Calibri"/>
                <a:ea typeface="Calibri"/>
              </a:rPr>
              <a:t>Visual Transformation: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219" name="Text 6"/>
          <p:cNvSpPr/>
          <p:nvPr/>
        </p:nvSpPr>
        <p:spPr>
          <a:xfrm>
            <a:off x="1371600" y="3383280"/>
            <a:ext cx="22852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666666"/>
                </a:solidFill>
                <a:latin typeface="Calibri"/>
                <a:ea typeface="Calibri"/>
              </a:rPr>
              <a:t>Before clear():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20" name="Shape 7"/>
          <p:cNvSpPr/>
          <p:nvPr/>
        </p:nvSpPr>
        <p:spPr>
          <a:xfrm>
            <a:off x="1371600" y="3749040"/>
            <a:ext cx="639360" cy="54792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1" name="Text 8"/>
          <p:cNvSpPr/>
          <p:nvPr/>
        </p:nvSpPr>
        <p:spPr>
          <a:xfrm>
            <a:off x="1371600" y="3886200"/>
            <a:ext cx="6393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onsolas"/>
                <a:ea typeface="Consolas"/>
              </a:rPr>
              <a:t>10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22" name="Shape 9"/>
          <p:cNvSpPr/>
          <p:nvPr/>
        </p:nvSpPr>
        <p:spPr>
          <a:xfrm>
            <a:off x="2103120" y="3749040"/>
            <a:ext cx="639360" cy="54792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3" name="Text 10"/>
          <p:cNvSpPr/>
          <p:nvPr/>
        </p:nvSpPr>
        <p:spPr>
          <a:xfrm>
            <a:off x="2103120" y="3886200"/>
            <a:ext cx="6393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onsolas"/>
                <a:ea typeface="Consolas"/>
              </a:rPr>
              <a:t>20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24" name="Shape 11"/>
          <p:cNvSpPr/>
          <p:nvPr/>
        </p:nvSpPr>
        <p:spPr>
          <a:xfrm>
            <a:off x="2834640" y="3749040"/>
            <a:ext cx="639360" cy="54792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5" name="Text 12"/>
          <p:cNvSpPr/>
          <p:nvPr/>
        </p:nvSpPr>
        <p:spPr>
          <a:xfrm>
            <a:off x="2834640" y="3886200"/>
            <a:ext cx="6393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onsolas"/>
                <a:ea typeface="Consolas"/>
              </a:rPr>
              <a:t>30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26" name="Shape 13"/>
          <p:cNvSpPr/>
          <p:nvPr/>
        </p:nvSpPr>
        <p:spPr>
          <a:xfrm>
            <a:off x="3566160" y="3749040"/>
            <a:ext cx="639360" cy="54792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7" name="Text 14"/>
          <p:cNvSpPr/>
          <p:nvPr/>
        </p:nvSpPr>
        <p:spPr>
          <a:xfrm>
            <a:off x="3566160" y="3886200"/>
            <a:ext cx="6393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onsolas"/>
                <a:ea typeface="Consolas"/>
              </a:rPr>
              <a:t>40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28" name="Shape 15"/>
          <p:cNvSpPr/>
          <p:nvPr/>
        </p:nvSpPr>
        <p:spPr>
          <a:xfrm>
            <a:off x="4297680" y="3749040"/>
            <a:ext cx="639360" cy="54792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9" name="Text 16"/>
          <p:cNvSpPr/>
          <p:nvPr/>
        </p:nvSpPr>
        <p:spPr>
          <a:xfrm>
            <a:off x="4297680" y="3886200"/>
            <a:ext cx="6393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onsolas"/>
                <a:ea typeface="Consolas"/>
              </a:rPr>
              <a:t>50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30" name="Text 17"/>
          <p:cNvSpPr/>
          <p:nvPr/>
        </p:nvSpPr>
        <p:spPr>
          <a:xfrm>
            <a:off x="2743200" y="4526280"/>
            <a:ext cx="9136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cc0000"/>
                </a:solidFill>
                <a:latin typeface="Calibri"/>
                <a:ea typeface="Calibri"/>
              </a:rPr>
              <a:t>↓</a:t>
            </a:r>
            <a:endParaRPr b="0" lang="en-IN" sz="2800" spc="-1" strike="noStrike">
              <a:latin typeface="Arial"/>
            </a:endParaRPr>
          </a:p>
        </p:txBody>
      </p:sp>
      <p:sp>
        <p:nvSpPr>
          <p:cNvPr id="231" name="Text 18"/>
          <p:cNvSpPr/>
          <p:nvPr/>
        </p:nvSpPr>
        <p:spPr>
          <a:xfrm>
            <a:off x="2286000" y="4937760"/>
            <a:ext cx="18280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cc0000"/>
                </a:solidFill>
                <a:latin typeface="Consolas"/>
                <a:ea typeface="Consolas"/>
              </a:rPr>
              <a:t>clear()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32" name="Text 19"/>
          <p:cNvSpPr/>
          <p:nvPr/>
        </p:nvSpPr>
        <p:spPr>
          <a:xfrm>
            <a:off x="1371600" y="5394960"/>
            <a:ext cx="22852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666666"/>
                </a:solidFill>
                <a:latin typeface="Calibri"/>
                <a:ea typeface="Calibri"/>
              </a:rPr>
              <a:t>After clear():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33" name="Shape 20"/>
          <p:cNvSpPr/>
          <p:nvPr/>
        </p:nvSpPr>
        <p:spPr>
          <a:xfrm>
            <a:off x="1371600" y="5760720"/>
            <a:ext cx="1370880" cy="547920"/>
          </a:xfrm>
          <a:prstGeom prst="rect">
            <a:avLst/>
          </a:prstGeom>
          <a:solidFill>
            <a:srgbClr val="f5f5f5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4" name="Text 21"/>
          <p:cNvSpPr/>
          <p:nvPr/>
        </p:nvSpPr>
        <p:spPr>
          <a:xfrm>
            <a:off x="1371600" y="5897880"/>
            <a:ext cx="1370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cc0000"/>
                </a:solidFill>
                <a:latin typeface="Consolas"/>
                <a:ea typeface="Consolas"/>
              </a:rPr>
              <a:t>[ ]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235" name="Text 22"/>
          <p:cNvSpPr/>
          <p:nvPr/>
        </p:nvSpPr>
        <p:spPr>
          <a:xfrm>
            <a:off x="2926080" y="5897880"/>
            <a:ext cx="1370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cc0000"/>
                </a:solidFill>
                <a:latin typeface="Calibri"/>
                <a:ea typeface="Calibri"/>
              </a:rPr>
              <a:t>Empty list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36" name="Shape 23"/>
          <p:cNvSpPr/>
          <p:nvPr/>
        </p:nvSpPr>
        <p:spPr>
          <a:xfrm>
            <a:off x="5029200" y="3200400"/>
            <a:ext cx="3474000" cy="1188000"/>
          </a:xfrm>
          <a:prstGeom prst="rect">
            <a:avLst/>
          </a:prstGeom>
          <a:solidFill>
            <a:srgbClr val="f8f8f8"/>
          </a:solidFill>
          <a:ln w="254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7" name="Text 24"/>
          <p:cNvSpPr/>
          <p:nvPr/>
        </p:nvSpPr>
        <p:spPr>
          <a:xfrm>
            <a:off x="5212080" y="3337560"/>
            <a:ext cx="310824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data = [10, 20, 30,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       </a:t>
            </a: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40, 50]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data.clear()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print(data)  # []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Text 0"/>
          <p:cNvSpPr/>
          <p:nvPr/>
        </p:nvSpPr>
        <p:spPr>
          <a:xfrm>
            <a:off x="457200" y="36576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800" spc="-1" strike="noStrike">
                <a:solidFill>
                  <a:srgbClr val="21295c"/>
                </a:solidFill>
                <a:latin typeface="Georgia"/>
                <a:ea typeface="Georgia"/>
              </a:rPr>
              <a:t>index() and count() Methods</a:t>
            </a:r>
            <a:endParaRPr b="0" lang="en-IN" sz="3800" spc="-1" strike="noStrike">
              <a:latin typeface="Arial"/>
            </a:endParaRPr>
          </a:p>
        </p:txBody>
      </p:sp>
      <p:sp>
        <p:nvSpPr>
          <p:cNvPr id="239" name="Text 1"/>
          <p:cNvSpPr/>
          <p:nvPr/>
        </p:nvSpPr>
        <p:spPr>
          <a:xfrm>
            <a:off x="640080" y="1097280"/>
            <a:ext cx="78631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065a82"/>
                </a:solidFill>
                <a:latin typeface="Calibri"/>
                <a:ea typeface="Calibri"/>
              </a:rPr>
              <a:t>index() - Find Position: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40" name="Text 2"/>
          <p:cNvSpPr/>
          <p:nvPr/>
        </p:nvSpPr>
        <p:spPr>
          <a:xfrm>
            <a:off x="640080" y="1463040"/>
            <a:ext cx="786312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666666"/>
                </a:solidFill>
                <a:latin typeface="Calibri"/>
                <a:ea typeface="Calibri"/>
              </a:rPr>
              <a:t>Returns the index of the first occurrence of an item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41" name="Shape 3"/>
          <p:cNvSpPr/>
          <p:nvPr/>
        </p:nvSpPr>
        <p:spPr>
          <a:xfrm>
            <a:off x="640080" y="1783080"/>
            <a:ext cx="7863120" cy="1462320"/>
          </a:xfrm>
          <a:prstGeom prst="rect">
            <a:avLst/>
          </a:prstGeom>
          <a:solidFill>
            <a:srgbClr val="f5f5f5"/>
          </a:solidFill>
          <a:ln w="254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2" name="Text 4"/>
          <p:cNvSpPr/>
          <p:nvPr/>
        </p:nvSpPr>
        <p:spPr>
          <a:xfrm>
            <a:off x="822960" y="1920240"/>
            <a:ext cx="74973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21295c"/>
                </a:solidFill>
                <a:latin typeface="Consolas"/>
                <a:ea typeface="Consolas"/>
              </a:rPr>
              <a:t>Syntax: position = list_name.index(value)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43" name="Text 5"/>
          <p:cNvSpPr/>
          <p:nvPr/>
        </p:nvSpPr>
        <p:spPr>
          <a:xfrm>
            <a:off x="822960" y="2194560"/>
            <a:ext cx="749736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numbers = [10, 20, 30, 40, 50]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pos = numbers.index(40)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print(pos)                   # 3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# Returns index where item is found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44" name="Text 6"/>
          <p:cNvSpPr/>
          <p:nvPr/>
        </p:nvSpPr>
        <p:spPr>
          <a:xfrm>
            <a:off x="640080" y="3429000"/>
            <a:ext cx="78631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065a82"/>
                </a:solidFill>
                <a:latin typeface="Calibri"/>
                <a:ea typeface="Calibri"/>
              </a:rPr>
              <a:t>count() - Count Occurrences: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45" name="Text 7"/>
          <p:cNvSpPr/>
          <p:nvPr/>
        </p:nvSpPr>
        <p:spPr>
          <a:xfrm>
            <a:off x="640080" y="3794760"/>
            <a:ext cx="786312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666666"/>
                </a:solidFill>
                <a:latin typeface="Calibri"/>
                <a:ea typeface="Calibri"/>
              </a:rPr>
              <a:t>Returns how many times an item appears in the list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46" name="Shape 8"/>
          <p:cNvSpPr/>
          <p:nvPr/>
        </p:nvSpPr>
        <p:spPr>
          <a:xfrm>
            <a:off x="640080" y="4114800"/>
            <a:ext cx="7863120" cy="1462320"/>
          </a:xfrm>
          <a:prstGeom prst="rect">
            <a:avLst/>
          </a:prstGeom>
          <a:solidFill>
            <a:srgbClr val="f5f5f5"/>
          </a:solidFill>
          <a:ln w="254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7" name="Text 9"/>
          <p:cNvSpPr/>
          <p:nvPr/>
        </p:nvSpPr>
        <p:spPr>
          <a:xfrm>
            <a:off x="822960" y="4251960"/>
            <a:ext cx="74973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21295c"/>
                </a:solidFill>
                <a:latin typeface="Consolas"/>
                <a:ea typeface="Consolas"/>
              </a:rPr>
              <a:t>Syntax: count = list_name.count(value)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48" name="Text 10"/>
          <p:cNvSpPr/>
          <p:nvPr/>
        </p:nvSpPr>
        <p:spPr>
          <a:xfrm>
            <a:off x="822960" y="4526280"/>
            <a:ext cx="749736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values = [10, 20, 30, 10, 40]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occurrences = values.count(10)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print(occurrences)           # 2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# Item 10 appears twice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49" name="Text 11"/>
          <p:cNvSpPr/>
          <p:nvPr/>
        </p:nvSpPr>
        <p:spPr>
          <a:xfrm>
            <a:off x="640080" y="5760720"/>
            <a:ext cx="78631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065a82"/>
                </a:solidFill>
                <a:latin typeface="Calibri"/>
                <a:ea typeface="Calibri"/>
              </a:rPr>
              <a:t>Visual Examples: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250" name="Shape 12"/>
          <p:cNvSpPr/>
          <p:nvPr/>
        </p:nvSpPr>
        <p:spPr>
          <a:xfrm>
            <a:off x="914400" y="6217920"/>
            <a:ext cx="639360" cy="45648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1" name="Text 13"/>
          <p:cNvSpPr/>
          <p:nvPr/>
        </p:nvSpPr>
        <p:spPr>
          <a:xfrm>
            <a:off x="914400" y="6327720"/>
            <a:ext cx="6393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10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52" name="Shape 14"/>
          <p:cNvSpPr/>
          <p:nvPr/>
        </p:nvSpPr>
        <p:spPr>
          <a:xfrm>
            <a:off x="1645920" y="6217920"/>
            <a:ext cx="639360" cy="45648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3" name="Text 15"/>
          <p:cNvSpPr/>
          <p:nvPr/>
        </p:nvSpPr>
        <p:spPr>
          <a:xfrm>
            <a:off x="1645920" y="6327720"/>
            <a:ext cx="6393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20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54" name="Shape 16"/>
          <p:cNvSpPr/>
          <p:nvPr/>
        </p:nvSpPr>
        <p:spPr>
          <a:xfrm>
            <a:off x="2377440" y="6217920"/>
            <a:ext cx="639360" cy="45648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5" name="Text 17"/>
          <p:cNvSpPr/>
          <p:nvPr/>
        </p:nvSpPr>
        <p:spPr>
          <a:xfrm>
            <a:off x="2377440" y="6327720"/>
            <a:ext cx="6393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30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56" name="Shape 18"/>
          <p:cNvSpPr/>
          <p:nvPr/>
        </p:nvSpPr>
        <p:spPr>
          <a:xfrm>
            <a:off x="3108960" y="6217920"/>
            <a:ext cx="639360" cy="456480"/>
          </a:xfrm>
          <a:prstGeom prst="rect">
            <a:avLst/>
          </a:prstGeom>
          <a:solidFill>
            <a:srgbClr val="21295c"/>
          </a:solidFill>
          <a:ln w="381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7" name="Text 19"/>
          <p:cNvSpPr/>
          <p:nvPr/>
        </p:nvSpPr>
        <p:spPr>
          <a:xfrm>
            <a:off x="3108960" y="6327720"/>
            <a:ext cx="6393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40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58" name="Text 20"/>
          <p:cNvSpPr/>
          <p:nvPr/>
        </p:nvSpPr>
        <p:spPr>
          <a:xfrm>
            <a:off x="2926080" y="6766560"/>
            <a:ext cx="100512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21295c"/>
                </a:solidFill>
                <a:latin typeface="Calibri"/>
                <a:ea typeface="Calibri"/>
              </a:rPr>
              <a:t>index: 3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59" name="Shape 21"/>
          <p:cNvSpPr/>
          <p:nvPr/>
        </p:nvSpPr>
        <p:spPr>
          <a:xfrm>
            <a:off x="3840480" y="6217920"/>
            <a:ext cx="639360" cy="45648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0" name="Text 22"/>
          <p:cNvSpPr/>
          <p:nvPr/>
        </p:nvSpPr>
        <p:spPr>
          <a:xfrm>
            <a:off x="3840480" y="6327720"/>
            <a:ext cx="6393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50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Text 0"/>
          <p:cNvSpPr/>
          <p:nvPr/>
        </p:nvSpPr>
        <p:spPr>
          <a:xfrm>
            <a:off x="457200" y="36576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800" spc="-1" strike="noStrike">
                <a:solidFill>
                  <a:srgbClr val="21295c"/>
                </a:solidFill>
                <a:latin typeface="Georgia"/>
                <a:ea typeface="Georgia"/>
              </a:rPr>
              <a:t>sort() and reverse() Methods</a:t>
            </a:r>
            <a:endParaRPr b="0" lang="en-IN" sz="3800" spc="-1" strike="noStrike">
              <a:latin typeface="Arial"/>
            </a:endParaRPr>
          </a:p>
        </p:txBody>
      </p:sp>
      <p:sp>
        <p:nvSpPr>
          <p:cNvPr id="262" name="Text 1"/>
          <p:cNvSpPr/>
          <p:nvPr/>
        </p:nvSpPr>
        <p:spPr>
          <a:xfrm>
            <a:off x="640080" y="1097280"/>
            <a:ext cx="78631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065a82"/>
                </a:solidFill>
                <a:latin typeface="Calibri"/>
                <a:ea typeface="Calibri"/>
              </a:rPr>
              <a:t>sort() - In-Place Sorting: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63" name="Text 2"/>
          <p:cNvSpPr/>
          <p:nvPr/>
        </p:nvSpPr>
        <p:spPr>
          <a:xfrm>
            <a:off x="640080" y="1463040"/>
            <a:ext cx="786312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666666"/>
                </a:solidFill>
                <a:latin typeface="Calibri"/>
                <a:ea typeface="Calibri"/>
              </a:rPr>
              <a:t>Sorts the list in ascending order and modifies the original list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64" name="Shape 3"/>
          <p:cNvSpPr/>
          <p:nvPr/>
        </p:nvSpPr>
        <p:spPr>
          <a:xfrm>
            <a:off x="640080" y="1783080"/>
            <a:ext cx="7863120" cy="1279440"/>
          </a:xfrm>
          <a:prstGeom prst="rect">
            <a:avLst/>
          </a:prstGeom>
          <a:solidFill>
            <a:srgbClr val="f5f5f5"/>
          </a:solidFill>
          <a:ln w="254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5" name="Text 4"/>
          <p:cNvSpPr/>
          <p:nvPr/>
        </p:nvSpPr>
        <p:spPr>
          <a:xfrm>
            <a:off x="822960" y="1920240"/>
            <a:ext cx="749736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numbers = [50, 40, 30, 20, 10]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numbers.sort()               # Modifies original list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print(numbers)               # [10, 20, 30, 40, 50]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# Note: sorted() returns new list, sort() modifies in-place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66" name="Text 5"/>
          <p:cNvSpPr/>
          <p:nvPr/>
        </p:nvSpPr>
        <p:spPr>
          <a:xfrm>
            <a:off x="640080" y="3246120"/>
            <a:ext cx="78631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065a82"/>
                </a:solidFill>
                <a:latin typeface="Calibri"/>
                <a:ea typeface="Calibri"/>
              </a:rPr>
              <a:t>reverse() - In-Place Reversing: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67" name="Text 6"/>
          <p:cNvSpPr/>
          <p:nvPr/>
        </p:nvSpPr>
        <p:spPr>
          <a:xfrm>
            <a:off x="640080" y="3611880"/>
            <a:ext cx="786312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666666"/>
                </a:solidFill>
                <a:latin typeface="Calibri"/>
                <a:ea typeface="Calibri"/>
              </a:rPr>
              <a:t>Reverses the list order and modifies the original list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68" name="Shape 7"/>
          <p:cNvSpPr/>
          <p:nvPr/>
        </p:nvSpPr>
        <p:spPr>
          <a:xfrm>
            <a:off x="640080" y="3931920"/>
            <a:ext cx="7863120" cy="1279440"/>
          </a:xfrm>
          <a:prstGeom prst="rect">
            <a:avLst/>
          </a:prstGeom>
          <a:solidFill>
            <a:srgbClr val="f5f5f5"/>
          </a:solidFill>
          <a:ln w="254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9" name="Text 8"/>
          <p:cNvSpPr/>
          <p:nvPr/>
        </p:nvSpPr>
        <p:spPr>
          <a:xfrm>
            <a:off x="822960" y="4069080"/>
            <a:ext cx="749736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numbers = [10, 20, 30, 40, 50]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numbers.reverse()            # Modifies original list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print(numbers)               # [50, 40, 30, 20, 10]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# Note: reversed() returns iterator, reverse() modifies in-place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70" name="Text 9"/>
          <p:cNvSpPr/>
          <p:nvPr/>
        </p:nvSpPr>
        <p:spPr>
          <a:xfrm>
            <a:off x="640080" y="5440680"/>
            <a:ext cx="78631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065a82"/>
                </a:solidFill>
                <a:latin typeface="Calibri"/>
                <a:ea typeface="Calibri"/>
              </a:rPr>
              <a:t>Key Difference: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271" name="Shape 10"/>
          <p:cNvSpPr/>
          <p:nvPr/>
        </p:nvSpPr>
        <p:spPr>
          <a:xfrm>
            <a:off x="640080" y="5852160"/>
            <a:ext cx="7863120" cy="36504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2" name="Text 11"/>
          <p:cNvSpPr/>
          <p:nvPr/>
        </p:nvSpPr>
        <p:spPr>
          <a:xfrm>
            <a:off x="822960" y="5897880"/>
            <a:ext cx="2285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21295c"/>
                </a:solidFill>
                <a:latin typeface="Consolas"/>
                <a:ea typeface="Consolas"/>
              </a:rPr>
              <a:t>sort()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73" name="Text 12"/>
          <p:cNvSpPr/>
          <p:nvPr/>
        </p:nvSpPr>
        <p:spPr>
          <a:xfrm>
            <a:off x="3291840" y="5897880"/>
            <a:ext cx="2285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555555"/>
                </a:solidFill>
                <a:latin typeface="Calibri"/>
                <a:ea typeface="Calibri"/>
              </a:rPr>
              <a:t>Yes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74" name="Text 13"/>
          <p:cNvSpPr/>
          <p:nvPr/>
        </p:nvSpPr>
        <p:spPr>
          <a:xfrm>
            <a:off x="5760720" y="5897880"/>
            <a:ext cx="2559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555555"/>
                </a:solidFill>
                <a:latin typeface="Calibri"/>
                <a:ea typeface="Calibri"/>
              </a:rPr>
              <a:t>None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75" name="Shape 14"/>
          <p:cNvSpPr/>
          <p:nvPr/>
        </p:nvSpPr>
        <p:spPr>
          <a:xfrm>
            <a:off x="640080" y="6217920"/>
            <a:ext cx="7863120" cy="365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6" name="Text 15"/>
          <p:cNvSpPr/>
          <p:nvPr/>
        </p:nvSpPr>
        <p:spPr>
          <a:xfrm>
            <a:off x="822960" y="6263640"/>
            <a:ext cx="2285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21295c"/>
                </a:solidFill>
                <a:latin typeface="Consolas"/>
                <a:ea typeface="Consolas"/>
              </a:rPr>
              <a:t>sorted()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77" name="Text 16"/>
          <p:cNvSpPr/>
          <p:nvPr/>
        </p:nvSpPr>
        <p:spPr>
          <a:xfrm>
            <a:off x="3291840" y="6263640"/>
            <a:ext cx="2285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555555"/>
                </a:solidFill>
                <a:latin typeface="Calibri"/>
                <a:ea typeface="Calibri"/>
              </a:rPr>
              <a:t>No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78" name="Text 17"/>
          <p:cNvSpPr/>
          <p:nvPr/>
        </p:nvSpPr>
        <p:spPr>
          <a:xfrm>
            <a:off x="5760720" y="6263640"/>
            <a:ext cx="2559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555555"/>
                </a:solidFill>
                <a:latin typeface="Calibri"/>
                <a:ea typeface="Calibri"/>
              </a:rPr>
              <a:t>New list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79" name="Shape 18"/>
          <p:cNvSpPr/>
          <p:nvPr/>
        </p:nvSpPr>
        <p:spPr>
          <a:xfrm>
            <a:off x="640080" y="6583680"/>
            <a:ext cx="7863120" cy="36504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0" name="Text 19"/>
          <p:cNvSpPr/>
          <p:nvPr/>
        </p:nvSpPr>
        <p:spPr>
          <a:xfrm>
            <a:off x="822960" y="6629400"/>
            <a:ext cx="2285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21295c"/>
                </a:solidFill>
                <a:latin typeface="Consolas"/>
                <a:ea typeface="Consolas"/>
              </a:rPr>
              <a:t>reverse()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81" name="Text 20"/>
          <p:cNvSpPr/>
          <p:nvPr/>
        </p:nvSpPr>
        <p:spPr>
          <a:xfrm>
            <a:off x="3291840" y="6629400"/>
            <a:ext cx="2285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555555"/>
                </a:solidFill>
                <a:latin typeface="Calibri"/>
                <a:ea typeface="Calibri"/>
              </a:rPr>
              <a:t>Yes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82" name="Text 21"/>
          <p:cNvSpPr/>
          <p:nvPr/>
        </p:nvSpPr>
        <p:spPr>
          <a:xfrm>
            <a:off x="5760720" y="6629400"/>
            <a:ext cx="2559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555555"/>
                </a:solidFill>
                <a:latin typeface="Calibri"/>
                <a:ea typeface="Calibri"/>
              </a:rPr>
              <a:t>None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83" name="Shape 22"/>
          <p:cNvSpPr/>
          <p:nvPr/>
        </p:nvSpPr>
        <p:spPr>
          <a:xfrm>
            <a:off x="640080" y="6949440"/>
            <a:ext cx="7863120" cy="365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4" name="Text 23"/>
          <p:cNvSpPr/>
          <p:nvPr/>
        </p:nvSpPr>
        <p:spPr>
          <a:xfrm>
            <a:off x="822960" y="6995160"/>
            <a:ext cx="2285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21295c"/>
                </a:solidFill>
                <a:latin typeface="Consolas"/>
                <a:ea typeface="Consolas"/>
              </a:rPr>
              <a:t>reversed()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85" name="Text 24"/>
          <p:cNvSpPr/>
          <p:nvPr/>
        </p:nvSpPr>
        <p:spPr>
          <a:xfrm>
            <a:off x="3291840" y="6995160"/>
            <a:ext cx="2285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555555"/>
                </a:solidFill>
                <a:latin typeface="Calibri"/>
                <a:ea typeface="Calibri"/>
              </a:rPr>
              <a:t>No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86" name="Text 25"/>
          <p:cNvSpPr/>
          <p:nvPr/>
        </p:nvSpPr>
        <p:spPr>
          <a:xfrm>
            <a:off x="5760720" y="6995160"/>
            <a:ext cx="2559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555555"/>
                </a:solidFill>
                <a:latin typeface="Calibri"/>
                <a:ea typeface="Calibri"/>
              </a:rPr>
              <a:t>Iterator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Text 0"/>
          <p:cNvSpPr/>
          <p:nvPr/>
        </p:nvSpPr>
        <p:spPr>
          <a:xfrm>
            <a:off x="457200" y="36576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21295c"/>
                </a:solidFill>
                <a:latin typeface="Georgia"/>
                <a:ea typeface="Georgia"/>
              </a:rPr>
              <a:t>copy() Method</a:t>
            </a:r>
            <a:endParaRPr b="0" lang="en-IN" sz="4000" spc="-1" strike="noStrike">
              <a:latin typeface="Arial"/>
            </a:endParaRPr>
          </a:p>
        </p:txBody>
      </p:sp>
      <p:sp>
        <p:nvSpPr>
          <p:cNvPr id="288" name="Text 1"/>
          <p:cNvSpPr/>
          <p:nvPr/>
        </p:nvSpPr>
        <p:spPr>
          <a:xfrm>
            <a:off x="640080" y="1097280"/>
            <a:ext cx="78631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22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333333"/>
                </a:solidFill>
                <a:latin typeface="Calibri"/>
                <a:ea typeface="Calibri"/>
              </a:rPr>
              <a:t>The copy() method creates a shallow copy of the list. Creates a new list with the same elements but different memory location.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289" name="Text 2"/>
          <p:cNvSpPr/>
          <p:nvPr/>
        </p:nvSpPr>
        <p:spPr>
          <a:xfrm>
            <a:off x="640080" y="1737360"/>
            <a:ext cx="78631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065a82"/>
                </a:solidFill>
                <a:latin typeface="Calibri"/>
                <a:ea typeface="Calibri"/>
              </a:rPr>
              <a:t>Syntax: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90" name="Shape 3"/>
          <p:cNvSpPr/>
          <p:nvPr/>
        </p:nvSpPr>
        <p:spPr>
          <a:xfrm>
            <a:off x="640080" y="2148840"/>
            <a:ext cx="7863120" cy="456480"/>
          </a:xfrm>
          <a:prstGeom prst="rect">
            <a:avLst/>
          </a:prstGeom>
          <a:solidFill>
            <a:srgbClr val="f0f8ff"/>
          </a:solidFill>
          <a:ln w="254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91" name="Text 4"/>
          <p:cNvSpPr/>
          <p:nvPr/>
        </p:nvSpPr>
        <p:spPr>
          <a:xfrm>
            <a:off x="914400" y="2286000"/>
            <a:ext cx="731448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065a82"/>
                </a:solidFill>
                <a:latin typeface="Consolas"/>
                <a:ea typeface="Consolas"/>
              </a:rPr>
              <a:t>new_list = original_list.copy()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292" name="Shape 5"/>
          <p:cNvSpPr/>
          <p:nvPr/>
        </p:nvSpPr>
        <p:spPr>
          <a:xfrm>
            <a:off x="640080" y="2834640"/>
            <a:ext cx="7863120" cy="2010960"/>
          </a:xfrm>
          <a:prstGeom prst="rect">
            <a:avLst/>
          </a:prstGeom>
          <a:solidFill>
            <a:srgbClr val="f8f8f8"/>
          </a:solidFill>
          <a:ln w="254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93" name="Text 6"/>
          <p:cNvSpPr/>
          <p:nvPr/>
        </p:nvSpPr>
        <p:spPr>
          <a:xfrm>
            <a:off x="822960" y="2971800"/>
            <a:ext cx="74973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21295c"/>
                </a:solidFill>
                <a:latin typeface="Calibri"/>
                <a:ea typeface="Calibri"/>
              </a:rPr>
              <a:t>Complete Example: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94" name="Text 7"/>
          <p:cNvSpPr/>
          <p:nvPr/>
        </p:nvSpPr>
        <p:spPr>
          <a:xfrm>
            <a:off x="822960" y="3291840"/>
            <a:ext cx="7497360" cy="146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original = [10, 20, 30, 40, 50]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copied = original.copy()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print(copied)                # [10, 20, 30, 40, 50]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# Modify original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original[0] = 100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print(original)              # [100, 20, 30, 40, 50]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print(copied)                # [10, 20, 30, 40, 50]  ← Unchanged!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95" name="Text 8"/>
          <p:cNvSpPr/>
          <p:nvPr/>
        </p:nvSpPr>
        <p:spPr>
          <a:xfrm>
            <a:off x="640080" y="5120640"/>
            <a:ext cx="78631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065a82"/>
                </a:solidFill>
                <a:latin typeface="Calibri"/>
                <a:ea typeface="Calibri"/>
              </a:rPr>
              <a:t>Benefits of copy():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296" name="Shape 9"/>
          <p:cNvSpPr/>
          <p:nvPr/>
        </p:nvSpPr>
        <p:spPr>
          <a:xfrm>
            <a:off x="731520" y="5532120"/>
            <a:ext cx="227880" cy="227880"/>
          </a:xfrm>
          <a:prstGeom prst="rect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97" name="Text 10"/>
          <p:cNvSpPr/>
          <p:nvPr/>
        </p:nvSpPr>
        <p:spPr>
          <a:xfrm>
            <a:off x="1097280" y="5486400"/>
            <a:ext cx="7131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555555"/>
                </a:solidFill>
                <a:latin typeface="Calibri"/>
                <a:ea typeface="Calibri"/>
              </a:rPr>
              <a:t>Creates independent list - changes don't affect original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98" name="Shape 11"/>
          <p:cNvSpPr/>
          <p:nvPr/>
        </p:nvSpPr>
        <p:spPr>
          <a:xfrm>
            <a:off x="731520" y="5897880"/>
            <a:ext cx="227880" cy="227880"/>
          </a:xfrm>
          <a:prstGeom prst="rect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99" name="Text 12"/>
          <p:cNvSpPr/>
          <p:nvPr/>
        </p:nvSpPr>
        <p:spPr>
          <a:xfrm>
            <a:off x="1097280" y="5852160"/>
            <a:ext cx="7131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555555"/>
                </a:solidFill>
                <a:latin typeface="Calibri"/>
                <a:ea typeface="Calibri"/>
              </a:rPr>
              <a:t>Same as using list[:] slicing method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00" name="Shape 13"/>
          <p:cNvSpPr/>
          <p:nvPr/>
        </p:nvSpPr>
        <p:spPr>
          <a:xfrm>
            <a:off x="731520" y="6263640"/>
            <a:ext cx="227880" cy="227880"/>
          </a:xfrm>
          <a:prstGeom prst="rect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01" name="Text 14"/>
          <p:cNvSpPr/>
          <p:nvPr/>
        </p:nvSpPr>
        <p:spPr>
          <a:xfrm>
            <a:off x="1097280" y="6217920"/>
            <a:ext cx="7131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555555"/>
                </a:solidFill>
                <a:latin typeface="Calibri"/>
                <a:ea typeface="Calibri"/>
              </a:rPr>
              <a:t>More readable and explicit than slicing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02" name="Shape 15"/>
          <p:cNvSpPr/>
          <p:nvPr/>
        </p:nvSpPr>
        <p:spPr>
          <a:xfrm>
            <a:off x="731520" y="6629400"/>
            <a:ext cx="227880" cy="227880"/>
          </a:xfrm>
          <a:prstGeom prst="rect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03" name="Text 16"/>
          <p:cNvSpPr/>
          <p:nvPr/>
        </p:nvSpPr>
        <p:spPr>
          <a:xfrm>
            <a:off x="1097280" y="6583680"/>
            <a:ext cx="7131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555555"/>
                </a:solidFill>
                <a:latin typeface="Calibri"/>
                <a:ea typeface="Calibri"/>
              </a:rPr>
              <a:t>Essential for preserving original data</a:t>
            </a:r>
            <a:endParaRPr b="0" lang="en-IN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Text 0"/>
          <p:cNvSpPr/>
          <p:nvPr/>
        </p:nvSpPr>
        <p:spPr>
          <a:xfrm>
            <a:off x="457200" y="36576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21295c"/>
                </a:solidFill>
                <a:latin typeface="Georgia"/>
                <a:ea typeface="Georgia"/>
              </a:rPr>
              <a:t>Nested Lists</a:t>
            </a:r>
            <a:endParaRPr b="0" lang="en-IN" sz="4000" spc="-1" strike="noStrike">
              <a:latin typeface="Arial"/>
            </a:endParaRPr>
          </a:p>
        </p:txBody>
      </p:sp>
      <p:sp>
        <p:nvSpPr>
          <p:cNvPr id="305" name="Text 1"/>
          <p:cNvSpPr/>
          <p:nvPr/>
        </p:nvSpPr>
        <p:spPr>
          <a:xfrm>
            <a:off x="640080" y="1097280"/>
            <a:ext cx="78631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22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333333"/>
                </a:solidFill>
                <a:latin typeface="Calibri"/>
                <a:ea typeface="Calibri"/>
              </a:rPr>
              <a:t>A nested list is a list that contains other lists as elements. Also called a 'list of lists' or 2D list.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306" name="Text 2"/>
          <p:cNvSpPr/>
          <p:nvPr/>
        </p:nvSpPr>
        <p:spPr>
          <a:xfrm>
            <a:off x="640080" y="1737360"/>
            <a:ext cx="78631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065a82"/>
                </a:solidFill>
                <a:latin typeface="Calibri"/>
                <a:ea typeface="Calibri"/>
              </a:rPr>
              <a:t>Creating Nested Lists: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07" name="Shape 3"/>
          <p:cNvSpPr/>
          <p:nvPr/>
        </p:nvSpPr>
        <p:spPr>
          <a:xfrm>
            <a:off x="640080" y="2148840"/>
            <a:ext cx="7863120" cy="1370880"/>
          </a:xfrm>
          <a:prstGeom prst="rect">
            <a:avLst/>
          </a:prstGeom>
          <a:solidFill>
            <a:srgbClr val="f5f5f5"/>
          </a:solidFill>
          <a:ln w="254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08" name="Text 4"/>
          <p:cNvSpPr/>
          <p:nvPr/>
        </p:nvSpPr>
        <p:spPr>
          <a:xfrm>
            <a:off x="822960" y="2286000"/>
            <a:ext cx="749736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65a82"/>
                </a:solidFill>
                <a:latin typeface="Consolas"/>
                <a:ea typeface="Consolas"/>
              </a:rPr>
              <a:t>a = [10, 20, 30]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65a82"/>
                </a:solidFill>
                <a:latin typeface="Consolas"/>
                <a:ea typeface="Consolas"/>
              </a:rPr>
              <a:t>b = [40, 50, 60]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65a82"/>
                </a:solidFill>
                <a:latin typeface="Consolas"/>
                <a:ea typeface="Consolas"/>
              </a:rPr>
              <a:t>nested = [a, b]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65a82"/>
                </a:solidFill>
                <a:latin typeface="Consolas"/>
                <a:ea typeface="Consolas"/>
              </a:rPr>
              <a:t>print(nested)                # [[10, 20, 30], [40, 50, 60]]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09" name="Text 5"/>
          <p:cNvSpPr/>
          <p:nvPr/>
        </p:nvSpPr>
        <p:spPr>
          <a:xfrm>
            <a:off x="640080" y="3749040"/>
            <a:ext cx="78631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065a82"/>
                </a:solidFill>
                <a:latin typeface="Calibri"/>
                <a:ea typeface="Calibri"/>
              </a:rPr>
              <a:t>Visual Structure: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310" name="Shape 6"/>
          <p:cNvSpPr/>
          <p:nvPr/>
        </p:nvSpPr>
        <p:spPr>
          <a:xfrm>
            <a:off x="914400" y="4206240"/>
            <a:ext cx="6400080" cy="2010960"/>
          </a:xfrm>
          <a:prstGeom prst="rect">
            <a:avLst/>
          </a:prstGeom>
          <a:solidFill>
            <a:srgbClr val="e8f4f8"/>
          </a:solidFill>
          <a:ln w="381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11" name="Text 7"/>
          <p:cNvSpPr/>
          <p:nvPr/>
        </p:nvSpPr>
        <p:spPr>
          <a:xfrm>
            <a:off x="1097280" y="4343400"/>
            <a:ext cx="603432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65a82"/>
                </a:solidFill>
                <a:latin typeface="Calibri"/>
                <a:ea typeface="Calibri"/>
              </a:rPr>
              <a:t>Outer List (nested)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12" name="Shape 8"/>
          <p:cNvSpPr/>
          <p:nvPr/>
        </p:nvSpPr>
        <p:spPr>
          <a:xfrm>
            <a:off x="1188720" y="4663440"/>
            <a:ext cx="2742480" cy="127944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13" name="Text 9"/>
          <p:cNvSpPr/>
          <p:nvPr/>
        </p:nvSpPr>
        <p:spPr>
          <a:xfrm>
            <a:off x="1371600" y="4800600"/>
            <a:ext cx="237672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Index 0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14" name="Text 10"/>
          <p:cNvSpPr/>
          <p:nvPr/>
        </p:nvSpPr>
        <p:spPr>
          <a:xfrm>
            <a:off x="1371600" y="5074920"/>
            <a:ext cx="237672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Consolas"/>
                <a:ea typeface="Consolas"/>
              </a:rPr>
              <a:t>[10, 20, 30]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15" name="Text 11"/>
          <p:cNvSpPr/>
          <p:nvPr/>
        </p:nvSpPr>
        <p:spPr>
          <a:xfrm>
            <a:off x="1371600" y="5394960"/>
            <a:ext cx="6393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onsolas"/>
                <a:ea typeface="Consolas"/>
              </a:rPr>
              <a:t>10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16" name="Text 12"/>
          <p:cNvSpPr/>
          <p:nvPr/>
        </p:nvSpPr>
        <p:spPr>
          <a:xfrm>
            <a:off x="2148840" y="5394960"/>
            <a:ext cx="6393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onsolas"/>
                <a:ea typeface="Consolas"/>
              </a:rPr>
              <a:t>20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17" name="Text 13"/>
          <p:cNvSpPr/>
          <p:nvPr/>
        </p:nvSpPr>
        <p:spPr>
          <a:xfrm>
            <a:off x="2926080" y="5394960"/>
            <a:ext cx="6393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onsolas"/>
                <a:ea typeface="Consolas"/>
              </a:rPr>
              <a:t>30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18" name="Shape 14"/>
          <p:cNvSpPr/>
          <p:nvPr/>
        </p:nvSpPr>
        <p:spPr>
          <a:xfrm>
            <a:off x="4297680" y="4663440"/>
            <a:ext cx="2742480" cy="1279440"/>
          </a:xfrm>
          <a:prstGeom prst="rect">
            <a:avLst/>
          </a:prstGeom>
          <a:solidFill>
            <a:srgbClr val="21295c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19" name="Text 15"/>
          <p:cNvSpPr/>
          <p:nvPr/>
        </p:nvSpPr>
        <p:spPr>
          <a:xfrm>
            <a:off x="4480560" y="4800600"/>
            <a:ext cx="237672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Index 1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20" name="Text 16"/>
          <p:cNvSpPr/>
          <p:nvPr/>
        </p:nvSpPr>
        <p:spPr>
          <a:xfrm>
            <a:off x="4480560" y="5074920"/>
            <a:ext cx="237672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Consolas"/>
                <a:ea typeface="Consolas"/>
              </a:rPr>
              <a:t>[40, 50, 60]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21" name="Text 17"/>
          <p:cNvSpPr/>
          <p:nvPr/>
        </p:nvSpPr>
        <p:spPr>
          <a:xfrm>
            <a:off x="4480560" y="5394960"/>
            <a:ext cx="6393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onsolas"/>
                <a:ea typeface="Consolas"/>
              </a:rPr>
              <a:t>40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22" name="Text 18"/>
          <p:cNvSpPr/>
          <p:nvPr/>
        </p:nvSpPr>
        <p:spPr>
          <a:xfrm>
            <a:off x="5257800" y="5394960"/>
            <a:ext cx="6393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onsolas"/>
                <a:ea typeface="Consolas"/>
              </a:rPr>
              <a:t>50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23" name="Text 19"/>
          <p:cNvSpPr/>
          <p:nvPr/>
        </p:nvSpPr>
        <p:spPr>
          <a:xfrm>
            <a:off x="6035040" y="5394960"/>
            <a:ext cx="6393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onsolas"/>
                <a:ea typeface="Consolas"/>
              </a:rPr>
              <a:t>60</a:t>
            </a:r>
            <a:endParaRPr b="0" lang="en-IN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Text 0"/>
          <p:cNvSpPr/>
          <p:nvPr/>
        </p:nvSpPr>
        <p:spPr>
          <a:xfrm>
            <a:off x="457200" y="36576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800" spc="-1" strike="noStrike">
                <a:solidFill>
                  <a:srgbClr val="21295c"/>
                </a:solidFill>
                <a:latin typeface="Georgia"/>
                <a:ea typeface="Georgia"/>
              </a:rPr>
              <a:t>Accessing Nested List Elements</a:t>
            </a:r>
            <a:endParaRPr b="0" lang="en-IN" sz="3800" spc="-1" strike="noStrike">
              <a:latin typeface="Arial"/>
            </a:endParaRPr>
          </a:p>
        </p:txBody>
      </p:sp>
      <p:sp>
        <p:nvSpPr>
          <p:cNvPr id="325" name="Text 1"/>
          <p:cNvSpPr/>
          <p:nvPr/>
        </p:nvSpPr>
        <p:spPr>
          <a:xfrm>
            <a:off x="640080" y="1097280"/>
            <a:ext cx="78631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22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333333"/>
                </a:solidFill>
                <a:latin typeface="Calibri"/>
                <a:ea typeface="Calibri"/>
              </a:rPr>
              <a:t>Use double indexing to access elements in nested lists. First index selects the inner list, second index selects the element.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326" name="Text 2"/>
          <p:cNvSpPr/>
          <p:nvPr/>
        </p:nvSpPr>
        <p:spPr>
          <a:xfrm>
            <a:off x="640080" y="1737360"/>
            <a:ext cx="78631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065a82"/>
                </a:solidFill>
                <a:latin typeface="Calibri"/>
                <a:ea typeface="Calibri"/>
              </a:rPr>
              <a:t>Syntax: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27" name="Shape 3"/>
          <p:cNvSpPr/>
          <p:nvPr/>
        </p:nvSpPr>
        <p:spPr>
          <a:xfrm>
            <a:off x="640080" y="2148840"/>
            <a:ext cx="7863120" cy="456480"/>
          </a:xfrm>
          <a:prstGeom prst="rect">
            <a:avLst/>
          </a:prstGeom>
          <a:solidFill>
            <a:srgbClr val="f0f8ff"/>
          </a:solidFill>
          <a:ln w="254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28" name="Text 4"/>
          <p:cNvSpPr/>
          <p:nvPr/>
        </p:nvSpPr>
        <p:spPr>
          <a:xfrm>
            <a:off x="914400" y="2286000"/>
            <a:ext cx="731448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065a82"/>
                </a:solidFill>
                <a:latin typeface="Consolas"/>
                <a:ea typeface="Consolas"/>
              </a:rPr>
              <a:t>nested[outer_index][inner_index]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329" name="Text 5"/>
          <p:cNvSpPr/>
          <p:nvPr/>
        </p:nvSpPr>
        <p:spPr>
          <a:xfrm>
            <a:off x="640080" y="2834640"/>
            <a:ext cx="78631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065a82"/>
                </a:solidFill>
                <a:latin typeface="Calibri"/>
                <a:ea typeface="Calibri"/>
              </a:rPr>
              <a:t>Example Data: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330" name="Text 6"/>
          <p:cNvSpPr/>
          <p:nvPr/>
        </p:nvSpPr>
        <p:spPr>
          <a:xfrm>
            <a:off x="822960" y="3200400"/>
            <a:ext cx="73144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065a82"/>
                </a:solidFill>
                <a:latin typeface="Consolas"/>
                <a:ea typeface="Consolas"/>
              </a:rPr>
              <a:t>matrix = [[10, 20, 30], [40, 50, 60]]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31" name="Text 7"/>
          <p:cNvSpPr/>
          <p:nvPr/>
        </p:nvSpPr>
        <p:spPr>
          <a:xfrm>
            <a:off x="640080" y="3657600"/>
            <a:ext cx="78631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065a82"/>
                </a:solidFill>
                <a:latin typeface="Calibri"/>
                <a:ea typeface="Calibri"/>
              </a:rPr>
              <a:t>Indexing Examples: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332" name="Text 8"/>
          <p:cNvSpPr/>
          <p:nvPr/>
        </p:nvSpPr>
        <p:spPr>
          <a:xfrm>
            <a:off x="914400" y="4023360"/>
            <a:ext cx="1828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65a82"/>
                </a:solidFill>
                <a:latin typeface="Consolas"/>
                <a:ea typeface="Consolas"/>
              </a:rPr>
              <a:t>matrix[0][0]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33" name="Text 9"/>
          <p:cNvSpPr/>
          <p:nvPr/>
        </p:nvSpPr>
        <p:spPr>
          <a:xfrm>
            <a:off x="2834640" y="4023360"/>
            <a:ext cx="273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21295c"/>
                </a:solidFill>
                <a:latin typeface="Calibri"/>
                <a:ea typeface="Calibri"/>
              </a:rPr>
              <a:t>→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34" name="Text 10"/>
          <p:cNvSpPr/>
          <p:nvPr/>
        </p:nvSpPr>
        <p:spPr>
          <a:xfrm>
            <a:off x="3200400" y="4023360"/>
            <a:ext cx="7308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333333"/>
                </a:solidFill>
                <a:latin typeface="Consolas"/>
                <a:ea typeface="Consolas"/>
              </a:rPr>
              <a:t>10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35" name="Text 11"/>
          <p:cNvSpPr/>
          <p:nvPr/>
        </p:nvSpPr>
        <p:spPr>
          <a:xfrm>
            <a:off x="4114800" y="4023360"/>
            <a:ext cx="4114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666666"/>
                </a:solidFill>
                <a:latin typeface="Calibri"/>
                <a:ea typeface="Calibri"/>
              </a:rPr>
              <a:t>First list, first element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36" name="Text 12"/>
          <p:cNvSpPr/>
          <p:nvPr/>
        </p:nvSpPr>
        <p:spPr>
          <a:xfrm>
            <a:off x="914400" y="4389120"/>
            <a:ext cx="1828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65a82"/>
                </a:solidFill>
                <a:latin typeface="Consolas"/>
                <a:ea typeface="Consolas"/>
              </a:rPr>
              <a:t>matrix[0][1]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37" name="Text 13"/>
          <p:cNvSpPr/>
          <p:nvPr/>
        </p:nvSpPr>
        <p:spPr>
          <a:xfrm>
            <a:off x="2834640" y="4389120"/>
            <a:ext cx="273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21295c"/>
                </a:solidFill>
                <a:latin typeface="Calibri"/>
                <a:ea typeface="Calibri"/>
              </a:rPr>
              <a:t>→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38" name="Text 14"/>
          <p:cNvSpPr/>
          <p:nvPr/>
        </p:nvSpPr>
        <p:spPr>
          <a:xfrm>
            <a:off x="3200400" y="4389120"/>
            <a:ext cx="7308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333333"/>
                </a:solidFill>
                <a:latin typeface="Consolas"/>
                <a:ea typeface="Consolas"/>
              </a:rPr>
              <a:t>20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39" name="Text 15"/>
          <p:cNvSpPr/>
          <p:nvPr/>
        </p:nvSpPr>
        <p:spPr>
          <a:xfrm>
            <a:off x="4114800" y="4389120"/>
            <a:ext cx="4114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666666"/>
                </a:solidFill>
                <a:latin typeface="Calibri"/>
                <a:ea typeface="Calibri"/>
              </a:rPr>
              <a:t>First list, second element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40" name="Text 16"/>
          <p:cNvSpPr/>
          <p:nvPr/>
        </p:nvSpPr>
        <p:spPr>
          <a:xfrm>
            <a:off x="914400" y="4754880"/>
            <a:ext cx="1828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65a82"/>
                </a:solidFill>
                <a:latin typeface="Consolas"/>
                <a:ea typeface="Consolas"/>
              </a:rPr>
              <a:t>matrix[0][2]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41" name="Text 17"/>
          <p:cNvSpPr/>
          <p:nvPr/>
        </p:nvSpPr>
        <p:spPr>
          <a:xfrm>
            <a:off x="2834640" y="4754880"/>
            <a:ext cx="273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21295c"/>
                </a:solidFill>
                <a:latin typeface="Calibri"/>
                <a:ea typeface="Calibri"/>
              </a:rPr>
              <a:t>→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42" name="Text 18"/>
          <p:cNvSpPr/>
          <p:nvPr/>
        </p:nvSpPr>
        <p:spPr>
          <a:xfrm>
            <a:off x="3200400" y="4754880"/>
            <a:ext cx="7308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333333"/>
                </a:solidFill>
                <a:latin typeface="Consolas"/>
                <a:ea typeface="Consolas"/>
              </a:rPr>
              <a:t>30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43" name="Text 19"/>
          <p:cNvSpPr/>
          <p:nvPr/>
        </p:nvSpPr>
        <p:spPr>
          <a:xfrm>
            <a:off x="4114800" y="4754880"/>
            <a:ext cx="4114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666666"/>
                </a:solidFill>
                <a:latin typeface="Calibri"/>
                <a:ea typeface="Calibri"/>
              </a:rPr>
              <a:t>First list, third element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44" name="Text 20"/>
          <p:cNvSpPr/>
          <p:nvPr/>
        </p:nvSpPr>
        <p:spPr>
          <a:xfrm>
            <a:off x="914400" y="5120640"/>
            <a:ext cx="1828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65a82"/>
                </a:solidFill>
                <a:latin typeface="Consolas"/>
                <a:ea typeface="Consolas"/>
              </a:rPr>
              <a:t>matrix[1][0]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45" name="Text 21"/>
          <p:cNvSpPr/>
          <p:nvPr/>
        </p:nvSpPr>
        <p:spPr>
          <a:xfrm>
            <a:off x="2834640" y="5120640"/>
            <a:ext cx="273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21295c"/>
                </a:solidFill>
                <a:latin typeface="Calibri"/>
                <a:ea typeface="Calibri"/>
              </a:rPr>
              <a:t>→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46" name="Text 22"/>
          <p:cNvSpPr/>
          <p:nvPr/>
        </p:nvSpPr>
        <p:spPr>
          <a:xfrm>
            <a:off x="3200400" y="5120640"/>
            <a:ext cx="7308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333333"/>
                </a:solidFill>
                <a:latin typeface="Consolas"/>
                <a:ea typeface="Consolas"/>
              </a:rPr>
              <a:t>40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47" name="Text 23"/>
          <p:cNvSpPr/>
          <p:nvPr/>
        </p:nvSpPr>
        <p:spPr>
          <a:xfrm>
            <a:off x="4114800" y="5120640"/>
            <a:ext cx="4114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666666"/>
                </a:solidFill>
                <a:latin typeface="Calibri"/>
                <a:ea typeface="Calibri"/>
              </a:rPr>
              <a:t>Second list, first element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48" name="Text 24"/>
          <p:cNvSpPr/>
          <p:nvPr/>
        </p:nvSpPr>
        <p:spPr>
          <a:xfrm>
            <a:off x="914400" y="5486400"/>
            <a:ext cx="1828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65a82"/>
                </a:solidFill>
                <a:latin typeface="Consolas"/>
                <a:ea typeface="Consolas"/>
              </a:rPr>
              <a:t>matrix[1][1]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49" name="Text 25"/>
          <p:cNvSpPr/>
          <p:nvPr/>
        </p:nvSpPr>
        <p:spPr>
          <a:xfrm>
            <a:off x="2834640" y="5486400"/>
            <a:ext cx="273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21295c"/>
                </a:solidFill>
                <a:latin typeface="Calibri"/>
                <a:ea typeface="Calibri"/>
              </a:rPr>
              <a:t>→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50" name="Text 26"/>
          <p:cNvSpPr/>
          <p:nvPr/>
        </p:nvSpPr>
        <p:spPr>
          <a:xfrm>
            <a:off x="3200400" y="5486400"/>
            <a:ext cx="7308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333333"/>
                </a:solidFill>
                <a:latin typeface="Consolas"/>
                <a:ea typeface="Consolas"/>
              </a:rPr>
              <a:t>50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51" name="Text 27"/>
          <p:cNvSpPr/>
          <p:nvPr/>
        </p:nvSpPr>
        <p:spPr>
          <a:xfrm>
            <a:off x="4114800" y="5486400"/>
            <a:ext cx="4114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666666"/>
                </a:solidFill>
                <a:latin typeface="Calibri"/>
                <a:ea typeface="Calibri"/>
              </a:rPr>
              <a:t>Second list, second element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52" name="Text 28"/>
          <p:cNvSpPr/>
          <p:nvPr/>
        </p:nvSpPr>
        <p:spPr>
          <a:xfrm>
            <a:off x="914400" y="5852160"/>
            <a:ext cx="1828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65a82"/>
                </a:solidFill>
                <a:latin typeface="Consolas"/>
                <a:ea typeface="Consolas"/>
              </a:rPr>
              <a:t>matrix[1][2]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53" name="Text 29"/>
          <p:cNvSpPr/>
          <p:nvPr/>
        </p:nvSpPr>
        <p:spPr>
          <a:xfrm>
            <a:off x="2834640" y="5852160"/>
            <a:ext cx="273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21295c"/>
                </a:solidFill>
                <a:latin typeface="Calibri"/>
                <a:ea typeface="Calibri"/>
              </a:rPr>
              <a:t>→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54" name="Text 30"/>
          <p:cNvSpPr/>
          <p:nvPr/>
        </p:nvSpPr>
        <p:spPr>
          <a:xfrm>
            <a:off x="3200400" y="5852160"/>
            <a:ext cx="7308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333333"/>
                </a:solidFill>
                <a:latin typeface="Consolas"/>
                <a:ea typeface="Consolas"/>
              </a:rPr>
              <a:t>60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55" name="Text 31"/>
          <p:cNvSpPr/>
          <p:nvPr/>
        </p:nvSpPr>
        <p:spPr>
          <a:xfrm>
            <a:off x="4114800" y="5852160"/>
            <a:ext cx="4114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666666"/>
                </a:solidFill>
                <a:latin typeface="Calibri"/>
                <a:ea typeface="Calibri"/>
              </a:rPr>
              <a:t>Second list, third element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318</TotalTime>
  <Application>LibreOffice/7.3.7.2$Linux_X86_64 LibreOffice_project/30$Build-2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2026-02-11T08:42:00Z</dcterms:created>
  <dc:creator>PptxGenJS</dc:creator>
  <dc:description/>
  <dc:language>en-IN</dc:language>
  <cp:lastModifiedBy/>
  <dcterms:modified xsi:type="dcterms:W3CDTF">2026-02-13T21:37:58Z</dcterms:modified>
  <cp:revision>3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12</vt:i4>
  </property>
  <property fmtid="{D5CDD505-2E9C-101B-9397-08002B2CF9AE}" pid="3" name="PresentationFormat">
    <vt:lpwstr>On-screen Show (16:9)</vt:lpwstr>
  </property>
  <property fmtid="{D5CDD505-2E9C-101B-9397-08002B2CF9AE}" pid="4" name="Slides">
    <vt:i4>12</vt:i4>
  </property>
</Properties>
</file>