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move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</a:t>
            </a:r>
            <a:r>
              <a:rPr b="0" lang="en-IN" sz="2000" spc="-1" strike="noStrike">
                <a:latin typeface="Arial"/>
              </a:rPr>
              <a:t>edit </a:t>
            </a:r>
            <a:r>
              <a:rPr b="0" lang="en-IN" sz="2000" spc="-1" strike="noStrike">
                <a:latin typeface="Arial"/>
              </a:rPr>
              <a:t>the </a:t>
            </a:r>
            <a:r>
              <a:rPr b="0" lang="en-IN" sz="2000" spc="-1" strike="noStrike">
                <a:latin typeface="Arial"/>
              </a:rPr>
              <a:t>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36438FA-00A8-498C-9B39-6447EA2AF2C4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9C311F-4A7C-466C-A3FD-642612710A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2325D1-F687-43C8-9333-B3C651683F6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7A5DFF-D5CC-47C2-BB7F-6C56614D295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34941D-2E18-458F-BA17-0E8223E8A8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10F45B-F6CD-469E-A581-85713298E06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172F8F-A035-4669-ABA8-E09B36FDE7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1B8E8B-A931-460B-BF08-B117EBD7167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1EBFFA-9083-4EB7-BCD9-D0AC75FD36F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5756A7-AE0B-467D-BADB-3BC04897AE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95DBB1-EED1-415E-B71E-B9DECA79CBD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BEFEDD-F458-4B7A-BE0D-3BFAFC3C75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F328BF-4AEF-44DD-B509-70D6877296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edi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tex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ma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1: Fundamentals &amp; Accessing Elements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Comprehensive Guide to List Operations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360000" y="2160"/>
            <a:ext cx="684000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What Are Lists?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12280" y="678960"/>
            <a:ext cx="6535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Definition: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12280" y="1017360"/>
            <a:ext cx="65354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A list is a container (entity) that can hold multiple data items of any data type. It is one of Python's four built-in container data types.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512280" y="1731600"/>
            <a:ext cx="6535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Key Characteristics: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587880" y="2107440"/>
            <a:ext cx="189720" cy="1879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5"/>
          <p:cNvSpPr/>
          <p:nvPr/>
        </p:nvSpPr>
        <p:spPr>
          <a:xfrm>
            <a:off x="892080" y="2070000"/>
            <a:ext cx="60800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Ordered: Elements maintain their insertion order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587880" y="2483640"/>
            <a:ext cx="189720" cy="1875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7"/>
          <p:cNvSpPr/>
          <p:nvPr/>
        </p:nvSpPr>
        <p:spPr>
          <a:xfrm>
            <a:off x="892080" y="2445840"/>
            <a:ext cx="60800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Mutable: Lists can be modified after creation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587880" y="2859480"/>
            <a:ext cx="189720" cy="1875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892080" y="2822040"/>
            <a:ext cx="60800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Dynamic: Lists can grow or shrink during program execution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587880" y="3235320"/>
            <a:ext cx="189720" cy="1879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1"/>
          <p:cNvSpPr/>
          <p:nvPr/>
        </p:nvSpPr>
        <p:spPr>
          <a:xfrm>
            <a:off x="892080" y="3197880"/>
            <a:ext cx="60800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Heterogeneous: Can store different data types together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512280" y="3762000"/>
            <a:ext cx="6535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Visual Representation: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1119960" y="4213080"/>
            <a:ext cx="911520" cy="451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4"/>
          <p:cNvSpPr/>
          <p:nvPr/>
        </p:nvSpPr>
        <p:spPr>
          <a:xfrm>
            <a:off x="1119960" y="4326120"/>
            <a:ext cx="911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onsolas"/>
                <a:ea typeface="Consolas"/>
              </a:rPr>
              <a:t>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2031840" y="4213080"/>
            <a:ext cx="911880" cy="451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6"/>
          <p:cNvSpPr/>
          <p:nvPr/>
        </p:nvSpPr>
        <p:spPr>
          <a:xfrm>
            <a:off x="2031840" y="4326120"/>
            <a:ext cx="911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onsolas"/>
                <a:ea typeface="Consolas"/>
              </a:rPr>
              <a:t>'hello'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2944080" y="4213080"/>
            <a:ext cx="911520" cy="451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8"/>
          <p:cNvSpPr/>
          <p:nvPr/>
        </p:nvSpPr>
        <p:spPr>
          <a:xfrm>
            <a:off x="2944080" y="4326120"/>
            <a:ext cx="911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onsolas"/>
                <a:ea typeface="Consolas"/>
              </a:rPr>
              <a:t>3.14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6" name="Shape 19"/>
          <p:cNvSpPr/>
          <p:nvPr/>
        </p:nvSpPr>
        <p:spPr>
          <a:xfrm>
            <a:off x="3855960" y="4213080"/>
            <a:ext cx="911880" cy="451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0"/>
          <p:cNvSpPr/>
          <p:nvPr/>
        </p:nvSpPr>
        <p:spPr>
          <a:xfrm>
            <a:off x="3855960" y="4326120"/>
            <a:ext cx="911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onsolas"/>
                <a:ea typeface="Consolas"/>
              </a:rPr>
              <a:t>True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1119960" y="4814640"/>
            <a:ext cx="3647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numbers = [10, 'hello', 3.14, True]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457200" y="365760"/>
            <a:ext cx="712440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Python's 4 Container Data Types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457200" y="1123920"/>
            <a:ext cx="3562200" cy="17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2"/>
          <p:cNvSpPr/>
          <p:nvPr/>
        </p:nvSpPr>
        <p:spPr>
          <a:xfrm>
            <a:off x="615600" y="1261440"/>
            <a:ext cx="276840" cy="241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3"/>
          <p:cNvSpPr/>
          <p:nvPr/>
        </p:nvSpPr>
        <p:spPr>
          <a:xfrm>
            <a:off x="971640" y="1261440"/>
            <a:ext cx="277056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libri"/>
                <a:ea typeface="Calibri"/>
              </a:rPr>
              <a:t>Lists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15600" y="1571760"/>
            <a:ext cx="324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Consolas"/>
                <a:ea typeface="Consolas"/>
              </a:rPr>
              <a:t>[]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615600" y="184716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Ordered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615600" y="2054160"/>
            <a:ext cx="3245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Mutable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615600" y="226080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Allows duplicates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615600" y="2570760"/>
            <a:ext cx="3245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fruits = ['apple', 'banana', 'apple']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4177800" y="1123920"/>
            <a:ext cx="3562200" cy="17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10"/>
          <p:cNvSpPr/>
          <p:nvPr/>
        </p:nvSpPr>
        <p:spPr>
          <a:xfrm>
            <a:off x="4336200" y="1261440"/>
            <a:ext cx="276840" cy="241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1"/>
          <p:cNvSpPr/>
          <p:nvPr/>
        </p:nvSpPr>
        <p:spPr>
          <a:xfrm>
            <a:off x="4692600" y="1261440"/>
            <a:ext cx="27702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libri"/>
                <a:ea typeface="Calibri"/>
              </a:rPr>
              <a:t>Tuples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4336200" y="1571760"/>
            <a:ext cx="324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Consolas"/>
                <a:ea typeface="Consolas"/>
              </a:rPr>
              <a:t>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4336200" y="184716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Ordered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4336200" y="2054160"/>
            <a:ext cx="3245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Immutable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4336200" y="226080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Allows duplicates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4336200" y="2570760"/>
            <a:ext cx="3245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coords = (10, 20, 30)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457200" y="3053160"/>
            <a:ext cx="3562200" cy="1722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18"/>
          <p:cNvSpPr/>
          <p:nvPr/>
        </p:nvSpPr>
        <p:spPr>
          <a:xfrm>
            <a:off x="615600" y="3191040"/>
            <a:ext cx="276840" cy="240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19"/>
          <p:cNvSpPr/>
          <p:nvPr/>
        </p:nvSpPr>
        <p:spPr>
          <a:xfrm>
            <a:off x="971640" y="3191040"/>
            <a:ext cx="27705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libri"/>
                <a:ea typeface="Calibri"/>
              </a:rPr>
              <a:t>Sets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615600" y="3501000"/>
            <a:ext cx="3245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Consolas"/>
                <a:ea typeface="Consolas"/>
              </a:rPr>
              <a:t>{}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15600" y="377676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Unordered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615600" y="398340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Mutable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615600" y="4190400"/>
            <a:ext cx="3245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No duplicates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615600" y="4500360"/>
            <a:ext cx="324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unique_ids = {101, 102, 103}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4" name="Shape 25"/>
          <p:cNvSpPr/>
          <p:nvPr/>
        </p:nvSpPr>
        <p:spPr>
          <a:xfrm>
            <a:off x="4177800" y="3053160"/>
            <a:ext cx="3562200" cy="1722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26"/>
          <p:cNvSpPr/>
          <p:nvPr/>
        </p:nvSpPr>
        <p:spPr>
          <a:xfrm>
            <a:off x="4336200" y="3191040"/>
            <a:ext cx="276840" cy="240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27"/>
          <p:cNvSpPr/>
          <p:nvPr/>
        </p:nvSpPr>
        <p:spPr>
          <a:xfrm>
            <a:off x="4692600" y="3191040"/>
            <a:ext cx="27702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libri"/>
                <a:ea typeface="Calibri"/>
              </a:rPr>
              <a:t>Dictionaries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7" name="Text 28"/>
          <p:cNvSpPr/>
          <p:nvPr/>
        </p:nvSpPr>
        <p:spPr>
          <a:xfrm>
            <a:off x="4336200" y="3501000"/>
            <a:ext cx="3245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Consolas"/>
                <a:ea typeface="Consolas"/>
              </a:rPr>
              <a:t>{key:value}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4336200" y="377676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Ordered*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9" name="Text 30"/>
          <p:cNvSpPr/>
          <p:nvPr/>
        </p:nvSpPr>
        <p:spPr>
          <a:xfrm>
            <a:off x="4336200" y="398340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Mutable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Text 31"/>
          <p:cNvSpPr/>
          <p:nvPr/>
        </p:nvSpPr>
        <p:spPr>
          <a:xfrm>
            <a:off x="4336200" y="4190400"/>
            <a:ext cx="3245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No duplicate keys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Text 32"/>
          <p:cNvSpPr/>
          <p:nvPr/>
        </p:nvSpPr>
        <p:spPr>
          <a:xfrm>
            <a:off x="4336200" y="4500360"/>
            <a:ext cx="324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student = {'name': 'Alice', 'age': 20}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457200" y="4914000"/>
            <a:ext cx="7124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8888"/>
                </a:solidFill>
                <a:latin typeface="Calibri"/>
                <a:ea typeface="Calibri"/>
              </a:rPr>
              <a:t>*Dictionaries maintain insertion order from Python 3.7+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365760"/>
            <a:ext cx="728280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Lists as Dynamic Arrays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619200" y="1033560"/>
            <a:ext cx="695880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Lists in Python are implemented as dynamic arrays that can grow or shrink during program execution. This is why they are called 'dynamic arrays.'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619200" y="1701360"/>
            <a:ext cx="69588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Growth Example: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861840" y="2146680"/>
            <a:ext cx="24274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Step 1: Initial list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861840" y="2443320"/>
            <a:ext cx="56628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5"/>
          <p:cNvSpPr/>
          <p:nvPr/>
        </p:nvSpPr>
        <p:spPr>
          <a:xfrm>
            <a:off x="861840" y="2517480"/>
            <a:ext cx="5662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1509120" y="2443320"/>
            <a:ext cx="56628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7"/>
          <p:cNvSpPr/>
          <p:nvPr/>
        </p:nvSpPr>
        <p:spPr>
          <a:xfrm>
            <a:off x="1509120" y="2517480"/>
            <a:ext cx="5662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2156760" y="2443320"/>
            <a:ext cx="56592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9"/>
          <p:cNvSpPr/>
          <p:nvPr/>
        </p:nvSpPr>
        <p:spPr>
          <a:xfrm>
            <a:off x="2156760" y="2517480"/>
            <a:ext cx="565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861840" y="2925720"/>
            <a:ext cx="194184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data = [5, 10, 15]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 flipH="1">
            <a:off x="3127320" y="2554560"/>
            <a:ext cx="323280" cy="296640"/>
          </a:xfrm>
          <a:prstGeom prst="rtTriangl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2"/>
          <p:cNvSpPr/>
          <p:nvPr/>
        </p:nvSpPr>
        <p:spPr>
          <a:xfrm>
            <a:off x="3694320" y="2146680"/>
            <a:ext cx="323640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Step 2: After data.append(20)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3694320" y="2443320"/>
            <a:ext cx="56592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14"/>
          <p:cNvSpPr/>
          <p:nvPr/>
        </p:nvSpPr>
        <p:spPr>
          <a:xfrm>
            <a:off x="3694320" y="2517480"/>
            <a:ext cx="565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8" name="Shape 15"/>
          <p:cNvSpPr/>
          <p:nvPr/>
        </p:nvSpPr>
        <p:spPr>
          <a:xfrm>
            <a:off x="4341600" y="2443320"/>
            <a:ext cx="56592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6"/>
          <p:cNvSpPr/>
          <p:nvPr/>
        </p:nvSpPr>
        <p:spPr>
          <a:xfrm>
            <a:off x="4341600" y="2517480"/>
            <a:ext cx="565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4988880" y="2443320"/>
            <a:ext cx="56628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8"/>
          <p:cNvSpPr/>
          <p:nvPr/>
        </p:nvSpPr>
        <p:spPr>
          <a:xfrm>
            <a:off x="4988880" y="2517480"/>
            <a:ext cx="5662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Shape 19"/>
          <p:cNvSpPr/>
          <p:nvPr/>
        </p:nvSpPr>
        <p:spPr>
          <a:xfrm>
            <a:off x="5636160" y="2443320"/>
            <a:ext cx="566280" cy="370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0"/>
          <p:cNvSpPr/>
          <p:nvPr/>
        </p:nvSpPr>
        <p:spPr>
          <a:xfrm>
            <a:off x="5636160" y="2517480"/>
            <a:ext cx="5662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4" name="Text 21"/>
          <p:cNvSpPr/>
          <p:nvPr/>
        </p:nvSpPr>
        <p:spPr>
          <a:xfrm>
            <a:off x="3694320" y="2925720"/>
            <a:ext cx="25891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List grew dynamically!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619200" y="3556440"/>
            <a:ext cx="6958800" cy="1483560"/>
          </a:xfrm>
          <a:prstGeom prst="rect">
            <a:avLst/>
          </a:prstGeom>
          <a:solidFill>
            <a:srgbClr val="f8f8f8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3"/>
          <p:cNvSpPr/>
          <p:nvPr/>
        </p:nvSpPr>
        <p:spPr>
          <a:xfrm>
            <a:off x="780840" y="3667680"/>
            <a:ext cx="66355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7" name="Text 24"/>
          <p:cNvSpPr/>
          <p:nvPr/>
        </p:nvSpPr>
        <p:spPr>
          <a:xfrm>
            <a:off x="861840" y="3964320"/>
            <a:ext cx="64735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scores = [85, 90, 78]          # Initial list with 3 elements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Text 25"/>
          <p:cNvSpPr/>
          <p:nvPr/>
        </p:nvSpPr>
        <p:spPr>
          <a:xfrm>
            <a:off x="861840" y="4172040"/>
            <a:ext cx="64735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print(scores)                  # [85, 90, 78]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Text 26"/>
          <p:cNvSpPr/>
          <p:nvPr/>
        </p:nvSpPr>
        <p:spPr>
          <a:xfrm>
            <a:off x="861840" y="4379760"/>
            <a:ext cx="64735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7"/>
          <p:cNvSpPr/>
          <p:nvPr/>
        </p:nvSpPr>
        <p:spPr>
          <a:xfrm>
            <a:off x="861840" y="4587840"/>
            <a:ext cx="6473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scores.append(92)              # List grows to 4 elements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861840" y="4795560"/>
            <a:ext cx="6473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print(scores)                  # [85, 90, 78, 92]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57200" y="365760"/>
            <a:ext cx="8362800" cy="5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Variable-Length Data Handling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642960" y="1217520"/>
            <a:ext cx="7991280" cy="5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Lists are commonly used to handle variable-length data because they can accommodate any number of elements without predefined size constraints.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642960" y="2164320"/>
            <a:ext cx="7991280" cy="13719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3"/>
          <p:cNvSpPr/>
          <p:nvPr/>
        </p:nvSpPr>
        <p:spPr>
          <a:xfrm>
            <a:off x="782280" y="2306160"/>
            <a:ext cx="278640" cy="283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4"/>
          <p:cNvSpPr/>
          <p:nvPr/>
        </p:nvSpPr>
        <p:spPr>
          <a:xfrm>
            <a:off x="1154160" y="2306160"/>
            <a:ext cx="37166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User Input Collection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782280" y="2656440"/>
            <a:ext cx="734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Collecting varying numbers of user responses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782280" y="2940480"/>
            <a:ext cx="73407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responses = []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while True: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ans = input('Enter response: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ans == 'done': break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responses.append(ans)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642960" y="3726000"/>
            <a:ext cx="7991280" cy="137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8"/>
          <p:cNvSpPr/>
          <p:nvPr/>
        </p:nvSpPr>
        <p:spPr>
          <a:xfrm>
            <a:off x="782280" y="3868200"/>
            <a:ext cx="278640" cy="2833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9"/>
          <p:cNvSpPr/>
          <p:nvPr/>
        </p:nvSpPr>
        <p:spPr>
          <a:xfrm>
            <a:off x="1154160" y="3868200"/>
            <a:ext cx="371664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File Processing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782280" y="4218480"/>
            <a:ext cx="734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Reading files with unknown number of lines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782280" y="4502160"/>
            <a:ext cx="73407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file_lines = []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with open('data.txt') as f: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for line in f: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file_lines.append(line.strip())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642960" y="5288040"/>
            <a:ext cx="7991280" cy="13719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13"/>
          <p:cNvSpPr/>
          <p:nvPr/>
        </p:nvSpPr>
        <p:spPr>
          <a:xfrm>
            <a:off x="782280" y="5429880"/>
            <a:ext cx="278640" cy="283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4"/>
          <p:cNvSpPr/>
          <p:nvPr/>
        </p:nvSpPr>
        <p:spPr>
          <a:xfrm>
            <a:off x="1154160" y="5429880"/>
            <a:ext cx="37166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Dynamic Results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782280" y="5780160"/>
            <a:ext cx="734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Storing search or filter results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782280" y="6064200"/>
            <a:ext cx="734076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results = []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for item in database: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item.matches_criteria():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results.append(item)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50760" y="-23976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Creating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233640" y="-16660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Square Brackets and Elements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233640" y="-120888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Lists are created using square brackets [ ] with elements separated by commas. You can create a list by writing comma-separated elements within square brackets.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233640" y="-477360"/>
            <a:ext cx="7863480" cy="73116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4"/>
          <p:cNvSpPr/>
          <p:nvPr/>
        </p:nvSpPr>
        <p:spPr>
          <a:xfrm>
            <a:off x="416520" y="-3402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Syntax: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879560" y="-34020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onsolas"/>
                <a:ea typeface="Consolas"/>
              </a:rPr>
              <a:t>list_name = [element1, element2, element3, ...]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416520" y="-385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1879560" y="-3852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onsolas"/>
                <a:ea typeface="Consolas"/>
              </a:rPr>
              <a:t>numbers = [10, 20, 30, 40, 50]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233640" y="5284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Common Examples: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416520" y="985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Homogeneous list (same type)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3240000" y="98568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prices = [19.99, 29.99, 39.99, 49.99]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416520" y="13971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Heterogeneous list (mixed types)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3475080" y="144000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student = ['Alice', 20, 3.8, True]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416520" y="18086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List with duplicates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2336760" y="180864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grades = [85, 90, 85, 78, 90]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416520" y="2220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Nested list (list within list)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3151080" y="222012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matrix = [[1, 2], [3, 4], [5, 6]]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416520" y="26316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Empty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2336760" y="263160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empty_data = []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233640" y="318024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Breakdown: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9" name="Text 20"/>
          <p:cNvSpPr/>
          <p:nvPr/>
        </p:nvSpPr>
        <p:spPr>
          <a:xfrm>
            <a:off x="965160" y="35460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onsolas"/>
                <a:ea typeface="Consolas"/>
              </a:rPr>
              <a:t>[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1422360" y="35460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onsolas"/>
                <a:ea typeface="Consolas"/>
              </a:rPr>
              <a:t>'red'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2153880" y="35460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66666"/>
                </a:solidFill>
                <a:latin typeface="Consolas"/>
                <a:ea typeface="Consolas"/>
              </a:rPr>
              <a:t>,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2" name="Text 23"/>
          <p:cNvSpPr/>
          <p:nvPr/>
        </p:nvSpPr>
        <p:spPr>
          <a:xfrm>
            <a:off x="2519640" y="35460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onsolas"/>
                <a:ea typeface="Consolas"/>
              </a:rPr>
              <a:t>'green'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3" name="Text 24"/>
          <p:cNvSpPr/>
          <p:nvPr/>
        </p:nvSpPr>
        <p:spPr>
          <a:xfrm>
            <a:off x="3434040" y="35460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66666"/>
                </a:solidFill>
                <a:latin typeface="Consolas"/>
                <a:ea typeface="Consolas"/>
              </a:rPr>
              <a:t>,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3799800" y="35460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onsolas"/>
                <a:ea typeface="Consolas"/>
              </a:rPr>
              <a:t>'blue'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5" name="Text 26"/>
          <p:cNvSpPr/>
          <p:nvPr/>
        </p:nvSpPr>
        <p:spPr>
          <a:xfrm>
            <a:off x="4622760" y="35460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onsolas"/>
                <a:ea typeface="Consolas"/>
              </a:rPr>
              <a:t>]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782280" y="39574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alibri"/>
                <a:ea typeface="Calibri"/>
              </a:rPr>
              <a:t>Opening bracket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7" name="Text 28"/>
          <p:cNvSpPr/>
          <p:nvPr/>
        </p:nvSpPr>
        <p:spPr>
          <a:xfrm>
            <a:off x="1879560" y="395748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alibri"/>
                <a:ea typeface="Calibri"/>
              </a:rPr>
              <a:t>Elements separated by commas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8" name="Text 29"/>
          <p:cNvSpPr/>
          <p:nvPr/>
        </p:nvSpPr>
        <p:spPr>
          <a:xfrm>
            <a:off x="4439880" y="39574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alibri"/>
                <a:ea typeface="Calibri"/>
              </a:rPr>
              <a:t>Closing bracket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Properties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457200" y="1188720"/>
            <a:ext cx="4023000" cy="22856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Shape 2"/>
          <p:cNvSpPr/>
          <p:nvPr/>
        </p:nvSpPr>
        <p:spPr>
          <a:xfrm>
            <a:off x="594360" y="1325880"/>
            <a:ext cx="319680" cy="319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3"/>
          <p:cNvSpPr/>
          <p:nvPr/>
        </p:nvSpPr>
        <p:spPr>
          <a:xfrm>
            <a:off x="1005840" y="13258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Homogeneous Lists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640080" y="17373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Elements of the same data type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640080" y="2057400"/>
            <a:ext cx="3657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ages = [25, 30, 35, 40]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All integers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names = ['Alice', 'Bob', 'Carol']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All strings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4663440" y="1188720"/>
            <a:ext cx="4023000" cy="22856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7"/>
          <p:cNvSpPr/>
          <p:nvPr/>
        </p:nvSpPr>
        <p:spPr>
          <a:xfrm>
            <a:off x="4800600" y="1325880"/>
            <a:ext cx="319680" cy="319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8"/>
          <p:cNvSpPr/>
          <p:nvPr/>
        </p:nvSpPr>
        <p:spPr>
          <a:xfrm>
            <a:off x="5212080" y="13258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Heterogeneous Lists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4846320" y="17373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Elements of different data types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4846320" y="2057400"/>
            <a:ext cx="3657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profile = ['John', 28, 5.9, True]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String, int, float, boolean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[100, 'text', [1,2], None]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Mixed types including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0" name="Shape 11"/>
          <p:cNvSpPr/>
          <p:nvPr/>
        </p:nvSpPr>
        <p:spPr>
          <a:xfrm>
            <a:off x="457200" y="3749040"/>
            <a:ext cx="4023000" cy="2468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Shape 12"/>
          <p:cNvSpPr/>
          <p:nvPr/>
        </p:nvSpPr>
        <p:spPr>
          <a:xfrm>
            <a:off x="594360" y="3886200"/>
            <a:ext cx="319680" cy="319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13"/>
          <p:cNvSpPr/>
          <p:nvPr/>
        </p:nvSpPr>
        <p:spPr>
          <a:xfrm>
            <a:off x="1005840" y="3886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Duplicates Allowed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640080" y="4297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Lists can contain duplicate elements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640080" y="461772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votes = ['yes', 'no', 'yes', 'yes', 'no']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print(votes)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['yes', 'no', 'yes', 'yes', 'no']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[1, 2, 2, 3, 3,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Duplicates preserved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Shape 16"/>
          <p:cNvSpPr/>
          <p:nvPr/>
        </p:nvSpPr>
        <p:spPr>
          <a:xfrm>
            <a:off x="4663440" y="3749040"/>
            <a:ext cx="4023000" cy="2468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17"/>
          <p:cNvSpPr/>
          <p:nvPr/>
        </p:nvSpPr>
        <p:spPr>
          <a:xfrm>
            <a:off x="4800600" y="3886200"/>
            <a:ext cx="319680" cy="319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8"/>
          <p:cNvSpPr/>
          <p:nvPr/>
        </p:nvSpPr>
        <p:spPr>
          <a:xfrm>
            <a:off x="5212080" y="3886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Complex Data Types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4846320" y="4297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Can hold any Python data type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4846320" y="461772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Strings, integers, floats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data1 = ['hello', 42, 3.14]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Booleans, None, complex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data2 = [True, None, 2+3j]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Nested structures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data3 = [[1,2], {'a':1}]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90000" y="-4849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Accessing List Elements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272880" y="2466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You can access individual elements of a list using indexing. Lists use zero-based indexing, meaning the first element is at index 0.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272880" y="886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272880" y="1252440"/>
            <a:ext cx="7863480" cy="456840"/>
          </a:xfrm>
          <a:prstGeom prst="rect">
            <a:avLst/>
          </a:prstGeom>
          <a:solidFill>
            <a:srgbClr val="f0f8ff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4"/>
          <p:cNvSpPr/>
          <p:nvPr/>
        </p:nvSpPr>
        <p:spPr>
          <a:xfrm>
            <a:off x="547200" y="13896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list_name[index]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279360" y="17701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Example List: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1004400" y="234972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7"/>
          <p:cNvSpPr/>
          <p:nvPr/>
        </p:nvSpPr>
        <p:spPr>
          <a:xfrm>
            <a:off x="1004400" y="24868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Delhi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1004400" y="2029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2284560" y="234972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2284560" y="24868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Mumbai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2284560" y="2029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3564720" y="234972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3"/>
          <p:cNvSpPr/>
          <p:nvPr/>
        </p:nvSpPr>
        <p:spPr>
          <a:xfrm>
            <a:off x="3564720" y="24868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Chennai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3564720" y="2029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5" name="Shape 15"/>
          <p:cNvSpPr/>
          <p:nvPr/>
        </p:nvSpPr>
        <p:spPr>
          <a:xfrm>
            <a:off x="4844880" y="234972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6"/>
          <p:cNvSpPr/>
          <p:nvPr/>
        </p:nvSpPr>
        <p:spPr>
          <a:xfrm>
            <a:off x="4844880" y="24868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Kolkata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4844880" y="2029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6125040" y="234972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9"/>
          <p:cNvSpPr/>
          <p:nvPr/>
        </p:nvSpPr>
        <p:spPr>
          <a:xfrm>
            <a:off x="6125040" y="24868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Bangalore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6125040" y="2029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1004400" y="3081240"/>
            <a:ext cx="640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cities = ['Delhi', 'Mumbai', 'Chennai', 'Kolkata', 'Bangalore']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272880" y="353844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Accessing Elements: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547200" y="39042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print(cities[0])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3747600" y="39042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Delhi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5" name="Text 25"/>
          <p:cNvSpPr/>
          <p:nvPr/>
        </p:nvSpPr>
        <p:spPr>
          <a:xfrm>
            <a:off x="547200" y="42242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print(cities[1])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Text 26"/>
          <p:cNvSpPr/>
          <p:nvPr/>
        </p:nvSpPr>
        <p:spPr>
          <a:xfrm>
            <a:off x="3747600" y="42242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Mumbai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7" name="Text 27"/>
          <p:cNvSpPr/>
          <p:nvPr/>
        </p:nvSpPr>
        <p:spPr>
          <a:xfrm>
            <a:off x="547200" y="45442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print(cities[2])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3747600" y="454428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Chennai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Text 29"/>
          <p:cNvSpPr/>
          <p:nvPr/>
        </p:nvSpPr>
        <p:spPr>
          <a:xfrm>
            <a:off x="547200" y="48643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print(cities[3])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0" name="Text 30"/>
          <p:cNvSpPr/>
          <p:nvPr/>
        </p:nvSpPr>
        <p:spPr>
          <a:xfrm>
            <a:off x="3747600" y="48643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Kolkata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Text 31"/>
          <p:cNvSpPr/>
          <p:nvPr/>
        </p:nvSpPr>
        <p:spPr>
          <a:xfrm>
            <a:off x="547200" y="518436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print(cities[4])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32"/>
          <p:cNvSpPr/>
          <p:nvPr/>
        </p:nvSpPr>
        <p:spPr>
          <a:xfrm>
            <a:off x="3747600" y="51843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Bangalore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3" name="Shape 33"/>
          <p:cNvSpPr/>
          <p:nvPr/>
        </p:nvSpPr>
        <p:spPr>
          <a:xfrm>
            <a:off x="272880" y="5275800"/>
            <a:ext cx="7863480" cy="731160"/>
          </a:xfrm>
          <a:prstGeom prst="rect">
            <a:avLst/>
          </a:prstGeom>
          <a:solidFill>
            <a:srgbClr val="fff8d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34"/>
          <p:cNvSpPr/>
          <p:nvPr/>
        </p:nvSpPr>
        <p:spPr>
          <a:xfrm>
            <a:off x="455760" y="541296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Note: Using the list name directly prints the entire list: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5" name="Text 35"/>
          <p:cNvSpPr/>
          <p:nvPr/>
        </p:nvSpPr>
        <p:spPr>
          <a:xfrm>
            <a:off x="455760" y="568728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onsolas"/>
                <a:ea typeface="Consolas"/>
              </a:rPr>
              <a:t>print(cities)  →  ['Delhi', 'Mumbai', 'Chennai', 'Kolkata', 'Bangalore']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Two Types of Indexing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457200" y="1188720"/>
            <a:ext cx="4023000" cy="5303160"/>
          </a:xfrm>
          <a:prstGeom prst="rect">
            <a:avLst/>
          </a:prstGeom>
          <a:solidFill>
            <a:srgbClr val="f5f5f5"/>
          </a:solidFill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2"/>
          <p:cNvSpPr/>
          <p:nvPr/>
        </p:nvSpPr>
        <p:spPr>
          <a:xfrm>
            <a:off x="594360" y="1325880"/>
            <a:ext cx="365400" cy="3654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3"/>
          <p:cNvSpPr/>
          <p:nvPr/>
        </p:nvSpPr>
        <p:spPr>
          <a:xfrm>
            <a:off x="1051560" y="13258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95c"/>
                </a:solidFill>
                <a:latin typeface="Georgia"/>
                <a:ea typeface="Georgia"/>
              </a:rPr>
              <a:t>Positive Indexing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640080" y="1783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Starts from beginning (0)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73152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73152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7"/>
          <p:cNvSpPr/>
          <p:nvPr/>
        </p:nvSpPr>
        <p:spPr>
          <a:xfrm>
            <a:off x="73152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146304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Shape 9"/>
          <p:cNvSpPr/>
          <p:nvPr/>
        </p:nvSpPr>
        <p:spPr>
          <a:xfrm>
            <a:off x="146304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10"/>
          <p:cNvSpPr/>
          <p:nvPr/>
        </p:nvSpPr>
        <p:spPr>
          <a:xfrm>
            <a:off x="146304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219456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8" name="Shape 12"/>
          <p:cNvSpPr/>
          <p:nvPr/>
        </p:nvSpPr>
        <p:spPr>
          <a:xfrm>
            <a:off x="219456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13"/>
          <p:cNvSpPr/>
          <p:nvPr/>
        </p:nvSpPr>
        <p:spPr>
          <a:xfrm>
            <a:off x="219456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292608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Shape 15"/>
          <p:cNvSpPr/>
          <p:nvPr/>
        </p:nvSpPr>
        <p:spPr>
          <a:xfrm>
            <a:off x="292608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16"/>
          <p:cNvSpPr/>
          <p:nvPr/>
        </p:nvSpPr>
        <p:spPr>
          <a:xfrm>
            <a:off x="292608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3" name="Text 17"/>
          <p:cNvSpPr/>
          <p:nvPr/>
        </p:nvSpPr>
        <p:spPr>
          <a:xfrm>
            <a:off x="365760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4" name="Shape 18"/>
          <p:cNvSpPr/>
          <p:nvPr/>
        </p:nvSpPr>
        <p:spPr>
          <a:xfrm>
            <a:off x="365760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9"/>
          <p:cNvSpPr/>
          <p:nvPr/>
        </p:nvSpPr>
        <p:spPr>
          <a:xfrm>
            <a:off x="365760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Text 20"/>
          <p:cNvSpPr/>
          <p:nvPr/>
        </p:nvSpPr>
        <p:spPr>
          <a:xfrm>
            <a:off x="731520" y="3154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data = [10, 20, 30, 40, 50]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Text 21"/>
          <p:cNvSpPr/>
          <p:nvPr/>
        </p:nvSpPr>
        <p:spPr>
          <a:xfrm>
            <a:off x="640080" y="3566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libri"/>
                <a:ea typeface="Calibri"/>
              </a:rPr>
              <a:t>Examples: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822960" y="39319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data[0]  →  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9" name="Text 23"/>
          <p:cNvSpPr/>
          <p:nvPr/>
        </p:nvSpPr>
        <p:spPr>
          <a:xfrm>
            <a:off x="822960" y="42976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data[1]  →  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Text 24"/>
          <p:cNvSpPr/>
          <p:nvPr/>
        </p:nvSpPr>
        <p:spPr>
          <a:xfrm>
            <a:off x="822960" y="46634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data[2]  →  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1" name="Text 25"/>
          <p:cNvSpPr/>
          <p:nvPr/>
        </p:nvSpPr>
        <p:spPr>
          <a:xfrm>
            <a:off x="822960" y="50292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data[3]  →  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2" name="Text 26"/>
          <p:cNvSpPr/>
          <p:nvPr/>
        </p:nvSpPr>
        <p:spPr>
          <a:xfrm>
            <a:off x="822960" y="53949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data[4]  →  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3" name="Text 27"/>
          <p:cNvSpPr/>
          <p:nvPr/>
        </p:nvSpPr>
        <p:spPr>
          <a:xfrm>
            <a:off x="822960" y="60350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Index starts at 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4" name="Shape 28"/>
          <p:cNvSpPr/>
          <p:nvPr/>
        </p:nvSpPr>
        <p:spPr>
          <a:xfrm>
            <a:off x="4663440" y="1188720"/>
            <a:ext cx="4023000" cy="5303160"/>
          </a:xfrm>
          <a:prstGeom prst="rect">
            <a:avLst/>
          </a:prstGeom>
          <a:solidFill>
            <a:srgbClr val="f5f5f5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29"/>
          <p:cNvSpPr/>
          <p:nvPr/>
        </p:nvSpPr>
        <p:spPr>
          <a:xfrm>
            <a:off x="4800600" y="1325880"/>
            <a:ext cx="365400" cy="36540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30"/>
          <p:cNvSpPr/>
          <p:nvPr/>
        </p:nvSpPr>
        <p:spPr>
          <a:xfrm>
            <a:off x="5257800" y="13258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95c"/>
                </a:solidFill>
                <a:latin typeface="Georgia"/>
                <a:ea typeface="Georgia"/>
              </a:rPr>
              <a:t>Negative Indexing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7" name="Text 31"/>
          <p:cNvSpPr/>
          <p:nvPr/>
        </p:nvSpPr>
        <p:spPr>
          <a:xfrm>
            <a:off x="4846320" y="1783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Starts from end (-1)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8" name="Text 32"/>
          <p:cNvSpPr/>
          <p:nvPr/>
        </p:nvSpPr>
        <p:spPr>
          <a:xfrm>
            <a:off x="493776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9" name="Shape 33"/>
          <p:cNvSpPr/>
          <p:nvPr/>
        </p:nvSpPr>
        <p:spPr>
          <a:xfrm>
            <a:off x="493776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34"/>
          <p:cNvSpPr/>
          <p:nvPr/>
        </p:nvSpPr>
        <p:spPr>
          <a:xfrm>
            <a:off x="493776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1" name="Text 35"/>
          <p:cNvSpPr/>
          <p:nvPr/>
        </p:nvSpPr>
        <p:spPr>
          <a:xfrm>
            <a:off x="566928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2" name="Shape 36"/>
          <p:cNvSpPr/>
          <p:nvPr/>
        </p:nvSpPr>
        <p:spPr>
          <a:xfrm>
            <a:off x="566928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37"/>
          <p:cNvSpPr/>
          <p:nvPr/>
        </p:nvSpPr>
        <p:spPr>
          <a:xfrm>
            <a:off x="566928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4" name="Text 38"/>
          <p:cNvSpPr/>
          <p:nvPr/>
        </p:nvSpPr>
        <p:spPr>
          <a:xfrm>
            <a:off x="640080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5" name="Shape 39"/>
          <p:cNvSpPr/>
          <p:nvPr/>
        </p:nvSpPr>
        <p:spPr>
          <a:xfrm>
            <a:off x="640080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40"/>
          <p:cNvSpPr/>
          <p:nvPr/>
        </p:nvSpPr>
        <p:spPr>
          <a:xfrm>
            <a:off x="640080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7" name="Text 41"/>
          <p:cNvSpPr/>
          <p:nvPr/>
        </p:nvSpPr>
        <p:spPr>
          <a:xfrm>
            <a:off x="713232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8" name="Shape 42"/>
          <p:cNvSpPr/>
          <p:nvPr/>
        </p:nvSpPr>
        <p:spPr>
          <a:xfrm>
            <a:off x="713232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43"/>
          <p:cNvSpPr/>
          <p:nvPr/>
        </p:nvSpPr>
        <p:spPr>
          <a:xfrm>
            <a:off x="713232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0" name="Text 44"/>
          <p:cNvSpPr/>
          <p:nvPr/>
        </p:nvSpPr>
        <p:spPr>
          <a:xfrm>
            <a:off x="786384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1" name="Shape 45"/>
          <p:cNvSpPr/>
          <p:nvPr/>
        </p:nvSpPr>
        <p:spPr>
          <a:xfrm>
            <a:off x="786384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46"/>
          <p:cNvSpPr/>
          <p:nvPr/>
        </p:nvSpPr>
        <p:spPr>
          <a:xfrm>
            <a:off x="786384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3" name="Text 47"/>
          <p:cNvSpPr/>
          <p:nvPr/>
        </p:nvSpPr>
        <p:spPr>
          <a:xfrm>
            <a:off x="4937760" y="3154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data = [10, 20, 30, 40, 50]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48"/>
          <p:cNvSpPr/>
          <p:nvPr/>
        </p:nvSpPr>
        <p:spPr>
          <a:xfrm>
            <a:off x="4846320" y="3566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libri"/>
                <a:ea typeface="Calibri"/>
              </a:rPr>
              <a:t>Examples: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5" name="Text 49"/>
          <p:cNvSpPr/>
          <p:nvPr/>
        </p:nvSpPr>
        <p:spPr>
          <a:xfrm>
            <a:off x="5029200" y="39319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data[-1]  →  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6" name="Text 50"/>
          <p:cNvSpPr/>
          <p:nvPr/>
        </p:nvSpPr>
        <p:spPr>
          <a:xfrm>
            <a:off x="5029200" y="42976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data[-2]  →  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Text 51"/>
          <p:cNvSpPr/>
          <p:nvPr/>
        </p:nvSpPr>
        <p:spPr>
          <a:xfrm>
            <a:off x="5029200" y="46634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data[-3]  →  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8" name="Text 52"/>
          <p:cNvSpPr/>
          <p:nvPr/>
        </p:nvSpPr>
        <p:spPr>
          <a:xfrm>
            <a:off x="5029200" y="50292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data[-4]  →  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9" name="Text 53"/>
          <p:cNvSpPr/>
          <p:nvPr/>
        </p:nvSpPr>
        <p:spPr>
          <a:xfrm>
            <a:off x="5029200" y="53949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data[-5]  →  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0" name="Text 54"/>
          <p:cNvSpPr/>
          <p:nvPr/>
        </p:nvSpPr>
        <p:spPr>
          <a:xfrm>
            <a:off x="5029200" y="60350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Index starts at -1 (last item)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Positive Indexing in Detail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Positive indexing starts from the beginning of the list at index 0. Each subsequent element has an index that is 1 greater than the previous element.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Complete Index Mapping: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10972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Shape 4"/>
          <p:cNvSpPr/>
          <p:nvPr/>
        </p:nvSpPr>
        <p:spPr>
          <a:xfrm>
            <a:off x="14630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5"/>
          <p:cNvSpPr/>
          <p:nvPr/>
        </p:nvSpPr>
        <p:spPr>
          <a:xfrm>
            <a:off x="14630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16916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7"/>
          <p:cNvSpPr/>
          <p:nvPr/>
        </p:nvSpPr>
        <p:spPr>
          <a:xfrm>
            <a:off x="10972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8"/>
          <p:cNvSpPr/>
          <p:nvPr/>
        </p:nvSpPr>
        <p:spPr>
          <a:xfrm>
            <a:off x="10972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0" name="Text 9"/>
          <p:cNvSpPr/>
          <p:nvPr/>
        </p:nvSpPr>
        <p:spPr>
          <a:xfrm>
            <a:off x="24688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1" name="Shape 10"/>
          <p:cNvSpPr/>
          <p:nvPr/>
        </p:nvSpPr>
        <p:spPr>
          <a:xfrm>
            <a:off x="28346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11"/>
          <p:cNvSpPr/>
          <p:nvPr/>
        </p:nvSpPr>
        <p:spPr>
          <a:xfrm>
            <a:off x="28346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3" name="Shape 12"/>
          <p:cNvSpPr/>
          <p:nvPr/>
        </p:nvSpPr>
        <p:spPr>
          <a:xfrm>
            <a:off x="30632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Shape 13"/>
          <p:cNvSpPr/>
          <p:nvPr/>
        </p:nvSpPr>
        <p:spPr>
          <a:xfrm>
            <a:off x="24688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4"/>
          <p:cNvSpPr/>
          <p:nvPr/>
        </p:nvSpPr>
        <p:spPr>
          <a:xfrm>
            <a:off x="24688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6" name="Text 15"/>
          <p:cNvSpPr/>
          <p:nvPr/>
        </p:nvSpPr>
        <p:spPr>
          <a:xfrm>
            <a:off x="38404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7" name="Shape 16"/>
          <p:cNvSpPr/>
          <p:nvPr/>
        </p:nvSpPr>
        <p:spPr>
          <a:xfrm>
            <a:off x="42062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17"/>
          <p:cNvSpPr/>
          <p:nvPr/>
        </p:nvSpPr>
        <p:spPr>
          <a:xfrm>
            <a:off x="42062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9" name="Shape 18"/>
          <p:cNvSpPr/>
          <p:nvPr/>
        </p:nvSpPr>
        <p:spPr>
          <a:xfrm>
            <a:off x="44348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19"/>
          <p:cNvSpPr/>
          <p:nvPr/>
        </p:nvSpPr>
        <p:spPr>
          <a:xfrm>
            <a:off x="38404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20"/>
          <p:cNvSpPr/>
          <p:nvPr/>
        </p:nvSpPr>
        <p:spPr>
          <a:xfrm>
            <a:off x="38404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2" name="Text 21"/>
          <p:cNvSpPr/>
          <p:nvPr/>
        </p:nvSpPr>
        <p:spPr>
          <a:xfrm>
            <a:off x="52120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3" name="Shape 22"/>
          <p:cNvSpPr/>
          <p:nvPr/>
        </p:nvSpPr>
        <p:spPr>
          <a:xfrm>
            <a:off x="55778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23"/>
          <p:cNvSpPr/>
          <p:nvPr/>
        </p:nvSpPr>
        <p:spPr>
          <a:xfrm>
            <a:off x="55778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15" name="Shape 24"/>
          <p:cNvSpPr/>
          <p:nvPr/>
        </p:nvSpPr>
        <p:spPr>
          <a:xfrm>
            <a:off x="58064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Shape 25"/>
          <p:cNvSpPr/>
          <p:nvPr/>
        </p:nvSpPr>
        <p:spPr>
          <a:xfrm>
            <a:off x="52120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26"/>
          <p:cNvSpPr/>
          <p:nvPr/>
        </p:nvSpPr>
        <p:spPr>
          <a:xfrm>
            <a:off x="52120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8" name="Text 27"/>
          <p:cNvSpPr/>
          <p:nvPr/>
        </p:nvSpPr>
        <p:spPr>
          <a:xfrm>
            <a:off x="65836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9" name="Shape 28"/>
          <p:cNvSpPr/>
          <p:nvPr/>
        </p:nvSpPr>
        <p:spPr>
          <a:xfrm>
            <a:off x="69494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9"/>
          <p:cNvSpPr/>
          <p:nvPr/>
        </p:nvSpPr>
        <p:spPr>
          <a:xfrm>
            <a:off x="69494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21" name="Shape 30"/>
          <p:cNvSpPr/>
          <p:nvPr/>
        </p:nvSpPr>
        <p:spPr>
          <a:xfrm>
            <a:off x="71780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31"/>
          <p:cNvSpPr/>
          <p:nvPr/>
        </p:nvSpPr>
        <p:spPr>
          <a:xfrm>
            <a:off x="65836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32"/>
          <p:cNvSpPr/>
          <p:nvPr/>
        </p:nvSpPr>
        <p:spPr>
          <a:xfrm>
            <a:off x="65836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4" name="Text 33"/>
          <p:cNvSpPr/>
          <p:nvPr/>
        </p:nvSpPr>
        <p:spPr>
          <a:xfrm>
            <a:off x="1097280" y="411480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values = [10, 20, 30, 40, 50]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5" name="Shape 34"/>
          <p:cNvSpPr/>
          <p:nvPr/>
        </p:nvSpPr>
        <p:spPr>
          <a:xfrm>
            <a:off x="640080" y="4663440"/>
            <a:ext cx="7863480" cy="21027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35"/>
          <p:cNvSpPr/>
          <p:nvPr/>
        </p:nvSpPr>
        <p:spPr>
          <a:xfrm>
            <a:off x="822960" y="48006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27" name="Text 36"/>
          <p:cNvSpPr/>
          <p:nvPr/>
        </p:nvSpPr>
        <p:spPr>
          <a:xfrm>
            <a:off x="914400" y="51663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values = [10, 20, 30, 40, 50]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8" name="Text 37"/>
          <p:cNvSpPr/>
          <p:nvPr/>
        </p:nvSpPr>
        <p:spPr>
          <a:xfrm>
            <a:off x="914400" y="53949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38"/>
          <p:cNvSpPr/>
          <p:nvPr/>
        </p:nvSpPr>
        <p:spPr>
          <a:xfrm>
            <a:off x="914400" y="56235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print(values[0])    # First element → 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0" name="Text 39"/>
          <p:cNvSpPr/>
          <p:nvPr/>
        </p:nvSpPr>
        <p:spPr>
          <a:xfrm>
            <a:off x="914400" y="58521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print(values[2])    # Third element → 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1" name="Text 40"/>
          <p:cNvSpPr/>
          <p:nvPr/>
        </p:nvSpPr>
        <p:spPr>
          <a:xfrm>
            <a:off x="914400" y="60807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print(values[4])    # Fifth (last) element → 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Text 41"/>
          <p:cNvSpPr/>
          <p:nvPr/>
        </p:nvSpPr>
        <p:spPr>
          <a:xfrm>
            <a:off x="914400" y="63093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42"/>
          <p:cNvSpPr/>
          <p:nvPr/>
        </p:nvSpPr>
        <p:spPr>
          <a:xfrm>
            <a:off x="914400" y="65379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first = values[0]   # Store in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Text 43"/>
          <p:cNvSpPr/>
          <p:nvPr/>
        </p:nvSpPr>
        <p:spPr>
          <a:xfrm>
            <a:off x="914400" y="67665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middle = values[2]  # Access any position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Negative Indexing in Detail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Negative indexing starts from the end of the list at index -1 (the last element). Each previous element has an index that decreases by 1.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37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Complete Negative Index Mapping: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8" name="Text 3"/>
          <p:cNvSpPr/>
          <p:nvPr/>
        </p:nvSpPr>
        <p:spPr>
          <a:xfrm>
            <a:off x="10972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9" name="Shape 4"/>
          <p:cNvSpPr/>
          <p:nvPr/>
        </p:nvSpPr>
        <p:spPr>
          <a:xfrm>
            <a:off x="14173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5"/>
          <p:cNvSpPr/>
          <p:nvPr/>
        </p:nvSpPr>
        <p:spPr>
          <a:xfrm>
            <a:off x="14173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41" name="Shape 6"/>
          <p:cNvSpPr/>
          <p:nvPr/>
        </p:nvSpPr>
        <p:spPr>
          <a:xfrm>
            <a:off x="16916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7"/>
          <p:cNvSpPr/>
          <p:nvPr/>
        </p:nvSpPr>
        <p:spPr>
          <a:xfrm>
            <a:off x="10972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8"/>
          <p:cNvSpPr/>
          <p:nvPr/>
        </p:nvSpPr>
        <p:spPr>
          <a:xfrm>
            <a:off x="10972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4" name="Text 9"/>
          <p:cNvSpPr/>
          <p:nvPr/>
        </p:nvSpPr>
        <p:spPr>
          <a:xfrm>
            <a:off x="24688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5" name="Shape 10"/>
          <p:cNvSpPr/>
          <p:nvPr/>
        </p:nvSpPr>
        <p:spPr>
          <a:xfrm>
            <a:off x="27889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11"/>
          <p:cNvSpPr/>
          <p:nvPr/>
        </p:nvSpPr>
        <p:spPr>
          <a:xfrm>
            <a:off x="27889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47" name="Shape 12"/>
          <p:cNvSpPr/>
          <p:nvPr/>
        </p:nvSpPr>
        <p:spPr>
          <a:xfrm>
            <a:off x="30632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13"/>
          <p:cNvSpPr/>
          <p:nvPr/>
        </p:nvSpPr>
        <p:spPr>
          <a:xfrm>
            <a:off x="24688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14"/>
          <p:cNvSpPr/>
          <p:nvPr/>
        </p:nvSpPr>
        <p:spPr>
          <a:xfrm>
            <a:off x="24688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0" name="Text 15"/>
          <p:cNvSpPr/>
          <p:nvPr/>
        </p:nvSpPr>
        <p:spPr>
          <a:xfrm>
            <a:off x="38404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1" name="Shape 16"/>
          <p:cNvSpPr/>
          <p:nvPr/>
        </p:nvSpPr>
        <p:spPr>
          <a:xfrm>
            <a:off x="41605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17"/>
          <p:cNvSpPr/>
          <p:nvPr/>
        </p:nvSpPr>
        <p:spPr>
          <a:xfrm>
            <a:off x="41605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53" name="Shape 18"/>
          <p:cNvSpPr/>
          <p:nvPr/>
        </p:nvSpPr>
        <p:spPr>
          <a:xfrm>
            <a:off x="44348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19"/>
          <p:cNvSpPr/>
          <p:nvPr/>
        </p:nvSpPr>
        <p:spPr>
          <a:xfrm>
            <a:off x="38404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20"/>
          <p:cNvSpPr/>
          <p:nvPr/>
        </p:nvSpPr>
        <p:spPr>
          <a:xfrm>
            <a:off x="38404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6" name="Text 21"/>
          <p:cNvSpPr/>
          <p:nvPr/>
        </p:nvSpPr>
        <p:spPr>
          <a:xfrm>
            <a:off x="52120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7" name="Shape 22"/>
          <p:cNvSpPr/>
          <p:nvPr/>
        </p:nvSpPr>
        <p:spPr>
          <a:xfrm>
            <a:off x="55321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23"/>
          <p:cNvSpPr/>
          <p:nvPr/>
        </p:nvSpPr>
        <p:spPr>
          <a:xfrm>
            <a:off x="55321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59" name="Shape 24"/>
          <p:cNvSpPr/>
          <p:nvPr/>
        </p:nvSpPr>
        <p:spPr>
          <a:xfrm>
            <a:off x="58064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25"/>
          <p:cNvSpPr/>
          <p:nvPr/>
        </p:nvSpPr>
        <p:spPr>
          <a:xfrm>
            <a:off x="52120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26"/>
          <p:cNvSpPr/>
          <p:nvPr/>
        </p:nvSpPr>
        <p:spPr>
          <a:xfrm>
            <a:off x="52120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2" name="Text 27"/>
          <p:cNvSpPr/>
          <p:nvPr/>
        </p:nvSpPr>
        <p:spPr>
          <a:xfrm>
            <a:off x="65836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3" name="Shape 28"/>
          <p:cNvSpPr/>
          <p:nvPr/>
        </p:nvSpPr>
        <p:spPr>
          <a:xfrm>
            <a:off x="69037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29"/>
          <p:cNvSpPr/>
          <p:nvPr/>
        </p:nvSpPr>
        <p:spPr>
          <a:xfrm>
            <a:off x="69037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5" name="Shape 30"/>
          <p:cNvSpPr/>
          <p:nvPr/>
        </p:nvSpPr>
        <p:spPr>
          <a:xfrm>
            <a:off x="71780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31"/>
          <p:cNvSpPr/>
          <p:nvPr/>
        </p:nvSpPr>
        <p:spPr>
          <a:xfrm>
            <a:off x="65836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32"/>
          <p:cNvSpPr/>
          <p:nvPr/>
        </p:nvSpPr>
        <p:spPr>
          <a:xfrm>
            <a:off x="65836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8" name="Text 33"/>
          <p:cNvSpPr/>
          <p:nvPr/>
        </p:nvSpPr>
        <p:spPr>
          <a:xfrm>
            <a:off x="1097280" y="411480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values = [10, 20, 30, 40, 50]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9" name="Shape 34"/>
          <p:cNvSpPr/>
          <p:nvPr/>
        </p:nvSpPr>
        <p:spPr>
          <a:xfrm>
            <a:off x="640080" y="4663440"/>
            <a:ext cx="7863480" cy="2102760"/>
          </a:xfrm>
          <a:prstGeom prst="rect">
            <a:avLst/>
          </a:prstGeom>
          <a:solidFill>
            <a:srgbClr val="f8f8f8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35"/>
          <p:cNvSpPr/>
          <p:nvPr/>
        </p:nvSpPr>
        <p:spPr>
          <a:xfrm>
            <a:off x="822960" y="48006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71" name="Text 36"/>
          <p:cNvSpPr/>
          <p:nvPr/>
        </p:nvSpPr>
        <p:spPr>
          <a:xfrm>
            <a:off x="914400" y="51663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values = [10, 20, 30, 40, 50]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2" name="Text 37"/>
          <p:cNvSpPr/>
          <p:nvPr/>
        </p:nvSpPr>
        <p:spPr>
          <a:xfrm>
            <a:off x="914400" y="53949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38"/>
          <p:cNvSpPr/>
          <p:nvPr/>
        </p:nvSpPr>
        <p:spPr>
          <a:xfrm>
            <a:off x="914400" y="56235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print(values[-1])   # Last element → 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4" name="Text 39"/>
          <p:cNvSpPr/>
          <p:nvPr/>
        </p:nvSpPr>
        <p:spPr>
          <a:xfrm>
            <a:off x="914400" y="58521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print(values[-3])   # Third from end → 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5" name="Text 40"/>
          <p:cNvSpPr/>
          <p:nvPr/>
        </p:nvSpPr>
        <p:spPr>
          <a:xfrm>
            <a:off x="914400" y="60807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print(values[-5])   # Fifth from end (first) → 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6" name="Text 41"/>
          <p:cNvSpPr/>
          <p:nvPr/>
        </p:nvSpPr>
        <p:spPr>
          <a:xfrm>
            <a:off x="914400" y="63093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42"/>
          <p:cNvSpPr/>
          <p:nvPr/>
        </p:nvSpPr>
        <p:spPr>
          <a:xfrm>
            <a:off x="914400" y="65379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last = values[-1]   # Store last element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8" name="Text 43"/>
          <p:cNvSpPr/>
          <p:nvPr/>
        </p:nvSpPr>
        <p:spPr>
          <a:xfrm>
            <a:off x="914400" y="67665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second_last = values[-2]  # Second from end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Positive vs Negative Indexing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80" name="Text 1"/>
          <p:cNvSpPr/>
          <p:nvPr/>
        </p:nvSpPr>
        <p:spPr>
          <a:xfrm>
            <a:off x="640080" y="10972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55555"/>
                </a:solidFill>
                <a:latin typeface="Calibri"/>
                <a:ea typeface="Calibri"/>
              </a:rPr>
              <a:t>Both indexing methods access the same elements from different directions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1" name="Shape 2"/>
          <p:cNvSpPr/>
          <p:nvPr/>
        </p:nvSpPr>
        <p:spPr>
          <a:xfrm>
            <a:off x="11430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3"/>
          <p:cNvSpPr/>
          <p:nvPr/>
        </p:nvSpPr>
        <p:spPr>
          <a:xfrm>
            <a:off x="11430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3" name="Shape 4"/>
          <p:cNvSpPr/>
          <p:nvPr/>
        </p:nvSpPr>
        <p:spPr>
          <a:xfrm>
            <a:off x="9144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5"/>
          <p:cNvSpPr/>
          <p:nvPr/>
        </p:nvSpPr>
        <p:spPr>
          <a:xfrm>
            <a:off x="9144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85" name="Shape 6"/>
          <p:cNvSpPr/>
          <p:nvPr/>
        </p:nvSpPr>
        <p:spPr>
          <a:xfrm>
            <a:off x="10972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7"/>
          <p:cNvSpPr/>
          <p:nvPr/>
        </p:nvSpPr>
        <p:spPr>
          <a:xfrm>
            <a:off x="10972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7" name="Shape 8"/>
          <p:cNvSpPr/>
          <p:nvPr/>
        </p:nvSpPr>
        <p:spPr>
          <a:xfrm>
            <a:off x="25146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Text 9"/>
          <p:cNvSpPr/>
          <p:nvPr/>
        </p:nvSpPr>
        <p:spPr>
          <a:xfrm>
            <a:off x="25146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9" name="Shape 10"/>
          <p:cNvSpPr/>
          <p:nvPr/>
        </p:nvSpPr>
        <p:spPr>
          <a:xfrm>
            <a:off x="22860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Text 11"/>
          <p:cNvSpPr/>
          <p:nvPr/>
        </p:nvSpPr>
        <p:spPr>
          <a:xfrm>
            <a:off x="22860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91" name="Shape 12"/>
          <p:cNvSpPr/>
          <p:nvPr/>
        </p:nvSpPr>
        <p:spPr>
          <a:xfrm>
            <a:off x="24688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Text 13"/>
          <p:cNvSpPr/>
          <p:nvPr/>
        </p:nvSpPr>
        <p:spPr>
          <a:xfrm>
            <a:off x="24688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3" name="Shape 14"/>
          <p:cNvSpPr/>
          <p:nvPr/>
        </p:nvSpPr>
        <p:spPr>
          <a:xfrm>
            <a:off x="38862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15"/>
          <p:cNvSpPr/>
          <p:nvPr/>
        </p:nvSpPr>
        <p:spPr>
          <a:xfrm>
            <a:off x="38862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5" name="Shape 16"/>
          <p:cNvSpPr/>
          <p:nvPr/>
        </p:nvSpPr>
        <p:spPr>
          <a:xfrm>
            <a:off x="36576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17"/>
          <p:cNvSpPr/>
          <p:nvPr/>
        </p:nvSpPr>
        <p:spPr>
          <a:xfrm>
            <a:off x="36576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97" name="Shape 18"/>
          <p:cNvSpPr/>
          <p:nvPr/>
        </p:nvSpPr>
        <p:spPr>
          <a:xfrm>
            <a:off x="38404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19"/>
          <p:cNvSpPr/>
          <p:nvPr/>
        </p:nvSpPr>
        <p:spPr>
          <a:xfrm>
            <a:off x="38404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9" name="Shape 20"/>
          <p:cNvSpPr/>
          <p:nvPr/>
        </p:nvSpPr>
        <p:spPr>
          <a:xfrm>
            <a:off x="52578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21"/>
          <p:cNvSpPr/>
          <p:nvPr/>
        </p:nvSpPr>
        <p:spPr>
          <a:xfrm>
            <a:off x="52578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01" name="Shape 22"/>
          <p:cNvSpPr/>
          <p:nvPr/>
        </p:nvSpPr>
        <p:spPr>
          <a:xfrm>
            <a:off x="50292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Text 23"/>
          <p:cNvSpPr/>
          <p:nvPr/>
        </p:nvSpPr>
        <p:spPr>
          <a:xfrm>
            <a:off x="50292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03" name="Shape 24"/>
          <p:cNvSpPr/>
          <p:nvPr/>
        </p:nvSpPr>
        <p:spPr>
          <a:xfrm>
            <a:off x="52120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Text 25"/>
          <p:cNvSpPr/>
          <p:nvPr/>
        </p:nvSpPr>
        <p:spPr>
          <a:xfrm>
            <a:off x="52120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5" name="Shape 26"/>
          <p:cNvSpPr/>
          <p:nvPr/>
        </p:nvSpPr>
        <p:spPr>
          <a:xfrm>
            <a:off x="66294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Text 27"/>
          <p:cNvSpPr/>
          <p:nvPr/>
        </p:nvSpPr>
        <p:spPr>
          <a:xfrm>
            <a:off x="66294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07" name="Shape 28"/>
          <p:cNvSpPr/>
          <p:nvPr/>
        </p:nvSpPr>
        <p:spPr>
          <a:xfrm>
            <a:off x="64008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29"/>
          <p:cNvSpPr/>
          <p:nvPr/>
        </p:nvSpPr>
        <p:spPr>
          <a:xfrm>
            <a:off x="64008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09" name="Shape 30"/>
          <p:cNvSpPr/>
          <p:nvPr/>
        </p:nvSpPr>
        <p:spPr>
          <a:xfrm>
            <a:off x="65836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31"/>
          <p:cNvSpPr/>
          <p:nvPr/>
        </p:nvSpPr>
        <p:spPr>
          <a:xfrm>
            <a:off x="65836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1" name="Text 32"/>
          <p:cNvSpPr/>
          <p:nvPr/>
        </p:nvSpPr>
        <p:spPr>
          <a:xfrm>
            <a:off x="274320" y="18288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Positive 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2" name="Text 33"/>
          <p:cNvSpPr/>
          <p:nvPr/>
        </p:nvSpPr>
        <p:spPr>
          <a:xfrm>
            <a:off x="8321040" y="32004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← </a:t>
            </a: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Negative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3" name="Text 34"/>
          <p:cNvSpPr/>
          <p:nvPr/>
        </p:nvSpPr>
        <p:spPr>
          <a:xfrm>
            <a:off x="640080" y="3931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Equivalent Access Examples: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4" name="Shape 35"/>
          <p:cNvSpPr/>
          <p:nvPr/>
        </p:nvSpPr>
        <p:spPr>
          <a:xfrm>
            <a:off x="640080" y="4389120"/>
            <a:ext cx="7863480" cy="365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36"/>
          <p:cNvSpPr/>
          <p:nvPr/>
        </p:nvSpPr>
        <p:spPr>
          <a:xfrm>
            <a:off x="822960" y="44805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Positive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6" name="Text 37"/>
          <p:cNvSpPr/>
          <p:nvPr/>
        </p:nvSpPr>
        <p:spPr>
          <a:xfrm>
            <a:off x="2834640" y="44805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Negative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7" name="Text 38"/>
          <p:cNvSpPr/>
          <p:nvPr/>
        </p:nvSpPr>
        <p:spPr>
          <a:xfrm>
            <a:off x="4846320" y="448056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Value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8" name="Text 39"/>
          <p:cNvSpPr/>
          <p:nvPr/>
        </p:nvSpPr>
        <p:spPr>
          <a:xfrm>
            <a:off x="6126480" y="448056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Description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9" name="Shape 40"/>
          <p:cNvSpPr/>
          <p:nvPr/>
        </p:nvSpPr>
        <p:spPr>
          <a:xfrm>
            <a:off x="640080" y="484632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41"/>
          <p:cNvSpPr/>
          <p:nvPr/>
        </p:nvSpPr>
        <p:spPr>
          <a:xfrm>
            <a:off x="822960" y="48920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1" name="Text 42"/>
          <p:cNvSpPr/>
          <p:nvPr/>
        </p:nvSpPr>
        <p:spPr>
          <a:xfrm>
            <a:off x="2834640" y="48920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2" name="Text 43"/>
          <p:cNvSpPr/>
          <p:nvPr/>
        </p:nvSpPr>
        <p:spPr>
          <a:xfrm>
            <a:off x="4846320" y="489204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3" name="Text 44"/>
          <p:cNvSpPr/>
          <p:nvPr/>
        </p:nvSpPr>
        <p:spPr>
          <a:xfrm>
            <a:off x="6126480" y="489204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First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4" name="Shape 45"/>
          <p:cNvSpPr/>
          <p:nvPr/>
        </p:nvSpPr>
        <p:spPr>
          <a:xfrm>
            <a:off x="640080" y="516636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46"/>
          <p:cNvSpPr/>
          <p:nvPr/>
        </p:nvSpPr>
        <p:spPr>
          <a:xfrm>
            <a:off x="822960" y="5212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data[1]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6" name="Text 47"/>
          <p:cNvSpPr/>
          <p:nvPr/>
        </p:nvSpPr>
        <p:spPr>
          <a:xfrm>
            <a:off x="2834640" y="5212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data[-4]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7" name="Text 48"/>
          <p:cNvSpPr/>
          <p:nvPr/>
        </p:nvSpPr>
        <p:spPr>
          <a:xfrm>
            <a:off x="4846320" y="52120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8" name="Text 49"/>
          <p:cNvSpPr/>
          <p:nvPr/>
        </p:nvSpPr>
        <p:spPr>
          <a:xfrm>
            <a:off x="6126480" y="521208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Second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9" name="Shape 50"/>
          <p:cNvSpPr/>
          <p:nvPr/>
        </p:nvSpPr>
        <p:spPr>
          <a:xfrm>
            <a:off x="640080" y="548640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51"/>
          <p:cNvSpPr/>
          <p:nvPr/>
        </p:nvSpPr>
        <p:spPr>
          <a:xfrm>
            <a:off x="822960" y="5532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data[2]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1" name="Text 52"/>
          <p:cNvSpPr/>
          <p:nvPr/>
        </p:nvSpPr>
        <p:spPr>
          <a:xfrm>
            <a:off x="2834640" y="5532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data[-3]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2" name="Text 53"/>
          <p:cNvSpPr/>
          <p:nvPr/>
        </p:nvSpPr>
        <p:spPr>
          <a:xfrm>
            <a:off x="4846320" y="553212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3" name="Text 54"/>
          <p:cNvSpPr/>
          <p:nvPr/>
        </p:nvSpPr>
        <p:spPr>
          <a:xfrm>
            <a:off x="6126480" y="553212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Middle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4" name="Shape 55"/>
          <p:cNvSpPr/>
          <p:nvPr/>
        </p:nvSpPr>
        <p:spPr>
          <a:xfrm>
            <a:off x="640080" y="580644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 56"/>
          <p:cNvSpPr/>
          <p:nvPr/>
        </p:nvSpPr>
        <p:spPr>
          <a:xfrm>
            <a:off x="822960" y="5852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data[3]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6" name="Text 57"/>
          <p:cNvSpPr/>
          <p:nvPr/>
        </p:nvSpPr>
        <p:spPr>
          <a:xfrm>
            <a:off x="2834640" y="5852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data[-2]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7" name="Text 58"/>
          <p:cNvSpPr/>
          <p:nvPr/>
        </p:nvSpPr>
        <p:spPr>
          <a:xfrm>
            <a:off x="4846320" y="585216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8" name="Text 59"/>
          <p:cNvSpPr/>
          <p:nvPr/>
        </p:nvSpPr>
        <p:spPr>
          <a:xfrm>
            <a:off x="6126480" y="585216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Fourth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9" name="Shape 60"/>
          <p:cNvSpPr/>
          <p:nvPr/>
        </p:nvSpPr>
        <p:spPr>
          <a:xfrm>
            <a:off x="640080" y="612648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Text 61"/>
          <p:cNvSpPr/>
          <p:nvPr/>
        </p:nvSpPr>
        <p:spPr>
          <a:xfrm>
            <a:off x="822960" y="6172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data[4]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1" name="Text 62"/>
          <p:cNvSpPr/>
          <p:nvPr/>
        </p:nvSpPr>
        <p:spPr>
          <a:xfrm>
            <a:off x="2834640" y="6172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data[-1]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2" name="Text 63"/>
          <p:cNvSpPr/>
          <p:nvPr/>
        </p:nvSpPr>
        <p:spPr>
          <a:xfrm>
            <a:off x="4846320" y="617220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3" name="Text 64"/>
          <p:cNvSpPr/>
          <p:nvPr/>
        </p:nvSpPr>
        <p:spPr>
          <a:xfrm>
            <a:off x="6126480" y="617220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Last element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2026-02-11T08:20:27Z</dcterms:created>
  <dc:creator>PptxGenJS</dc:creator>
  <dc:description/>
  <dc:language>en-IN</dc:language>
  <cp:lastModifiedBy/>
  <dcterms:modified xsi:type="dcterms:W3CDTF">2026-02-11T23:05:58Z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