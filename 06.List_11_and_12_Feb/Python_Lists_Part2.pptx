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AA4B8AA-BD74-477F-8C64-39986CFC2FE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FAF8A2-EAF8-4F1D-8F35-763AC9F481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F2FE62-BABC-4C65-B940-AF9620C09D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FF8430-7592-4A1D-BE24-E96E6D2E8B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4FFB3D-FD55-4215-A029-E49DAA0B01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2430DE-BC19-465A-8180-10CE870C42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FE3089-C279-4560-9378-92A3E64DF5C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2462FB-687C-4CDD-91C1-60436FFD012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CEE7F4-B2BA-449F-BE79-90015791A9D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4644C0-C0C2-4874-846F-233E72EBF67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419D6B-954A-49A2-909D-A94ECEA8931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A44EFA-C1D6-41A7-92B0-12EDE1F32C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55F139-1191-4724-8917-D9A32128EA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8288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Python Lists</a:t>
            </a:r>
            <a:endParaRPr b="0" lang="en-IN" sz="5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3832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5f5f5"/>
                </a:solidFill>
                <a:latin typeface="Calibri"/>
                <a:ea typeface="Calibri"/>
              </a:rPr>
              <a:t>Part 2: Slicing, Looping &amp; Basic Operations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5943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5f5f5"/>
                </a:solidFill>
                <a:latin typeface="Calibri"/>
                <a:ea typeface="Calibri"/>
              </a:rPr>
              <a:t>Advanced List Manipulation Techniques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68760"/>
            <a:ext cx="7822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Slicing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31080" y="684000"/>
            <a:ext cx="74750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String slicing allows you to extract a subset (sublist) of a list. You can slice a list to create a new list containing selected elements.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31080" y="1222200"/>
            <a:ext cx="74750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31080" y="1568160"/>
            <a:ext cx="7475040" cy="46116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891720" y="1721880"/>
            <a:ext cx="6953760" cy="1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onsolas"/>
                <a:ea typeface="Consolas"/>
              </a:rPr>
              <a:t>list_name[start:end]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31080" y="2144880"/>
            <a:ext cx="74750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Creates a new list from index 'start' up to (but not including) 'end'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631080" y="2529360"/>
            <a:ext cx="74750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Example List: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587240" y="2721600"/>
            <a:ext cx="869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1587240" y="2990880"/>
            <a:ext cx="869040" cy="4611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1587240" y="3106080"/>
            <a:ext cx="8690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2630160" y="2721600"/>
            <a:ext cx="869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2630160" y="2990880"/>
            <a:ext cx="869040" cy="4611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2"/>
          <p:cNvSpPr/>
          <p:nvPr/>
        </p:nvSpPr>
        <p:spPr>
          <a:xfrm>
            <a:off x="2630160" y="3106080"/>
            <a:ext cx="8690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0" name="Text 13"/>
          <p:cNvSpPr/>
          <p:nvPr/>
        </p:nvSpPr>
        <p:spPr>
          <a:xfrm>
            <a:off x="3673440" y="2721600"/>
            <a:ext cx="8686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Shape 14"/>
          <p:cNvSpPr/>
          <p:nvPr/>
        </p:nvSpPr>
        <p:spPr>
          <a:xfrm>
            <a:off x="3673440" y="2990880"/>
            <a:ext cx="868680" cy="4611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5"/>
          <p:cNvSpPr/>
          <p:nvPr/>
        </p:nvSpPr>
        <p:spPr>
          <a:xfrm>
            <a:off x="3673440" y="3106080"/>
            <a:ext cx="8686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30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4716360" y="2721600"/>
            <a:ext cx="869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4716360" y="2990880"/>
            <a:ext cx="869040" cy="4611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8"/>
          <p:cNvSpPr/>
          <p:nvPr/>
        </p:nvSpPr>
        <p:spPr>
          <a:xfrm>
            <a:off x="4716360" y="3106080"/>
            <a:ext cx="8690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40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5759640" y="2721600"/>
            <a:ext cx="8686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" name="Shape 20"/>
          <p:cNvSpPr/>
          <p:nvPr/>
        </p:nvSpPr>
        <p:spPr>
          <a:xfrm>
            <a:off x="5759640" y="2990880"/>
            <a:ext cx="868680" cy="46116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21"/>
          <p:cNvSpPr/>
          <p:nvPr/>
        </p:nvSpPr>
        <p:spPr>
          <a:xfrm>
            <a:off x="5759640" y="3106080"/>
            <a:ext cx="86868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onsolas"/>
                <a:ea typeface="Consolas"/>
              </a:rPr>
              <a:t>50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1587240" y="3606120"/>
            <a:ext cx="52149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631080" y="3990600"/>
            <a:ext cx="74750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Slicing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891720" y="4336560"/>
            <a:ext cx="1564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data[0:2]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2543400" y="4336560"/>
            <a:ext cx="2602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Text 26"/>
          <p:cNvSpPr/>
          <p:nvPr/>
        </p:nvSpPr>
        <p:spPr>
          <a:xfrm>
            <a:off x="2891160" y="4336560"/>
            <a:ext cx="17380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  <a:ea typeface="Consolas"/>
              </a:rPr>
              <a:t>[10, 20]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 27"/>
          <p:cNvSpPr/>
          <p:nvPr/>
        </p:nvSpPr>
        <p:spPr>
          <a:xfrm>
            <a:off x="4803480" y="4336560"/>
            <a:ext cx="32158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First 2 elements (index 0, 1)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891720" y="4644000"/>
            <a:ext cx="156456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data[1:4]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29"/>
          <p:cNvSpPr/>
          <p:nvPr/>
        </p:nvSpPr>
        <p:spPr>
          <a:xfrm>
            <a:off x="2543400" y="4644000"/>
            <a:ext cx="260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 30"/>
          <p:cNvSpPr/>
          <p:nvPr/>
        </p:nvSpPr>
        <p:spPr>
          <a:xfrm>
            <a:off x="2891160" y="4644000"/>
            <a:ext cx="17380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  <a:ea typeface="Consolas"/>
              </a:rPr>
              <a:t>[20, 30, 40]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Text 31"/>
          <p:cNvSpPr/>
          <p:nvPr/>
        </p:nvSpPr>
        <p:spPr>
          <a:xfrm>
            <a:off x="4803480" y="4644000"/>
            <a:ext cx="32158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1 through 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891720" y="4951800"/>
            <a:ext cx="15645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data[2:5]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" name="Text 33"/>
          <p:cNvSpPr/>
          <p:nvPr/>
        </p:nvSpPr>
        <p:spPr>
          <a:xfrm>
            <a:off x="2543400" y="4951800"/>
            <a:ext cx="2602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2891160" y="4951800"/>
            <a:ext cx="17380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  <a:ea typeface="Consolas"/>
              </a:rPr>
              <a:t>[30, 40, 50]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 35"/>
          <p:cNvSpPr/>
          <p:nvPr/>
        </p:nvSpPr>
        <p:spPr>
          <a:xfrm>
            <a:off x="4803480" y="4951800"/>
            <a:ext cx="321588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  <a:ea typeface="Calibri"/>
              </a:rPr>
              <a:t>Index 2 through 4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Advanced Slicing Techniques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1. Slice from Beginning: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5" name="Shape 2"/>
          <p:cNvSpPr/>
          <p:nvPr/>
        </p:nvSpPr>
        <p:spPr>
          <a:xfrm>
            <a:off x="640080" y="1508760"/>
            <a:ext cx="7863480" cy="822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3"/>
          <p:cNvSpPr/>
          <p:nvPr/>
        </p:nvSpPr>
        <p:spPr>
          <a:xfrm>
            <a:off x="822960" y="164592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print(data[0:3])    # [10, 20, 30]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print(data[:3])     # [10, 20, 30]  ← Omit 0 for beginning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640080" y="25146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2. Slice to End: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640080" y="2926080"/>
            <a:ext cx="7863480" cy="822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6"/>
          <p:cNvSpPr/>
          <p:nvPr/>
        </p:nvSpPr>
        <p:spPr>
          <a:xfrm>
            <a:off x="822960" y="306324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print(data[2:5])    # [30,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print(data[2:])     # [30, 40, 50]  ← Omit end for rest of list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640080" y="39319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3. Copy Entire List: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640080" y="4343400"/>
            <a:ext cx="7863480" cy="82260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9"/>
          <p:cNvSpPr/>
          <p:nvPr/>
        </p:nvSpPr>
        <p:spPr>
          <a:xfrm>
            <a:off x="822960" y="4480560"/>
            <a:ext cx="7497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data =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print(data[0:5])    # [10, 20, 30, 40, 50]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print(data[:])      # [10, 20, 30, 40, 50]  ← Copy all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640080" y="53949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Slicing Shortcuts: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640080" y="580644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2"/>
          <p:cNvSpPr/>
          <p:nvPr/>
        </p:nvSpPr>
        <p:spPr>
          <a:xfrm>
            <a:off x="822960" y="585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list[:n]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2926080" y="5852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First n elements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943600" y="58521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data[:3]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640080" y="612648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6"/>
          <p:cNvSpPr/>
          <p:nvPr/>
        </p:nvSpPr>
        <p:spPr>
          <a:xfrm>
            <a:off x="822960" y="61722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list[n:]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2926080" y="61722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From index n to end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 18"/>
          <p:cNvSpPr/>
          <p:nvPr/>
        </p:nvSpPr>
        <p:spPr>
          <a:xfrm>
            <a:off x="5943600" y="61722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data[2:]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640080" y="644652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0"/>
          <p:cNvSpPr/>
          <p:nvPr/>
        </p:nvSpPr>
        <p:spPr>
          <a:xfrm>
            <a:off x="822960" y="64922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list[:]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Text 21"/>
          <p:cNvSpPr/>
          <p:nvPr/>
        </p:nvSpPr>
        <p:spPr>
          <a:xfrm>
            <a:off x="2926080" y="64922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Entire list (copy)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5943600" y="64922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onsolas"/>
                <a:ea typeface="Consolas"/>
              </a:rPr>
              <a:t>data[:]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Looping Through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To process each element of a list individually, we use loops. Python provides two main ways to iterate through lists: while loops and for loops.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Two Approaches to Loop Through Lists: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457200" y="2194560"/>
            <a:ext cx="4023000" cy="438876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4"/>
          <p:cNvSpPr/>
          <p:nvPr/>
        </p:nvSpPr>
        <p:spPr>
          <a:xfrm>
            <a:off x="594360" y="2331720"/>
            <a:ext cx="365400" cy="3654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5"/>
          <p:cNvSpPr/>
          <p:nvPr/>
        </p:nvSpPr>
        <p:spPr>
          <a:xfrm>
            <a:off x="1051560" y="2331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While Loop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640080" y="2788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Using index to iterate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640080" y="3154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731520" y="342900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index =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while (index &lt; len(numbers)):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print(numbers[index])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index = index + 1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640080" y="46634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Output: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731520" y="493776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640080" y="585216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Manual index management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More control over iteration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12"/>
          <p:cNvSpPr/>
          <p:nvPr/>
        </p:nvSpPr>
        <p:spPr>
          <a:xfrm>
            <a:off x="4663440" y="2194560"/>
            <a:ext cx="4023000" cy="438876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13"/>
          <p:cNvSpPr/>
          <p:nvPr/>
        </p:nvSpPr>
        <p:spPr>
          <a:xfrm>
            <a:off x="4800600" y="2331720"/>
            <a:ext cx="365400" cy="365400"/>
          </a:xfrm>
          <a:prstGeom prst="ellipse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14"/>
          <p:cNvSpPr/>
          <p:nvPr/>
        </p:nvSpPr>
        <p:spPr>
          <a:xfrm>
            <a:off x="5257800" y="233172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21295c"/>
                </a:solidFill>
                <a:latin typeface="Georgia"/>
                <a:ea typeface="Georgia"/>
              </a:rPr>
              <a:t>For Loop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4846320" y="2788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Direct element access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4846320" y="31546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Code: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4937760" y="34290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[10, 20, 30]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for item in numbers: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print(item)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4846320" y="46634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Output: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4937760" y="493776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20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30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4846320" y="576072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Simpler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No index needed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Preferred method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enumerate() Function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When you need both the index and the element value while looping, use the enumerate() function instead of manually tracking the index.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for index, element in enumerate(list_name):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2" name="Shape 5"/>
          <p:cNvSpPr/>
          <p:nvPr/>
        </p:nvSpPr>
        <p:spPr>
          <a:xfrm>
            <a:off x="640080" y="2834640"/>
            <a:ext cx="7863480" cy="21942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6"/>
          <p:cNvSpPr/>
          <p:nvPr/>
        </p:nvSpPr>
        <p:spPr>
          <a:xfrm>
            <a:off x="822960" y="297180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1295c"/>
                </a:solidFill>
                <a:latin typeface="Calibri"/>
                <a:ea typeface="Calibri"/>
              </a:rPr>
              <a:t>Complete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822960" y="3337560"/>
            <a:ext cx="7497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fruits = ['apple', 'banana', 'cherry']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for index, item in enumerate(fruits):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    </a:t>
            </a: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print("index:", index, "item:", item)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822960" y="43434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Output: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822960" y="46177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index: 0  item: apple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index: 1  item: banana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onsolas"/>
                <a:ea typeface="Consolas"/>
              </a:rPr>
              <a:t>index: 2  item: cherry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40080" y="53035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Benefits of enumerate():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731520" y="571500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2"/>
          <p:cNvSpPr/>
          <p:nvPr/>
        </p:nvSpPr>
        <p:spPr>
          <a:xfrm>
            <a:off x="1097280" y="566928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Provides both index and element in one step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13"/>
          <p:cNvSpPr/>
          <p:nvPr/>
        </p:nvSpPr>
        <p:spPr>
          <a:xfrm>
            <a:off x="731520" y="603504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14"/>
          <p:cNvSpPr/>
          <p:nvPr/>
        </p:nvSpPr>
        <p:spPr>
          <a:xfrm>
            <a:off x="1097280" y="598932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Cleaner code than manual index tracking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731520" y="635508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6"/>
          <p:cNvSpPr/>
          <p:nvPr/>
        </p:nvSpPr>
        <p:spPr>
          <a:xfrm>
            <a:off x="1097280" y="630936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No need to use len() or increment counters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731520" y="6675120"/>
            <a:ext cx="228240" cy="228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8"/>
          <p:cNvSpPr/>
          <p:nvPr/>
        </p:nvSpPr>
        <p:spPr>
          <a:xfrm>
            <a:off x="1097280" y="662940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55555"/>
                </a:solidFill>
                <a:latin typeface="Calibri"/>
                <a:ea typeface="Calibri"/>
              </a:rPr>
              <a:t>Pythonic way to access index during iteration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Mutability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Lists are mutable, meaning they can be modified after creation. Once we create a list, we can change, add, or remove elements.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Modifying Elements: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640080" y="2148840"/>
            <a:ext cx="7863480" cy="16455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4"/>
          <p:cNvSpPr/>
          <p:nvPr/>
        </p:nvSpPr>
        <p:spPr>
          <a:xfrm>
            <a:off x="822960" y="2286000"/>
            <a:ext cx="7497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[1, 2, 3]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# [1, 2, 3]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numbers[0] = 10          # Change first element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a82"/>
                </a:solidFill>
                <a:latin typeface="Consolas"/>
                <a:ea typeface="Consolas"/>
              </a:rPr>
              <a:t>print(numbers)           # [10, 2, 3]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640080" y="3977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Representation: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914400" y="4434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Before: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91440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8"/>
          <p:cNvSpPr/>
          <p:nvPr/>
        </p:nvSpPr>
        <p:spPr>
          <a:xfrm>
            <a:off x="91440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164592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0"/>
          <p:cNvSpPr/>
          <p:nvPr/>
        </p:nvSpPr>
        <p:spPr>
          <a:xfrm>
            <a:off x="164592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237744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2"/>
          <p:cNvSpPr/>
          <p:nvPr/>
        </p:nvSpPr>
        <p:spPr>
          <a:xfrm>
            <a:off x="237744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3200400" y="48463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3840480" y="4434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After: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3840480" y="4754880"/>
            <a:ext cx="63972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6"/>
          <p:cNvSpPr/>
          <p:nvPr/>
        </p:nvSpPr>
        <p:spPr>
          <a:xfrm>
            <a:off x="384048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10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3" name="Shape 17"/>
          <p:cNvSpPr/>
          <p:nvPr/>
        </p:nvSpPr>
        <p:spPr>
          <a:xfrm>
            <a:off x="457200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18"/>
          <p:cNvSpPr/>
          <p:nvPr/>
        </p:nvSpPr>
        <p:spPr>
          <a:xfrm>
            <a:off x="457200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5303520" y="4754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20"/>
          <p:cNvSpPr/>
          <p:nvPr/>
        </p:nvSpPr>
        <p:spPr>
          <a:xfrm>
            <a:off x="5303520" y="4864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3840480" y="53035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21295c"/>
                </a:solidFill>
                <a:latin typeface="Calibri"/>
                <a:ea typeface="Calibri"/>
              </a:rPr>
              <a:t>Changed!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640080" y="5760720"/>
            <a:ext cx="7863480" cy="100548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Text 23"/>
          <p:cNvSpPr/>
          <p:nvPr/>
        </p:nvSpPr>
        <p:spPr>
          <a:xfrm>
            <a:off x="822960" y="589788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Important Notes: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822960" y="617220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Lists are mutable - they can be changed in place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This means once a list is created, we can modify it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Contrast with tuples and strings which are immutable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List Concatenation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You can join two lists together to create a new combined list. We use the + operator to concatenate (merge) lists.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Using + Operator: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new_list = list1 + list2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Example: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82296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list1 = [1, 2, 3]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822960" y="361188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8"/>
          <p:cNvSpPr/>
          <p:nvPr/>
        </p:nvSpPr>
        <p:spPr>
          <a:xfrm>
            <a:off x="82296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1463040" y="361188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10"/>
          <p:cNvSpPr/>
          <p:nvPr/>
        </p:nvSpPr>
        <p:spPr>
          <a:xfrm>
            <a:off x="146304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2103120" y="361188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2"/>
          <p:cNvSpPr/>
          <p:nvPr/>
        </p:nvSpPr>
        <p:spPr>
          <a:xfrm>
            <a:off x="210312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3017520" y="37033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+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356616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list2 = [4, 5, 6]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3566160" y="361188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6"/>
          <p:cNvSpPr/>
          <p:nvPr/>
        </p:nvSpPr>
        <p:spPr>
          <a:xfrm>
            <a:off x="356616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Shape 17"/>
          <p:cNvSpPr/>
          <p:nvPr/>
        </p:nvSpPr>
        <p:spPr>
          <a:xfrm>
            <a:off x="4206240" y="361188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8"/>
          <p:cNvSpPr/>
          <p:nvPr/>
        </p:nvSpPr>
        <p:spPr>
          <a:xfrm>
            <a:off x="420624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Shape 19"/>
          <p:cNvSpPr/>
          <p:nvPr/>
        </p:nvSpPr>
        <p:spPr>
          <a:xfrm>
            <a:off x="4846320" y="361188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20"/>
          <p:cNvSpPr/>
          <p:nvPr/>
        </p:nvSpPr>
        <p:spPr>
          <a:xfrm>
            <a:off x="4846320" y="372168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Text 21"/>
          <p:cNvSpPr/>
          <p:nvPr/>
        </p:nvSpPr>
        <p:spPr>
          <a:xfrm>
            <a:off x="5760720" y="37033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=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3" name="Text 22"/>
          <p:cNvSpPr/>
          <p:nvPr/>
        </p:nvSpPr>
        <p:spPr>
          <a:xfrm>
            <a:off x="822960" y="43891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66666"/>
                </a:solidFill>
                <a:latin typeface="Consolas"/>
                <a:ea typeface="Consolas"/>
              </a:rPr>
              <a:t>list3 = [1, 2, 3, 4, 5, 6]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4" name="Shape 23"/>
          <p:cNvSpPr/>
          <p:nvPr/>
        </p:nvSpPr>
        <p:spPr>
          <a:xfrm>
            <a:off x="822960" y="470916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4"/>
          <p:cNvSpPr/>
          <p:nvPr/>
        </p:nvSpPr>
        <p:spPr>
          <a:xfrm>
            <a:off x="82296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Shape 25"/>
          <p:cNvSpPr/>
          <p:nvPr/>
        </p:nvSpPr>
        <p:spPr>
          <a:xfrm>
            <a:off x="1463040" y="470916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6"/>
          <p:cNvSpPr/>
          <p:nvPr/>
        </p:nvSpPr>
        <p:spPr>
          <a:xfrm>
            <a:off x="146304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8" name="Shape 27"/>
          <p:cNvSpPr/>
          <p:nvPr/>
        </p:nvSpPr>
        <p:spPr>
          <a:xfrm>
            <a:off x="2103120" y="4709160"/>
            <a:ext cx="54828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28"/>
          <p:cNvSpPr/>
          <p:nvPr/>
        </p:nvSpPr>
        <p:spPr>
          <a:xfrm>
            <a:off x="210312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0" name="Shape 29"/>
          <p:cNvSpPr/>
          <p:nvPr/>
        </p:nvSpPr>
        <p:spPr>
          <a:xfrm>
            <a:off x="2743200" y="470916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30"/>
          <p:cNvSpPr/>
          <p:nvPr/>
        </p:nvSpPr>
        <p:spPr>
          <a:xfrm>
            <a:off x="274320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Shape 31"/>
          <p:cNvSpPr/>
          <p:nvPr/>
        </p:nvSpPr>
        <p:spPr>
          <a:xfrm>
            <a:off x="3383280" y="470916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32"/>
          <p:cNvSpPr/>
          <p:nvPr/>
        </p:nvSpPr>
        <p:spPr>
          <a:xfrm>
            <a:off x="338328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33"/>
          <p:cNvSpPr/>
          <p:nvPr/>
        </p:nvSpPr>
        <p:spPr>
          <a:xfrm>
            <a:off x="4023360" y="4709160"/>
            <a:ext cx="548280" cy="45684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34"/>
          <p:cNvSpPr/>
          <p:nvPr/>
        </p:nvSpPr>
        <p:spPr>
          <a:xfrm>
            <a:off x="4023360" y="48189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6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Shape 35"/>
          <p:cNvSpPr/>
          <p:nvPr/>
        </p:nvSpPr>
        <p:spPr>
          <a:xfrm>
            <a:off x="640080" y="5486400"/>
            <a:ext cx="7863480" cy="1188360"/>
          </a:xfrm>
          <a:prstGeom prst="rect">
            <a:avLst/>
          </a:prstGeom>
          <a:solidFill>
            <a:srgbClr val="f8f8f8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36"/>
          <p:cNvSpPr/>
          <p:nvPr/>
        </p:nvSpPr>
        <p:spPr>
          <a:xfrm>
            <a:off x="822960" y="562356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8" name="Text 37"/>
          <p:cNvSpPr/>
          <p:nvPr/>
        </p:nvSpPr>
        <p:spPr>
          <a:xfrm>
            <a:off x="822960" y="5897880"/>
            <a:ext cx="7497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list1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list2 = [4, 5, 6]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list3 = list1 + list2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print(list3)              # [1, 2, 3, 4, 5, 6]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Merging Lists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We can create a new list by merging two lists. This is similar to concatenation and uses the + operator.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Example 1: Merging Number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640080" y="2148840"/>
            <a:ext cx="7863480" cy="1279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4"/>
          <p:cNvSpPr/>
          <p:nvPr/>
        </p:nvSpPr>
        <p:spPr>
          <a:xfrm>
            <a:off x="822960" y="228600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first_half = [1, 2, 3]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second_half = [4, 5, 6]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complete = first_half + second_half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print(complete)          # [1, 2, 3, 4, 5, 6]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640080" y="36576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Example 2: Merging String Lists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640080" y="4069080"/>
            <a:ext cx="7863480" cy="1279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7"/>
          <p:cNvSpPr/>
          <p:nvPr/>
        </p:nvSpPr>
        <p:spPr>
          <a:xfrm>
            <a:off x="822960" y="420624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fruits = ['apple', 'banana']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vegetables = ['carrot', 'potato']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groceries = fruits + vegetables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print(groceries)         # ['apple', 'banana', 'carrot', 'potato']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7" name="Shape 8"/>
          <p:cNvSpPr/>
          <p:nvPr/>
        </p:nvSpPr>
        <p:spPr>
          <a:xfrm>
            <a:off x="640080" y="5577840"/>
            <a:ext cx="7863480" cy="109692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9"/>
          <p:cNvSpPr/>
          <p:nvPr/>
        </p:nvSpPr>
        <p:spPr>
          <a:xfrm>
            <a:off x="822960" y="5715000"/>
            <a:ext cx="7497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Key Points: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822960" y="5989320"/>
            <a:ext cx="7497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The + operator creates a NEW list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Original lists remain unchanged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Order is preserved (first list items come first)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555555"/>
                </a:solidFill>
                <a:latin typeface="Calibri"/>
                <a:ea typeface="Calibri"/>
              </a:rPr>
              <a:t>Can merge lists of any data type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Converting String to List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Using list() conversion function, we can convert a string into a list. Each character becomes a separate element in the list.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2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char_list = list(my_string)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Conversion: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914400" y="32918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String: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7"/>
          <p:cNvSpPr/>
          <p:nvPr/>
        </p:nvSpPr>
        <p:spPr>
          <a:xfrm>
            <a:off x="2408760" y="329184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65a82"/>
                </a:solidFill>
                <a:latin typeface="Consolas"/>
                <a:ea typeface="Consolas"/>
              </a:rPr>
              <a:t>"hello"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8" name="Text 8"/>
          <p:cNvSpPr/>
          <p:nvPr/>
        </p:nvSpPr>
        <p:spPr>
          <a:xfrm>
            <a:off x="1828800" y="3657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↓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29" name="Text 9"/>
          <p:cNvSpPr/>
          <p:nvPr/>
        </p:nvSpPr>
        <p:spPr>
          <a:xfrm>
            <a:off x="1371600" y="397764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8888"/>
                </a:solidFill>
                <a:latin typeface="Calibri"/>
                <a:ea typeface="Calibri"/>
              </a:rPr>
              <a:t>list() function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0" name="Text 10"/>
          <p:cNvSpPr/>
          <p:nvPr/>
        </p:nvSpPr>
        <p:spPr>
          <a:xfrm>
            <a:off x="1828800" y="4206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↓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1" name="Text 11"/>
          <p:cNvSpPr/>
          <p:nvPr/>
        </p:nvSpPr>
        <p:spPr>
          <a:xfrm>
            <a:off x="914400" y="457200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66666"/>
                </a:solidFill>
                <a:latin typeface="Calibri"/>
                <a:ea typeface="Calibri"/>
              </a:rPr>
              <a:t>List: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>
            <a:off x="91440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3"/>
          <p:cNvSpPr/>
          <p:nvPr/>
        </p:nvSpPr>
        <p:spPr>
          <a:xfrm>
            <a:off x="91440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'h'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164592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5"/>
          <p:cNvSpPr/>
          <p:nvPr/>
        </p:nvSpPr>
        <p:spPr>
          <a:xfrm>
            <a:off x="164592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'e'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Shape 16"/>
          <p:cNvSpPr/>
          <p:nvPr/>
        </p:nvSpPr>
        <p:spPr>
          <a:xfrm>
            <a:off x="237744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7"/>
          <p:cNvSpPr/>
          <p:nvPr/>
        </p:nvSpPr>
        <p:spPr>
          <a:xfrm>
            <a:off x="237744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'l'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310896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9"/>
          <p:cNvSpPr/>
          <p:nvPr/>
        </p:nvSpPr>
        <p:spPr>
          <a:xfrm>
            <a:off x="310896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'l'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3840480" y="489204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1"/>
          <p:cNvSpPr/>
          <p:nvPr/>
        </p:nvSpPr>
        <p:spPr>
          <a:xfrm>
            <a:off x="3840480" y="500184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'o'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>
            <a:off x="4572000" y="3200400"/>
            <a:ext cx="3931560" cy="237708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23"/>
          <p:cNvSpPr/>
          <p:nvPr/>
        </p:nvSpPr>
        <p:spPr>
          <a:xfrm>
            <a:off x="4754880" y="33375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4" name="Text 24"/>
          <p:cNvSpPr/>
          <p:nvPr/>
        </p:nvSpPr>
        <p:spPr>
          <a:xfrm>
            <a:off x="4754880" y="3657600"/>
            <a:ext cx="3565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text = "hello"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char_list = list(text)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print(char_list)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Output: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['h', 'e', 'l', 'l', 'o']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5" name="Text 25"/>
          <p:cNvSpPr/>
          <p:nvPr/>
        </p:nvSpPr>
        <p:spPr>
          <a:xfrm>
            <a:off x="640080" y="56692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More Examples: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6" name="Text 26"/>
          <p:cNvSpPr/>
          <p:nvPr/>
        </p:nvSpPr>
        <p:spPr>
          <a:xfrm>
            <a:off x="914400" y="603504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list("Python")  →  ['P', 'y', 't', 'h', 'o', 'n']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list("123")     →  ['1', '2', '3']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Converting Tuple to List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Tuples are immutable, but we can convert them to lists (which are mutable) using the list() function.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new_list = list(tuple_name)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Visual Conversion: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91440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Tuple (immutable):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914400" y="3611880"/>
            <a:ext cx="639720" cy="45684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8"/>
          <p:cNvSpPr/>
          <p:nvPr/>
        </p:nvSpPr>
        <p:spPr>
          <a:xfrm>
            <a:off x="91440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1645920" y="3611880"/>
            <a:ext cx="639720" cy="45684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0"/>
          <p:cNvSpPr/>
          <p:nvPr/>
        </p:nvSpPr>
        <p:spPr>
          <a:xfrm>
            <a:off x="164592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2377440" y="3611880"/>
            <a:ext cx="639720" cy="45684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12"/>
          <p:cNvSpPr/>
          <p:nvPr/>
        </p:nvSpPr>
        <p:spPr>
          <a:xfrm>
            <a:off x="237744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914400" y="42062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(1, 2, 3)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3200400" y="37033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2926080" y="411480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8888"/>
                </a:solidFill>
                <a:latin typeface="Calibri"/>
                <a:ea typeface="Calibri"/>
              </a:rPr>
              <a:t>list()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4114800" y="32918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List (mutable):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4" name="Shape 17"/>
          <p:cNvSpPr/>
          <p:nvPr/>
        </p:nvSpPr>
        <p:spPr>
          <a:xfrm>
            <a:off x="4114800" y="3611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18"/>
          <p:cNvSpPr/>
          <p:nvPr/>
        </p:nvSpPr>
        <p:spPr>
          <a:xfrm>
            <a:off x="411480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6" name="Shape 19"/>
          <p:cNvSpPr/>
          <p:nvPr/>
        </p:nvSpPr>
        <p:spPr>
          <a:xfrm>
            <a:off x="4846320" y="3611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20"/>
          <p:cNvSpPr/>
          <p:nvPr/>
        </p:nvSpPr>
        <p:spPr>
          <a:xfrm>
            <a:off x="484632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8" name="Shape 21"/>
          <p:cNvSpPr/>
          <p:nvPr/>
        </p:nvSpPr>
        <p:spPr>
          <a:xfrm>
            <a:off x="5577840" y="3611880"/>
            <a:ext cx="639720" cy="4568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22"/>
          <p:cNvSpPr/>
          <p:nvPr/>
        </p:nvSpPr>
        <p:spPr>
          <a:xfrm>
            <a:off x="5577840" y="3721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Text 23"/>
          <p:cNvSpPr/>
          <p:nvPr/>
        </p:nvSpPr>
        <p:spPr>
          <a:xfrm>
            <a:off x="4114800" y="42062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66666"/>
                </a:solidFill>
                <a:latin typeface="Consolas"/>
                <a:ea typeface="Consolas"/>
              </a:rPr>
              <a:t>[1, 2, 3]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1" name="Shape 24"/>
          <p:cNvSpPr/>
          <p:nvPr/>
        </p:nvSpPr>
        <p:spPr>
          <a:xfrm>
            <a:off x="640080" y="4754880"/>
            <a:ext cx="7863480" cy="1737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ext 25"/>
          <p:cNvSpPr/>
          <p:nvPr/>
        </p:nvSpPr>
        <p:spPr>
          <a:xfrm>
            <a:off x="822960" y="48920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Code Example: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3" name="Text 26"/>
          <p:cNvSpPr/>
          <p:nvPr/>
        </p:nvSpPr>
        <p:spPr>
          <a:xfrm>
            <a:off x="822960" y="521208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coordinates = (1, 2, 3)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coord_list = list(coordinates)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print(coord_list)        # [1, 2, 3]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# Now we can modify it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coord_list[0] = 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5a82"/>
                </a:solidFill>
                <a:latin typeface="Consolas"/>
                <a:ea typeface="Consolas"/>
              </a:rPr>
              <a:t>print(coord_list)        # [10, 2, 3]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21295c"/>
                </a:solidFill>
                <a:latin typeface="Georgia"/>
                <a:ea typeface="Georgia"/>
              </a:rPr>
              <a:t>Converting Set &amp; Dictionary to List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640080" y="10972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1. Set to List: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6" name="Shape 2"/>
          <p:cNvSpPr/>
          <p:nvPr/>
        </p:nvSpPr>
        <p:spPr>
          <a:xfrm>
            <a:off x="640080" y="1508760"/>
            <a:ext cx="7863480" cy="1371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3"/>
          <p:cNvSpPr/>
          <p:nvPr/>
        </p:nvSpPr>
        <p:spPr>
          <a:xfrm>
            <a:off x="822960" y="1645920"/>
            <a:ext cx="74977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unique_ids = {1, 2, 3, 4}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id_list = list(unique_ids)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print(id_list)           # [1, 2, 3, 4]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# Note: Order may vary as sets are unordered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640080" y="31089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65a82"/>
                </a:solidFill>
                <a:latin typeface="Calibri"/>
                <a:ea typeface="Calibri"/>
              </a:rPr>
              <a:t>2. Dictionary to List: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640080" y="3520440"/>
            <a:ext cx="786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  <a:ea typeface="Calibri"/>
              </a:rPr>
              <a:t>Converting dictionary keys only: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640080" y="3840480"/>
            <a:ext cx="7863480" cy="11883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7"/>
          <p:cNvSpPr/>
          <p:nvPr/>
        </p:nvSpPr>
        <p:spPr>
          <a:xfrm>
            <a:off x="822960" y="3977640"/>
            <a:ext cx="7497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student = {'name': 'Alice', 'age': 20}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key_list = list(student)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print(key_list)          # ['name', 'age']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640080" y="52578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Conversion Summary: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3" name="Shape 9"/>
          <p:cNvSpPr/>
          <p:nvPr/>
        </p:nvSpPr>
        <p:spPr>
          <a:xfrm>
            <a:off x="640080" y="566928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10"/>
          <p:cNvSpPr/>
          <p:nvPr/>
        </p:nvSpPr>
        <p:spPr>
          <a:xfrm>
            <a:off x="822960" y="571500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String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2651760" y="57150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characters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Text 12"/>
          <p:cNvSpPr/>
          <p:nvPr/>
        </p:nvSpPr>
        <p:spPr>
          <a:xfrm>
            <a:off x="5120640" y="57150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list('hi') → ['h', 'i']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7" name="Shape 13"/>
          <p:cNvSpPr/>
          <p:nvPr/>
        </p:nvSpPr>
        <p:spPr>
          <a:xfrm>
            <a:off x="640080" y="598932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4"/>
          <p:cNvSpPr/>
          <p:nvPr/>
        </p:nvSpPr>
        <p:spPr>
          <a:xfrm>
            <a:off x="822960" y="603504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Tuple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9" name="Text 15"/>
          <p:cNvSpPr/>
          <p:nvPr/>
        </p:nvSpPr>
        <p:spPr>
          <a:xfrm>
            <a:off x="2651760" y="603504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elements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Text 16"/>
          <p:cNvSpPr/>
          <p:nvPr/>
        </p:nvSpPr>
        <p:spPr>
          <a:xfrm>
            <a:off x="5120640" y="60350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list((1,2)) → [1, 2]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1" name="Shape 17"/>
          <p:cNvSpPr/>
          <p:nvPr/>
        </p:nvSpPr>
        <p:spPr>
          <a:xfrm>
            <a:off x="640080" y="6309360"/>
            <a:ext cx="7863480" cy="319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18"/>
          <p:cNvSpPr/>
          <p:nvPr/>
        </p:nvSpPr>
        <p:spPr>
          <a:xfrm>
            <a:off x="822960" y="6355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Set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3" name="Text 19"/>
          <p:cNvSpPr/>
          <p:nvPr/>
        </p:nvSpPr>
        <p:spPr>
          <a:xfrm>
            <a:off x="2651760" y="635508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elements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5120640" y="635508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list({1,2}) → [1, 2]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5" name="Shape 21"/>
          <p:cNvSpPr/>
          <p:nvPr/>
        </p:nvSpPr>
        <p:spPr>
          <a:xfrm>
            <a:off x="640080" y="6629400"/>
            <a:ext cx="7863480" cy="319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2"/>
          <p:cNvSpPr/>
          <p:nvPr/>
        </p:nvSpPr>
        <p:spPr>
          <a:xfrm>
            <a:off x="822960" y="66751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Dictionary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7" name="Text 23"/>
          <p:cNvSpPr/>
          <p:nvPr/>
        </p:nvSpPr>
        <p:spPr>
          <a:xfrm>
            <a:off x="2651760" y="6675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5555"/>
                </a:solidFill>
                <a:latin typeface="Calibri"/>
                <a:ea typeface="Calibri"/>
              </a:rPr>
              <a:t>List of keys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Text 24"/>
          <p:cNvSpPr/>
          <p:nvPr/>
        </p:nvSpPr>
        <p:spPr>
          <a:xfrm>
            <a:off x="5120640" y="66751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list({'a':1}) → ['a']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21295c"/>
                </a:solidFill>
                <a:latin typeface="Georgia"/>
                <a:ea typeface="Georgia"/>
              </a:rPr>
              <a:t>Converting Range to List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640080" y="1097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  <a:ea typeface="Calibri"/>
              </a:rPr>
              <a:t>The range() function generates a sequence of numbers. We can convert it to a list using list() function.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1" name="Text 2"/>
          <p:cNvSpPr/>
          <p:nvPr/>
        </p:nvSpPr>
        <p:spPr>
          <a:xfrm>
            <a:off x="640080" y="17373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Syntax: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>
            <a:off x="640080" y="2148840"/>
            <a:ext cx="7863480" cy="456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4"/>
          <p:cNvSpPr/>
          <p:nvPr/>
        </p:nvSpPr>
        <p:spPr>
          <a:xfrm>
            <a:off x="914400" y="2286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onsolas"/>
                <a:ea typeface="Consolas"/>
              </a:rPr>
              <a:t>number_list = list(range(n))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4" name="Text 5"/>
          <p:cNvSpPr/>
          <p:nvPr/>
        </p:nvSpPr>
        <p:spPr>
          <a:xfrm>
            <a:off x="640080" y="2834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1: range(5)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5" name="Shape 6"/>
          <p:cNvSpPr/>
          <p:nvPr/>
        </p:nvSpPr>
        <p:spPr>
          <a:xfrm>
            <a:off x="640080" y="3246120"/>
            <a:ext cx="7863480" cy="91404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 7"/>
          <p:cNvSpPr/>
          <p:nvPr/>
        </p:nvSpPr>
        <p:spPr>
          <a:xfrm>
            <a:off x="822960" y="338328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numbers = range(5)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num_list = list(numbers)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print(num_list)          # [0, 1, 2, 3, 4]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640080" y="43891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Example 2: More range() uses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308" name="Text 9"/>
          <p:cNvSpPr/>
          <p:nvPr/>
        </p:nvSpPr>
        <p:spPr>
          <a:xfrm>
            <a:off x="914400" y="48006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list(range(3))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3749040" y="480060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0" name="Text 11"/>
          <p:cNvSpPr/>
          <p:nvPr/>
        </p:nvSpPr>
        <p:spPr>
          <a:xfrm>
            <a:off x="4114800" y="48006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onsolas"/>
                <a:ea typeface="Consolas"/>
              </a:rPr>
              <a:t>[0, 1, 2]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6583680" y="48006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First 3 numbers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2" name="Text 13"/>
          <p:cNvSpPr/>
          <p:nvPr/>
        </p:nvSpPr>
        <p:spPr>
          <a:xfrm>
            <a:off x="914400" y="51663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list(range(1, 6))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3749040" y="516636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4" name="Text 15"/>
          <p:cNvSpPr/>
          <p:nvPr/>
        </p:nvSpPr>
        <p:spPr>
          <a:xfrm>
            <a:off x="4114800" y="516636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onsolas"/>
                <a:ea typeface="Consolas"/>
              </a:rPr>
              <a:t>[1, 2, 3, 4, 5]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6583680" y="51663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From 1 to 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6" name="Text 17"/>
          <p:cNvSpPr/>
          <p:nvPr/>
        </p:nvSpPr>
        <p:spPr>
          <a:xfrm>
            <a:off x="914400" y="55321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onsolas"/>
                <a:ea typeface="Consolas"/>
              </a:rPr>
              <a:t>list(range(0, 10, 2))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3749040" y="5532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→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8" name="Text 19"/>
          <p:cNvSpPr/>
          <p:nvPr/>
        </p:nvSpPr>
        <p:spPr>
          <a:xfrm>
            <a:off x="4114800" y="553212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33333"/>
                </a:solidFill>
                <a:latin typeface="Consolas"/>
                <a:ea typeface="Consolas"/>
              </a:rPr>
              <a:t>[0, 2, 4, 6, 8]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6583680" y="553212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Even numbers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0" name="Shape 21"/>
          <p:cNvSpPr/>
          <p:nvPr/>
        </p:nvSpPr>
        <p:spPr>
          <a:xfrm>
            <a:off x="640080" y="6035040"/>
            <a:ext cx="7863480" cy="63972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22"/>
          <p:cNvSpPr/>
          <p:nvPr/>
        </p:nvSpPr>
        <p:spPr>
          <a:xfrm>
            <a:off x="822960" y="61722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📝 </a:t>
            </a:r>
            <a:r>
              <a:rPr b="1" lang="en-US" sz="1200" spc="-1" strike="noStrike">
                <a:solidFill>
                  <a:srgbClr val="21295c"/>
                </a:solidFill>
                <a:latin typeface="Calibri"/>
                <a:ea typeface="Calibri"/>
              </a:rPr>
              <a:t>Range Parameters: range(start, stop, step)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2" name="Text 23"/>
          <p:cNvSpPr/>
          <p:nvPr/>
        </p:nvSpPr>
        <p:spPr>
          <a:xfrm>
            <a:off x="822960" y="6400800"/>
            <a:ext cx="7497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66666"/>
                </a:solidFill>
                <a:latin typeface="Calibri"/>
                <a:ea typeface="Calibri"/>
              </a:rPr>
              <a:t>start: starting number (default 0)  |  stop: ending number (exclusive)  |  step: increment (default 1)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2026-02-11T08:23:36Z</dcterms:created>
  <dc:creator>PptxGenJS</dc:creator>
  <dc:description/>
  <dc:language>en-IN</dc:language>
  <cp:lastModifiedBy/>
  <dcterms:modified xsi:type="dcterms:W3CDTF">2026-02-11T23:05:51Z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