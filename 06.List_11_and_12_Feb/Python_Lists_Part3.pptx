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</a:t>
            </a:r>
            <a:r>
              <a:rPr b="0" lang="en-IN" sz="4400" spc="-1" strike="noStrike">
                <a:latin typeface="Arial"/>
              </a:rPr>
              <a:t>to </a:t>
            </a:r>
            <a:r>
              <a:rPr b="0" lang="en-IN" sz="4400" spc="-1" strike="noStrike">
                <a:latin typeface="Arial"/>
              </a:rPr>
              <a:t>move </a:t>
            </a:r>
            <a:r>
              <a:rPr b="0" lang="en-IN" sz="4400" spc="-1" strike="noStrike">
                <a:latin typeface="Arial"/>
              </a:rPr>
              <a:t>the </a:t>
            </a:r>
            <a:r>
              <a:rPr b="0" lang="en-IN" sz="4400" spc="-1" strike="noStrike">
                <a:latin typeface="Arial"/>
              </a:rPr>
              <a:t>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B53914D-AE77-4425-8F76-966713C62FC4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05A353E-DCB6-42C1-A107-FC1A8DF36FD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87CDCB-0513-46A0-83DA-EDB180288DC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ACE5D4-6544-435D-91B2-BFEC35B9453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B2FABF-4C2C-4980-881C-E2ADD742929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58997C-24B8-408E-AD8A-B6373829BD1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3DBBFA-7A81-4327-AA3C-B900083165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C8A1C5-4221-421B-8D42-8F3E87ABA8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F7C514-0A9A-4527-9361-5BE3FBDFD7C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326B84-4763-4918-B72F-9BEE0C572E3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CBCE784-02AC-4CEF-B610-A86A38048AC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C6263F-1856-499E-AEBC-55E1B95E243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25CEB52-A7D9-4722-B0A5-BC5EE51CBB9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</a:t>
            </a:r>
            <a:r>
              <a:rPr b="0" lang="en-IN" sz="4400" spc="-1" strike="noStrike">
                <a:latin typeface="Arial"/>
              </a:rPr>
              <a:t>k to </a:t>
            </a:r>
            <a:r>
              <a:rPr b="0" lang="en-IN" sz="4400" spc="-1" strike="noStrike">
                <a:latin typeface="Arial"/>
              </a:rPr>
              <a:t>edit </a:t>
            </a:r>
            <a:r>
              <a:rPr b="0" lang="en-IN" sz="4400" spc="-1" strike="noStrike">
                <a:latin typeface="Arial"/>
              </a:rPr>
              <a:t>the </a:t>
            </a:r>
            <a:r>
              <a:rPr b="0" lang="en-IN" sz="4400" spc="-1" strike="noStrike">
                <a:latin typeface="Arial"/>
              </a:rPr>
              <a:t>title </a:t>
            </a:r>
            <a:r>
              <a:rPr b="0" lang="en-IN" sz="4400" spc="-1" strike="noStrike">
                <a:latin typeface="Arial"/>
              </a:rPr>
              <a:t>text </a:t>
            </a:r>
            <a:r>
              <a:rPr b="0" lang="en-IN" sz="4400" spc="-1" strike="noStrike">
                <a:latin typeface="Arial"/>
              </a:rPr>
              <a:t>form</a:t>
            </a:r>
            <a:r>
              <a:rPr b="0" lang="en-IN" sz="4400" spc="-1" strike="noStrike">
                <a:latin typeface="Arial"/>
              </a:rPr>
              <a:t>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8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Python Lists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33832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f5f5f5"/>
                </a:solidFill>
                <a:latin typeface="Calibri"/>
                <a:ea typeface="Calibri"/>
              </a:rPr>
              <a:t>Part 3: Aliasing, Cloning &amp; Identity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59436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Understanding List References and Identity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Aliasing – Shallow copy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40080" y="1097280"/>
            <a:ext cx="7863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Aliasing occurs when multiple variables refer to (reference) the same list object in memory. When one variable is assigned to another, they point to the same location.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40080" y="182880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Definition: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40080" y="2240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In aliasing, multiple variables refer to the same list object in memory. Changes made through one variable affect all others.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640080" y="2880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Memory Representation: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3657600" y="3474720"/>
            <a:ext cx="1828080" cy="1096560"/>
          </a:xfrm>
          <a:prstGeom prst="rect">
            <a:avLst/>
          </a:prstGeom>
          <a:solidFill>
            <a:srgbClr val="1c7293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6"/>
          <p:cNvSpPr/>
          <p:nvPr/>
        </p:nvSpPr>
        <p:spPr>
          <a:xfrm>
            <a:off x="3657600" y="3520440"/>
            <a:ext cx="1828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Memory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Location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3794760" y="3977640"/>
            <a:ext cx="456480" cy="365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8"/>
          <p:cNvSpPr/>
          <p:nvPr/>
        </p:nvSpPr>
        <p:spPr>
          <a:xfrm>
            <a:off x="3794760" y="404172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4297680" y="3977640"/>
            <a:ext cx="456480" cy="365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0"/>
          <p:cNvSpPr/>
          <p:nvPr/>
        </p:nvSpPr>
        <p:spPr>
          <a:xfrm>
            <a:off x="4297680" y="404172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4800600" y="3977640"/>
            <a:ext cx="456480" cy="365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2"/>
          <p:cNvSpPr/>
          <p:nvPr/>
        </p:nvSpPr>
        <p:spPr>
          <a:xfrm>
            <a:off x="4800600" y="404172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914400" y="365760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2560320" y="3794760"/>
            <a:ext cx="1005840" cy="360"/>
          </a:xfrm>
          <a:prstGeom prst="line">
            <a:avLst/>
          </a:prstGeom>
          <a:ln w="2540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5"/>
          <p:cNvSpPr/>
          <p:nvPr/>
        </p:nvSpPr>
        <p:spPr>
          <a:xfrm>
            <a:off x="914400" y="420624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alias_list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3" name="Shape 16"/>
          <p:cNvSpPr/>
          <p:nvPr/>
        </p:nvSpPr>
        <p:spPr>
          <a:xfrm>
            <a:off x="2560320" y="4343400"/>
            <a:ext cx="1005840" cy="360"/>
          </a:xfrm>
          <a:prstGeom prst="line">
            <a:avLst/>
          </a:prstGeom>
          <a:ln w="25400">
            <a:solidFill>
              <a:srgbClr val="2129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7"/>
          <p:cNvSpPr/>
          <p:nvPr/>
        </p:nvSpPr>
        <p:spPr>
          <a:xfrm>
            <a:off x="914400" y="48463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Both variables point to the SAME list in memory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Shape 18"/>
          <p:cNvSpPr/>
          <p:nvPr/>
        </p:nvSpPr>
        <p:spPr>
          <a:xfrm>
            <a:off x="640080" y="5303520"/>
            <a:ext cx="7863120" cy="137088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9"/>
          <p:cNvSpPr/>
          <p:nvPr/>
        </p:nvSpPr>
        <p:spPr>
          <a:xfrm>
            <a:off x="822960" y="5440680"/>
            <a:ext cx="7497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Example Code: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822960" y="5760720"/>
            <a:ext cx="74973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[1, 2, 3]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alias_list = original_list      # Both point to same list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[1, 2, 3]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Aliasing Behavior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When you change a list using one variable, the change is reflected in all other variables that reference the same list.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Step-by-Step Demonstration: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640080" y="2194560"/>
            <a:ext cx="7863120" cy="1188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4"/>
          <p:cNvSpPr/>
          <p:nvPr/>
        </p:nvSpPr>
        <p:spPr>
          <a:xfrm>
            <a:off x="822960" y="2331720"/>
            <a:ext cx="7497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1: Create list and alias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822960" y="2606040"/>
            <a:ext cx="74973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alias_list = original_list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[1, 2, 3]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640080" y="3566160"/>
            <a:ext cx="7863120" cy="1188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7"/>
          <p:cNvSpPr/>
          <p:nvPr/>
        </p:nvSpPr>
        <p:spPr>
          <a:xfrm>
            <a:off x="822960" y="3703320"/>
            <a:ext cx="7497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2: Modify using one variable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822960" y="3977640"/>
            <a:ext cx="74973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original_list[0] = 100           # Change first element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[100, 2, 3]  ← Also 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640080" y="4937760"/>
            <a:ext cx="7863120" cy="1188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0"/>
          <p:cNvSpPr/>
          <p:nvPr/>
        </p:nvSpPr>
        <p:spPr>
          <a:xfrm>
            <a:off x="822960" y="5074920"/>
            <a:ext cx="7497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3: Modify using other variable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822960" y="5349240"/>
            <a:ext cx="74973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alias_list[1] = 200              # Change second element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200, 3]  ← Also changed!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[100, 200, 3]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640080" y="6309360"/>
            <a:ext cx="7863120" cy="45648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13"/>
          <p:cNvSpPr/>
          <p:nvPr/>
        </p:nvSpPr>
        <p:spPr>
          <a:xfrm>
            <a:off x="822960" y="6400800"/>
            <a:ext cx="7497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🔑 </a:t>
            </a: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Key Insight: Changes through ANY variable affect ALL variables pointing to the same list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Cloning (Copying) Lists – Deep copy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640080" y="126000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Cloning creates a separate copy of a list in a different memory location. Changes to one list do not affect the other.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Definition: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640080" y="214884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In cloning, we copy the content of one list into a different list, creating two separate list objects with the same content.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640080" y="278892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Memory Representation: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1371600" y="3383280"/>
            <a:ext cx="2285280" cy="1279440"/>
          </a:xfrm>
          <a:prstGeom prst="rect">
            <a:avLst/>
          </a:prstGeom>
          <a:solidFill>
            <a:srgbClr val="1c7293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6"/>
          <p:cNvSpPr/>
          <p:nvPr/>
        </p:nvSpPr>
        <p:spPr>
          <a:xfrm>
            <a:off x="1371600" y="3474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Memory Location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1554480" y="4114800"/>
            <a:ext cx="456480" cy="365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8"/>
          <p:cNvSpPr/>
          <p:nvPr/>
        </p:nvSpPr>
        <p:spPr>
          <a:xfrm>
            <a:off x="1554480" y="4178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2103120" y="4114800"/>
            <a:ext cx="456480" cy="365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0"/>
          <p:cNvSpPr/>
          <p:nvPr/>
        </p:nvSpPr>
        <p:spPr>
          <a:xfrm>
            <a:off x="2103120" y="4178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2651760" y="4114800"/>
            <a:ext cx="456480" cy="365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2"/>
          <p:cNvSpPr/>
          <p:nvPr/>
        </p:nvSpPr>
        <p:spPr>
          <a:xfrm>
            <a:off x="2651760" y="4178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1371600" y="4800600"/>
            <a:ext cx="2285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5486400" y="3383280"/>
            <a:ext cx="2285280" cy="1279440"/>
          </a:xfrm>
          <a:prstGeom prst="rect">
            <a:avLst/>
          </a:prstGeom>
          <a:solidFill>
            <a:srgbClr val="50808e"/>
          </a:solidFill>
          <a:ln w="381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5"/>
          <p:cNvSpPr/>
          <p:nvPr/>
        </p:nvSpPr>
        <p:spPr>
          <a:xfrm>
            <a:off x="5486400" y="3474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Memory Location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5669280" y="4114800"/>
            <a:ext cx="456480" cy="365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7"/>
          <p:cNvSpPr/>
          <p:nvPr/>
        </p:nvSpPr>
        <p:spPr>
          <a:xfrm>
            <a:off x="5669280" y="4178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f5a6a"/>
                </a:solidFill>
                <a:latin typeface="Consolas"/>
                <a:ea typeface="Consola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6217920" y="4114800"/>
            <a:ext cx="456480" cy="365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19"/>
          <p:cNvSpPr/>
          <p:nvPr/>
        </p:nvSpPr>
        <p:spPr>
          <a:xfrm>
            <a:off x="6217920" y="4178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f5a6a"/>
                </a:solidFill>
                <a:latin typeface="Consolas"/>
                <a:ea typeface="Consola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Shape 20"/>
          <p:cNvSpPr/>
          <p:nvPr/>
        </p:nvSpPr>
        <p:spPr>
          <a:xfrm>
            <a:off x="6766560" y="4114800"/>
            <a:ext cx="456480" cy="365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1"/>
          <p:cNvSpPr/>
          <p:nvPr/>
        </p:nvSpPr>
        <p:spPr>
          <a:xfrm>
            <a:off x="6766560" y="4178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f5a6a"/>
                </a:solidFill>
                <a:latin typeface="Consolas"/>
                <a:ea typeface="Consola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5486400" y="4800600"/>
            <a:ext cx="2285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f5a6a"/>
                </a:solidFill>
                <a:latin typeface="Consolas"/>
                <a:ea typeface="Consolas"/>
              </a:rPr>
              <a:t>cloned_list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3840480" y="3657600"/>
            <a:ext cx="1370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21295c"/>
                </a:solidFill>
                <a:latin typeface="Calibri"/>
                <a:ea typeface="Calibri"/>
              </a:rPr>
              <a:t>Different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21295c"/>
                </a:solidFill>
                <a:latin typeface="Calibri"/>
                <a:ea typeface="Calibri"/>
              </a:rPr>
              <a:t>Memory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1371600" y="52120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Two separate lists with same content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7" name="Shape 25"/>
          <p:cNvSpPr/>
          <p:nvPr/>
        </p:nvSpPr>
        <p:spPr>
          <a:xfrm>
            <a:off x="640080" y="5669280"/>
            <a:ext cx="7863120" cy="109656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6"/>
          <p:cNvSpPr/>
          <p:nvPr/>
        </p:nvSpPr>
        <p:spPr>
          <a:xfrm>
            <a:off x="822960" y="5806440"/>
            <a:ext cx="7497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Creating a Clone using copy():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9" name="Text 27"/>
          <p:cNvSpPr/>
          <p:nvPr/>
        </p:nvSpPr>
        <p:spPr>
          <a:xfrm>
            <a:off x="822960" y="6126480"/>
            <a:ext cx="7497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cloned_list = original_list.copy()    # Creates separate copy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      # [1, 2, 3]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Cloning Behavior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When you change one list, the change does NOT reflect in the other list because they are separate objects in memory.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Step-by-Step Demonstration: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640080" y="2194560"/>
            <a:ext cx="7863120" cy="1188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4"/>
          <p:cNvSpPr/>
          <p:nvPr/>
        </p:nvSpPr>
        <p:spPr>
          <a:xfrm>
            <a:off x="822960" y="2331720"/>
            <a:ext cx="7497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1: Create list and clone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822960" y="2606040"/>
            <a:ext cx="74973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cloned_list = original_list.copy()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# [10, 20, 30]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640080" y="3566160"/>
            <a:ext cx="7863120" cy="1188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7"/>
          <p:cNvSpPr/>
          <p:nvPr/>
        </p:nvSpPr>
        <p:spPr>
          <a:xfrm>
            <a:off x="822960" y="3703320"/>
            <a:ext cx="7497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2: Modify original list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822960" y="3977640"/>
            <a:ext cx="74973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original_list[0] = 100           # Change original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# [10, 20, 30]  ← NOT 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640080" y="4937760"/>
            <a:ext cx="7863120" cy="1188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0"/>
          <p:cNvSpPr/>
          <p:nvPr/>
        </p:nvSpPr>
        <p:spPr>
          <a:xfrm>
            <a:off x="822960" y="5074920"/>
            <a:ext cx="7497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3: Modify cloned list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822960" y="5349240"/>
            <a:ext cx="74973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cloned_list[1] = 200             # Change clone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20, 30]  ← NOT changed!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# [10, 200, 30]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640080" y="6309360"/>
            <a:ext cx="7863120" cy="45648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3"/>
          <p:cNvSpPr/>
          <p:nvPr/>
        </p:nvSpPr>
        <p:spPr>
          <a:xfrm>
            <a:off x="822960" y="6400800"/>
            <a:ext cx="7497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🔑 </a:t>
            </a: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Key Insight: Changes to one list do NOT affect the other - they are independent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Deep Copy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Deep copy is a technique where we copy both the list AND any nested lists or objects inside it, creating completely independent copies.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When is Deep Copy Needed?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640080" y="214884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Deep copy is needed when your list contains other lists (nested lists) and you want complete independence between the original and the copy.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457200" y="2743200"/>
            <a:ext cx="4022640" cy="38397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5"/>
          <p:cNvSpPr/>
          <p:nvPr/>
        </p:nvSpPr>
        <p:spPr>
          <a:xfrm>
            <a:off x="640080" y="288036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Shallow Copy (.copy())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640080" y="324612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alibri"/>
                <a:ea typeface="Calibri"/>
              </a:rPr>
              <a:t>Copies outer list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731520" y="3566160"/>
            <a:ext cx="347400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 = [[1, 2], [3, 4]]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shallow = original.copy()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shallow[0][0] = 99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[[99, 2], [3, 4]]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← Inner list 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4663440" y="2743200"/>
            <a:ext cx="4022640" cy="3839760"/>
          </a:xfrm>
          <a:prstGeom prst="rect">
            <a:avLst/>
          </a:prstGeom>
          <a:solidFill>
            <a:srgbClr val="f5f5f5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9"/>
          <p:cNvSpPr/>
          <p:nvPr/>
        </p:nvSpPr>
        <p:spPr>
          <a:xfrm>
            <a:off x="4846320" y="288036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Deep Copy (copy.deepcopy())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4846320" y="324612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alibri"/>
                <a:ea typeface="Calibri"/>
              </a:rPr>
              <a:t>Copies all nested structures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4846320" y="3566160"/>
            <a:ext cx="347400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import copy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original = [[1, 2], [3, 4]]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deep = copy.deepcopy(original)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deep[0][0] = 99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# [[1, 2], [3, 4]]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# ← NOT changed!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The 'in' Operator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'in' operator is used to check whether a particular element exists in a list. It returns True if the element is found, False otherwise.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640080" y="2148840"/>
            <a:ext cx="7863120" cy="456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4"/>
          <p:cNvSpPr/>
          <p:nvPr/>
        </p:nvSpPr>
        <p:spPr>
          <a:xfrm>
            <a:off x="914400" y="2286000"/>
            <a:ext cx="7314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element in list_name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640080" y="283464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Search: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1371600" y="3383280"/>
            <a:ext cx="822240" cy="5479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7"/>
          <p:cNvSpPr/>
          <p:nvPr/>
        </p:nvSpPr>
        <p:spPr>
          <a:xfrm>
            <a:off x="1371600" y="352044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2377440" y="3383280"/>
            <a:ext cx="822240" cy="5479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9"/>
          <p:cNvSpPr/>
          <p:nvPr/>
        </p:nvSpPr>
        <p:spPr>
          <a:xfrm>
            <a:off x="2377440" y="352044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3383280" y="3383280"/>
            <a:ext cx="822240" cy="54792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1"/>
          <p:cNvSpPr/>
          <p:nvPr/>
        </p:nvSpPr>
        <p:spPr>
          <a:xfrm>
            <a:off x="3383280" y="352044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4389120" y="3383280"/>
            <a:ext cx="822240" cy="5479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3"/>
          <p:cNvSpPr/>
          <p:nvPr/>
        </p:nvSpPr>
        <p:spPr>
          <a:xfrm>
            <a:off x="4389120" y="352044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5394960" y="3383280"/>
            <a:ext cx="822240" cy="5479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5"/>
          <p:cNvSpPr/>
          <p:nvPr/>
        </p:nvSpPr>
        <p:spPr>
          <a:xfrm>
            <a:off x="5394960" y="352044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1371600" y="4114800"/>
            <a:ext cx="5028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numbers = [1, 2, 3, 4, 5]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1371600" y="443484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Checking: 3 in numbers → True ✓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4" name="Shape 18"/>
          <p:cNvSpPr/>
          <p:nvPr/>
        </p:nvSpPr>
        <p:spPr>
          <a:xfrm>
            <a:off x="640080" y="4937760"/>
            <a:ext cx="7863120" cy="173664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9"/>
          <p:cNvSpPr/>
          <p:nvPr/>
        </p:nvSpPr>
        <p:spPr>
          <a:xfrm>
            <a:off x="822960" y="5074920"/>
            <a:ext cx="7497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Text 20"/>
          <p:cNvSpPr/>
          <p:nvPr/>
        </p:nvSpPr>
        <p:spPr>
          <a:xfrm>
            <a:off x="822960" y="5394960"/>
            <a:ext cx="74973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items = [1, 2, 3, 4, 5]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print(3 in items)        # True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print(8 in items)        # False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if 3 in items: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print("3 is present in list")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print("3 is not present in list")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Using 'in' Operator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640080" y="109728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Common Use Cases: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640080" y="1554480"/>
            <a:ext cx="7863120" cy="146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3"/>
          <p:cNvSpPr/>
          <p:nvPr/>
        </p:nvSpPr>
        <p:spPr>
          <a:xfrm>
            <a:off x="777240" y="1691640"/>
            <a:ext cx="273600" cy="273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4"/>
          <p:cNvSpPr/>
          <p:nvPr/>
        </p:nvSpPr>
        <p:spPr>
          <a:xfrm>
            <a:off x="1143000" y="169164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Validation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777240" y="2030040"/>
            <a:ext cx="7223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Check if user input is in allowed values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777240" y="2331720"/>
            <a:ext cx="7223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allowed = ['yes', 'no', 'maybe']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user_input in allowed: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process_input()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4" name="Shape 7"/>
          <p:cNvSpPr/>
          <p:nvPr/>
        </p:nvSpPr>
        <p:spPr>
          <a:xfrm>
            <a:off x="640080" y="3200400"/>
            <a:ext cx="7863120" cy="146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8"/>
          <p:cNvSpPr/>
          <p:nvPr/>
        </p:nvSpPr>
        <p:spPr>
          <a:xfrm>
            <a:off x="777240" y="3337560"/>
            <a:ext cx="273600" cy="273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9"/>
          <p:cNvSpPr/>
          <p:nvPr/>
        </p:nvSpPr>
        <p:spPr>
          <a:xfrm>
            <a:off x="1143000" y="333756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Search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777240" y="3675960"/>
            <a:ext cx="7223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Find if an item exists before processing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777240" y="3977640"/>
            <a:ext cx="7223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products = ['phone', 'laptop', 'tablet']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'laptop' in products: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print('Available!')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Shape 12"/>
          <p:cNvSpPr/>
          <p:nvPr/>
        </p:nvSpPr>
        <p:spPr>
          <a:xfrm>
            <a:off x="640080" y="4846320"/>
            <a:ext cx="7863120" cy="146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13"/>
          <p:cNvSpPr/>
          <p:nvPr/>
        </p:nvSpPr>
        <p:spPr>
          <a:xfrm>
            <a:off x="777240" y="4983480"/>
            <a:ext cx="273600" cy="273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14"/>
          <p:cNvSpPr/>
          <p:nvPr/>
        </p:nvSpPr>
        <p:spPr>
          <a:xfrm>
            <a:off x="1143000" y="49834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Filtering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777240" y="5321880"/>
            <a:ext cx="7223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Check membership for conditional logic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777240" y="5623560"/>
            <a:ext cx="7223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premium_users = [101, 102, 103]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user_id in premium_users: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grant_access()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The 'is' Operator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'is' operator checks whether two variables refer to the same object in memory (same memory location/reference), not just equal values.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640080" y="2148840"/>
            <a:ext cx="7863120" cy="456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4"/>
          <p:cNvSpPr/>
          <p:nvPr/>
        </p:nvSpPr>
        <p:spPr>
          <a:xfrm>
            <a:off x="914400" y="2286000"/>
            <a:ext cx="7314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variable1 is variable2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640080" y="283464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Identity vs Equality: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640080" y="3291840"/>
            <a:ext cx="7863120" cy="1188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7"/>
          <p:cNvSpPr/>
          <p:nvPr/>
        </p:nvSpPr>
        <p:spPr>
          <a:xfrm>
            <a:off x="822960" y="3429000"/>
            <a:ext cx="7497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Aliasing (same object):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822960" y="3703320"/>
            <a:ext cx="74973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list_b = list_a              # Both point to same object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is list_b)      # True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== list_b)      #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3" name="Shape 9"/>
          <p:cNvSpPr/>
          <p:nvPr/>
        </p:nvSpPr>
        <p:spPr>
          <a:xfrm>
            <a:off x="640080" y="4663440"/>
            <a:ext cx="7863120" cy="1188000"/>
          </a:xfrm>
          <a:prstGeom prst="rect">
            <a:avLst/>
          </a:prstGeom>
          <a:solidFill>
            <a:srgbClr val="f5f5f5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0"/>
          <p:cNvSpPr/>
          <p:nvPr/>
        </p:nvSpPr>
        <p:spPr>
          <a:xfrm>
            <a:off x="822960" y="4800600"/>
            <a:ext cx="7497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Cloning (different objects):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822960" y="5074920"/>
            <a:ext cx="74973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list_b = list_a.copy()       # Different object, same content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is list_b)      # False ← Different objects!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== list_b)      # True  ← Same content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6" name="Shape 12"/>
          <p:cNvSpPr/>
          <p:nvPr/>
        </p:nvSpPr>
        <p:spPr>
          <a:xfrm>
            <a:off x="640080" y="6035040"/>
            <a:ext cx="7863120" cy="63936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3"/>
          <p:cNvSpPr/>
          <p:nvPr/>
        </p:nvSpPr>
        <p:spPr>
          <a:xfrm>
            <a:off x="822960" y="6172200"/>
            <a:ext cx="7497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📝 </a:t>
            </a: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Key Difference: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822960" y="6400800"/>
            <a:ext cx="7497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  <a:ea typeface="Calibri"/>
              </a:rPr>
              <a:t>'is' checks identity (same object)  |  '==' checks equality (same values)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Identity Comparison Examples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640080" y="1097280"/>
            <a:ext cx="7863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Let's explore different scenarios to understand when 'is' returns True or False.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640080" y="164592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Scenario 1: Direct Assignment (Aliasing)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640080" y="2057400"/>
            <a:ext cx="7863120" cy="1005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4"/>
          <p:cNvSpPr/>
          <p:nvPr/>
        </p:nvSpPr>
        <p:spPr>
          <a:xfrm>
            <a:off x="822960" y="2194560"/>
            <a:ext cx="7497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b = a                        # b points to same object as 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is b)                # True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== b)                #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40080" y="324612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Scenario 2: Using copy() Method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640080" y="3657600"/>
            <a:ext cx="7863120" cy="1005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7"/>
          <p:cNvSpPr/>
          <p:nvPr/>
        </p:nvSpPr>
        <p:spPr>
          <a:xfrm>
            <a:off x="822960" y="3794760"/>
            <a:ext cx="7497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b = a.copy()                 # b is separate copy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is b)                # False ← Different objects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== b)                # True  ← Same values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640080" y="484632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Scenario 3: Creating Separate Lists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640080" y="5257800"/>
            <a:ext cx="7863120" cy="1005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0"/>
          <p:cNvSpPr/>
          <p:nvPr/>
        </p:nvSpPr>
        <p:spPr>
          <a:xfrm>
            <a:off x="822960" y="5394960"/>
            <a:ext cx="7497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b = [1, 2, 3]                # Separate list with same content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is b)                # False ← Different objects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== b)                # True  ← Same values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Summary: Aliasing vs Cloning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640080" y="1188720"/>
            <a:ext cx="7863120" cy="456480"/>
          </a:xfrm>
          <a:prstGeom prst="rect">
            <a:avLst/>
          </a:prstGeom>
          <a:solidFill>
            <a:srgbClr val="065a8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"/>
          <p:cNvSpPr/>
          <p:nvPr/>
        </p:nvSpPr>
        <p:spPr>
          <a:xfrm>
            <a:off x="822960" y="12618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Aspect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3017520" y="12618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Aliasing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5760720" y="12618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Cloning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640080" y="1645920"/>
            <a:ext cx="786312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6"/>
          <p:cNvSpPr/>
          <p:nvPr/>
        </p:nvSpPr>
        <p:spPr>
          <a:xfrm>
            <a:off x="822960" y="17190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3017520" y="17190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Same object, multiple names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5760720" y="17190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Separate copy of object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640080" y="2103120"/>
            <a:ext cx="786312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0"/>
          <p:cNvSpPr/>
          <p:nvPr/>
        </p:nvSpPr>
        <p:spPr>
          <a:xfrm>
            <a:off x="822960" y="21762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Memory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3017520" y="21762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One location shared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2" name="Text 12"/>
          <p:cNvSpPr/>
          <p:nvPr/>
        </p:nvSpPr>
        <p:spPr>
          <a:xfrm>
            <a:off x="5760720" y="21762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Two different locations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Shape 13"/>
          <p:cNvSpPr/>
          <p:nvPr/>
        </p:nvSpPr>
        <p:spPr>
          <a:xfrm>
            <a:off x="640080" y="2560320"/>
            <a:ext cx="786312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4"/>
          <p:cNvSpPr/>
          <p:nvPr/>
        </p:nvSpPr>
        <p:spPr>
          <a:xfrm>
            <a:off x="822960" y="26334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Modification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3017520" y="26334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Affects all references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5760720" y="26334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Independent changes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7" name="Shape 17"/>
          <p:cNvSpPr/>
          <p:nvPr/>
        </p:nvSpPr>
        <p:spPr>
          <a:xfrm>
            <a:off x="640080" y="3017520"/>
            <a:ext cx="786312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8"/>
          <p:cNvSpPr/>
          <p:nvPr/>
        </p:nvSpPr>
        <p:spPr>
          <a:xfrm>
            <a:off x="822960" y="30906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Syntax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Text 19"/>
          <p:cNvSpPr/>
          <p:nvPr/>
        </p:nvSpPr>
        <p:spPr>
          <a:xfrm>
            <a:off x="3017520" y="30906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b = 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5760720" y="30906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b = a.copy()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1" name="Shape 21"/>
          <p:cNvSpPr/>
          <p:nvPr/>
        </p:nvSpPr>
        <p:spPr>
          <a:xfrm>
            <a:off x="640080" y="3474720"/>
            <a:ext cx="786312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22"/>
          <p:cNvSpPr/>
          <p:nvPr/>
        </p:nvSpPr>
        <p:spPr>
          <a:xfrm>
            <a:off x="822960" y="35478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'is'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3" name="Text 23"/>
          <p:cNvSpPr/>
          <p:nvPr/>
        </p:nvSpPr>
        <p:spPr>
          <a:xfrm>
            <a:off x="3017520" y="35478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5760720" y="35478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5" name="Shape 25"/>
          <p:cNvSpPr/>
          <p:nvPr/>
        </p:nvSpPr>
        <p:spPr>
          <a:xfrm>
            <a:off x="640080" y="3931920"/>
            <a:ext cx="786312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26"/>
          <p:cNvSpPr/>
          <p:nvPr/>
        </p:nvSpPr>
        <p:spPr>
          <a:xfrm>
            <a:off x="822960" y="40050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'=='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7" name="Text 27"/>
          <p:cNvSpPr/>
          <p:nvPr/>
        </p:nvSpPr>
        <p:spPr>
          <a:xfrm>
            <a:off x="3017520" y="40050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8" name="Text 28"/>
          <p:cNvSpPr/>
          <p:nvPr/>
        </p:nvSpPr>
        <p:spPr>
          <a:xfrm>
            <a:off x="5760720" y="40050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9" name="Text 29"/>
          <p:cNvSpPr/>
          <p:nvPr/>
        </p:nvSpPr>
        <p:spPr>
          <a:xfrm>
            <a:off x="640080" y="49377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Memory Representation: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0" name="Text 30"/>
          <p:cNvSpPr/>
          <p:nvPr/>
        </p:nvSpPr>
        <p:spPr>
          <a:xfrm>
            <a:off x="914400" y="539496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Aliasing: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Shape 31"/>
          <p:cNvSpPr/>
          <p:nvPr/>
        </p:nvSpPr>
        <p:spPr>
          <a:xfrm>
            <a:off x="1371600" y="5715000"/>
            <a:ext cx="1370880" cy="5479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32"/>
          <p:cNvSpPr/>
          <p:nvPr/>
        </p:nvSpPr>
        <p:spPr>
          <a:xfrm>
            <a:off x="1371600" y="5824800"/>
            <a:ext cx="1370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3" name="Text 33"/>
          <p:cNvSpPr/>
          <p:nvPr/>
        </p:nvSpPr>
        <p:spPr>
          <a:xfrm>
            <a:off x="731520" y="58064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4" name="Text 34"/>
          <p:cNvSpPr/>
          <p:nvPr/>
        </p:nvSpPr>
        <p:spPr>
          <a:xfrm>
            <a:off x="731520" y="598932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b 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5" name="Text 35"/>
          <p:cNvSpPr/>
          <p:nvPr/>
        </p:nvSpPr>
        <p:spPr>
          <a:xfrm>
            <a:off x="4572000" y="539496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Cloning: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6" name="Shape 36"/>
          <p:cNvSpPr/>
          <p:nvPr/>
        </p:nvSpPr>
        <p:spPr>
          <a:xfrm>
            <a:off x="4572000" y="5715000"/>
            <a:ext cx="1096560" cy="5479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37"/>
          <p:cNvSpPr/>
          <p:nvPr/>
        </p:nvSpPr>
        <p:spPr>
          <a:xfrm>
            <a:off x="4572000" y="582480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8" name="Shape 38"/>
          <p:cNvSpPr/>
          <p:nvPr/>
        </p:nvSpPr>
        <p:spPr>
          <a:xfrm>
            <a:off x="6217920" y="5715000"/>
            <a:ext cx="1096560" cy="547920"/>
          </a:xfrm>
          <a:prstGeom prst="rect">
            <a:avLst/>
          </a:prstGeom>
          <a:solidFill>
            <a:srgbClr val="50808e"/>
          </a:solidFill>
          <a:ln w="254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39"/>
          <p:cNvSpPr/>
          <p:nvPr/>
        </p:nvSpPr>
        <p:spPr>
          <a:xfrm>
            <a:off x="6217920" y="582480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100124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0" name="Text 40"/>
          <p:cNvSpPr/>
          <p:nvPr/>
        </p:nvSpPr>
        <p:spPr>
          <a:xfrm>
            <a:off x="4114800" y="5852160"/>
            <a:ext cx="365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a →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1" name="Text 41"/>
          <p:cNvSpPr/>
          <p:nvPr/>
        </p:nvSpPr>
        <p:spPr>
          <a:xfrm>
            <a:off x="5760720" y="5852160"/>
            <a:ext cx="365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f5a6a"/>
                </a:solidFill>
                <a:latin typeface="Consolas"/>
                <a:ea typeface="Consolas"/>
              </a:rPr>
              <a:t>b →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457200" y="228600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End of Part 3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457200" y="36576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5f5f5"/>
                </a:solidFill>
                <a:latin typeface="Calibri"/>
                <a:ea typeface="Calibri"/>
              </a:rPr>
              <a:t>You have completed: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1828800" y="42062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Aliasing and how variables reference lists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1828800" y="457200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Cloning (copying) lists and deep copy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6" name="Text 4"/>
          <p:cNvSpPr/>
          <p:nvPr/>
        </p:nvSpPr>
        <p:spPr>
          <a:xfrm>
            <a:off x="1828800" y="493776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The 'in' operator for membership testing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7" name="Text 5"/>
          <p:cNvSpPr/>
          <p:nvPr/>
        </p:nvSpPr>
        <p:spPr>
          <a:xfrm>
            <a:off x="1828800" y="530352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The 'is' operator for identity checking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8" name="Text 6"/>
          <p:cNvSpPr/>
          <p:nvPr/>
        </p:nvSpPr>
        <p:spPr>
          <a:xfrm>
            <a:off x="457200" y="59436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Continue to learn more about list methods and operations!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2026-02-11T08:26:20Z</dcterms:created>
  <dc:creator>PptxGenJS</dc:creator>
  <dc:description/>
  <dc:language>en-IN</dc:language>
  <cp:lastModifiedBy/>
  <dcterms:modified xsi:type="dcterms:W3CDTF">2026-02-13T16:17:40Z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