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</a:t>
            </a:r>
            <a:r>
              <a:rPr b="0" lang="en-IN" sz="2000" spc="-1" strike="noStrike">
                <a:latin typeface="Arial"/>
              </a:rPr>
              <a:t>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AFB7179-5323-40A6-9F41-899681544A93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D41E37-9FD7-44F1-90A6-B627BAB4321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0AE4C8-1EEA-43B7-96C9-99B7F28A2F3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BC6065-7B9B-4691-AECC-CF280E93BCC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027CB1-8000-454D-9E5C-DA065391459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6382E1-2733-4440-B67B-D6B7114A2B6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74453B9-D5A1-4C05-90EE-D193A85D2C0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752B1A-C6D1-45DA-97F2-AFD3F7C4B9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4E5365E-55A3-4929-9F5B-2103FD2F018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edit 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title text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8288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Georgia"/>
                <a:ea typeface="Georgia"/>
              </a:rPr>
              <a:t>Python Lists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33832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f5f5f5"/>
                </a:solidFill>
                <a:latin typeface="Calibri"/>
                <a:ea typeface="Calibri"/>
              </a:rPr>
              <a:t>Part 4: Comparison &amp; Built-in Functions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5943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5f5f5"/>
                </a:solidFill>
                <a:latin typeface="Calibri"/>
                <a:ea typeface="Calibri"/>
              </a:rPr>
              <a:t>Operators and Essential List Functions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0760" y="180000"/>
            <a:ext cx="768924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List Comparison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221760" y="735480"/>
            <a:ext cx="734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We can compare two lists by comparing their content. Python compares lists element by element from left to right.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221760" y="1221480"/>
            <a:ext cx="7347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How Comparison Works: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349920" y="1533960"/>
            <a:ext cx="298440" cy="242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4"/>
          <p:cNvSpPr/>
          <p:nvPr/>
        </p:nvSpPr>
        <p:spPr>
          <a:xfrm>
            <a:off x="349920" y="1568520"/>
            <a:ext cx="29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776880" y="1533960"/>
            <a:ext cx="64076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Compares first elements of both lists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349920" y="1881000"/>
            <a:ext cx="298440" cy="2430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7"/>
          <p:cNvSpPr/>
          <p:nvPr/>
        </p:nvSpPr>
        <p:spPr>
          <a:xfrm>
            <a:off x="349920" y="1915920"/>
            <a:ext cx="29844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776880" y="1881000"/>
            <a:ext cx="64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If equal, moves to second elements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6" name="Shape 9"/>
          <p:cNvSpPr/>
          <p:nvPr/>
        </p:nvSpPr>
        <p:spPr>
          <a:xfrm>
            <a:off x="349920" y="2228400"/>
            <a:ext cx="298440" cy="242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0"/>
          <p:cNvSpPr/>
          <p:nvPr/>
        </p:nvSpPr>
        <p:spPr>
          <a:xfrm>
            <a:off x="349920" y="2262960"/>
            <a:ext cx="29844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776880" y="2228400"/>
            <a:ext cx="64076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Continues until finding unequal elements or reaching the end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9" name="Shape 12"/>
          <p:cNvSpPr/>
          <p:nvPr/>
        </p:nvSpPr>
        <p:spPr>
          <a:xfrm>
            <a:off x="349920" y="2575440"/>
            <a:ext cx="298440" cy="242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13"/>
          <p:cNvSpPr/>
          <p:nvPr/>
        </p:nvSpPr>
        <p:spPr>
          <a:xfrm>
            <a:off x="349920" y="2610000"/>
            <a:ext cx="29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776880" y="2575440"/>
            <a:ext cx="64076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555555"/>
                </a:solidFill>
                <a:latin typeface="Calibri"/>
                <a:ea typeface="Calibri"/>
              </a:rPr>
              <a:t>Returns comparison result based on first difference found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221760" y="3026880"/>
            <a:ext cx="7347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Comparison Process: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478080" y="3373920"/>
            <a:ext cx="213552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a = [1, 2, 3, 4]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478080" y="3616920"/>
            <a:ext cx="512280" cy="3470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8"/>
          <p:cNvSpPr/>
          <p:nvPr/>
        </p:nvSpPr>
        <p:spPr>
          <a:xfrm>
            <a:off x="478080" y="3700440"/>
            <a:ext cx="512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6" name="Shape 19"/>
          <p:cNvSpPr/>
          <p:nvPr/>
        </p:nvSpPr>
        <p:spPr>
          <a:xfrm>
            <a:off x="1076040" y="3616920"/>
            <a:ext cx="512280" cy="3470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20"/>
          <p:cNvSpPr/>
          <p:nvPr/>
        </p:nvSpPr>
        <p:spPr>
          <a:xfrm>
            <a:off x="1076040" y="3700440"/>
            <a:ext cx="512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8" name="Shape 21"/>
          <p:cNvSpPr/>
          <p:nvPr/>
        </p:nvSpPr>
        <p:spPr>
          <a:xfrm>
            <a:off x="1674000" y="3616920"/>
            <a:ext cx="512280" cy="34704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22"/>
          <p:cNvSpPr/>
          <p:nvPr/>
        </p:nvSpPr>
        <p:spPr>
          <a:xfrm>
            <a:off x="1674000" y="3700440"/>
            <a:ext cx="512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Shape 23"/>
          <p:cNvSpPr/>
          <p:nvPr/>
        </p:nvSpPr>
        <p:spPr>
          <a:xfrm>
            <a:off x="2272320" y="3616920"/>
            <a:ext cx="512280" cy="3470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24"/>
          <p:cNvSpPr/>
          <p:nvPr/>
        </p:nvSpPr>
        <p:spPr>
          <a:xfrm>
            <a:off x="2272320" y="3700440"/>
            <a:ext cx="512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2" name="Text 25"/>
          <p:cNvSpPr/>
          <p:nvPr/>
        </p:nvSpPr>
        <p:spPr>
          <a:xfrm>
            <a:off x="478080" y="4137480"/>
            <a:ext cx="21355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b = [1, 2, 5]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3" name="Shape 26"/>
          <p:cNvSpPr/>
          <p:nvPr/>
        </p:nvSpPr>
        <p:spPr>
          <a:xfrm>
            <a:off x="478080" y="4380840"/>
            <a:ext cx="512280" cy="3466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27"/>
          <p:cNvSpPr/>
          <p:nvPr/>
        </p:nvSpPr>
        <p:spPr>
          <a:xfrm>
            <a:off x="478080" y="4464000"/>
            <a:ext cx="5122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Shape 28"/>
          <p:cNvSpPr/>
          <p:nvPr/>
        </p:nvSpPr>
        <p:spPr>
          <a:xfrm>
            <a:off x="1076040" y="4380840"/>
            <a:ext cx="512280" cy="3466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29"/>
          <p:cNvSpPr/>
          <p:nvPr/>
        </p:nvSpPr>
        <p:spPr>
          <a:xfrm>
            <a:off x="1076040" y="4464000"/>
            <a:ext cx="5122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7" name="Shape 30"/>
          <p:cNvSpPr/>
          <p:nvPr/>
        </p:nvSpPr>
        <p:spPr>
          <a:xfrm>
            <a:off x="1674000" y="4380840"/>
            <a:ext cx="512280" cy="34668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31"/>
          <p:cNvSpPr/>
          <p:nvPr/>
        </p:nvSpPr>
        <p:spPr>
          <a:xfrm>
            <a:off x="1674000" y="4464000"/>
            <a:ext cx="5122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9" name="Text 32"/>
          <p:cNvSpPr/>
          <p:nvPr/>
        </p:nvSpPr>
        <p:spPr>
          <a:xfrm>
            <a:off x="3211920" y="3929400"/>
            <a:ext cx="2562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Comparison stops at index 2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where 3 &lt; 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0" name="Text 33"/>
          <p:cNvSpPr/>
          <p:nvPr/>
        </p:nvSpPr>
        <p:spPr>
          <a:xfrm>
            <a:off x="478080" y="4866840"/>
            <a:ext cx="256284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onsolas"/>
                <a:ea typeface="Consolas"/>
              </a:rPr>
              <a:t>Result: a &lt; b → True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List Comparison Operators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You can use comparison operators to compare two lists item by item and element-wise. This comparison performs element-by-element matching.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Comparison Examples: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640080" y="2194560"/>
            <a:ext cx="7863480" cy="10054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4"/>
          <p:cNvSpPr/>
          <p:nvPr/>
        </p:nvSpPr>
        <p:spPr>
          <a:xfrm>
            <a:off x="822960" y="233172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Example 1: Equal Lists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822960" y="260604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a = [1, 2, 3, 4]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b = [1, 2, 5]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print(a &lt; b)                # True (3 &lt; 5 at index 2)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640080" y="3383280"/>
            <a:ext cx="7863480" cy="10054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7"/>
          <p:cNvSpPr/>
          <p:nvPr/>
        </p:nvSpPr>
        <p:spPr>
          <a:xfrm>
            <a:off x="822960" y="352044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Example 2: Different Lengths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822960" y="379476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a = [1, 2, 3]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b = [1, 2, 3, 4]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print(a &lt; b)                # True (a is shorter)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0" name="Shape 9"/>
          <p:cNvSpPr/>
          <p:nvPr/>
        </p:nvSpPr>
        <p:spPr>
          <a:xfrm>
            <a:off x="640080" y="4572000"/>
            <a:ext cx="7863480" cy="10054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10"/>
          <p:cNvSpPr/>
          <p:nvPr/>
        </p:nvSpPr>
        <p:spPr>
          <a:xfrm>
            <a:off x="822960" y="470916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Example 3: Equality Check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822960" y="498348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a = [1, 2, 3, 4]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b = [1, 2, 3, 4]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print(a == b)               # True (identical)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640080" y="57607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Available Comparison Operators: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4" name="Shape 13"/>
          <p:cNvSpPr/>
          <p:nvPr/>
        </p:nvSpPr>
        <p:spPr>
          <a:xfrm>
            <a:off x="1371600" y="617220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4"/>
          <p:cNvSpPr/>
          <p:nvPr/>
        </p:nvSpPr>
        <p:spPr>
          <a:xfrm>
            <a:off x="1371600" y="623628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&lt;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1371600" y="64465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Less than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97" name="Shape 16"/>
          <p:cNvSpPr/>
          <p:nvPr/>
        </p:nvSpPr>
        <p:spPr>
          <a:xfrm>
            <a:off x="2423160" y="617220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17"/>
          <p:cNvSpPr/>
          <p:nvPr/>
        </p:nvSpPr>
        <p:spPr>
          <a:xfrm>
            <a:off x="2423160" y="623628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&gt;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9" name="Text 18"/>
          <p:cNvSpPr/>
          <p:nvPr/>
        </p:nvSpPr>
        <p:spPr>
          <a:xfrm>
            <a:off x="2423160" y="64465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Greater than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0" name="Shape 19"/>
          <p:cNvSpPr/>
          <p:nvPr/>
        </p:nvSpPr>
        <p:spPr>
          <a:xfrm>
            <a:off x="3474720" y="617220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20"/>
          <p:cNvSpPr/>
          <p:nvPr/>
        </p:nvSpPr>
        <p:spPr>
          <a:xfrm>
            <a:off x="3474720" y="623628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&lt;=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2" name="Text 21"/>
          <p:cNvSpPr/>
          <p:nvPr/>
        </p:nvSpPr>
        <p:spPr>
          <a:xfrm>
            <a:off x="3474720" y="64465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Less than or equal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3" name="Shape 22"/>
          <p:cNvSpPr/>
          <p:nvPr/>
        </p:nvSpPr>
        <p:spPr>
          <a:xfrm>
            <a:off x="4526280" y="617220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23"/>
          <p:cNvSpPr/>
          <p:nvPr/>
        </p:nvSpPr>
        <p:spPr>
          <a:xfrm>
            <a:off x="4526280" y="623628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&gt;=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5" name="Text 24"/>
          <p:cNvSpPr/>
          <p:nvPr/>
        </p:nvSpPr>
        <p:spPr>
          <a:xfrm>
            <a:off x="4526280" y="64465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Greater than or equal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6" name="Shape 25"/>
          <p:cNvSpPr/>
          <p:nvPr/>
        </p:nvSpPr>
        <p:spPr>
          <a:xfrm>
            <a:off x="5577840" y="617220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26"/>
          <p:cNvSpPr/>
          <p:nvPr/>
        </p:nvSpPr>
        <p:spPr>
          <a:xfrm>
            <a:off x="5577840" y="623628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==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8" name="Text 27"/>
          <p:cNvSpPr/>
          <p:nvPr/>
        </p:nvSpPr>
        <p:spPr>
          <a:xfrm>
            <a:off x="5577840" y="64465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Equal to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9" name="Shape 28"/>
          <p:cNvSpPr/>
          <p:nvPr/>
        </p:nvSpPr>
        <p:spPr>
          <a:xfrm>
            <a:off x="6629400" y="617220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29"/>
          <p:cNvSpPr/>
          <p:nvPr/>
        </p:nvSpPr>
        <p:spPr>
          <a:xfrm>
            <a:off x="6629400" y="623628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!=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1" name="Text 30"/>
          <p:cNvSpPr/>
          <p:nvPr/>
        </p:nvSpPr>
        <p:spPr>
          <a:xfrm>
            <a:off x="6629400" y="64465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Not equal to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360000" y="0"/>
            <a:ext cx="7740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Checking for Empty Lists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532080" y="688680"/>
            <a:ext cx="739584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'not' operator can be used to check whether a list is empty or not. An empty list evaluates to False in boolean context.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532080" y="1291320"/>
            <a:ext cx="739584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532080" y="1678680"/>
            <a:ext cx="7395840" cy="430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4"/>
          <p:cNvSpPr/>
          <p:nvPr/>
        </p:nvSpPr>
        <p:spPr>
          <a:xfrm>
            <a:off x="789840" y="1807920"/>
            <a:ext cx="68803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if not my_list: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7" name="Shape 5"/>
          <p:cNvSpPr/>
          <p:nvPr/>
        </p:nvSpPr>
        <p:spPr>
          <a:xfrm>
            <a:off x="532080" y="2324520"/>
            <a:ext cx="7395840" cy="197964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6"/>
          <p:cNvSpPr/>
          <p:nvPr/>
        </p:nvSpPr>
        <p:spPr>
          <a:xfrm>
            <a:off x="704160" y="2453760"/>
            <a:ext cx="705168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Complete Example: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704160" y="2755080"/>
            <a:ext cx="7051680" cy="137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shopping_list = []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if not shopping_list: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print("List is empty")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else: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print("List is not empty")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Output: List is empty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532080" y="4476600"/>
            <a:ext cx="73958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Understanding: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1220040" y="4907160"/>
            <a:ext cx="2579760" cy="10328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10"/>
          <p:cNvSpPr/>
          <p:nvPr/>
        </p:nvSpPr>
        <p:spPr>
          <a:xfrm>
            <a:off x="1220040" y="5036400"/>
            <a:ext cx="25797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Empty 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1220040" y="5294520"/>
            <a:ext cx="25797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 = []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1220040" y="5553000"/>
            <a:ext cx="25797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aa00"/>
                </a:solidFill>
                <a:latin typeface="Calibri"/>
                <a:ea typeface="Calibri"/>
              </a:rPr>
              <a:t>not data → True ✓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5" name="Shape 13"/>
          <p:cNvSpPr/>
          <p:nvPr/>
        </p:nvSpPr>
        <p:spPr>
          <a:xfrm>
            <a:off x="4660200" y="4907160"/>
            <a:ext cx="2579760" cy="1032840"/>
          </a:xfrm>
          <a:prstGeom prst="rect">
            <a:avLst/>
          </a:prstGeom>
          <a:solidFill>
            <a:srgbClr val="f5f5f5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14"/>
          <p:cNvSpPr/>
          <p:nvPr/>
        </p:nvSpPr>
        <p:spPr>
          <a:xfrm>
            <a:off x="4660200" y="5036400"/>
            <a:ext cx="25797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Non-Empty 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7" name="Text 15"/>
          <p:cNvSpPr/>
          <p:nvPr/>
        </p:nvSpPr>
        <p:spPr>
          <a:xfrm>
            <a:off x="4660200" y="5294520"/>
            <a:ext cx="25797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 = [1, 2]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4660200" y="5553000"/>
            <a:ext cx="257976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cc0000"/>
                </a:solidFill>
                <a:latin typeface="Calibri"/>
                <a:ea typeface="Calibri"/>
              </a:rPr>
              <a:t>not data → False ✗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Built-in Functions on Lists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Python provides several built-in functions that work with lists. These functions help perform common operations efficiently.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Essential Built-in Functions: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640080" y="2194560"/>
            <a:ext cx="7863480" cy="5482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4"/>
          <p:cNvSpPr/>
          <p:nvPr/>
        </p:nvSpPr>
        <p:spPr>
          <a:xfrm>
            <a:off x="822960" y="228600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len()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2194560" y="22860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Returns count of items in the list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5577840" y="22860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len([1,2,3]) → 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6" name="Shape 7"/>
          <p:cNvSpPr/>
          <p:nvPr/>
        </p:nvSpPr>
        <p:spPr>
          <a:xfrm>
            <a:off x="640080" y="2743200"/>
            <a:ext cx="7863480" cy="548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8"/>
          <p:cNvSpPr/>
          <p:nvPr/>
        </p:nvSpPr>
        <p:spPr>
          <a:xfrm>
            <a:off x="822960" y="283464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max()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2194560" y="28346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Returns largest item in the list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5577840" y="28346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max([10,20,30]) → 30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640080" y="3291840"/>
            <a:ext cx="7863480" cy="5482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12"/>
          <p:cNvSpPr/>
          <p:nvPr/>
        </p:nvSpPr>
        <p:spPr>
          <a:xfrm>
            <a:off x="822960" y="338328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min()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2194560" y="33832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Returns smallest item in the list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5577840" y="33832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min([10,20,30]) → 10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640080" y="3840480"/>
            <a:ext cx="7863480" cy="548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6"/>
          <p:cNvSpPr/>
          <p:nvPr/>
        </p:nvSpPr>
        <p:spPr>
          <a:xfrm>
            <a:off x="822960" y="393192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sum()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2194560" y="39319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Returns sum of all items in the list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5577840" y="39319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sum([10,20,30]) → 60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8" name="Shape 19"/>
          <p:cNvSpPr/>
          <p:nvPr/>
        </p:nvSpPr>
        <p:spPr>
          <a:xfrm>
            <a:off x="640080" y="4389120"/>
            <a:ext cx="7863480" cy="5482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20"/>
          <p:cNvSpPr/>
          <p:nvPr/>
        </p:nvSpPr>
        <p:spPr>
          <a:xfrm>
            <a:off x="822960" y="448056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any()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2194560" y="448056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Returns True if any item is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5577840" y="44805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any([0,0,1]) → 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2" name="Shape 23"/>
          <p:cNvSpPr/>
          <p:nvPr/>
        </p:nvSpPr>
        <p:spPr>
          <a:xfrm>
            <a:off x="640080" y="4937760"/>
            <a:ext cx="7863480" cy="548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24"/>
          <p:cNvSpPr/>
          <p:nvPr/>
        </p:nvSpPr>
        <p:spPr>
          <a:xfrm>
            <a:off x="822960" y="502920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all()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4" name="Text 25"/>
          <p:cNvSpPr/>
          <p:nvPr/>
        </p:nvSpPr>
        <p:spPr>
          <a:xfrm>
            <a:off x="2194560" y="50292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Returns True if all items are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5577840" y="50292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all([1,1,0]) → 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6" name="Shape 27"/>
          <p:cNvSpPr/>
          <p:nvPr/>
        </p:nvSpPr>
        <p:spPr>
          <a:xfrm>
            <a:off x="640080" y="5486400"/>
            <a:ext cx="7863480" cy="5482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8"/>
          <p:cNvSpPr/>
          <p:nvPr/>
        </p:nvSpPr>
        <p:spPr>
          <a:xfrm>
            <a:off x="822960" y="557784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sorted()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8" name="Text 29"/>
          <p:cNvSpPr/>
          <p:nvPr/>
        </p:nvSpPr>
        <p:spPr>
          <a:xfrm>
            <a:off x="2194560" y="55778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Returns sorted list in ascending order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9" name="Text 30"/>
          <p:cNvSpPr/>
          <p:nvPr/>
        </p:nvSpPr>
        <p:spPr>
          <a:xfrm>
            <a:off x="5577840" y="55778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sorted([3,1,2]) → [1,2,3]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0" name="Shape 31"/>
          <p:cNvSpPr/>
          <p:nvPr/>
        </p:nvSpPr>
        <p:spPr>
          <a:xfrm>
            <a:off x="640080" y="6035040"/>
            <a:ext cx="7863480" cy="548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32"/>
          <p:cNvSpPr/>
          <p:nvPr/>
        </p:nvSpPr>
        <p:spPr>
          <a:xfrm>
            <a:off x="822960" y="612648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onsolas"/>
                <a:ea typeface="Consolas"/>
              </a:rPr>
              <a:t>reversed()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2" name="Text 33"/>
          <p:cNvSpPr/>
          <p:nvPr/>
        </p:nvSpPr>
        <p:spPr>
          <a:xfrm>
            <a:off x="2194560" y="61264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Returns reversed list (iterator)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3" name="Text 34"/>
          <p:cNvSpPr/>
          <p:nvPr/>
        </p:nvSpPr>
        <p:spPr>
          <a:xfrm>
            <a:off x="5577840" y="61264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list(reversed([1,2,3])) → [3,2,1]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len() Function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len() function returns the count of items (elements) in the list. It helps determine how many elements a list contains.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count = len(list_name)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Example: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0" name="Shape 6"/>
          <p:cNvSpPr/>
          <p:nvPr/>
        </p:nvSpPr>
        <p:spPr>
          <a:xfrm>
            <a:off x="1828800" y="3383280"/>
            <a:ext cx="82260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7"/>
          <p:cNvSpPr/>
          <p:nvPr/>
        </p:nvSpPr>
        <p:spPr>
          <a:xfrm>
            <a:off x="182880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2" name="Shape 8"/>
          <p:cNvSpPr/>
          <p:nvPr/>
        </p:nvSpPr>
        <p:spPr>
          <a:xfrm>
            <a:off x="2788920" y="3383280"/>
            <a:ext cx="82260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9"/>
          <p:cNvSpPr/>
          <p:nvPr/>
        </p:nvSpPr>
        <p:spPr>
          <a:xfrm>
            <a:off x="278892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4" name="Shape 10"/>
          <p:cNvSpPr/>
          <p:nvPr/>
        </p:nvSpPr>
        <p:spPr>
          <a:xfrm>
            <a:off x="3749040" y="3383280"/>
            <a:ext cx="82260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11"/>
          <p:cNvSpPr/>
          <p:nvPr/>
        </p:nvSpPr>
        <p:spPr>
          <a:xfrm>
            <a:off x="374904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6" name="Shape 12"/>
          <p:cNvSpPr/>
          <p:nvPr/>
        </p:nvSpPr>
        <p:spPr>
          <a:xfrm>
            <a:off x="4709160" y="3383280"/>
            <a:ext cx="82260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13"/>
          <p:cNvSpPr/>
          <p:nvPr/>
        </p:nvSpPr>
        <p:spPr>
          <a:xfrm>
            <a:off x="470916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8" name="Shape 14"/>
          <p:cNvSpPr/>
          <p:nvPr/>
        </p:nvSpPr>
        <p:spPr>
          <a:xfrm>
            <a:off x="5669280" y="3383280"/>
            <a:ext cx="82260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15"/>
          <p:cNvSpPr/>
          <p:nvPr/>
        </p:nvSpPr>
        <p:spPr>
          <a:xfrm>
            <a:off x="5669280" y="352044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0" name="Text 16"/>
          <p:cNvSpPr/>
          <p:nvPr/>
        </p:nvSpPr>
        <p:spPr>
          <a:xfrm>
            <a:off x="1828800" y="41148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numbers = [10, 20, 30, 40, 50]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1" name="Text 17"/>
          <p:cNvSpPr/>
          <p:nvPr/>
        </p:nvSpPr>
        <p:spPr>
          <a:xfrm>
            <a:off x="1828800" y="44348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1295c"/>
                </a:solidFill>
                <a:latin typeface="Calibri"/>
                <a:ea typeface="Calibri"/>
              </a:rPr>
              <a:t>len(numbers) → 5 items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2" name="Shape 18"/>
          <p:cNvSpPr/>
          <p:nvPr/>
        </p:nvSpPr>
        <p:spPr>
          <a:xfrm>
            <a:off x="640080" y="4937760"/>
            <a:ext cx="7863480" cy="1737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9"/>
          <p:cNvSpPr/>
          <p:nvPr/>
        </p:nvSpPr>
        <p:spPr>
          <a:xfrm>
            <a:off x="822960" y="507492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4" name="Text 20"/>
          <p:cNvSpPr/>
          <p:nvPr/>
        </p:nvSpPr>
        <p:spPr>
          <a:xfrm>
            <a:off x="822960" y="5394960"/>
            <a:ext cx="7497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print(len(numbers))          # 3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empty = []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print(len(empty))            # 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mixed = [1, 'hello', True, 3.14]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print(len(mixed))            # 4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max() and min() Functions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640080" y="109728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max() - Largest Item: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640080" y="1463040"/>
            <a:ext cx="7863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Returns the largest item in the 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8" name="Shape 3"/>
          <p:cNvSpPr/>
          <p:nvPr/>
        </p:nvSpPr>
        <p:spPr>
          <a:xfrm>
            <a:off x="640080" y="1783080"/>
            <a:ext cx="7863480" cy="1279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4"/>
          <p:cNvSpPr/>
          <p:nvPr/>
        </p:nvSpPr>
        <p:spPr>
          <a:xfrm>
            <a:off x="822960" y="1920240"/>
            <a:ext cx="7497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[10, 20, 30]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largest = max(numbers)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print(largest)               # 30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print(max(numbers))          # 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0" name="Shape 5"/>
          <p:cNvSpPr/>
          <p:nvPr/>
        </p:nvSpPr>
        <p:spPr>
          <a:xfrm>
            <a:off x="2286000" y="3291840"/>
            <a:ext cx="82260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6"/>
          <p:cNvSpPr/>
          <p:nvPr/>
        </p:nvSpPr>
        <p:spPr>
          <a:xfrm>
            <a:off x="2286000" y="34016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2" name="Shape 7"/>
          <p:cNvSpPr/>
          <p:nvPr/>
        </p:nvSpPr>
        <p:spPr>
          <a:xfrm>
            <a:off x="3246120" y="3291840"/>
            <a:ext cx="82260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8"/>
          <p:cNvSpPr/>
          <p:nvPr/>
        </p:nvSpPr>
        <p:spPr>
          <a:xfrm>
            <a:off x="3246120" y="34016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4" name="Shape 9"/>
          <p:cNvSpPr/>
          <p:nvPr/>
        </p:nvSpPr>
        <p:spPr>
          <a:xfrm>
            <a:off x="4206240" y="3291840"/>
            <a:ext cx="822600" cy="45684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10"/>
          <p:cNvSpPr/>
          <p:nvPr/>
        </p:nvSpPr>
        <p:spPr>
          <a:xfrm>
            <a:off x="4206240" y="34016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6" name="Text 11"/>
          <p:cNvSpPr/>
          <p:nvPr/>
        </p:nvSpPr>
        <p:spPr>
          <a:xfrm>
            <a:off x="4206240" y="384048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1295c"/>
                </a:solidFill>
                <a:latin typeface="Calibri"/>
                <a:ea typeface="Calibri"/>
              </a:rPr>
              <a:t>MAX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7" name="Text 12"/>
          <p:cNvSpPr/>
          <p:nvPr/>
        </p:nvSpPr>
        <p:spPr>
          <a:xfrm>
            <a:off x="640080" y="429768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min() - Smallest Item: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8" name="Text 13"/>
          <p:cNvSpPr/>
          <p:nvPr/>
        </p:nvSpPr>
        <p:spPr>
          <a:xfrm>
            <a:off x="640080" y="4663440"/>
            <a:ext cx="7863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Returns the smallest item in the list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9" name="Shape 14"/>
          <p:cNvSpPr/>
          <p:nvPr/>
        </p:nvSpPr>
        <p:spPr>
          <a:xfrm>
            <a:off x="640080" y="4983480"/>
            <a:ext cx="7863480" cy="1279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15"/>
          <p:cNvSpPr/>
          <p:nvPr/>
        </p:nvSpPr>
        <p:spPr>
          <a:xfrm>
            <a:off x="822960" y="5120640"/>
            <a:ext cx="7497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[10, 20, 30]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smallest = min(numbers)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print(smallest)              # 10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print(min(numbers))          # 10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1" name="Shape 16"/>
          <p:cNvSpPr/>
          <p:nvPr/>
        </p:nvSpPr>
        <p:spPr>
          <a:xfrm>
            <a:off x="2286000" y="6492240"/>
            <a:ext cx="822600" cy="45684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17"/>
          <p:cNvSpPr/>
          <p:nvPr/>
        </p:nvSpPr>
        <p:spPr>
          <a:xfrm>
            <a:off x="2286000" y="6602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3" name="Text 18"/>
          <p:cNvSpPr/>
          <p:nvPr/>
        </p:nvSpPr>
        <p:spPr>
          <a:xfrm>
            <a:off x="2286000" y="621792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1295c"/>
                </a:solidFill>
                <a:latin typeface="Calibri"/>
                <a:ea typeface="Calibri"/>
              </a:rPr>
              <a:t>MIN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4" name="Shape 19"/>
          <p:cNvSpPr/>
          <p:nvPr/>
        </p:nvSpPr>
        <p:spPr>
          <a:xfrm>
            <a:off x="3246120" y="6492240"/>
            <a:ext cx="82260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20"/>
          <p:cNvSpPr/>
          <p:nvPr/>
        </p:nvSpPr>
        <p:spPr>
          <a:xfrm>
            <a:off x="3246120" y="6602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6" name="Shape 21"/>
          <p:cNvSpPr/>
          <p:nvPr/>
        </p:nvSpPr>
        <p:spPr>
          <a:xfrm>
            <a:off x="4206240" y="6492240"/>
            <a:ext cx="82260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22"/>
          <p:cNvSpPr/>
          <p:nvPr/>
        </p:nvSpPr>
        <p:spPr>
          <a:xfrm>
            <a:off x="4206240" y="6602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sum() Function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sum() function returns the sum of all items in the list. It adds all numeric elements together and returns the total.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1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total = sum(list_name)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Addition Process: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4" name="Shape 6"/>
          <p:cNvSpPr/>
          <p:nvPr/>
        </p:nvSpPr>
        <p:spPr>
          <a:xfrm>
            <a:off x="1371600" y="338328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7"/>
          <p:cNvSpPr/>
          <p:nvPr/>
        </p:nvSpPr>
        <p:spPr>
          <a:xfrm>
            <a:off x="1371600" y="35204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6" name="Text 8"/>
          <p:cNvSpPr/>
          <p:nvPr/>
        </p:nvSpPr>
        <p:spPr>
          <a:xfrm>
            <a:off x="2331720" y="35204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+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7" name="Shape 9"/>
          <p:cNvSpPr/>
          <p:nvPr/>
        </p:nvSpPr>
        <p:spPr>
          <a:xfrm>
            <a:off x="2743200" y="338328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0"/>
          <p:cNvSpPr/>
          <p:nvPr/>
        </p:nvSpPr>
        <p:spPr>
          <a:xfrm>
            <a:off x="2743200" y="35204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9" name="Text 11"/>
          <p:cNvSpPr/>
          <p:nvPr/>
        </p:nvSpPr>
        <p:spPr>
          <a:xfrm>
            <a:off x="3703320" y="35204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+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0" name="Shape 12"/>
          <p:cNvSpPr/>
          <p:nvPr/>
        </p:nvSpPr>
        <p:spPr>
          <a:xfrm>
            <a:off x="4114800" y="3383280"/>
            <a:ext cx="914040" cy="54828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13"/>
          <p:cNvSpPr/>
          <p:nvPr/>
        </p:nvSpPr>
        <p:spPr>
          <a:xfrm>
            <a:off x="4114800" y="35204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22" name="Text 14"/>
          <p:cNvSpPr/>
          <p:nvPr/>
        </p:nvSpPr>
        <p:spPr>
          <a:xfrm>
            <a:off x="5486400" y="35204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1295c"/>
                </a:solidFill>
                <a:latin typeface="Calibri"/>
                <a:ea typeface="Calibri"/>
              </a:rPr>
              <a:t>=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3" name="Shape 15"/>
          <p:cNvSpPr/>
          <p:nvPr/>
        </p:nvSpPr>
        <p:spPr>
          <a:xfrm>
            <a:off x="6126480" y="3383280"/>
            <a:ext cx="1096920" cy="54828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16"/>
          <p:cNvSpPr/>
          <p:nvPr/>
        </p:nvSpPr>
        <p:spPr>
          <a:xfrm>
            <a:off x="6126480" y="352044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60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5" name="Shape 17"/>
          <p:cNvSpPr/>
          <p:nvPr/>
        </p:nvSpPr>
        <p:spPr>
          <a:xfrm>
            <a:off x="640080" y="4297680"/>
            <a:ext cx="7863480" cy="237708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18"/>
          <p:cNvSpPr/>
          <p:nvPr/>
        </p:nvSpPr>
        <p:spPr>
          <a:xfrm>
            <a:off x="822960" y="443484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7" name="Text 19"/>
          <p:cNvSpPr/>
          <p:nvPr/>
        </p:nvSpPr>
        <p:spPr>
          <a:xfrm>
            <a:off x="822960" y="4754880"/>
            <a:ext cx="74977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total = sum(numbers)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print(total)                 # 60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prices = [100, 200, 300]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print(sum(prices))           # 600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Empty list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empty = []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print(sum(empty))            # 0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2026-02-11T08:37:24Z</dcterms:created>
  <dc:creator>PptxGenJS</dc:creator>
  <dc:description/>
  <dc:language>en-IN</dc:language>
  <cp:lastModifiedBy/>
  <dcterms:modified xsi:type="dcterms:W3CDTF">2026-02-12T21:41:33Z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