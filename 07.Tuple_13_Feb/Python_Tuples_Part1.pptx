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Tuples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– Fundamentals, Properties &amp; Accessing Elements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9 • Complete Beginner to Advanced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Tuples?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tuple is an ordered, immutable collection of elements created using round brackets ( ) with items separated by commas.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8412480" cy="621792"/>
          </a:xfrm>
          <a:prstGeom prst="rect">
            <a:avLst/>
          </a:prstGeom>
          <a:solidFill>
            <a:srgbClr val="E8F4F8"/>
          </a:solidFill>
          <a:ln w="25400">
            <a:solidFill>
              <a:srgbClr val="22A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0136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Syntax:   tuple_name  =  ( element1,  element2,  element3, ... 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65760" y="24688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4114800" cy="914400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944368"/>
            <a:ext cx="378561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Homogeneous tuple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(10, 20, 30, 40, 50)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print(nums)   # (10, 20, 30, 40, 50)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2834640"/>
            <a:ext cx="4114800" cy="914400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2944368"/>
            <a:ext cx="378561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Heterogeneous tuple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 = ('zebra', 100, 10.1, True)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print(animal)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913632"/>
            <a:ext cx="2651760" cy="1463040"/>
          </a:xfrm>
          <a:prstGeom prst="rect">
            <a:avLst/>
          </a:prstGeom>
          <a:solidFill>
            <a:srgbClr val="EFF6FB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4050792"/>
            <a:ext cx="457200" cy="457200"/>
          </a:xfrm>
          <a:prstGeom prst="ellipse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07822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40782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4462272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keep their insertion order; you can access by index.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0" y="3913632"/>
            <a:ext cx="2651760" cy="1463040"/>
          </a:xfrm>
          <a:prstGeom prst="rect">
            <a:avLst/>
          </a:prstGeom>
          <a:solidFill>
            <a:srgbClr val="EFF6FB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37560" y="4050792"/>
            <a:ext cx="457200" cy="457200"/>
          </a:xfrm>
          <a:prstGeom prst="ellipse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407822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86200" y="40782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64992" y="4462272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created, you cannot add, remove, or change elements.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35040" y="3913632"/>
            <a:ext cx="2651760" cy="1463040"/>
          </a:xfrm>
          <a:prstGeom prst="rect">
            <a:avLst/>
          </a:prstGeom>
          <a:solidFill>
            <a:srgbClr val="EFF6FB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4050792"/>
            <a:ext cx="457200" cy="457200"/>
          </a:xfrm>
          <a:prstGeom prst="ellipse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407822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20840" y="40782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Duplicates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99632" y="4462272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value can appear multiple times in a tuple.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Tuple Properties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206240" cy="2514600"/>
          </a:xfrm>
          <a:prstGeom prst="rect">
            <a:avLst/>
          </a:prstGeom>
          <a:solidFill>
            <a:srgbClr val="EFF6FB"/>
          </a:solidFill>
          <a:ln w="19050">
            <a:solidFill>
              <a:srgbClr val="1C5F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261872"/>
            <a:ext cx="402336" cy="402336"/>
          </a:xfrm>
          <a:prstGeom prst="ellipse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28016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1280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Homogeneous Tuple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691640"/>
            <a:ext cx="3877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elements belong to the same data type.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(1, 2, 3, 4) — all integers.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30352" y="2286000"/>
            <a:ext cx="3877056" cy="1097280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2395728"/>
            <a:ext cx="354787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homogeneous = (1, 2, 3, 4)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print(type(homogeneous[0]))  # &lt;class 'int'&gt;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206240" cy="2514600"/>
          </a:xfrm>
          <a:prstGeom prst="rect">
            <a:avLst/>
          </a:prstGeom>
          <a:solidFill>
            <a:srgbClr val="EFF6FB"/>
          </a:solidFill>
          <a:ln w="19050">
            <a:solidFill>
              <a:srgbClr val="1C5F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19472" y="1261872"/>
            <a:ext cx="402336" cy="402336"/>
          </a:xfrm>
          <a:prstGeom prst="ellipse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28016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13248" y="1280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Tuple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1691640"/>
            <a:ext cx="3877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can have different data types — string, int, float, complex, boolean, etc.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919472" y="2286000"/>
            <a:ext cx="3877056" cy="1097280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2395728"/>
            <a:ext cx="354787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mixed = ('hello', 42, 3.14, True, 2+3j)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print(mixed)  # ('hello', 42, 3.14, True, (2+3j))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4206240" cy="2514600"/>
          </a:xfrm>
          <a:prstGeom prst="rect">
            <a:avLst/>
          </a:prstGeom>
          <a:solidFill>
            <a:srgbClr val="EFF6FB"/>
          </a:solidFill>
          <a:ln w="19050">
            <a:solidFill>
              <a:srgbClr val="1C5F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3913632"/>
            <a:ext cx="402336" cy="402336"/>
          </a:xfrm>
          <a:prstGeom prst="ellipse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93192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24128" y="3931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Elements Allowed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" y="4343400"/>
            <a:ext cx="3877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tuple can store the same value more than once.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30352" y="4937760"/>
            <a:ext cx="3877056" cy="1097280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5047488"/>
            <a:ext cx="354787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dupes = (10, 20, 30, 10, 20)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print(dupes)   # (10, 20, 30, 10, 20)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4880" y="3749040"/>
            <a:ext cx="4206240" cy="2514600"/>
          </a:xfrm>
          <a:prstGeom prst="rect">
            <a:avLst/>
          </a:prstGeom>
          <a:solidFill>
            <a:srgbClr val="EFF6FB"/>
          </a:solidFill>
          <a:ln w="19050">
            <a:solidFill>
              <a:srgbClr val="1C5F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19472" y="3913632"/>
            <a:ext cx="402336" cy="402336"/>
          </a:xfrm>
          <a:prstGeom prst="ellipse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93192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13248" y="3931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Tuple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19472" y="4343400"/>
            <a:ext cx="3877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create a completely empty tuple using just ().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919472" y="4937760"/>
            <a:ext cx="3877056" cy="1097280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84064" y="5047488"/>
            <a:ext cx="354787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 = ()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print(empty)   # ()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print(type(empty))  # &lt;class 'tuple'&gt;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Single-Item Tuple — The Comma Trick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tuple has only one item, a trailing comma is required inside the parentheses.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comma Python treats it as a plain integer/string — not a tuple!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8412480" cy="566928"/>
          </a:xfrm>
          <a:prstGeom prst="rect">
            <a:avLst/>
          </a:prstGeom>
          <a:solidFill>
            <a:srgbClr val="FFF3CD"/>
          </a:solidFill>
          <a:ln w="25400">
            <a:solidFill>
              <a:srgbClr val="F4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9339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Always add a trailing comma for single-element tuples:   single = (10,)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971800"/>
            <a:ext cx="4114800" cy="1005840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3081528"/>
            <a:ext cx="378561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= (10,)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print(single)          # (10,)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print(type(single))    # &lt;class 'tuple'&gt;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63440" y="260604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✗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2971800"/>
            <a:ext cx="4114800" cy="1005840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3081528"/>
            <a:ext cx="378561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wrong = (10)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print(wrong)           # 10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print(type(wrong))     # &lt;class 'int'&gt;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" y="41605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Model: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4617720"/>
            <a:ext cx="2926080" cy="960120"/>
          </a:xfrm>
          <a:prstGeom prst="rect">
            <a:avLst/>
          </a:prstGeom>
          <a:solidFill>
            <a:srgbClr val="EFF6FB"/>
          </a:solidFill>
          <a:ln w="25400">
            <a:solidFill>
              <a:srgbClr val="22A8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73659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= (10,)  → tuple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54480" y="5120640"/>
            <a:ext cx="1463040" cy="347472"/>
          </a:xfrm>
          <a:prstGeom prst="rect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51663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303520" y="4617720"/>
            <a:ext cx="2926080" cy="960120"/>
          </a:xfrm>
          <a:prstGeom prst="rect">
            <a:avLst/>
          </a:prstGeom>
          <a:solidFill>
            <a:srgbClr val="FFF0F0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473659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wrong = (10)   → int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5120640"/>
            <a:ext cx="1463040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51663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5F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34640"/>
            <a:ext cx="9144000" cy="1645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2971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Accessing Tuple Elements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Accessing Tuple Elements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access elements: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97480" cy="1005840"/>
          </a:xfrm>
          <a:prstGeom prst="rect">
            <a:avLst/>
          </a:prstGeom>
          <a:solidFill>
            <a:srgbClr val="EFF6FB"/>
          </a:solidFill>
          <a:ln w="19050">
            <a:solidFill>
              <a:srgbClr val="1C5F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27048"/>
            <a:ext cx="420624" cy="420624"/>
          </a:xfrm>
          <a:prstGeom prst="ellipse">
            <a:avLst/>
          </a:prstGeom>
          <a:solidFill>
            <a:srgbClr val="1C5F7A"/>
          </a:solidFill>
          <a:ln w="12700">
            <a:solidFill>
              <a:srgbClr val="1C5F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45336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5453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whole tuple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842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variable name directly in print().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697480" cy="1005840"/>
          </a:xfrm>
          <a:prstGeom prst="rect">
            <a:avLst/>
          </a:prstGeom>
          <a:solidFill>
            <a:srgbClr val="EFF6FB"/>
          </a:solidFill>
          <a:ln w="19050">
            <a:solidFill>
              <a:srgbClr val="1C5F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527048"/>
            <a:ext cx="420624" cy="420624"/>
          </a:xfrm>
          <a:prstGeom prst="ellipse">
            <a:avLst/>
          </a:prstGeom>
          <a:solidFill>
            <a:srgbClr val="1C5F7A"/>
          </a:solidFill>
          <a:ln w="12700">
            <a:solidFill>
              <a:srgbClr val="1C5F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545336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15453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19842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individual elements using [index].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417320"/>
            <a:ext cx="2697480" cy="1005840"/>
          </a:xfrm>
          <a:prstGeom prst="rect">
            <a:avLst/>
          </a:prstGeom>
          <a:solidFill>
            <a:srgbClr val="EFF6FB"/>
          </a:solidFill>
          <a:ln w="19050">
            <a:solidFill>
              <a:srgbClr val="1C5F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527048"/>
            <a:ext cx="420624" cy="420624"/>
          </a:xfrm>
          <a:prstGeom prst="ellipse">
            <a:avLst/>
          </a:prstGeom>
          <a:solidFill>
            <a:srgbClr val="1C5F7A"/>
          </a:solidFill>
          <a:ln w="12700">
            <a:solidFill>
              <a:srgbClr val="1C5F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545336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15453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19842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 sub-tuple using [start:end].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2578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Types of Indexing: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2944368"/>
            <a:ext cx="4114800" cy="2286000"/>
          </a:xfrm>
          <a:prstGeom prst="rect">
            <a:avLst/>
          </a:prstGeom>
          <a:solidFill>
            <a:srgbClr val="E8F8F0"/>
          </a:solidFill>
          <a:ln w="25400">
            <a:solidFill>
              <a:srgbClr val="1A98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0723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Indexing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4015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the beginning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element → index 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3950208"/>
            <a:ext cx="658368" cy="457200"/>
          </a:xfrm>
          <a:prstGeom prst="rect">
            <a:avLst/>
          </a:prstGeom>
          <a:solidFill>
            <a:srgbClr val="1A9850"/>
          </a:solidFill>
          <a:ln w="12700">
            <a:solidFill>
              <a:srgbClr val="1A98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02336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448056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E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344168" y="3950208"/>
            <a:ext cx="658368" cy="457200"/>
          </a:xfrm>
          <a:prstGeom prst="rect">
            <a:avLst/>
          </a:prstGeom>
          <a:solidFill>
            <a:srgbClr val="1A9850"/>
          </a:solidFill>
          <a:ln w="12700">
            <a:solidFill>
              <a:srgbClr val="1A98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44168" y="402336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44168" y="448056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E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93976" y="3950208"/>
            <a:ext cx="658368" cy="457200"/>
          </a:xfrm>
          <a:prstGeom prst="rect">
            <a:avLst/>
          </a:prstGeom>
          <a:solidFill>
            <a:srgbClr val="1A9850"/>
          </a:solidFill>
          <a:ln w="12700">
            <a:solidFill>
              <a:srgbClr val="1A98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93976" y="402336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093976" y="448056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E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843784" y="3950208"/>
            <a:ext cx="658368" cy="457200"/>
          </a:xfrm>
          <a:prstGeom prst="rect">
            <a:avLst/>
          </a:prstGeom>
          <a:solidFill>
            <a:srgbClr val="1A9850"/>
          </a:solidFill>
          <a:ln w="12700">
            <a:solidFill>
              <a:srgbClr val="1A98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43784" y="402336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843784" y="448056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E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593592" y="3950208"/>
            <a:ext cx="658368" cy="457200"/>
          </a:xfrm>
          <a:prstGeom prst="rect">
            <a:avLst/>
          </a:prstGeom>
          <a:solidFill>
            <a:srgbClr val="1A9850"/>
          </a:solidFill>
          <a:ln w="12700">
            <a:solidFill>
              <a:srgbClr val="1A98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93592" y="402336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593592" y="448056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E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2944368"/>
            <a:ext cx="4114800" cy="2286000"/>
          </a:xfrm>
          <a:prstGeom prst="rect">
            <a:avLst/>
          </a:prstGeom>
          <a:solidFill>
            <a:srgbClr val="FFF0F5"/>
          </a:solidFill>
          <a:ln w="25400">
            <a:solidFill>
              <a:srgbClr val="C000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0723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Indexing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46320" y="34015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the end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element → index -1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92040" y="3950208"/>
            <a:ext cx="658368" cy="457200"/>
          </a:xfrm>
          <a:prstGeom prst="rect">
            <a:avLst/>
          </a:prstGeom>
          <a:solidFill>
            <a:srgbClr val="C0004A"/>
          </a:solidFill>
          <a:ln w="12700">
            <a:solidFill>
              <a:srgbClr val="C000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402336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92040" y="448056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0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-5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641848" y="3950208"/>
            <a:ext cx="658368" cy="457200"/>
          </a:xfrm>
          <a:prstGeom prst="rect">
            <a:avLst/>
          </a:prstGeom>
          <a:solidFill>
            <a:srgbClr val="C0004A"/>
          </a:solidFill>
          <a:ln w="12700">
            <a:solidFill>
              <a:srgbClr val="C000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41848" y="402336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641848" y="448056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0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-4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91656" y="3950208"/>
            <a:ext cx="658368" cy="457200"/>
          </a:xfrm>
          <a:prstGeom prst="rect">
            <a:avLst/>
          </a:prstGeom>
          <a:solidFill>
            <a:srgbClr val="C0004A"/>
          </a:solidFill>
          <a:ln w="12700">
            <a:solidFill>
              <a:srgbClr val="C000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91656" y="402336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391656" y="448056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0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141464" y="3950208"/>
            <a:ext cx="658368" cy="457200"/>
          </a:xfrm>
          <a:prstGeom prst="rect">
            <a:avLst/>
          </a:prstGeom>
          <a:solidFill>
            <a:srgbClr val="C0004A"/>
          </a:solidFill>
          <a:ln w="12700">
            <a:solidFill>
              <a:srgbClr val="C000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41464" y="402336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141464" y="448056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0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891272" y="3950208"/>
            <a:ext cx="658368" cy="457200"/>
          </a:xfrm>
          <a:prstGeom prst="rect">
            <a:avLst/>
          </a:prstGeom>
          <a:solidFill>
            <a:srgbClr val="C0004A"/>
          </a:solidFill>
          <a:ln w="12700">
            <a:solidFill>
              <a:srgbClr val="C000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91272" y="402336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891272" y="448056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0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Indexing Examples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438912"/>
          </a:xfrm>
          <a:prstGeom prst="rect">
            <a:avLst/>
          </a:prstGeom>
          <a:solidFill>
            <a:srgbClr val="EFF6FB"/>
          </a:solidFill>
          <a:ln w="19050">
            <a:solidFill>
              <a:srgbClr val="1C5F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5214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= (10, 20, 30, 40, 50)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1417320" cy="502920"/>
          </a:xfrm>
          <a:prstGeom prst="rect">
            <a:avLst/>
          </a:prstGeom>
          <a:solidFill>
            <a:srgbClr val="22A8C4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1907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  /  -5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75688" y="1645920"/>
            <a:ext cx="1417320" cy="502920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75688" y="171907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75688" y="221284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  /  -4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48456" y="1645920"/>
            <a:ext cx="1417320" cy="502920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48456" y="171907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48456" y="221284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  /  -3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21224" y="1645920"/>
            <a:ext cx="1417320" cy="502920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21224" y="171907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21224" y="221284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  /  -2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93992" y="1645920"/>
            <a:ext cx="1417320" cy="502920"/>
          </a:xfrm>
          <a:prstGeom prst="rect">
            <a:avLst/>
          </a:prstGeom>
          <a:solidFill>
            <a:srgbClr val="F4A623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171907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93992" y="221284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+4  /  -1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6334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9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Index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2971800"/>
            <a:ext cx="4114800" cy="512064"/>
          </a:xfrm>
          <a:prstGeom prst="rect">
            <a:avLst/>
          </a:prstGeom>
          <a:solidFill>
            <a:srgbClr val="EF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063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print(values[0])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08960" y="3063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9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10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557016"/>
            <a:ext cx="4114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6484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print(values[1])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108960" y="364845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9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20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142232"/>
            <a:ext cx="4114800" cy="512064"/>
          </a:xfrm>
          <a:prstGeom prst="rect">
            <a:avLst/>
          </a:prstGeom>
          <a:solidFill>
            <a:srgbClr val="EF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2336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print(values[2])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108960" y="42336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9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30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4727448"/>
            <a:ext cx="4114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8188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print(values[3])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108960" y="48188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9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40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5312664"/>
            <a:ext cx="4114800" cy="512064"/>
          </a:xfrm>
          <a:prstGeom prst="rect">
            <a:avLst/>
          </a:prstGeom>
          <a:solidFill>
            <a:srgbClr val="EF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4041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print(values[4])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108960" y="540410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9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50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63440" y="26334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Index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663440" y="2971800"/>
            <a:ext cx="4114800" cy="512064"/>
          </a:xfrm>
          <a:prstGeom prst="rect">
            <a:avLst/>
          </a:prstGeom>
          <a:solidFill>
            <a:srgbClr val="EF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063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print(values[-1])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315200" y="3063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50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663440" y="3557016"/>
            <a:ext cx="4114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6484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print(values[-2])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315200" y="364845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40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63440" y="4142232"/>
            <a:ext cx="4114800" cy="512064"/>
          </a:xfrm>
          <a:prstGeom prst="rect">
            <a:avLst/>
          </a:prstGeom>
          <a:solidFill>
            <a:srgbClr val="EF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42336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print(values[-3])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315200" y="42336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30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663440" y="4727448"/>
            <a:ext cx="4114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48188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print(values[-4])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315200" y="48188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20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663440" y="5312664"/>
            <a:ext cx="4114800" cy="512064"/>
          </a:xfrm>
          <a:prstGeom prst="rect">
            <a:avLst/>
          </a:prstGeom>
          <a:solidFill>
            <a:srgbClr val="EF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54041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print(values[-5])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315200" y="540410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Tuple Slicing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0789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strings and lists, tuples support slicing to extract a sub-tuple.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475488"/>
          </a:xfrm>
          <a:prstGeom prst="rect">
            <a:avLst/>
          </a:prstGeom>
          <a:solidFill>
            <a:srgbClr val="E8F4F8"/>
          </a:solidFill>
          <a:ln w="25400">
            <a:solidFill>
              <a:srgbClr val="22A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27632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Syntax:   tuple_name[ start : end ]    (end index is exclusive)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1762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(10, 20, 30, 40, 50)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542032"/>
            <a:ext cx="1417320" cy="475488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1518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072384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75688" y="2542032"/>
            <a:ext cx="1417320" cy="475488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75688" y="261518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75688" y="3072384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48456" y="2542032"/>
            <a:ext cx="1417320" cy="475488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48456" y="261518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48456" y="3072384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21224" y="2542032"/>
            <a:ext cx="1417320" cy="475488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21224" y="261518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21224" y="3072384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93992" y="2542032"/>
            <a:ext cx="1417320" cy="475488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93992" y="261518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93992" y="3072384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401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Examples: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749040"/>
            <a:ext cx="4206240" cy="548640"/>
          </a:xfrm>
          <a:prstGeom prst="rect">
            <a:avLst/>
          </a:prstGeom>
          <a:solidFill>
            <a:srgbClr val="EF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840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print(data[0:1])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926080" y="38404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A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(10,)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65760" y="4370832"/>
            <a:ext cx="4206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4622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print(data[0:2])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926080" y="446227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A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(10, 20)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5760" y="4992624"/>
            <a:ext cx="4206240" cy="548640"/>
          </a:xfrm>
          <a:prstGeom prst="rect">
            <a:avLst/>
          </a:prstGeom>
          <a:solidFill>
            <a:srgbClr val="EF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0840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print(data[0:3])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926080" y="508406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A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(10, 20, 30)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65760" y="5614416"/>
            <a:ext cx="4206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57058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print(data[0:4])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926080" y="570585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A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(10, 20, 30, 40)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754880" y="3749040"/>
            <a:ext cx="4206240" cy="548640"/>
          </a:xfrm>
          <a:prstGeom prst="rect">
            <a:avLst/>
          </a:prstGeom>
          <a:solidFill>
            <a:srgbClr val="EF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3840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print(data[0:5])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315200" y="38404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A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(10, 20, 30, 40, 50)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754880" y="4370832"/>
            <a:ext cx="4206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44622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print(data[0: ])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315200" y="446227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A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(10, 20, 30, 40, 50)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754880" y="4992624"/>
            <a:ext cx="4206240" cy="548640"/>
          </a:xfrm>
          <a:prstGeom prst="rect">
            <a:avLst/>
          </a:prstGeom>
          <a:solidFill>
            <a:srgbClr val="EF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50840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print(data[ :5])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315200" y="508406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A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(10, 20, 30, 40, 50)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2026-02-13T13:32:19Z</dcterms:created>
  <dcterms:modified xsi:type="dcterms:W3CDTF">2026-02-13T13:32:19Z</dcterms:modified>
</cp:coreProperties>
</file>