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Tuples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– Built-in Functions, Methods &amp; Nested Tuples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 • max • min • sum • any • all • sorted • reversed • index • count • nested tuples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Functions on Tuples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Functions —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 that work directly on tuples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704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17043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117043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Example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8412480" cy="585216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72768"/>
            <a:ext cx="329184" cy="329184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9105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59105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159105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count of items in the tuple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5910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len((10,20,30)) →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139696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231136"/>
            <a:ext cx="329184" cy="329184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4942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24942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22494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largest item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24942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max((10,20,30)) → 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98064"/>
            <a:ext cx="8412480" cy="585216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889504"/>
            <a:ext cx="329184" cy="329184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0779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290779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11680" y="29077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smallest item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29077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min((10,20,30)) → 10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456432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547872"/>
            <a:ext cx="329184" cy="329184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6616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56616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11680" y="35661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sum of all items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35661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sum((10,20,30)) → 60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114800"/>
            <a:ext cx="8412480" cy="585216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206240"/>
            <a:ext cx="329184" cy="329184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24528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422452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011680" y="42245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at least one item is True/truthy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09360" y="42245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any((0,0,1)) → True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773168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864608"/>
            <a:ext cx="329184" cy="329184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88289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0120" y="48828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011680" y="48828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if ALL items are True/truthy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09360" y="48828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all((1,1,0)) → False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5431536"/>
            <a:ext cx="8412480" cy="585216"/>
          </a:xfrm>
          <a:prstGeom prst="rect">
            <a:avLst/>
          </a:prstGeom>
          <a:solidFill>
            <a:srgbClr val="EFF6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5522976"/>
            <a:ext cx="329184" cy="329184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554126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0120" y="55412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2011680" y="55412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new sorted list in ascending order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09360" y="554126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sorted((3,1,2)) → [1,2,3]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6089904"/>
            <a:ext cx="8412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" y="6181344"/>
            <a:ext cx="329184" cy="329184"/>
          </a:xfrm>
          <a:prstGeom prst="ellipse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619963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960120" y="619963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reversed()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011680" y="619963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reversed iterator (use tuple())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309360" y="61996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tuple(reversed((1,2,3)))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len(), max(), min() Functions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and finding extremes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2471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len() — Count of items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114800" cy="80467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27048"/>
            <a:ext cx="37856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(10, 20, 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print(len(nums))    # 3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1508760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1508760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002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0756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5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 =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max() — Largest item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761488"/>
            <a:ext cx="4114800" cy="80467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871216"/>
            <a:ext cx="37856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(10, 20, 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print(max(scores))  # 30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852928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9443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23560" y="2852928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29443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2852928"/>
            <a:ext cx="777240" cy="475488"/>
          </a:xfrm>
          <a:prstGeom prst="rect">
            <a:avLst/>
          </a:prstGeom>
          <a:solidFill>
            <a:srgbClr val="1A9850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9443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40156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404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min() — Smallest item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133088"/>
            <a:ext cx="4114800" cy="80467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242816"/>
            <a:ext cx="37856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(10, 20, 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print(min(scores))  # 10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4224528"/>
            <a:ext cx="777240" cy="475488"/>
          </a:xfrm>
          <a:prstGeom prst="rect">
            <a:avLst/>
          </a:prstGeom>
          <a:solidFill>
            <a:srgbClr val="C0004A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3159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4773168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23560" y="4224528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43159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92240" y="4224528"/>
            <a:ext cx="777240" cy="475488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3159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5138928"/>
            <a:ext cx="8412480" cy="2743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18464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sum() — Total of all items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5477256"/>
            <a:ext cx="4114800" cy="80467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5586984"/>
            <a:ext cx="37856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(10, 20, 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print(sum(values))  # 60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754880" y="5568696"/>
            <a:ext cx="777240" cy="475488"/>
          </a:xfrm>
          <a:prstGeom prst="rect">
            <a:avLst/>
          </a:prstGeom>
          <a:solidFill>
            <a:srgbClr val="8E44AD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566013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77840" y="568756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669280" y="5568696"/>
            <a:ext cx="777240" cy="475488"/>
          </a:xfrm>
          <a:prstGeom prst="rect">
            <a:avLst/>
          </a:prstGeom>
          <a:solidFill>
            <a:srgbClr val="8E44AD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0" y="566013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492240" y="568756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583680" y="5568696"/>
            <a:ext cx="777240" cy="475488"/>
          </a:xfrm>
          <a:prstGeom prst="rect">
            <a:avLst/>
          </a:prstGeom>
          <a:solidFill>
            <a:srgbClr val="8E44AD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566013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543800" y="56601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any(), all(), sorted(), reversed()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&amp; ordering functions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256032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any() — At least one True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08176"/>
            <a:ext cx="4114800" cy="80467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517904"/>
            <a:ext cx="37856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(0, 0, 0, 0, 1)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print(any(data))  # True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078992"/>
            <a:ext cx="4114800" cy="25603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155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all() — All must be 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408176"/>
            <a:ext cx="4114800" cy="1298448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517904"/>
            <a:ext cx="378561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 = (10,20,30,40,50)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print(all(d1))    # True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 = (10,20,30,40, 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print(all(d2))    # False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07792"/>
            <a:ext cx="8412480" cy="256032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4436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sorted() — Returns a new sorted list in ascending order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36976"/>
            <a:ext cx="8412480" cy="80467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346704"/>
            <a:ext cx="80832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unordered = (50, 40, 10, 20, 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print(sorted(unordered))    # [10, 20, 30, 40, 50]  ← returns a LIST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187952"/>
            <a:ext cx="777240" cy="45720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793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72184" y="4187952"/>
            <a:ext cx="777240" cy="45720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72184" y="42793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350008" y="4187952"/>
            <a:ext cx="777240" cy="45720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50008" y="42793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27832" y="4187952"/>
            <a:ext cx="777240" cy="45720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42793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05656" y="4187952"/>
            <a:ext cx="777240" cy="457200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05656" y="427939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42793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sorted() 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4187952"/>
            <a:ext cx="329184" cy="457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27939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4187952"/>
            <a:ext cx="329184" cy="457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427939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4187952"/>
            <a:ext cx="329184" cy="457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27939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89520" y="4187952"/>
            <a:ext cx="329184" cy="457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427939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55280" y="4187952"/>
            <a:ext cx="329184" cy="457200"/>
          </a:xfrm>
          <a:prstGeom prst="rect">
            <a:avLst/>
          </a:prstGeom>
          <a:solidFill>
            <a:srgbClr val="1A9850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427939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864608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reversed() — Returns reversed tuple (use tuple() to convert from iterator)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5157216"/>
            <a:ext cx="8412480" cy="1298448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5266944"/>
            <a:ext cx="8083296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(10, 20, 30, 40, 50)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reversed(data)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print(b)            # &lt;reversed object&gt;  — get object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print(tuple(b))     # (50, 40, 30, 20, 10)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65760" y="6583680"/>
            <a:ext cx="8412480" cy="548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66934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sorted() returns a LIST, not a tuple. reversed() returns an iterator — wrap in tuple() to get a tuple back.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Tuple Methods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Tuple Methods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methods available — tuples are immutable!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tuples are immutable, modification methods (like append, remove, pop) are NOT available. Only 2 methods exist: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9222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tuple_name.method_name( 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566928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957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Tuples are immutable — modification methods are NOT available. Only index() and count() are available.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4206240" cy="4023360"/>
          </a:xfrm>
          <a:prstGeom prst="rect">
            <a:avLst/>
          </a:prstGeom>
          <a:solidFill>
            <a:srgbClr val="EFF6FB"/>
          </a:solidFill>
          <a:ln w="25400">
            <a:solidFill>
              <a:srgbClr val="1C5F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999232"/>
            <a:ext cx="4206240" cy="438912"/>
          </a:xfrm>
          <a:prstGeom prst="rect">
            <a:avLst/>
          </a:prstGeom>
          <a:solidFill>
            <a:srgbClr val="1C5F7A"/>
          </a:solidFill>
          <a:ln w="12700">
            <a:solidFill>
              <a:srgbClr val="1C5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072384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index()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" y="3529584"/>
            <a:ext cx="3877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index (position) of a particular item in the tuple.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40416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691640" y="40416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tuple_name.index(value)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4370832"/>
            <a:ext cx="3877056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1C5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4462272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(10, 20, 30, 40, 50)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= data.index(30)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print(pos)               #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99232"/>
            <a:ext cx="4206240" cy="4023360"/>
          </a:xfrm>
          <a:prstGeom prst="rect">
            <a:avLst/>
          </a:prstGeom>
          <a:solidFill>
            <a:srgbClr val="EFF6FB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999232"/>
            <a:ext cx="4206240" cy="43891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072384"/>
            <a:ext cx="3877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count()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19472" y="3529584"/>
            <a:ext cx="38770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how many times a particular item appears in the tuple.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9472" y="40416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80760" y="404164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tuple_name.count(value)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9472" y="4370832"/>
            <a:ext cx="3877056" cy="1481328"/>
          </a:xfrm>
          <a:prstGeom prst="rect">
            <a:avLst/>
          </a:prstGeom>
          <a:solidFill>
            <a:srgbClr val="0D1B2A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4462272"/>
            <a:ext cx="36576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(10, 20, 30, 10, 40)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values.count(10)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print(freq)              # 2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index() Method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position of an element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index() method returns the index of the first occurrence of a given item in the tuple.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91056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078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= tuple_name.index(value)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311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(10, 20, 30, 40, 50)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907792"/>
            <a:ext cx="118872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2907792"/>
            <a:ext cx="118872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2907792"/>
            <a:ext cx="1188720" cy="512064"/>
          </a:xfrm>
          <a:prstGeom prst="rect">
            <a:avLst/>
          </a:prstGeom>
          <a:solidFill>
            <a:srgbClr val="1A9850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376732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found at index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907792"/>
            <a:ext cx="118872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907792"/>
            <a:ext cx="118872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9992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 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87952"/>
            <a:ext cx="8412480" cy="217627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297680"/>
            <a:ext cx="8083296" cy="1956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(10, 20, 30, 40, 50)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print(data.index(30))      # 2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print(data.index(40))      # 3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element not found → raises ValueError!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data.index(99)  →  ValueError: tuple.index(x): x not in tuple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count() Method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occurrences of an element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count() method returns how many times a particular item appears in the tuple.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91056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078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 = tuple_name.count(value)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311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(10, 20, 30, 10, 40)  →  10 appears twice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615184"/>
            <a:ext cx="1097280" cy="512064"/>
          </a:xfrm>
          <a:prstGeom prst="rect">
            <a:avLst/>
          </a:prstGeom>
          <a:solidFill>
            <a:srgbClr val="8E44AD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066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57400" y="2615184"/>
            <a:ext cx="109728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7066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2615184"/>
            <a:ext cx="109728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7066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26280" y="2615184"/>
            <a:ext cx="1097280" cy="512064"/>
          </a:xfrm>
          <a:prstGeom prst="rect">
            <a:avLst/>
          </a:prstGeom>
          <a:solidFill>
            <a:srgbClr val="8E44AD"/>
          </a:solidFill>
          <a:ln w="317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7066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32004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60720" y="2615184"/>
            <a:ext cx="1097280" cy="512064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7066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3547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count(10) = 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8412480" cy="1783080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151376"/>
            <a:ext cx="8083296" cy="1563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= (10, 20, 30, 10, 40)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values.count(10)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print(freq)               # 2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Counting elements not present returns 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print(values.count(99))   # 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5961888"/>
            <a:ext cx="8412480" cy="566928"/>
          </a:xfrm>
          <a:prstGeom prst="rect">
            <a:avLst/>
          </a:prstGeom>
          <a:solidFill>
            <a:srgbClr val="F0FFF4"/>
          </a:solidFill>
          <a:ln w="19050">
            <a:solidFill>
              <a:srgbClr val="1A98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07161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index() raises an error if element is not found. count() returns 0 if element is not present — safer for checking existence.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5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834640"/>
            <a:ext cx="91440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Tuple Varieties — Nested Tuples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Nested Tuples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of tuples — 2D tuple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nested tuple is a tuple that contains other tuples as elements. Also called 'tuple of tuples'.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261872"/>
          </a:xfrm>
          <a:prstGeom prst="rect">
            <a:avLst/>
          </a:prstGeom>
          <a:solidFill>
            <a:srgbClr val="0D1B2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709928"/>
            <a:ext cx="808329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(10, 20, 30)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(40, 50, 60)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(a, b)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print(c)     # ((10, 20, 30), (40, 50, 60))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Structure: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8229600" cy="2194560"/>
          </a:xfrm>
          <a:prstGeom prst="rect">
            <a:avLst/>
          </a:prstGeom>
          <a:solidFill>
            <a:srgbClr val="E8F4F8"/>
          </a:solidFill>
          <a:ln w="31750">
            <a:solidFill>
              <a:srgbClr val="22A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51129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— Outer Tuple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38770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38770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133088"/>
            <a:ext cx="3200400" cy="1170432"/>
          </a:xfrm>
          <a:prstGeom prst="rect">
            <a:avLst/>
          </a:prstGeom>
          <a:solidFill>
            <a:srgbClr val="1C5F7A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428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(10, 20, 30)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51560" y="4553712"/>
            <a:ext cx="82296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645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11680" y="4553712"/>
            <a:ext cx="82296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4645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4553712"/>
            <a:ext cx="82296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4645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11680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71800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4133088"/>
            <a:ext cx="3200400" cy="1170432"/>
          </a:xfrm>
          <a:prstGeom prst="rect">
            <a:avLst/>
          </a:prstGeom>
          <a:solidFill>
            <a:srgbClr val="50808E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424281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(40, 50, 60)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74920" y="4553712"/>
            <a:ext cx="82296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4645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4553712"/>
            <a:ext cx="82296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4645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95160" y="4553712"/>
            <a:ext cx="82296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46451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74920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95160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Accessing Nested Tuple Elements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indexing: c[outer][inner]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double indexing — first index selects the inner tuple, second index selects the element within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91056"/>
            <a:ext cx="8412480" cy="475488"/>
          </a:xfrm>
          <a:prstGeom prst="rect">
            <a:avLst/>
          </a:prstGeom>
          <a:solidFill>
            <a:srgbClr val="E8F4F8"/>
          </a:solidFill>
          <a:ln w="25400">
            <a:solidFill>
              <a:srgbClr val="22A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0078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Syntax:   tuple_name [ outer_index ] [ inner_index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311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Setup:  c = ((10, 20, 30), (40, 50, 60))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633472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066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70662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270662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8412480" cy="530352"/>
          </a:xfrm>
          <a:prstGeom prst="rect">
            <a:avLst/>
          </a:prstGeom>
          <a:solidFill>
            <a:srgbClr val="E8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print(c[0][0])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7168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34640" y="3072384"/>
            <a:ext cx="685800" cy="347472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1089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tuple, first element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8412480" cy="530352"/>
          </a:xfrm>
          <a:prstGeom prst="rect">
            <a:avLst/>
          </a:prstGeom>
          <a:solidFill>
            <a:srgbClr val="F5FA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print(c[0][1])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87168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3666744"/>
            <a:ext cx="685800" cy="347472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370332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tuple, second element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206240"/>
            <a:ext cx="8412480" cy="530352"/>
          </a:xfrm>
          <a:prstGeom prst="rect">
            <a:avLst/>
          </a:prstGeom>
          <a:solidFill>
            <a:srgbClr val="E8F4F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print(c[0][2])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87168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34640" y="4261104"/>
            <a:ext cx="685800" cy="347472"/>
          </a:xfrm>
          <a:prstGeom prst="rect">
            <a:avLst/>
          </a:prstGeom>
          <a:solidFill>
            <a:srgbClr val="1C5F7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429768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9319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tuple, third element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800600"/>
            <a:ext cx="8412480" cy="530352"/>
          </a:xfrm>
          <a:prstGeom prst="rect">
            <a:avLst/>
          </a:prstGeom>
          <a:solidFill>
            <a:srgbClr val="FFFC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892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print(c[1][0])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87168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834640" y="4855464"/>
            <a:ext cx="685800" cy="347472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489204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3192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tuple, first element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5394960"/>
            <a:ext cx="8412480" cy="530352"/>
          </a:xfrm>
          <a:prstGeom prst="rect">
            <a:avLst/>
          </a:prstGeom>
          <a:solidFill>
            <a:srgbClr val="FFF8E1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print(c[1][1])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487168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834640" y="5449824"/>
            <a:ext cx="685800" cy="347472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0" y="54864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93192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tuple, second element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5989320"/>
            <a:ext cx="8412480" cy="530352"/>
          </a:xfrm>
          <a:prstGeom prst="rect">
            <a:avLst/>
          </a:prstGeom>
          <a:solidFill>
            <a:srgbClr val="FFFC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6080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print(c[1][2])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487168" y="6080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834640" y="6044184"/>
            <a:ext cx="685800" cy="347472"/>
          </a:xfrm>
          <a:prstGeom prst="rect">
            <a:avLst/>
          </a:prstGeom>
          <a:solidFill>
            <a:srgbClr val="50808E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34640" y="608076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931920" y="6080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tuple, third element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Tuples — Complete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2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know about Tuples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321040" cy="960120"/>
          </a:xfrm>
          <a:prstGeom prst="rect">
            <a:avLst/>
          </a:prstGeom>
          <a:solidFill>
            <a:srgbClr val="1E3A5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1280160" cy="96012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1907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74520" y="1664208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F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tuples • Properties • Single-item comma trick • Indexing (+/−) • Slicing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8321040" cy="960120"/>
          </a:xfrm>
          <a:prstGeom prst="rect">
            <a:avLst/>
          </a:prstGeom>
          <a:solidFill>
            <a:srgbClr val="1E3A5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42032"/>
            <a:ext cx="1280160" cy="96012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9806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74520" y="2743200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F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loop • for loop • enumerate() • Immutability • Concatenation • Merging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8321040" cy="960120"/>
          </a:xfrm>
          <a:prstGeom prst="rect">
            <a:avLst/>
          </a:prstGeom>
          <a:solidFill>
            <a:srgbClr val="1E3A5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21024"/>
            <a:ext cx="1280160" cy="96012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7705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74520" y="3822192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F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Conversions: String / List / Set / Dict / Range  →  Tuple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700016"/>
            <a:ext cx="8321040" cy="960120"/>
          </a:xfrm>
          <a:prstGeom prst="rect">
            <a:avLst/>
          </a:prstGeom>
          <a:solidFill>
            <a:srgbClr val="1E3A5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700016"/>
            <a:ext cx="1280160" cy="96012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560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74520" y="4901184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F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 • Cloning • 'in' operator • 'is' operator • Comparison • Emptiness 'not'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779008"/>
            <a:ext cx="8321040" cy="960120"/>
          </a:xfrm>
          <a:prstGeom prst="rect">
            <a:avLst/>
          </a:prstGeom>
          <a:solidFill>
            <a:srgbClr val="1E3A5A"/>
          </a:solidFill>
          <a:ln w="19050">
            <a:solidFill>
              <a:srgbClr val="22A8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5779008"/>
            <a:ext cx="1280160" cy="960120"/>
          </a:xfrm>
          <a:prstGeom prst="rect">
            <a:avLst/>
          </a:prstGeom>
          <a:solidFill>
            <a:srgbClr val="22A8C4"/>
          </a:solidFill>
          <a:ln w="12700">
            <a:solidFill>
              <a:srgbClr val="22A8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0350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74520" y="5980176"/>
            <a:ext cx="6720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F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Built-ins: len max min sum any all sorted reversed • Methods: index count • Nested Tuples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2026-02-13T14:02:48Z</dcterms:created>
  <dcterms:modified xsi:type="dcterms:W3CDTF">2026-02-13T14:02:48Z</dcterms:modified>
</cp:coreProperties>
</file>