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2A8C4"/>
          </a:solidFill>
          <a:ln w="12700">
            <a:solidFill>
              <a:srgbClr val="22A8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Tuples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22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– Looping, Mutability &amp; Concatenation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217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loop • for loop • enumerate() • immutability • concatenation • merging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5F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834640"/>
            <a:ext cx="9144000" cy="1645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4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●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0" y="297180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Looping in Tuples</a:t>
            </a:r>
            <a:endParaRPr lang="en-US" sz="3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 While Loop — Iterating a Tuple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107899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process each item in a tuple, iterate over it using a while loop with an index variable.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627632"/>
            <a:ext cx="3566160" cy="475488"/>
          </a:xfrm>
          <a:prstGeom prst="rect">
            <a:avLst/>
          </a:prstGeom>
          <a:solidFill>
            <a:srgbClr val="1C5F7A"/>
          </a:solidFill>
          <a:ln w="12700">
            <a:solidFill>
              <a:srgbClr val="1C5F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71907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index = 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45920" y="21031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" y="2423160"/>
            <a:ext cx="3566160" cy="475488"/>
          </a:xfrm>
          <a:prstGeom prst="rect">
            <a:avLst/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51460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&lt; len(my_tuple)?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45920" y="289864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65760" y="3218688"/>
            <a:ext cx="3566160" cy="475488"/>
          </a:xfrm>
          <a:prstGeom prst="rect">
            <a:avLst/>
          </a:prstGeom>
          <a:solidFill>
            <a:srgbClr val="1A9850"/>
          </a:solidFill>
          <a:ln w="12700">
            <a:solidFill>
              <a:srgbClr val="1A98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31012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print(my_tuple[index])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645920" y="3694176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65760" y="4014216"/>
            <a:ext cx="3566160" cy="475488"/>
          </a:xfrm>
          <a:prstGeom prst="rect">
            <a:avLst/>
          </a:prstGeom>
          <a:solidFill>
            <a:srgbClr val="22A8C4"/>
          </a:solidFill>
          <a:ln w="12700">
            <a:solidFill>
              <a:srgbClr val="22A8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410565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= index + 1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645920" y="448970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65760" y="4809744"/>
            <a:ext cx="3566160" cy="47548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90118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ends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06240" y="1508760"/>
            <a:ext cx="4572000" cy="3200400"/>
          </a:xfrm>
          <a:prstGeom prst="rect">
            <a:avLst/>
          </a:prstGeom>
          <a:solidFill>
            <a:srgbClr val="0D1B2A"/>
          </a:solidFill>
          <a:ln w="19050">
            <a:solidFill>
              <a:srgbClr val="22A8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70832" y="1618488"/>
            <a:ext cx="4242816" cy="2980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my_tuple = (10, 20, 30)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 = 0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(index &lt; len(my_tuple)):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print(my_tuple[index])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index = index + 1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10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20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30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206240" y="4892040"/>
            <a:ext cx="4572000" cy="914400"/>
          </a:xfrm>
          <a:prstGeom prst="rect">
            <a:avLst/>
          </a:prstGeom>
          <a:solidFill>
            <a:srgbClr val="F0FFF4"/>
          </a:solidFill>
          <a:ln w="19050">
            <a:solidFill>
              <a:srgbClr val="1A98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0" y="500176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94960" y="4974336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 For Loop — Iterating a Tuple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107899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 loop is the simplest and most Pythonic way to iterate through each item in a tuple.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536192"/>
            <a:ext cx="8412480" cy="475488"/>
          </a:xfrm>
          <a:prstGeom prst="rect">
            <a:avLst/>
          </a:prstGeom>
          <a:solidFill>
            <a:srgbClr val="E8F4F8"/>
          </a:solidFill>
          <a:ln w="25400">
            <a:solidFill>
              <a:srgbClr val="22A8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4592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Syntax:   for  item  in  tuple_name: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148840"/>
            <a:ext cx="4297680" cy="3108960"/>
          </a:xfrm>
          <a:prstGeom prst="rect">
            <a:avLst/>
          </a:prstGeom>
          <a:solidFill>
            <a:srgbClr val="0D1B2A"/>
          </a:solidFill>
          <a:ln w="19050">
            <a:solidFill>
              <a:srgbClr val="22A8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2258568"/>
            <a:ext cx="3968496" cy="2889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my_tuple = (1, 2, 3, 4, 5)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item in my_tuple: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print(item)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120640" y="21488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Trace: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120640" y="2514600"/>
            <a:ext cx="3566160" cy="493776"/>
          </a:xfrm>
          <a:prstGeom prst="rect">
            <a:avLst/>
          </a:prstGeom>
          <a:solidFill>
            <a:srgbClr val="EFF6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30368" y="2578608"/>
            <a:ext cx="347472" cy="347472"/>
          </a:xfrm>
          <a:prstGeom prst="ellipse">
            <a:avLst/>
          </a:prstGeom>
          <a:solidFill>
            <a:srgbClr val="22A8C4"/>
          </a:solidFill>
          <a:ln w="12700">
            <a:solidFill>
              <a:srgbClr val="22A8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50992" y="25877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 = 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0" y="258775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A8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print(1)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120640" y="3081528"/>
            <a:ext cx="356616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30368" y="3145536"/>
            <a:ext cx="347472" cy="347472"/>
          </a:xfrm>
          <a:prstGeom prst="ellipse">
            <a:avLst/>
          </a:prstGeom>
          <a:solidFill>
            <a:srgbClr val="22A8C4"/>
          </a:solidFill>
          <a:ln w="12700">
            <a:solidFill>
              <a:srgbClr val="22A8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50992" y="31546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 = 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0" y="315468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A8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print(2)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120640" y="3648456"/>
            <a:ext cx="3566160" cy="493776"/>
          </a:xfrm>
          <a:prstGeom prst="rect">
            <a:avLst/>
          </a:prstGeom>
          <a:solidFill>
            <a:srgbClr val="EFF6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30368" y="3712464"/>
            <a:ext cx="347472" cy="347472"/>
          </a:xfrm>
          <a:prstGeom prst="ellipse">
            <a:avLst/>
          </a:prstGeom>
          <a:solidFill>
            <a:srgbClr val="22A8C4"/>
          </a:solidFill>
          <a:ln w="12700">
            <a:solidFill>
              <a:srgbClr val="22A8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372160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 = 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0" y="372160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A8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print(3)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120640" y="4215384"/>
            <a:ext cx="356616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30368" y="4279392"/>
            <a:ext cx="347472" cy="347472"/>
          </a:xfrm>
          <a:prstGeom prst="ellipse">
            <a:avLst/>
          </a:prstGeom>
          <a:solidFill>
            <a:srgbClr val="22A8C4"/>
          </a:solidFill>
          <a:ln w="12700">
            <a:solidFill>
              <a:srgbClr val="22A8C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50992" y="428853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 = 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0" y="4288536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A8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print(4)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120640" y="4782312"/>
            <a:ext cx="3566160" cy="493776"/>
          </a:xfrm>
          <a:prstGeom prst="rect">
            <a:avLst/>
          </a:prstGeom>
          <a:solidFill>
            <a:srgbClr val="EFF6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30368" y="4846320"/>
            <a:ext cx="347472" cy="347472"/>
          </a:xfrm>
          <a:prstGeom prst="ellipse">
            <a:avLst/>
          </a:prstGeom>
          <a:solidFill>
            <a:srgbClr val="22A8C4"/>
          </a:solidFill>
          <a:ln w="12700">
            <a:solidFill>
              <a:srgbClr val="22A8C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50992" y="485546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 = 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315200" y="4855464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A8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print(5)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enumerate() Function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107899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need both the index and the value during a loop, use enumerate(). It returns (index, value) pairs.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664208"/>
            <a:ext cx="8412480" cy="475488"/>
          </a:xfrm>
          <a:prstGeom prst="rect">
            <a:avLst/>
          </a:prstGeom>
          <a:solidFill>
            <a:srgbClr val="E8F4F8"/>
          </a:solidFill>
          <a:ln w="25400">
            <a:solidFill>
              <a:srgbClr val="22A8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7393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index, item in enumerate(tuple_name):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286000"/>
            <a:ext cx="5029200" cy="2926080"/>
          </a:xfrm>
          <a:prstGeom prst="rect">
            <a:avLst/>
          </a:prstGeom>
          <a:solidFill>
            <a:srgbClr val="0D1B2A"/>
          </a:solidFill>
          <a:ln w="19050">
            <a:solidFill>
              <a:srgbClr val="22A8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2395728"/>
            <a:ext cx="4700016" cy="2706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my_tuple = (10, 20, 30)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index, item in enumerate(my_tuple):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print("index:", index, "item:", item)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index: 0  item: 10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index: 1  item: 20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index: 2  item: 30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669280" y="22860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Table: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0" y="2633472"/>
            <a:ext cx="3017520" cy="384048"/>
          </a:xfrm>
          <a:prstGeom prst="rect">
            <a:avLst/>
          </a:prstGeom>
          <a:solidFill>
            <a:srgbClr val="1C5F7A"/>
          </a:solidFill>
          <a:ln w="12700">
            <a:solidFill>
              <a:srgbClr val="1C5F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42432" y="26974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12280" y="269748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0" y="3017520"/>
            <a:ext cx="3017520" cy="457200"/>
          </a:xfrm>
          <a:prstGeom prst="rect">
            <a:avLst/>
          </a:prstGeom>
          <a:solidFill>
            <a:srgbClr val="EFF6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42432" y="31089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12280" y="31089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0" y="3547872"/>
            <a:ext cx="3017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42432" y="363931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12280" y="363931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669280" y="4078224"/>
            <a:ext cx="3017520" cy="457200"/>
          </a:xfrm>
          <a:prstGeom prst="rect">
            <a:avLst/>
          </a:prstGeom>
          <a:solidFill>
            <a:srgbClr val="EFF6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42432" y="416966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12280" y="416966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5376672"/>
            <a:ext cx="8412480" cy="566928"/>
          </a:xfrm>
          <a:prstGeom prst="rect">
            <a:avLst/>
          </a:prstGeom>
          <a:solidFill>
            <a:srgbClr val="FFF8E1"/>
          </a:solidFill>
          <a:ln w="19050">
            <a:solidFill>
              <a:srgbClr val="F4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548640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D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Use enumerate() when you need the position (index) AND the value at the same time — no need for a manual counter variable.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5F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834640"/>
            <a:ext cx="9144000" cy="1645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4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●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0" y="297180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Basic Tuple Operations</a:t>
            </a:r>
            <a:endParaRPr lang="en-US" sz="3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 Mutability — Tuples are Immutable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107899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means once a tuple is created you CANNOT add, remove, or change its elements.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4206240" cy="5120640"/>
          </a:xfrm>
          <a:prstGeom prst="rect">
            <a:avLst/>
          </a:prstGeom>
          <a:solidFill>
            <a:srgbClr val="E8F8F0"/>
          </a:solidFill>
          <a:ln w="25400">
            <a:solidFill>
              <a:srgbClr val="1A98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755648"/>
            <a:ext cx="3877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 (Mutable ✓)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1284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Can add elements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263347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Can remove elements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305409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Can change elements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34747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Flexible &amp; dynamic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30352" y="4096512"/>
            <a:ext cx="3877056" cy="1554480"/>
          </a:xfrm>
          <a:prstGeom prst="rect">
            <a:avLst/>
          </a:prstGeom>
          <a:solidFill>
            <a:srgbClr val="0D1B2A"/>
          </a:solidFill>
          <a:ln w="12700">
            <a:solidFill>
              <a:srgbClr val="1A98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4187952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lst = [1, 2, 3]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lst[0] = 10         # OK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print(lst)  # [10, 2, 3]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600200"/>
            <a:ext cx="4206240" cy="5120640"/>
          </a:xfrm>
          <a:prstGeom prst="rect">
            <a:avLst/>
          </a:prstGeom>
          <a:solidFill>
            <a:srgbClr val="FFF0F5"/>
          </a:solidFill>
          <a:ln w="25400">
            <a:solidFill>
              <a:srgbClr val="C000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1755648"/>
            <a:ext cx="3877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  (Immutable ✗)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221284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Cannot add elements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0" y="263347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Cannot remove elements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0" y="305409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Cannot change elements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29200" y="34747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Fixed after creation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919472" y="4096512"/>
            <a:ext cx="3877056" cy="1554480"/>
          </a:xfrm>
          <a:prstGeom prst="rect">
            <a:avLst/>
          </a:prstGeom>
          <a:solidFill>
            <a:srgbClr val="0D1B2A"/>
          </a:solidFill>
          <a:ln w="12700">
            <a:solidFill>
              <a:srgbClr val="C000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84064" y="4187952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(1, 2, 3)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t[0] = 10    # ERROR!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TypeError: 'tuple' object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does not support item assignment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 Concatenation — Joining Tuples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107899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join two tuples to form a new one by adding them to the end of each other using the + operator.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719072"/>
            <a:ext cx="8412480" cy="530352"/>
          </a:xfrm>
          <a:prstGeom prst="rect">
            <a:avLst/>
          </a:prstGeom>
          <a:solidFill>
            <a:srgbClr val="EFF6FB"/>
          </a:solidFill>
          <a:ln w="19050">
            <a:solidFill>
              <a:srgbClr val="1C5F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82880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We can add one tuple to the end of another tuple to form a new combined tuple.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322576"/>
            <a:ext cx="8412480" cy="530352"/>
          </a:xfrm>
          <a:prstGeom prst="rect">
            <a:avLst/>
          </a:prstGeom>
          <a:solidFill>
            <a:srgbClr val="EFF6FB"/>
          </a:solidFill>
          <a:ln w="19050">
            <a:solidFill>
              <a:srgbClr val="1C5F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432304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Use the + operator to perform concatenation.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3063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Concatenation: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345643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tuple_a = (1, 2, 3)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822960" cy="512064"/>
          </a:xfrm>
          <a:prstGeom prst="rect">
            <a:avLst/>
          </a:prstGeom>
          <a:solidFill>
            <a:srgbClr val="1C5F7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84048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435608" y="3749040"/>
            <a:ext cx="822960" cy="512064"/>
          </a:xfrm>
          <a:prstGeom prst="rect">
            <a:avLst/>
          </a:prstGeom>
          <a:solidFill>
            <a:srgbClr val="1C5F7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35608" y="384048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368296" y="3749040"/>
            <a:ext cx="822960" cy="512064"/>
          </a:xfrm>
          <a:prstGeom prst="rect">
            <a:avLst/>
          </a:prstGeom>
          <a:solidFill>
            <a:srgbClr val="1C5F7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68296" y="384048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83280" y="382219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977640" y="345643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tuple_b = (4, 5, 6)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977640" y="3749040"/>
            <a:ext cx="822960" cy="512064"/>
          </a:xfrm>
          <a:prstGeom prst="rect">
            <a:avLst/>
          </a:prstGeom>
          <a:solidFill>
            <a:srgbClr val="50808E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77640" y="384048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910328" y="3749040"/>
            <a:ext cx="822960" cy="512064"/>
          </a:xfrm>
          <a:prstGeom prst="rect">
            <a:avLst/>
          </a:prstGeom>
          <a:solidFill>
            <a:srgbClr val="50808E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0328" y="384048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843016" y="3749040"/>
            <a:ext cx="822960" cy="512064"/>
          </a:xfrm>
          <a:prstGeom prst="rect">
            <a:avLst/>
          </a:prstGeom>
          <a:solidFill>
            <a:srgbClr val="50808E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43016" y="384048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784848" y="38221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502920" y="4425696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(1,2,3,4,5,6)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02920" y="4718304"/>
            <a:ext cx="822960" cy="512064"/>
          </a:xfrm>
          <a:prstGeom prst="rect">
            <a:avLst/>
          </a:prstGeom>
          <a:solidFill>
            <a:srgbClr val="1C5F7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80974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1435608" y="4718304"/>
            <a:ext cx="822960" cy="512064"/>
          </a:xfrm>
          <a:prstGeom prst="rect">
            <a:avLst/>
          </a:prstGeom>
          <a:solidFill>
            <a:srgbClr val="1C5F7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435608" y="480974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2368296" y="4718304"/>
            <a:ext cx="822960" cy="512064"/>
          </a:xfrm>
          <a:prstGeom prst="rect">
            <a:avLst/>
          </a:prstGeom>
          <a:solidFill>
            <a:srgbClr val="1C5F7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68296" y="480974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300984" y="4718304"/>
            <a:ext cx="822960" cy="512064"/>
          </a:xfrm>
          <a:prstGeom prst="rect">
            <a:avLst/>
          </a:prstGeom>
          <a:solidFill>
            <a:srgbClr val="50808E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00984" y="480974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233672" y="4718304"/>
            <a:ext cx="822960" cy="512064"/>
          </a:xfrm>
          <a:prstGeom prst="rect">
            <a:avLst/>
          </a:prstGeom>
          <a:solidFill>
            <a:srgbClr val="50808E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33672" y="480974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166360" y="4718304"/>
            <a:ext cx="822960" cy="512064"/>
          </a:xfrm>
          <a:prstGeom prst="rect">
            <a:avLst/>
          </a:prstGeom>
          <a:solidFill>
            <a:srgbClr val="50808E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66360" y="480974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5440680"/>
            <a:ext cx="8412480" cy="1234440"/>
          </a:xfrm>
          <a:prstGeom prst="rect">
            <a:avLst/>
          </a:prstGeom>
          <a:solidFill>
            <a:srgbClr val="0D1B2A"/>
          </a:solidFill>
          <a:ln w="19050">
            <a:solidFill>
              <a:srgbClr val="22A8C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0352" y="5550408"/>
            <a:ext cx="8083296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tuple_a = (1, 2, 3)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tuple_b = (4, 5, 6)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 = tuple_a + tuple_b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print(result)   # (1, 2, 3, 4, 5, 6)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 Merging — Combining Any Number of Tuples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107899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Merging works like concatenation — any number of tuples can be merged into one using the + operator.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682496"/>
            <a:ext cx="8412480" cy="512064"/>
          </a:xfrm>
          <a:prstGeom prst="rect">
            <a:avLst/>
          </a:prstGeom>
          <a:solidFill>
            <a:srgbClr val="EFF6FB"/>
          </a:solidFill>
          <a:ln w="19050">
            <a:solidFill>
              <a:srgbClr val="1C5F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92224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Any number of lists/tuples can be merged together and stored in a new tuple.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267712"/>
            <a:ext cx="8412480" cy="512064"/>
          </a:xfrm>
          <a:prstGeom prst="rect">
            <a:avLst/>
          </a:prstGeom>
          <a:solidFill>
            <a:srgbClr val="EFF6FB"/>
          </a:solidFill>
          <a:ln w="19050">
            <a:solidFill>
              <a:srgbClr val="1C5F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377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Use the + operator to merge tuples.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926080"/>
            <a:ext cx="8412480" cy="1389888"/>
          </a:xfrm>
          <a:prstGeom prst="rect">
            <a:avLst/>
          </a:prstGeom>
          <a:solidFill>
            <a:srgbClr val="0D1B2A"/>
          </a:solidFill>
          <a:ln w="19050">
            <a:solidFill>
              <a:srgbClr val="22A8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3035808"/>
            <a:ext cx="8083296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  = (1, 2, 3)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second = (4, 5, 6)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merged = first + second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print(merged)      # (1, 2, 3, 4, 5, 6)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6576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Concatenation vs Merging — Key Difference: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4828032"/>
            <a:ext cx="4114800" cy="1554480"/>
          </a:xfrm>
          <a:prstGeom prst="rect">
            <a:avLst/>
          </a:prstGeom>
          <a:solidFill>
            <a:srgbClr val="E8F4F8"/>
          </a:solidFill>
          <a:ln w="19050">
            <a:solidFill>
              <a:srgbClr val="22A8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495604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5266944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two tuples end-to-end.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is a new tuple.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58338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+ b  →  combined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4828032"/>
            <a:ext cx="4114800" cy="1554480"/>
          </a:xfrm>
          <a:prstGeom prst="rect">
            <a:avLst/>
          </a:prstGeom>
          <a:solidFill>
            <a:srgbClr val="FFF8E1"/>
          </a:solidFill>
          <a:ln w="19050">
            <a:solidFill>
              <a:srgbClr val="F4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495604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00600" y="5266944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join more than two tuples.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+ operator, just extended.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58338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+ b + c  →  merged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2026-02-13T13:33:43Z</dcterms:created>
  <dcterms:modified xsi:type="dcterms:W3CDTF">2026-02-13T13:33:43Z</dcterms:modified>
</cp:coreProperties>
</file>