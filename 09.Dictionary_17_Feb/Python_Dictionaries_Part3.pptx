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6.xml.rels" ContentType="application/vnd.openxmlformats-package.relationships+xml"/>
  <Override PartName="/ppt/notesSlides/_rels/notesSlide15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1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7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9.xml.rels" ContentType="application/vnd.openxmlformats-package.relationships+xml"/>
  <Override PartName="/ppt/slides/_rels/slide14.xml.rels" ContentType="application/vnd.openxmlformats-package.relationships+xml"/>
  <Override PartName="/ppt/slides/_rels/slide11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6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Click to move the slide</a:t>
            </a: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2000" spc="-1" strike="noStrike">
                <a:latin typeface="Arial"/>
              </a:rPr>
              <a:t>Click to edit the notes format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1400" spc="-1" strike="noStrike">
                <a:latin typeface="Times New Roman"/>
              </a:rPr>
              <a:t>&lt;header&gt;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0418B518-8621-44D2-8C51-82FC5D11AA34}" type="slidenum">
              <a:rPr b="0" lang="en-IN" sz="1400" spc="-1" strike="noStrike"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65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B867D9C-ECB7-45EC-9DDF-06A8FDEC75DA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6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68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0F5BD77-9F0B-4A32-84CB-4899F1A1919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71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4E5A3DB-7950-408B-B07B-FFCC50CD731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0BC78DE-518C-4D96-8D50-2D427083863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77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0BACD3C-62C5-4198-8FF2-4B399785A45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80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1160D57B-1BDA-4D08-9C3D-A51A781D82EA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83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C59B519-CBF3-4779-BACD-D1AFDBC0442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86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E8110E5-B5D5-4F9F-9AB4-F2EE312F7DE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89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D2A66A0-D309-48A6-86C9-5ECCF1409776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92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A948D47-3086-424A-8879-8D6DC0CFB8C7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95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7154D77-1263-4B2C-8FB2-988079BD470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298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2FB149A-134F-4C55-9940-3268A12914D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01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7FCE80D-10F5-48A6-A4A4-104DF51DE478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04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65B5BA3-7DC6-46B9-9C82-7D0DA60441C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07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68EEEA4-4B13-4AB7-A5BA-386DE981FBB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3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310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FA0F502-5D57-4DFB-ADC0-999E27DF1AE6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IN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/>
          <p:cNvSpPr/>
          <p:nvPr/>
        </p:nvSpPr>
        <p:spPr>
          <a:xfrm>
            <a:off x="0" y="0"/>
            <a:ext cx="200880" cy="5143320"/>
          </a:xfrm>
          <a:prstGeom prst="rect">
            <a:avLst/>
          </a:prstGeom>
          <a:solidFill>
            <a:srgbClr val="d4a5a5"/>
          </a:solidFill>
          <a:ln w="12700">
            <a:solidFill>
              <a:srgbClr val="d4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Text 1"/>
          <p:cNvSpPr/>
          <p:nvPr/>
        </p:nvSpPr>
        <p:spPr>
          <a:xfrm>
            <a:off x="502920" y="1691640"/>
            <a:ext cx="82292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800" spc="-1" strike="noStrike">
                <a:solidFill>
                  <a:srgbClr val="ffffff"/>
                </a:solidFill>
                <a:latin typeface="Georgia"/>
                <a:ea typeface="Georgia"/>
              </a:rPr>
              <a:t>Python Dictionaries</a:t>
            </a:r>
            <a:endParaRPr b="0" lang="en-IN" sz="4800" spc="-1" strike="noStrike">
              <a:latin typeface="Arial"/>
            </a:endParaRPr>
          </a:p>
        </p:txBody>
      </p:sp>
      <p:sp>
        <p:nvSpPr>
          <p:cNvPr id="46" name="Text 2"/>
          <p:cNvSpPr/>
          <p:nvPr/>
        </p:nvSpPr>
        <p:spPr>
          <a:xfrm>
            <a:off x="502920" y="329184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2000" spc="-1" strike="noStrike">
                <a:solidFill>
                  <a:srgbClr val="d4a5a5"/>
                </a:solidFill>
                <a:latin typeface="Calibri"/>
                <a:ea typeface="Calibri"/>
              </a:rPr>
              <a:t>Part 3 – Operators, Built-in Functions &amp; Methods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7" name="Text 3"/>
          <p:cNvSpPr/>
          <p:nvPr/>
        </p:nvSpPr>
        <p:spPr>
          <a:xfrm>
            <a:off x="502920" y="621792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b8999a"/>
                </a:solidFill>
                <a:latin typeface="Calibri"/>
                <a:ea typeface="Calibri"/>
              </a:rPr>
              <a:t>'is' • Comparison • 'not' • len • max • min • sum • any • all • sorted • reversed • update • pop • popitem • clear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a267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Shape 0"/>
          <p:cNvSpPr/>
          <p:nvPr/>
        </p:nvSpPr>
        <p:spPr>
          <a:xfrm>
            <a:off x="0" y="2834640"/>
            <a:ext cx="9143640" cy="164556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49" name="Text 1"/>
          <p:cNvSpPr/>
          <p:nvPr/>
        </p:nvSpPr>
        <p:spPr>
          <a:xfrm>
            <a:off x="457200" y="274320"/>
            <a:ext cx="14626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5200" spc="-1" strike="noStrike">
                <a:solidFill>
                  <a:srgbClr val="f4a623"/>
                </a:solidFill>
                <a:latin typeface="Georgia"/>
                <a:ea typeface="Georgia"/>
              </a:rPr>
              <a:t>⑥</a:t>
            </a:r>
            <a:endParaRPr b="0" lang="en-IN" sz="5200" spc="-1" strike="noStrike">
              <a:latin typeface="Arial"/>
            </a:endParaRPr>
          </a:p>
        </p:txBody>
      </p:sp>
      <p:sp>
        <p:nvSpPr>
          <p:cNvPr id="50" name="Text 2"/>
          <p:cNvSpPr/>
          <p:nvPr/>
        </p:nvSpPr>
        <p:spPr>
          <a:xfrm>
            <a:off x="0" y="2971800"/>
            <a:ext cx="91436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Georgia"/>
                <a:ea typeface="Georgia"/>
              </a:rPr>
              <a:t>Identity — 'is' Operator</a:t>
            </a:r>
            <a:endParaRPr b="0" lang="en-IN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0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2" name="Text 1"/>
          <p:cNvSpPr/>
          <p:nvPr/>
        </p:nvSpPr>
        <p:spPr>
          <a:xfrm>
            <a:off x="365760" y="109800"/>
            <a:ext cx="84121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Georgia"/>
                <a:ea typeface="Georgia"/>
              </a:rPr>
              <a:t>⑥ </a:t>
            </a:r>
            <a:r>
              <a:rPr b="1" lang="en-US" sz="3200" spc="-1" strike="noStrike">
                <a:solidFill>
                  <a:srgbClr val="ffffff"/>
                </a:solidFill>
                <a:latin typeface="Georgia"/>
                <a:ea typeface="Georgia"/>
              </a:rPr>
              <a:t>Identity — 'is' Operator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53" name="Text 2"/>
          <p:cNvSpPr/>
          <p:nvPr/>
        </p:nvSpPr>
        <p:spPr>
          <a:xfrm>
            <a:off x="365760" y="603360"/>
            <a:ext cx="8412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d4a5a5"/>
                </a:solidFill>
                <a:latin typeface="Calibri"/>
                <a:ea typeface="Calibri"/>
              </a:rPr>
              <a:t>Check if two variables share the same memory location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54" name="Text 3"/>
          <p:cNvSpPr/>
          <p:nvPr/>
        </p:nvSpPr>
        <p:spPr>
          <a:xfrm>
            <a:off x="365760" y="1078920"/>
            <a:ext cx="8412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22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222222"/>
                </a:solidFill>
                <a:latin typeface="Calibri"/>
                <a:ea typeface="Calibri"/>
              </a:rPr>
              <a:t>The 'is' operator checks whether two variables refer to the same object in memory — not just equal values.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55" name="Shape 4"/>
          <p:cNvSpPr/>
          <p:nvPr/>
        </p:nvSpPr>
        <p:spPr>
          <a:xfrm>
            <a:off x="365760" y="1591200"/>
            <a:ext cx="8412120" cy="475200"/>
          </a:xfrm>
          <a:prstGeom prst="rect">
            <a:avLst/>
          </a:prstGeom>
          <a:solidFill>
            <a:srgbClr val="fef5f1"/>
          </a:solidFill>
          <a:ln w="25400">
            <a:solidFill>
              <a:srgbClr val="d4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6" name="Text 5"/>
          <p:cNvSpPr/>
          <p:nvPr/>
        </p:nvSpPr>
        <p:spPr>
          <a:xfrm>
            <a:off x="640080" y="1700640"/>
            <a:ext cx="8046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6d2e46"/>
                </a:solidFill>
                <a:latin typeface="Consolas"/>
                <a:ea typeface="Consolas"/>
              </a:rPr>
              <a:t>Syntax:   variable_a  is  variable_b   →  True / False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57" name="Text 6"/>
          <p:cNvSpPr/>
          <p:nvPr/>
        </p:nvSpPr>
        <p:spPr>
          <a:xfrm>
            <a:off x="365760" y="223128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a26769"/>
                </a:solidFill>
                <a:latin typeface="Calibri"/>
                <a:ea typeface="Calibri"/>
              </a:rPr>
              <a:t>Case 1 — Aliased (same object):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58" name="Shape 7"/>
          <p:cNvSpPr/>
          <p:nvPr/>
        </p:nvSpPr>
        <p:spPr>
          <a:xfrm>
            <a:off x="365760" y="2578680"/>
            <a:ext cx="8412120" cy="1261440"/>
          </a:xfrm>
          <a:prstGeom prst="rect">
            <a:avLst/>
          </a:prstGeom>
          <a:solidFill>
            <a:srgbClr val="3d1f2f"/>
          </a:solidFill>
          <a:ln w="19050">
            <a:solidFill>
              <a:srgbClr val="d4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59" name="Text 8"/>
          <p:cNvSpPr/>
          <p:nvPr/>
        </p:nvSpPr>
        <p:spPr>
          <a:xfrm>
            <a:off x="530280" y="2688480"/>
            <a:ext cx="8083080" cy="104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dict1 = {1: 'a', 2: 'b', 3: 'c'}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dict2 = dict1              # aliasing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print(dict1 is dict2)      # True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print(dict2 is dict1)      # True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60" name="Text 9"/>
          <p:cNvSpPr/>
          <p:nvPr/>
        </p:nvSpPr>
        <p:spPr>
          <a:xfrm>
            <a:off x="365760" y="400500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c0004a"/>
                </a:solidFill>
                <a:latin typeface="Calibri"/>
                <a:ea typeface="Calibri"/>
              </a:rPr>
              <a:t>Case 2 — Cloned (different objects):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61" name="Shape 10"/>
          <p:cNvSpPr/>
          <p:nvPr/>
        </p:nvSpPr>
        <p:spPr>
          <a:xfrm>
            <a:off x="365760" y="4352400"/>
            <a:ext cx="8412120" cy="1261440"/>
          </a:xfrm>
          <a:prstGeom prst="rect">
            <a:avLst/>
          </a:prstGeom>
          <a:solidFill>
            <a:srgbClr val="3d1f2f"/>
          </a:solidFill>
          <a:ln w="19050">
            <a:solidFill>
              <a:srgbClr val="d4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2" name="Text 11"/>
          <p:cNvSpPr/>
          <p:nvPr/>
        </p:nvSpPr>
        <p:spPr>
          <a:xfrm>
            <a:off x="530280" y="4462200"/>
            <a:ext cx="8083080" cy="104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dict3 = {1: 'a', 2: 'b', 3: 'c'}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dict4 = dict3.copy()       # cloning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print(dict3 is dict4)      # False  ← different objects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print(dict4 is dict3)      # False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63" name="Shape 12"/>
          <p:cNvSpPr/>
          <p:nvPr/>
        </p:nvSpPr>
        <p:spPr>
          <a:xfrm>
            <a:off x="365760" y="5779080"/>
            <a:ext cx="8412120" cy="566640"/>
          </a:xfrm>
          <a:prstGeom prst="rect">
            <a:avLst/>
          </a:prstGeom>
          <a:solidFill>
            <a:srgbClr val="fff8e1"/>
          </a:solidFill>
          <a:ln w="19050">
            <a:solidFill>
              <a:srgbClr val="f4a62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4" name="Text 13"/>
          <p:cNvSpPr/>
          <p:nvPr/>
        </p:nvSpPr>
        <p:spPr>
          <a:xfrm>
            <a:off x="594360" y="5888880"/>
            <a:ext cx="80463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7d4e00"/>
                </a:solidFill>
                <a:latin typeface="Calibri"/>
                <a:ea typeface="Calibri"/>
              </a:rPr>
              <a:t>💡 </a:t>
            </a:r>
            <a:r>
              <a:rPr b="0" lang="en-US" sz="1250" spc="-1" strike="noStrike">
                <a:solidFill>
                  <a:srgbClr val="7d4e00"/>
                </a:solidFill>
                <a:latin typeface="Calibri"/>
                <a:ea typeface="Calibri"/>
              </a:rPr>
              <a:t>'is' checks memory identity (same object), while '==' checks value equality (same content).</a:t>
            </a:r>
            <a:endParaRPr b="0" lang="en-IN" sz="12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a267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0"/>
          <p:cNvSpPr/>
          <p:nvPr/>
        </p:nvSpPr>
        <p:spPr>
          <a:xfrm>
            <a:off x="0" y="2834640"/>
            <a:ext cx="9143640" cy="164556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6" name="Text 1"/>
          <p:cNvSpPr/>
          <p:nvPr/>
        </p:nvSpPr>
        <p:spPr>
          <a:xfrm>
            <a:off x="457200" y="274320"/>
            <a:ext cx="14626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5200" spc="-1" strike="noStrike">
                <a:solidFill>
                  <a:srgbClr val="f4a623"/>
                </a:solidFill>
                <a:latin typeface="Georgia"/>
                <a:ea typeface="Georgia"/>
              </a:rPr>
              <a:t>⑦</a:t>
            </a:r>
            <a:endParaRPr b="0" lang="en-IN" sz="5200" spc="-1" strike="noStrike">
              <a:latin typeface="Arial"/>
            </a:endParaRPr>
          </a:p>
        </p:txBody>
      </p:sp>
      <p:sp>
        <p:nvSpPr>
          <p:cNvPr id="67" name="Text 2"/>
          <p:cNvSpPr/>
          <p:nvPr/>
        </p:nvSpPr>
        <p:spPr>
          <a:xfrm>
            <a:off x="0" y="2971800"/>
            <a:ext cx="91436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Georgia"/>
                <a:ea typeface="Georgia"/>
              </a:rPr>
              <a:t>Comparison</a:t>
            </a:r>
            <a:endParaRPr b="0" lang="en-IN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Shape 0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69" name="Text 1"/>
          <p:cNvSpPr/>
          <p:nvPr/>
        </p:nvSpPr>
        <p:spPr>
          <a:xfrm>
            <a:off x="365760" y="109800"/>
            <a:ext cx="84121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Georgia"/>
                <a:ea typeface="Georgia"/>
              </a:rPr>
              <a:t>⑦ </a:t>
            </a:r>
            <a:r>
              <a:rPr b="1" lang="en-US" sz="3200" spc="-1" strike="noStrike">
                <a:solidFill>
                  <a:srgbClr val="ffffff"/>
                </a:solidFill>
                <a:latin typeface="Georgia"/>
                <a:ea typeface="Georgia"/>
              </a:rPr>
              <a:t>Comparison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70" name="Text 2"/>
          <p:cNvSpPr/>
          <p:nvPr/>
        </p:nvSpPr>
        <p:spPr>
          <a:xfrm>
            <a:off x="365760" y="603360"/>
            <a:ext cx="8412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d4a5a5"/>
                </a:solidFill>
                <a:latin typeface="Calibri"/>
                <a:ea typeface="Calibri"/>
              </a:rPr>
              <a:t>Compare dictionaries by content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71" name="Text 3"/>
          <p:cNvSpPr/>
          <p:nvPr/>
        </p:nvSpPr>
        <p:spPr>
          <a:xfrm>
            <a:off x="365760" y="1078920"/>
            <a:ext cx="8412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22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222222"/>
                </a:solidFill>
                <a:latin typeface="Calibri"/>
                <a:ea typeface="Calibri"/>
              </a:rPr>
              <a:t>Dictionaries can be compared using == and != operators. Comparison checks if both dictionaries have the same key-value pairs.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72" name="Shape 4"/>
          <p:cNvSpPr/>
          <p:nvPr/>
        </p:nvSpPr>
        <p:spPr>
          <a:xfrm>
            <a:off x="365760" y="1691640"/>
            <a:ext cx="8412120" cy="1938240"/>
          </a:xfrm>
          <a:prstGeom prst="rect">
            <a:avLst/>
          </a:prstGeom>
          <a:solidFill>
            <a:srgbClr val="3d1f2f"/>
          </a:solidFill>
          <a:ln w="19050">
            <a:solidFill>
              <a:srgbClr val="d4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3" name="Text 5"/>
          <p:cNvSpPr/>
          <p:nvPr/>
        </p:nvSpPr>
        <p:spPr>
          <a:xfrm>
            <a:off x="530280" y="1801440"/>
            <a:ext cx="8083080" cy="171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dict_a = {1: 'a', 2: 'b', 3: 'c'}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dict_b = {1: 'a', 2: 'b', 3: 'c'}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dict_c = {1: 'x', 2: 'y'}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print(dict_a == dict_b)    # True  ← same content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print(dict_a == dict_c)    # False ← different content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print(dict_a != dict_c)    # True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74" name="Shape 6"/>
          <p:cNvSpPr/>
          <p:nvPr/>
        </p:nvSpPr>
        <p:spPr>
          <a:xfrm>
            <a:off x="365760" y="3794760"/>
            <a:ext cx="4023000" cy="804240"/>
          </a:xfrm>
          <a:prstGeom prst="rect">
            <a:avLst/>
          </a:prstGeom>
          <a:solidFill>
            <a:srgbClr val="e8f5e9"/>
          </a:solidFill>
          <a:ln w="19050">
            <a:solidFill>
              <a:srgbClr val="1a98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5" name="Text 7"/>
          <p:cNvSpPr/>
          <p:nvPr/>
        </p:nvSpPr>
        <p:spPr>
          <a:xfrm>
            <a:off x="548640" y="3913560"/>
            <a:ext cx="3657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a5e3a"/>
                </a:solidFill>
                <a:latin typeface="Calibri"/>
                <a:ea typeface="Calibri"/>
              </a:rPr>
              <a:t>== (Equal)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76" name="Text 8"/>
          <p:cNvSpPr/>
          <p:nvPr/>
        </p:nvSpPr>
        <p:spPr>
          <a:xfrm>
            <a:off x="548640" y="4224600"/>
            <a:ext cx="3657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1701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333333"/>
                </a:solidFill>
                <a:latin typeface="Calibri"/>
                <a:ea typeface="Calibri"/>
              </a:rPr>
              <a:t>Same keys + same values</a:t>
            </a:r>
            <a:endParaRPr b="0" lang="en-IN" sz="1200" spc="-1" strike="noStrike">
              <a:latin typeface="Arial"/>
            </a:endParaRPr>
          </a:p>
          <a:p>
            <a:pPr>
              <a:lnSpc>
                <a:spcPts val="1701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333333"/>
                </a:solidFill>
                <a:latin typeface="Calibri"/>
                <a:ea typeface="Calibri"/>
              </a:rPr>
              <a:t>→ </a:t>
            </a:r>
            <a:r>
              <a:rPr b="0" lang="en-US" sz="1200" spc="-1" strike="noStrike">
                <a:solidFill>
                  <a:srgbClr val="333333"/>
                </a:solidFill>
                <a:latin typeface="Calibri"/>
                <a:ea typeface="Calibri"/>
              </a:rPr>
              <a:t>True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77" name="Shape 9"/>
          <p:cNvSpPr/>
          <p:nvPr/>
        </p:nvSpPr>
        <p:spPr>
          <a:xfrm>
            <a:off x="4754880" y="3794760"/>
            <a:ext cx="4023000" cy="804240"/>
          </a:xfrm>
          <a:prstGeom prst="rect">
            <a:avLst/>
          </a:prstGeom>
          <a:solidFill>
            <a:srgbClr val="fff0f5"/>
          </a:solidFill>
          <a:ln w="19050">
            <a:solidFill>
              <a:srgbClr val="c0004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78" name="Text 10"/>
          <p:cNvSpPr/>
          <p:nvPr/>
        </p:nvSpPr>
        <p:spPr>
          <a:xfrm>
            <a:off x="4937760" y="3913560"/>
            <a:ext cx="3657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8b0032"/>
                </a:solidFill>
                <a:latin typeface="Calibri"/>
                <a:ea typeface="Calibri"/>
              </a:rPr>
              <a:t>!= (Not Equal)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79" name="Text 11"/>
          <p:cNvSpPr/>
          <p:nvPr/>
        </p:nvSpPr>
        <p:spPr>
          <a:xfrm>
            <a:off x="4937760" y="4224600"/>
            <a:ext cx="36572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1701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333333"/>
                </a:solidFill>
                <a:latin typeface="Calibri"/>
                <a:ea typeface="Calibri"/>
              </a:rPr>
              <a:t>Different keys OR values</a:t>
            </a:r>
            <a:endParaRPr b="0" lang="en-IN" sz="1200" spc="-1" strike="noStrike">
              <a:latin typeface="Arial"/>
            </a:endParaRPr>
          </a:p>
          <a:p>
            <a:pPr>
              <a:lnSpc>
                <a:spcPts val="1701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333333"/>
                </a:solidFill>
                <a:latin typeface="Calibri"/>
                <a:ea typeface="Calibri"/>
              </a:rPr>
              <a:t>→ </a:t>
            </a:r>
            <a:r>
              <a:rPr b="0" lang="en-US" sz="1200" spc="-1" strike="noStrike">
                <a:solidFill>
                  <a:srgbClr val="333333"/>
                </a:solidFill>
                <a:latin typeface="Calibri"/>
                <a:ea typeface="Calibri"/>
              </a:rPr>
              <a:t>True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80" name="Shape 12"/>
          <p:cNvSpPr/>
          <p:nvPr/>
        </p:nvSpPr>
        <p:spPr>
          <a:xfrm>
            <a:off x="365760" y="4754880"/>
            <a:ext cx="8412120" cy="566640"/>
          </a:xfrm>
          <a:prstGeom prst="rect">
            <a:avLst/>
          </a:prstGeom>
          <a:solidFill>
            <a:srgbClr val="fcf5f0"/>
          </a:solidFill>
          <a:ln w="19050">
            <a:solidFill>
              <a:srgbClr val="a2676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1" name="Text 13"/>
          <p:cNvSpPr/>
          <p:nvPr/>
        </p:nvSpPr>
        <p:spPr>
          <a:xfrm>
            <a:off x="594360" y="4864680"/>
            <a:ext cx="80463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6d2e46"/>
                </a:solidFill>
                <a:latin typeface="Calibri"/>
                <a:ea typeface="Calibri"/>
              </a:rPr>
              <a:t>⚠  </a:t>
            </a:r>
            <a:r>
              <a:rPr b="0" lang="en-US" sz="1250" spc="-1" strike="noStrike">
                <a:solidFill>
                  <a:srgbClr val="6d2e46"/>
                </a:solidFill>
                <a:latin typeface="Calibri"/>
                <a:ea typeface="Calibri"/>
              </a:rPr>
              <a:t>Comparison uses == (equality), not 'is' (identity). Two separate dictionaries with the same content will be == but NOT 'is'.</a:t>
            </a:r>
            <a:endParaRPr b="0" lang="en-IN" sz="12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a267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0"/>
          <p:cNvSpPr/>
          <p:nvPr/>
        </p:nvSpPr>
        <p:spPr>
          <a:xfrm>
            <a:off x="0" y="2834640"/>
            <a:ext cx="9143640" cy="164556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3" name="Text 1"/>
          <p:cNvSpPr/>
          <p:nvPr/>
        </p:nvSpPr>
        <p:spPr>
          <a:xfrm>
            <a:off x="457200" y="274320"/>
            <a:ext cx="14626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5200" spc="-1" strike="noStrike">
                <a:solidFill>
                  <a:srgbClr val="f4a623"/>
                </a:solidFill>
                <a:latin typeface="Georgia"/>
                <a:ea typeface="Georgia"/>
              </a:rPr>
              <a:t>⑧</a:t>
            </a:r>
            <a:endParaRPr b="0" lang="en-IN" sz="5200" spc="-1" strike="noStrike">
              <a:latin typeface="Arial"/>
            </a:endParaRPr>
          </a:p>
        </p:txBody>
      </p:sp>
      <p:sp>
        <p:nvSpPr>
          <p:cNvPr id="84" name="Text 2"/>
          <p:cNvSpPr/>
          <p:nvPr/>
        </p:nvSpPr>
        <p:spPr>
          <a:xfrm>
            <a:off x="0" y="2971800"/>
            <a:ext cx="91436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Georgia"/>
                <a:ea typeface="Georgia"/>
              </a:rPr>
              <a:t>Emptiness — 'not' Operator</a:t>
            </a:r>
            <a:endParaRPr b="0" lang="en-IN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0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86" name="Text 1"/>
          <p:cNvSpPr/>
          <p:nvPr/>
        </p:nvSpPr>
        <p:spPr>
          <a:xfrm>
            <a:off x="365760" y="109800"/>
            <a:ext cx="84121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Georgia"/>
                <a:ea typeface="Georgia"/>
              </a:rPr>
              <a:t>⑧ </a:t>
            </a:r>
            <a:r>
              <a:rPr b="1" lang="en-US" sz="3200" spc="-1" strike="noStrike">
                <a:solidFill>
                  <a:srgbClr val="ffffff"/>
                </a:solidFill>
                <a:latin typeface="Georgia"/>
                <a:ea typeface="Georgia"/>
              </a:rPr>
              <a:t>Emptiness — 'not' Operator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87" name="Text 2"/>
          <p:cNvSpPr/>
          <p:nvPr/>
        </p:nvSpPr>
        <p:spPr>
          <a:xfrm>
            <a:off x="365760" y="603360"/>
            <a:ext cx="8412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d4a5a5"/>
                </a:solidFill>
                <a:latin typeface="Calibri"/>
                <a:ea typeface="Calibri"/>
              </a:rPr>
              <a:t>Check if a dictionary is empty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88" name="Text 3"/>
          <p:cNvSpPr/>
          <p:nvPr/>
        </p:nvSpPr>
        <p:spPr>
          <a:xfrm>
            <a:off x="365760" y="1078920"/>
            <a:ext cx="8412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22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222222"/>
                </a:solidFill>
                <a:latin typeface="Calibri"/>
                <a:ea typeface="Calibri"/>
              </a:rPr>
              <a:t>Use the 'not' operator to check whether a dictionary is empty. An empty dictionary evaluates to False in a boolean context.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89" name="Shape 4"/>
          <p:cNvSpPr/>
          <p:nvPr/>
        </p:nvSpPr>
        <p:spPr>
          <a:xfrm>
            <a:off x="365760" y="1673280"/>
            <a:ext cx="8412120" cy="475200"/>
          </a:xfrm>
          <a:prstGeom prst="rect">
            <a:avLst/>
          </a:prstGeom>
          <a:solidFill>
            <a:srgbClr val="fef5f1"/>
          </a:solidFill>
          <a:ln w="25400">
            <a:solidFill>
              <a:srgbClr val="d4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0" name="Text 5"/>
          <p:cNvSpPr/>
          <p:nvPr/>
        </p:nvSpPr>
        <p:spPr>
          <a:xfrm>
            <a:off x="640080" y="1783080"/>
            <a:ext cx="8046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6d2e46"/>
                </a:solidFill>
                <a:latin typeface="Consolas"/>
                <a:ea typeface="Consolas"/>
              </a:rPr>
              <a:t>Syntax:   if  not  dict_name:  →  runs when dictionary is empty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91" name="Shape 6"/>
          <p:cNvSpPr/>
          <p:nvPr/>
        </p:nvSpPr>
        <p:spPr>
          <a:xfrm>
            <a:off x="365760" y="2286000"/>
            <a:ext cx="8412120" cy="2029680"/>
          </a:xfrm>
          <a:prstGeom prst="rect">
            <a:avLst/>
          </a:prstGeom>
          <a:solidFill>
            <a:srgbClr val="3d1f2f"/>
          </a:solidFill>
          <a:ln w="19050">
            <a:solidFill>
              <a:srgbClr val="d4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2" name="Text 7"/>
          <p:cNvSpPr/>
          <p:nvPr/>
        </p:nvSpPr>
        <p:spPr>
          <a:xfrm>
            <a:off x="530280" y="2395800"/>
            <a:ext cx="8083080" cy="181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my_dict = dict()         # or my_dict = {}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if not my_dict: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    </a:t>
            </a: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print("dictionary is empty")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else: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    </a:t>
            </a: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print("dictionary is not empty")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# Output: dictionary is empty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93" name="Text 8"/>
          <p:cNvSpPr/>
          <p:nvPr/>
        </p:nvSpPr>
        <p:spPr>
          <a:xfrm>
            <a:off x="365760" y="4498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a26769"/>
                </a:solidFill>
                <a:latin typeface="Calibri"/>
                <a:ea typeface="Calibri"/>
              </a:rPr>
              <a:t>Visual Comparison: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94" name="Shape 9"/>
          <p:cNvSpPr/>
          <p:nvPr/>
        </p:nvSpPr>
        <p:spPr>
          <a:xfrm>
            <a:off x="365760" y="4846320"/>
            <a:ext cx="4023000" cy="1261440"/>
          </a:xfrm>
          <a:prstGeom prst="rect">
            <a:avLst/>
          </a:prstGeom>
          <a:solidFill>
            <a:srgbClr val="e8f5e9"/>
          </a:solidFill>
          <a:ln w="25400">
            <a:solidFill>
              <a:srgbClr val="1a98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5" name="Text 10"/>
          <p:cNvSpPr/>
          <p:nvPr/>
        </p:nvSpPr>
        <p:spPr>
          <a:xfrm>
            <a:off x="548640" y="497448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a5e3a"/>
                </a:solidFill>
                <a:latin typeface="Calibri"/>
                <a:ea typeface="Calibri"/>
              </a:rPr>
              <a:t>Empty Dictionary { }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96" name="Text 11"/>
          <p:cNvSpPr/>
          <p:nvPr/>
        </p:nvSpPr>
        <p:spPr>
          <a:xfrm>
            <a:off x="548640" y="5321880"/>
            <a:ext cx="36572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6d2e46"/>
                </a:solidFill>
                <a:latin typeface="Consolas"/>
                <a:ea typeface="Consolas"/>
              </a:rPr>
              <a:t>data = dict()    or    data = {}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97" name="Text 12"/>
          <p:cNvSpPr/>
          <p:nvPr/>
        </p:nvSpPr>
        <p:spPr>
          <a:xfrm>
            <a:off x="548640" y="5614560"/>
            <a:ext cx="3657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1a9850"/>
                </a:solidFill>
                <a:latin typeface="Calibri"/>
                <a:ea typeface="Calibri"/>
              </a:rPr>
              <a:t>not data  →  True ✓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98" name="Shape 13"/>
          <p:cNvSpPr/>
          <p:nvPr/>
        </p:nvSpPr>
        <p:spPr>
          <a:xfrm>
            <a:off x="4754880" y="4846320"/>
            <a:ext cx="4023000" cy="1261440"/>
          </a:xfrm>
          <a:prstGeom prst="rect">
            <a:avLst/>
          </a:prstGeom>
          <a:solidFill>
            <a:srgbClr val="fff0f5"/>
          </a:solidFill>
          <a:ln w="25400">
            <a:solidFill>
              <a:srgbClr val="c0004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9" name="Text 14"/>
          <p:cNvSpPr/>
          <p:nvPr/>
        </p:nvSpPr>
        <p:spPr>
          <a:xfrm>
            <a:off x="4937760" y="497448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8b0032"/>
                </a:solidFill>
                <a:latin typeface="Calibri"/>
                <a:ea typeface="Calibri"/>
              </a:rPr>
              <a:t>Non-Empty Dictionary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00" name="Text 15"/>
          <p:cNvSpPr/>
          <p:nvPr/>
        </p:nvSpPr>
        <p:spPr>
          <a:xfrm>
            <a:off x="4937760" y="5321880"/>
            <a:ext cx="365724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6d2e46"/>
                </a:solidFill>
                <a:latin typeface="Consolas"/>
                <a:ea typeface="Consolas"/>
              </a:rPr>
              <a:t>data = {1: 'a', 2: 'b'}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01" name="Text 16"/>
          <p:cNvSpPr/>
          <p:nvPr/>
        </p:nvSpPr>
        <p:spPr>
          <a:xfrm>
            <a:off x="4937760" y="5614560"/>
            <a:ext cx="36572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c0004a"/>
                </a:solidFill>
                <a:latin typeface="Calibri"/>
                <a:ea typeface="Calibri"/>
              </a:rPr>
              <a:t>not data  →  False ✗</a:t>
            </a:r>
            <a:endParaRPr b="0" lang="en-IN" sz="12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a267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0"/>
          <p:cNvSpPr/>
          <p:nvPr/>
        </p:nvSpPr>
        <p:spPr>
          <a:xfrm>
            <a:off x="0" y="2834640"/>
            <a:ext cx="9143640" cy="164556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Text 1"/>
          <p:cNvSpPr/>
          <p:nvPr/>
        </p:nvSpPr>
        <p:spPr>
          <a:xfrm>
            <a:off x="457200" y="274320"/>
            <a:ext cx="14626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5200" spc="-1" strike="noStrike">
                <a:solidFill>
                  <a:srgbClr val="f4a623"/>
                </a:solidFill>
                <a:latin typeface="Georgia"/>
                <a:ea typeface="Georgia"/>
              </a:rPr>
              <a:t>●</a:t>
            </a:r>
            <a:endParaRPr b="0" lang="en-IN" sz="5200" spc="-1" strike="noStrike">
              <a:latin typeface="Arial"/>
            </a:endParaRPr>
          </a:p>
        </p:txBody>
      </p:sp>
      <p:sp>
        <p:nvSpPr>
          <p:cNvPr id="104" name="Text 2"/>
          <p:cNvSpPr/>
          <p:nvPr/>
        </p:nvSpPr>
        <p:spPr>
          <a:xfrm>
            <a:off x="0" y="2971800"/>
            <a:ext cx="91436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Georgia"/>
                <a:ea typeface="Georgia"/>
              </a:rPr>
              <a:t>Built-in Functions on Dictionaries</a:t>
            </a:r>
            <a:endParaRPr b="0" lang="en-IN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hape 0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6" name="Text 1"/>
          <p:cNvSpPr/>
          <p:nvPr/>
        </p:nvSpPr>
        <p:spPr>
          <a:xfrm>
            <a:off x="365760" y="109800"/>
            <a:ext cx="84121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Georgia"/>
                <a:ea typeface="Georgia"/>
              </a:rPr>
              <a:t>Built-in Functions — len, max, min, sum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107" name="Text 2"/>
          <p:cNvSpPr/>
          <p:nvPr/>
        </p:nvSpPr>
        <p:spPr>
          <a:xfrm>
            <a:off x="365760" y="603360"/>
            <a:ext cx="8412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d4a5a5"/>
                </a:solidFill>
                <a:latin typeface="Calibri"/>
                <a:ea typeface="Calibri"/>
              </a:rPr>
              <a:t>Count, extremes &amp; totals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08" name="Shape 3"/>
          <p:cNvSpPr/>
          <p:nvPr/>
        </p:nvSpPr>
        <p:spPr>
          <a:xfrm>
            <a:off x="365760" y="1097280"/>
            <a:ext cx="8412120" cy="1389600"/>
          </a:xfrm>
          <a:prstGeom prst="rect">
            <a:avLst/>
          </a:prstGeom>
          <a:solidFill>
            <a:srgbClr val="fcf5f0"/>
          </a:solidFill>
          <a:ln w="25400">
            <a:solidFill>
              <a:srgbClr val="a2676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9" name="Shape 4"/>
          <p:cNvSpPr/>
          <p:nvPr/>
        </p:nvSpPr>
        <p:spPr>
          <a:xfrm>
            <a:off x="365760" y="1097280"/>
            <a:ext cx="529920" cy="1389600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0" name="Text 5"/>
          <p:cNvSpPr/>
          <p:nvPr/>
        </p:nvSpPr>
        <p:spPr>
          <a:xfrm>
            <a:off x="365760" y="1536120"/>
            <a:ext cx="529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①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1" name="Text 6"/>
          <p:cNvSpPr/>
          <p:nvPr/>
        </p:nvSpPr>
        <p:spPr>
          <a:xfrm>
            <a:off x="1005840" y="1234440"/>
            <a:ext cx="7497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6d2e46"/>
                </a:solidFill>
                <a:latin typeface="Calibri"/>
                <a:ea typeface="Calibri"/>
              </a:rPr>
              <a:t>len() — Count of key-value pairs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12" name="Shape 7"/>
          <p:cNvSpPr/>
          <p:nvPr/>
        </p:nvSpPr>
        <p:spPr>
          <a:xfrm>
            <a:off x="1005840" y="1572840"/>
            <a:ext cx="7314840" cy="804240"/>
          </a:xfrm>
          <a:prstGeom prst="rect">
            <a:avLst/>
          </a:prstGeom>
          <a:solidFill>
            <a:srgbClr val="3d1f2f"/>
          </a:solidFill>
          <a:ln w="12700">
            <a:solidFill>
              <a:srgbClr val="a2676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3" name="Text 8"/>
          <p:cNvSpPr/>
          <p:nvPr/>
        </p:nvSpPr>
        <p:spPr>
          <a:xfrm>
            <a:off x="1170360" y="1664280"/>
            <a:ext cx="70405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18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5c9c9"/>
                </a:solidFill>
                <a:latin typeface="Consolas"/>
                <a:ea typeface="Consolas"/>
              </a:rPr>
              <a:t>data = {10:'a', 20:'b', 30:'c'}</a:t>
            </a:r>
            <a:endParaRPr b="0" lang="en-IN" sz="1100" spc="-1" strike="noStrike">
              <a:latin typeface="Arial"/>
            </a:endParaRPr>
          </a:p>
          <a:p>
            <a:pPr>
              <a:lnSpc>
                <a:spcPts val="18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5c9c9"/>
                </a:solidFill>
                <a:latin typeface="Consolas"/>
                <a:ea typeface="Consolas"/>
              </a:rPr>
              <a:t>print(len(data))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ts val="18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5c9c9"/>
                </a:solidFill>
                <a:latin typeface="Consolas"/>
                <a:ea typeface="Consolas"/>
              </a:rPr>
              <a:t># → 3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14" name="Shape 9"/>
          <p:cNvSpPr/>
          <p:nvPr/>
        </p:nvSpPr>
        <p:spPr>
          <a:xfrm>
            <a:off x="365760" y="2578680"/>
            <a:ext cx="8412120" cy="1389600"/>
          </a:xfrm>
          <a:prstGeom prst="rect">
            <a:avLst/>
          </a:prstGeom>
          <a:solidFill>
            <a:srgbClr val="fcf5f0"/>
          </a:solidFill>
          <a:ln w="25400">
            <a:solidFill>
              <a:srgbClr val="1a98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5" name="Shape 10"/>
          <p:cNvSpPr/>
          <p:nvPr/>
        </p:nvSpPr>
        <p:spPr>
          <a:xfrm>
            <a:off x="365760" y="2578680"/>
            <a:ext cx="529920" cy="1389600"/>
          </a:xfrm>
          <a:prstGeom prst="rect">
            <a:avLst/>
          </a:prstGeom>
          <a:solidFill>
            <a:srgbClr val="1a9850"/>
          </a:solidFill>
          <a:ln w="12700">
            <a:solidFill>
              <a:srgbClr val="1a98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6" name="Text 11"/>
          <p:cNvSpPr/>
          <p:nvPr/>
        </p:nvSpPr>
        <p:spPr>
          <a:xfrm>
            <a:off x="365760" y="3017520"/>
            <a:ext cx="529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②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17" name="Text 12"/>
          <p:cNvSpPr/>
          <p:nvPr/>
        </p:nvSpPr>
        <p:spPr>
          <a:xfrm>
            <a:off x="1005840" y="2715840"/>
            <a:ext cx="7497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6d2e46"/>
                </a:solidFill>
                <a:latin typeface="Calibri"/>
                <a:ea typeface="Calibri"/>
              </a:rPr>
              <a:t>max() — Largest KEY in dictionary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18" name="Shape 13"/>
          <p:cNvSpPr/>
          <p:nvPr/>
        </p:nvSpPr>
        <p:spPr>
          <a:xfrm>
            <a:off x="1005840" y="3054240"/>
            <a:ext cx="7314840" cy="804240"/>
          </a:xfrm>
          <a:prstGeom prst="rect">
            <a:avLst/>
          </a:prstGeom>
          <a:solidFill>
            <a:srgbClr val="3d1f2f"/>
          </a:solidFill>
          <a:ln w="12700">
            <a:solidFill>
              <a:srgbClr val="1a98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9" name="Text 14"/>
          <p:cNvSpPr/>
          <p:nvPr/>
        </p:nvSpPr>
        <p:spPr>
          <a:xfrm>
            <a:off x="1170360" y="3145680"/>
            <a:ext cx="70405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18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5c9c9"/>
                </a:solidFill>
                <a:latin typeface="Consolas"/>
                <a:ea typeface="Consolas"/>
              </a:rPr>
              <a:t>data = {10:'a', 20:'b', 30:'c'}</a:t>
            </a:r>
            <a:endParaRPr b="0" lang="en-IN" sz="1100" spc="-1" strike="noStrike">
              <a:latin typeface="Arial"/>
            </a:endParaRPr>
          </a:p>
          <a:p>
            <a:pPr>
              <a:lnSpc>
                <a:spcPts val="18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5c9c9"/>
                </a:solidFill>
                <a:latin typeface="Consolas"/>
                <a:ea typeface="Consolas"/>
              </a:rPr>
              <a:t>print(max(data))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ts val="18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5c9c9"/>
                </a:solidFill>
                <a:latin typeface="Consolas"/>
                <a:ea typeface="Consolas"/>
              </a:rPr>
              <a:t># → 30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20" name="Shape 15"/>
          <p:cNvSpPr/>
          <p:nvPr/>
        </p:nvSpPr>
        <p:spPr>
          <a:xfrm>
            <a:off x="365760" y="4060080"/>
            <a:ext cx="8412120" cy="1389600"/>
          </a:xfrm>
          <a:prstGeom prst="rect">
            <a:avLst/>
          </a:prstGeom>
          <a:solidFill>
            <a:srgbClr val="fcf5f0"/>
          </a:solidFill>
          <a:ln w="25400">
            <a:solidFill>
              <a:srgbClr val="c0004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1" name="Shape 16"/>
          <p:cNvSpPr/>
          <p:nvPr/>
        </p:nvSpPr>
        <p:spPr>
          <a:xfrm>
            <a:off x="365760" y="4060080"/>
            <a:ext cx="529920" cy="1389600"/>
          </a:xfrm>
          <a:prstGeom prst="rect">
            <a:avLst/>
          </a:prstGeom>
          <a:solidFill>
            <a:srgbClr val="c0004a"/>
          </a:solidFill>
          <a:ln w="12700">
            <a:solidFill>
              <a:srgbClr val="c0004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2" name="Text 17"/>
          <p:cNvSpPr/>
          <p:nvPr/>
        </p:nvSpPr>
        <p:spPr>
          <a:xfrm>
            <a:off x="365760" y="4498920"/>
            <a:ext cx="529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③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3" name="Text 18"/>
          <p:cNvSpPr/>
          <p:nvPr/>
        </p:nvSpPr>
        <p:spPr>
          <a:xfrm>
            <a:off x="1005840" y="4197240"/>
            <a:ext cx="7497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6d2e46"/>
                </a:solidFill>
                <a:latin typeface="Calibri"/>
                <a:ea typeface="Calibri"/>
              </a:rPr>
              <a:t>min() — Smallest KEY in dictionary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24" name="Shape 19"/>
          <p:cNvSpPr/>
          <p:nvPr/>
        </p:nvSpPr>
        <p:spPr>
          <a:xfrm>
            <a:off x="1005840" y="4535280"/>
            <a:ext cx="7314840" cy="804240"/>
          </a:xfrm>
          <a:prstGeom prst="rect">
            <a:avLst/>
          </a:prstGeom>
          <a:solidFill>
            <a:srgbClr val="3d1f2f"/>
          </a:solidFill>
          <a:ln w="12700">
            <a:solidFill>
              <a:srgbClr val="c0004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5" name="Text 20"/>
          <p:cNvSpPr/>
          <p:nvPr/>
        </p:nvSpPr>
        <p:spPr>
          <a:xfrm>
            <a:off x="1170360" y="4626720"/>
            <a:ext cx="70405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18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5c9c9"/>
                </a:solidFill>
                <a:latin typeface="Consolas"/>
                <a:ea typeface="Consolas"/>
              </a:rPr>
              <a:t>data = {10:'a', 20:'b', 30:'c'}</a:t>
            </a:r>
            <a:endParaRPr b="0" lang="en-IN" sz="1100" spc="-1" strike="noStrike">
              <a:latin typeface="Arial"/>
            </a:endParaRPr>
          </a:p>
          <a:p>
            <a:pPr>
              <a:lnSpc>
                <a:spcPts val="18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5c9c9"/>
                </a:solidFill>
                <a:latin typeface="Consolas"/>
                <a:ea typeface="Consolas"/>
              </a:rPr>
              <a:t>print(min(data))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ts val="18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5c9c9"/>
                </a:solidFill>
                <a:latin typeface="Consolas"/>
                <a:ea typeface="Consolas"/>
              </a:rPr>
              <a:t># → 10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26" name="Shape 21"/>
          <p:cNvSpPr/>
          <p:nvPr/>
        </p:nvSpPr>
        <p:spPr>
          <a:xfrm>
            <a:off x="365760" y="5541120"/>
            <a:ext cx="8412120" cy="1389600"/>
          </a:xfrm>
          <a:prstGeom prst="rect">
            <a:avLst/>
          </a:prstGeom>
          <a:solidFill>
            <a:srgbClr val="fcf5f0"/>
          </a:solidFill>
          <a:ln w="25400">
            <a:solidFill>
              <a:srgbClr val="8e44a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7" name="Shape 22"/>
          <p:cNvSpPr/>
          <p:nvPr/>
        </p:nvSpPr>
        <p:spPr>
          <a:xfrm>
            <a:off x="365760" y="5541120"/>
            <a:ext cx="529920" cy="138960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8" name="Text 23"/>
          <p:cNvSpPr/>
          <p:nvPr/>
        </p:nvSpPr>
        <p:spPr>
          <a:xfrm>
            <a:off x="365760" y="5980320"/>
            <a:ext cx="5299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Georgia"/>
                <a:ea typeface="Georgia"/>
              </a:rPr>
              <a:t>④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129" name="Text 24"/>
          <p:cNvSpPr/>
          <p:nvPr/>
        </p:nvSpPr>
        <p:spPr>
          <a:xfrm>
            <a:off x="1005840" y="5678280"/>
            <a:ext cx="74977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6d2e46"/>
                </a:solidFill>
                <a:latin typeface="Calibri"/>
                <a:ea typeface="Calibri"/>
              </a:rPr>
              <a:t>sum() — Sum of all KEYS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30" name="Shape 25"/>
          <p:cNvSpPr/>
          <p:nvPr/>
        </p:nvSpPr>
        <p:spPr>
          <a:xfrm>
            <a:off x="1005840" y="6016680"/>
            <a:ext cx="7314840" cy="804240"/>
          </a:xfrm>
          <a:prstGeom prst="rect">
            <a:avLst/>
          </a:prstGeom>
          <a:solidFill>
            <a:srgbClr val="3d1f2f"/>
          </a:solidFill>
          <a:ln w="12700">
            <a:solidFill>
              <a:srgbClr val="8e44a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1" name="Text 26"/>
          <p:cNvSpPr/>
          <p:nvPr/>
        </p:nvSpPr>
        <p:spPr>
          <a:xfrm>
            <a:off x="1170360" y="6108120"/>
            <a:ext cx="704052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18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5c9c9"/>
                </a:solidFill>
                <a:latin typeface="Consolas"/>
                <a:ea typeface="Consolas"/>
              </a:rPr>
              <a:t>data = {10:'a', 20:'b', 30:'c'}</a:t>
            </a:r>
            <a:endParaRPr b="0" lang="en-IN" sz="1100" spc="-1" strike="noStrike">
              <a:latin typeface="Arial"/>
            </a:endParaRPr>
          </a:p>
          <a:p>
            <a:pPr>
              <a:lnSpc>
                <a:spcPts val="18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5c9c9"/>
                </a:solidFill>
                <a:latin typeface="Consolas"/>
                <a:ea typeface="Consolas"/>
              </a:rPr>
              <a:t>print(sum(data))</a:t>
            </a:r>
            <a:endParaRPr b="0" lang="en-IN" sz="1100" spc="-1" strike="noStrike">
              <a:latin typeface="Arial"/>
            </a:endParaRPr>
          </a:p>
          <a:p>
            <a:pPr>
              <a:lnSpc>
                <a:spcPts val="1800"/>
              </a:lnSpc>
              <a:buNone/>
              <a:tabLst>
                <a:tab algn="l" pos="0"/>
              </a:tabLst>
            </a:pPr>
            <a:r>
              <a:rPr b="0" lang="en-US" sz="1100" spc="-1" strike="noStrike">
                <a:solidFill>
                  <a:srgbClr val="f5c9c9"/>
                </a:solidFill>
                <a:latin typeface="Consolas"/>
                <a:ea typeface="Consolas"/>
              </a:rPr>
              <a:t># → 60</a:t>
            </a:r>
            <a:endParaRPr b="0" lang="en-IN" sz="11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0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3" name="Text 1"/>
          <p:cNvSpPr/>
          <p:nvPr/>
        </p:nvSpPr>
        <p:spPr>
          <a:xfrm>
            <a:off x="365760" y="109800"/>
            <a:ext cx="84121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Georgia"/>
                <a:ea typeface="Georgia"/>
              </a:rPr>
              <a:t>Built-in Functions — any(), all()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134" name="Text 2"/>
          <p:cNvSpPr/>
          <p:nvPr/>
        </p:nvSpPr>
        <p:spPr>
          <a:xfrm>
            <a:off x="365760" y="603360"/>
            <a:ext cx="8412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d4a5a5"/>
                </a:solidFill>
                <a:latin typeface="Calibri"/>
                <a:ea typeface="Calibri"/>
              </a:rPr>
              <a:t>Boolean checks on dictionary keys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35" name="Shape 3"/>
          <p:cNvSpPr/>
          <p:nvPr/>
        </p:nvSpPr>
        <p:spPr>
          <a:xfrm>
            <a:off x="365760" y="1078920"/>
            <a:ext cx="8412120" cy="273960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6" name="Text 4"/>
          <p:cNvSpPr/>
          <p:nvPr/>
        </p:nvSpPr>
        <p:spPr>
          <a:xfrm>
            <a:off x="548640" y="1115640"/>
            <a:ext cx="81378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⑤ </a:t>
            </a: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any() — True if at least one KEY is truthy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137" name="Text 5"/>
          <p:cNvSpPr/>
          <p:nvPr/>
        </p:nvSpPr>
        <p:spPr>
          <a:xfrm>
            <a:off x="365760" y="1444680"/>
            <a:ext cx="8412120" cy="31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333333"/>
                </a:solidFill>
                <a:latin typeface="Calibri"/>
                <a:ea typeface="Calibri"/>
              </a:rPr>
              <a:t>Returns True if any key in the dictionary is True/truthy (non-zero, non-empty).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38" name="Shape 6"/>
          <p:cNvSpPr/>
          <p:nvPr/>
        </p:nvSpPr>
        <p:spPr>
          <a:xfrm>
            <a:off x="365760" y="1828800"/>
            <a:ext cx="8412120" cy="1298160"/>
          </a:xfrm>
          <a:prstGeom prst="rect">
            <a:avLst/>
          </a:prstGeom>
          <a:solidFill>
            <a:srgbClr val="3d1f2f"/>
          </a:solidFill>
          <a:ln w="19050">
            <a:solidFill>
              <a:srgbClr val="d4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9" name="Text 7"/>
          <p:cNvSpPr/>
          <p:nvPr/>
        </p:nvSpPr>
        <p:spPr>
          <a:xfrm>
            <a:off x="530280" y="1938600"/>
            <a:ext cx="8083080" cy="107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dict1 = {0: 'a', 0: 'b', 20: 'c'}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print(any(dict1))    # True  ← key 20 is truthy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# Note: checks KEYS not values!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40" name="Shape 8"/>
          <p:cNvSpPr/>
          <p:nvPr/>
        </p:nvSpPr>
        <p:spPr>
          <a:xfrm>
            <a:off x="365760" y="3255120"/>
            <a:ext cx="8412120" cy="27396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1" name="Text 9"/>
          <p:cNvSpPr/>
          <p:nvPr/>
        </p:nvSpPr>
        <p:spPr>
          <a:xfrm>
            <a:off x="548640" y="3291840"/>
            <a:ext cx="81378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⑥ </a:t>
            </a: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all() — True only if ALL keys are truthy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142" name="Text 10"/>
          <p:cNvSpPr/>
          <p:nvPr/>
        </p:nvSpPr>
        <p:spPr>
          <a:xfrm>
            <a:off x="365760" y="3620880"/>
            <a:ext cx="841212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333333"/>
                </a:solidFill>
                <a:latin typeface="Calibri"/>
                <a:ea typeface="Calibri"/>
              </a:rPr>
              <a:t>Returns True only when every key in the dictionary is True/truthy. If any key is False/falsy → returns False.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43" name="Shape 11"/>
          <p:cNvSpPr/>
          <p:nvPr/>
        </p:nvSpPr>
        <p:spPr>
          <a:xfrm>
            <a:off x="365760" y="4041720"/>
            <a:ext cx="8412120" cy="1572480"/>
          </a:xfrm>
          <a:prstGeom prst="rect">
            <a:avLst/>
          </a:prstGeom>
          <a:solidFill>
            <a:srgbClr val="3d1f2f"/>
          </a:solidFill>
          <a:ln w="19050">
            <a:solidFill>
              <a:srgbClr val="d4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4" name="Text 12"/>
          <p:cNvSpPr/>
          <p:nvPr/>
        </p:nvSpPr>
        <p:spPr>
          <a:xfrm>
            <a:off x="530280" y="4151520"/>
            <a:ext cx="8083080" cy="1352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dict1 = {10: 'a', 20: 'b', 0: 'c'}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print(all(dict1))    # False ← key 0 is falsy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dict2 = {10: 'a', 20: 'b'}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print(all(dict2))    # True  ← all keys are truthy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45" name="Shape 13"/>
          <p:cNvSpPr/>
          <p:nvPr/>
        </p:nvSpPr>
        <p:spPr>
          <a:xfrm>
            <a:off x="365760" y="5742360"/>
            <a:ext cx="8412120" cy="566640"/>
          </a:xfrm>
          <a:prstGeom prst="rect">
            <a:avLst/>
          </a:prstGeom>
          <a:solidFill>
            <a:srgbClr val="fff8e1"/>
          </a:solidFill>
          <a:ln w="19050">
            <a:solidFill>
              <a:srgbClr val="f4a62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6" name="Text 14"/>
          <p:cNvSpPr/>
          <p:nvPr/>
        </p:nvSpPr>
        <p:spPr>
          <a:xfrm>
            <a:off x="594360" y="5852160"/>
            <a:ext cx="804636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7d4e00"/>
                </a:solidFill>
                <a:latin typeface="Calibri"/>
                <a:ea typeface="Calibri"/>
              </a:rPr>
              <a:t>⚠  </a:t>
            </a:r>
            <a:r>
              <a:rPr b="0" lang="en-US" sz="1250" spc="-1" strike="noStrike">
                <a:solidFill>
                  <a:srgbClr val="7d4e00"/>
                </a:solidFill>
                <a:latin typeface="Calibri"/>
                <a:ea typeface="Calibri"/>
              </a:rPr>
              <a:t>any() and all() operate on KEYS by default. To check values, use: any(dict.values()) or all(dict.values())</a:t>
            </a:r>
            <a:endParaRPr b="0" lang="en-IN" sz="12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Shape 0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8" name="Text 1"/>
          <p:cNvSpPr/>
          <p:nvPr/>
        </p:nvSpPr>
        <p:spPr>
          <a:xfrm>
            <a:off x="365760" y="109800"/>
            <a:ext cx="84121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Georgia"/>
                <a:ea typeface="Georgia"/>
              </a:rPr>
              <a:t>Built-in Functions — sorted(), reversed()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149" name="Text 2"/>
          <p:cNvSpPr/>
          <p:nvPr/>
        </p:nvSpPr>
        <p:spPr>
          <a:xfrm>
            <a:off x="365760" y="603360"/>
            <a:ext cx="8412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d4a5a5"/>
                </a:solidFill>
                <a:latin typeface="Calibri"/>
                <a:ea typeface="Calibri"/>
              </a:rPr>
              <a:t>Ordering keys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50" name="Shape 3"/>
          <p:cNvSpPr/>
          <p:nvPr/>
        </p:nvSpPr>
        <p:spPr>
          <a:xfrm>
            <a:off x="365760" y="1078920"/>
            <a:ext cx="8412120" cy="255600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1" name="Text 4"/>
          <p:cNvSpPr/>
          <p:nvPr/>
        </p:nvSpPr>
        <p:spPr>
          <a:xfrm>
            <a:off x="548640" y="1115640"/>
            <a:ext cx="81378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⑦ </a:t>
            </a: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sorted() — Returns sorted LIST of keys in ascending order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152" name="Shape 5"/>
          <p:cNvSpPr/>
          <p:nvPr/>
        </p:nvSpPr>
        <p:spPr>
          <a:xfrm>
            <a:off x="365760" y="1426320"/>
            <a:ext cx="8412120" cy="804240"/>
          </a:xfrm>
          <a:prstGeom prst="rect">
            <a:avLst/>
          </a:prstGeom>
          <a:solidFill>
            <a:srgbClr val="3d1f2f"/>
          </a:solidFill>
          <a:ln w="19050">
            <a:solidFill>
              <a:srgbClr val="d4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3" name="Text 6"/>
          <p:cNvSpPr/>
          <p:nvPr/>
        </p:nvSpPr>
        <p:spPr>
          <a:xfrm>
            <a:off x="530280" y="1536120"/>
            <a:ext cx="8083080" cy="58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data = {40: 'a', 30: 'b', 60: 'c'}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print(sorted(data))    # [30, 40, 60]  ← returns LIST of keys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54" name="Shape 7"/>
          <p:cNvSpPr/>
          <p:nvPr/>
        </p:nvSpPr>
        <p:spPr>
          <a:xfrm>
            <a:off x="365760" y="2359080"/>
            <a:ext cx="8412120" cy="529920"/>
          </a:xfrm>
          <a:prstGeom prst="rect">
            <a:avLst/>
          </a:prstGeom>
          <a:solidFill>
            <a:srgbClr val="fcf5f0"/>
          </a:solidFill>
          <a:ln w="19050">
            <a:solidFill>
              <a:srgbClr val="a2676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5" name="Text 8"/>
          <p:cNvSpPr/>
          <p:nvPr/>
        </p:nvSpPr>
        <p:spPr>
          <a:xfrm>
            <a:off x="594360" y="2468880"/>
            <a:ext cx="80463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333333"/>
                </a:solidFill>
                <a:latin typeface="Calibri"/>
                <a:ea typeface="Calibri"/>
              </a:rPr>
              <a:t>✓ </a:t>
            </a:r>
            <a:r>
              <a:rPr b="0" lang="en-US" sz="1250" spc="-1" strike="noStrike">
                <a:solidFill>
                  <a:srgbClr val="333333"/>
                </a:solidFill>
                <a:latin typeface="Calibri"/>
                <a:ea typeface="Calibri"/>
              </a:rPr>
              <a:t>sorted() returns a LIST of sorted keys. Use dict comprehension to rebuild sorted dictionary.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156" name="Shape 9"/>
          <p:cNvSpPr/>
          <p:nvPr/>
        </p:nvSpPr>
        <p:spPr>
          <a:xfrm>
            <a:off x="365760" y="3017520"/>
            <a:ext cx="8412120" cy="255600"/>
          </a:xfrm>
          <a:prstGeom prst="rect">
            <a:avLst/>
          </a:prstGeom>
          <a:solidFill>
            <a:srgbClr val="50808e"/>
          </a:solidFill>
          <a:ln w="12700">
            <a:solidFill>
              <a:srgbClr val="50808e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7" name="Text 10"/>
          <p:cNvSpPr/>
          <p:nvPr/>
        </p:nvSpPr>
        <p:spPr>
          <a:xfrm>
            <a:off x="548640" y="3054240"/>
            <a:ext cx="81378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⑧ </a:t>
            </a: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reversed() — Returns reversed order of keys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158" name="Shape 11"/>
          <p:cNvSpPr/>
          <p:nvPr/>
        </p:nvSpPr>
        <p:spPr>
          <a:xfrm>
            <a:off x="365760" y="3364920"/>
            <a:ext cx="8412120" cy="2084400"/>
          </a:xfrm>
          <a:prstGeom prst="rect">
            <a:avLst/>
          </a:prstGeom>
          <a:solidFill>
            <a:srgbClr val="3d1f2f"/>
          </a:solidFill>
          <a:ln w="19050">
            <a:solidFill>
              <a:srgbClr val="d4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9" name="Text 12"/>
          <p:cNvSpPr/>
          <p:nvPr/>
        </p:nvSpPr>
        <p:spPr>
          <a:xfrm>
            <a:off x="530280" y="3474720"/>
            <a:ext cx="8083080" cy="186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data = {40: 'a', 30: 'b', 60: 'c'}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for key in reversed(data):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    </a:t>
            </a: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print(key, data[key])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# Output: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# 60  'c'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# 30  'b'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# 40  'a'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60" name="Shape 13"/>
          <p:cNvSpPr/>
          <p:nvPr/>
        </p:nvSpPr>
        <p:spPr>
          <a:xfrm>
            <a:off x="365760" y="5577840"/>
            <a:ext cx="8412120" cy="529920"/>
          </a:xfrm>
          <a:prstGeom prst="rect">
            <a:avLst/>
          </a:prstGeom>
          <a:solidFill>
            <a:srgbClr val="fff8e1"/>
          </a:solidFill>
          <a:ln w="19050">
            <a:solidFill>
              <a:srgbClr val="f4a62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1" name="Text 14"/>
          <p:cNvSpPr/>
          <p:nvPr/>
        </p:nvSpPr>
        <p:spPr>
          <a:xfrm>
            <a:off x="594360" y="5687640"/>
            <a:ext cx="80463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7d4e00"/>
                </a:solidFill>
                <a:latin typeface="Calibri"/>
                <a:ea typeface="Calibri"/>
              </a:rPr>
              <a:t>⚠  </a:t>
            </a:r>
            <a:r>
              <a:rPr b="0" lang="en-US" sz="1250" spc="-1" strike="noStrike">
                <a:solidFill>
                  <a:srgbClr val="7d4e00"/>
                </a:solidFill>
                <a:latin typeface="Calibri"/>
                <a:ea typeface="Calibri"/>
              </a:rPr>
              <a:t>sorted() and reversed() operate on KEYS only. To sort/reverse by values, use more complex logic.</a:t>
            </a:r>
            <a:endParaRPr b="0" lang="en-IN" sz="12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a2676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hape 0"/>
          <p:cNvSpPr/>
          <p:nvPr/>
        </p:nvSpPr>
        <p:spPr>
          <a:xfrm>
            <a:off x="0" y="2834640"/>
            <a:ext cx="9143640" cy="164556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3" name="Text 1"/>
          <p:cNvSpPr/>
          <p:nvPr/>
        </p:nvSpPr>
        <p:spPr>
          <a:xfrm>
            <a:off x="457200" y="274320"/>
            <a:ext cx="146268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5200" spc="-1" strike="noStrike">
                <a:solidFill>
                  <a:srgbClr val="f4a623"/>
                </a:solidFill>
                <a:latin typeface="Georgia"/>
                <a:ea typeface="Georgia"/>
              </a:rPr>
              <a:t>●</a:t>
            </a:r>
            <a:endParaRPr b="0" lang="en-IN" sz="5200" spc="-1" strike="noStrike">
              <a:latin typeface="Arial"/>
            </a:endParaRPr>
          </a:p>
        </p:txBody>
      </p:sp>
      <p:sp>
        <p:nvSpPr>
          <p:cNvPr id="164" name="Text 2"/>
          <p:cNvSpPr/>
          <p:nvPr/>
        </p:nvSpPr>
        <p:spPr>
          <a:xfrm>
            <a:off x="0" y="2971800"/>
            <a:ext cx="91436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Georgia"/>
                <a:ea typeface="Georgia"/>
              </a:rPr>
              <a:t>Dictionary Methods</a:t>
            </a:r>
            <a:endParaRPr b="0" lang="en-IN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Shape 0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6" name="Text 1"/>
          <p:cNvSpPr/>
          <p:nvPr/>
        </p:nvSpPr>
        <p:spPr>
          <a:xfrm>
            <a:off x="365760" y="109800"/>
            <a:ext cx="84121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Georgia"/>
                <a:ea typeface="Georgia"/>
              </a:rPr>
              <a:t>① </a:t>
            </a:r>
            <a:r>
              <a:rPr b="1" lang="en-US" sz="3200" spc="-1" strike="noStrike">
                <a:solidFill>
                  <a:srgbClr val="ffffff"/>
                </a:solidFill>
                <a:latin typeface="Georgia"/>
                <a:ea typeface="Georgia"/>
              </a:rPr>
              <a:t>update() Method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167" name="Text 2"/>
          <p:cNvSpPr/>
          <p:nvPr/>
        </p:nvSpPr>
        <p:spPr>
          <a:xfrm>
            <a:off x="365760" y="603360"/>
            <a:ext cx="8412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d4a5a5"/>
                </a:solidFill>
                <a:latin typeface="Calibri"/>
                <a:ea typeface="Calibri"/>
              </a:rPr>
              <a:t>Add or update multiple key-value pairs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68" name="Text 3"/>
          <p:cNvSpPr/>
          <p:nvPr/>
        </p:nvSpPr>
        <p:spPr>
          <a:xfrm>
            <a:off x="365760" y="1078920"/>
            <a:ext cx="84121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22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222222"/>
                </a:solidFill>
                <a:latin typeface="Calibri"/>
                <a:ea typeface="Calibri"/>
              </a:rPr>
              <a:t>The update() method adds multiple key-value pairs to a dictionary OR updates existing key-value pairs.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69" name="Shape 4"/>
          <p:cNvSpPr/>
          <p:nvPr/>
        </p:nvSpPr>
        <p:spPr>
          <a:xfrm>
            <a:off x="365760" y="1591200"/>
            <a:ext cx="8412120" cy="475200"/>
          </a:xfrm>
          <a:prstGeom prst="rect">
            <a:avLst/>
          </a:prstGeom>
          <a:solidFill>
            <a:srgbClr val="fef5f1"/>
          </a:solidFill>
          <a:ln w="25400">
            <a:solidFill>
              <a:srgbClr val="d4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0" name="Text 5"/>
          <p:cNvSpPr/>
          <p:nvPr/>
        </p:nvSpPr>
        <p:spPr>
          <a:xfrm>
            <a:off x="640080" y="1700640"/>
            <a:ext cx="8046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6d2e46"/>
                </a:solidFill>
                <a:latin typeface="Consolas"/>
                <a:ea typeface="Consolas"/>
              </a:rPr>
              <a:t>Syntax:   dict.update({key1: value1, key2: value2, ...})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71" name="Shape 6"/>
          <p:cNvSpPr/>
          <p:nvPr/>
        </p:nvSpPr>
        <p:spPr>
          <a:xfrm>
            <a:off x="365760" y="2194560"/>
            <a:ext cx="8412120" cy="914040"/>
          </a:xfrm>
          <a:prstGeom prst="rect">
            <a:avLst/>
          </a:prstGeom>
          <a:solidFill>
            <a:srgbClr val="3d1f2f"/>
          </a:solidFill>
          <a:ln w="19050">
            <a:solidFill>
              <a:srgbClr val="d4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2" name="Text 7"/>
          <p:cNvSpPr/>
          <p:nvPr/>
        </p:nvSpPr>
        <p:spPr>
          <a:xfrm>
            <a:off x="530280" y="2304360"/>
            <a:ext cx="8083080" cy="69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my_dict = {'a': 1}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my_dict.update({'b': 2, 'c': 3})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print(my_dict)   # {'a': 1, 'b': 2, 'c': 3}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73" name="Text 8"/>
          <p:cNvSpPr/>
          <p:nvPr/>
        </p:nvSpPr>
        <p:spPr>
          <a:xfrm>
            <a:off x="365760" y="327348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a26769"/>
                </a:solidFill>
                <a:latin typeface="Calibri"/>
                <a:ea typeface="Calibri"/>
              </a:rPr>
              <a:t>Alternative — Using Bracket Notation: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74" name="Shape 9"/>
          <p:cNvSpPr/>
          <p:nvPr/>
        </p:nvSpPr>
        <p:spPr>
          <a:xfrm>
            <a:off x="365760" y="3620880"/>
            <a:ext cx="8412120" cy="914040"/>
          </a:xfrm>
          <a:prstGeom prst="rect">
            <a:avLst/>
          </a:prstGeom>
          <a:solidFill>
            <a:srgbClr val="3d1f2f"/>
          </a:solidFill>
          <a:ln w="19050">
            <a:solidFill>
              <a:srgbClr val="d4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5" name="Text 10"/>
          <p:cNvSpPr/>
          <p:nvPr/>
        </p:nvSpPr>
        <p:spPr>
          <a:xfrm>
            <a:off x="530280" y="3730680"/>
            <a:ext cx="8083080" cy="69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my_dict = {}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my_dict['d'] = 4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print(my_dict)   # {'d': 4}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76" name="Shape 11"/>
          <p:cNvSpPr/>
          <p:nvPr/>
        </p:nvSpPr>
        <p:spPr>
          <a:xfrm>
            <a:off x="365760" y="4663440"/>
            <a:ext cx="8412120" cy="712800"/>
          </a:xfrm>
          <a:prstGeom prst="rect">
            <a:avLst/>
          </a:prstGeom>
          <a:solidFill>
            <a:srgbClr val="e8f5e9"/>
          </a:solidFill>
          <a:ln w="19050">
            <a:solidFill>
              <a:srgbClr val="1a9850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7" name="Text 12"/>
          <p:cNvSpPr/>
          <p:nvPr/>
        </p:nvSpPr>
        <p:spPr>
          <a:xfrm>
            <a:off x="594360" y="4773240"/>
            <a:ext cx="8046360" cy="49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18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333333"/>
                </a:solidFill>
                <a:latin typeface="Calibri"/>
                <a:ea typeface="Calibri"/>
              </a:rPr>
              <a:t>✓ </a:t>
            </a:r>
            <a:r>
              <a:rPr b="0" lang="en-US" sz="1200" spc="-1" strike="noStrike">
                <a:solidFill>
                  <a:srgbClr val="333333"/>
                </a:solidFill>
                <a:latin typeface="Calibri"/>
                <a:ea typeface="Calibri"/>
              </a:rPr>
              <a:t>Add Multiple:  update() adds multiple pairs at once</a:t>
            </a:r>
            <a:endParaRPr b="0" lang="en-IN" sz="1200" spc="-1" strike="noStrike">
              <a:latin typeface="Arial"/>
            </a:endParaRPr>
          </a:p>
          <a:p>
            <a:pPr>
              <a:lnSpc>
                <a:spcPts val="18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333333"/>
                </a:solidFill>
                <a:latin typeface="Calibri"/>
                <a:ea typeface="Calibri"/>
              </a:rPr>
              <a:t>✓ </a:t>
            </a:r>
            <a:r>
              <a:rPr b="0" lang="en-US" sz="1200" spc="-1" strike="noStrike">
                <a:solidFill>
                  <a:srgbClr val="333333"/>
                </a:solidFill>
                <a:latin typeface="Calibri"/>
                <a:ea typeface="Calibri"/>
              </a:rPr>
              <a:t>Update Existing:  If a key exists, update() modifies its value</a:t>
            </a:r>
            <a:endParaRPr b="0" lang="en-IN" sz="1200" spc="-1" strike="noStrike">
              <a:latin typeface="Arial"/>
            </a:endParaRPr>
          </a:p>
          <a:p>
            <a:pPr>
              <a:lnSpc>
                <a:spcPts val="18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333333"/>
                </a:solidFill>
                <a:latin typeface="Calibri"/>
                <a:ea typeface="Calibri"/>
              </a:rPr>
              <a:t>✓ </a:t>
            </a:r>
            <a:r>
              <a:rPr b="0" lang="en-US" sz="1200" spc="-1" strike="noStrike">
                <a:solidFill>
                  <a:srgbClr val="333333"/>
                </a:solidFill>
                <a:latin typeface="Calibri"/>
                <a:ea typeface="Calibri"/>
              </a:rPr>
              <a:t>Single Add:  Use bracket notation dict[key] = value for single additions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hape 0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9" name="Text 1"/>
          <p:cNvSpPr/>
          <p:nvPr/>
        </p:nvSpPr>
        <p:spPr>
          <a:xfrm>
            <a:off x="365760" y="109800"/>
            <a:ext cx="84121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Georgia"/>
                <a:ea typeface="Georgia"/>
              </a:rPr>
              <a:t>② </a:t>
            </a:r>
            <a:r>
              <a:rPr b="1" lang="en-US" sz="3200" spc="-1" strike="noStrike">
                <a:solidFill>
                  <a:srgbClr val="ffffff"/>
                </a:solidFill>
                <a:latin typeface="Georgia"/>
                <a:ea typeface="Georgia"/>
              </a:rPr>
              <a:t>pop(key) Method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180" name="Text 2"/>
          <p:cNvSpPr/>
          <p:nvPr/>
        </p:nvSpPr>
        <p:spPr>
          <a:xfrm>
            <a:off x="365760" y="603360"/>
            <a:ext cx="8412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d4a5a5"/>
                </a:solidFill>
                <a:latin typeface="Calibri"/>
                <a:ea typeface="Calibri"/>
              </a:rPr>
              <a:t>Remove and return value for a specific key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81" name="Text 3"/>
          <p:cNvSpPr/>
          <p:nvPr/>
        </p:nvSpPr>
        <p:spPr>
          <a:xfrm>
            <a:off x="365760" y="1078920"/>
            <a:ext cx="8412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22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222222"/>
                </a:solidFill>
                <a:latin typeface="Calibri"/>
                <a:ea typeface="Calibri"/>
              </a:rPr>
              <a:t>The pop(key) method removes a specific key-value pair and returns the value. If the key doesn't exist, raises KeyError.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82" name="Shape 4"/>
          <p:cNvSpPr/>
          <p:nvPr/>
        </p:nvSpPr>
        <p:spPr>
          <a:xfrm>
            <a:off x="365760" y="1673280"/>
            <a:ext cx="8412120" cy="475200"/>
          </a:xfrm>
          <a:prstGeom prst="rect">
            <a:avLst/>
          </a:prstGeom>
          <a:solidFill>
            <a:srgbClr val="fef5f1"/>
          </a:solidFill>
          <a:ln w="25400">
            <a:solidFill>
              <a:srgbClr val="d4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3" name="Text 5"/>
          <p:cNvSpPr/>
          <p:nvPr/>
        </p:nvSpPr>
        <p:spPr>
          <a:xfrm>
            <a:off x="640080" y="1783080"/>
            <a:ext cx="80463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6d2e46"/>
                </a:solidFill>
                <a:latin typeface="Consolas"/>
                <a:ea typeface="Consolas"/>
              </a:rPr>
              <a:t>Syntax:   value = dict.pop(key)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84" name="Shape 6"/>
          <p:cNvSpPr/>
          <p:nvPr/>
        </p:nvSpPr>
        <p:spPr>
          <a:xfrm>
            <a:off x="365760" y="2286000"/>
            <a:ext cx="8412120" cy="1352880"/>
          </a:xfrm>
          <a:prstGeom prst="rect">
            <a:avLst/>
          </a:prstGeom>
          <a:solidFill>
            <a:srgbClr val="3d1f2f"/>
          </a:solidFill>
          <a:ln w="19050">
            <a:solidFill>
              <a:srgbClr val="d4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5" name="Text 7"/>
          <p:cNvSpPr/>
          <p:nvPr/>
        </p:nvSpPr>
        <p:spPr>
          <a:xfrm>
            <a:off x="530280" y="2395800"/>
            <a:ext cx="8083080" cy="113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my_dict = {'a': 1, 'b': 2, 'c': 3}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value = my_dict.pop('b')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print(my_dict)    # {'a': 1, 'c': 3}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print(value)      # 2  ← returned value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86" name="Text 8"/>
          <p:cNvSpPr/>
          <p:nvPr/>
        </p:nvSpPr>
        <p:spPr>
          <a:xfrm>
            <a:off x="365760" y="3822120"/>
            <a:ext cx="2742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a26769"/>
                </a:solidFill>
                <a:latin typeface="Calibri"/>
                <a:ea typeface="Calibri"/>
              </a:rPr>
              <a:t>Before pop('b'):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87" name="Shape 9"/>
          <p:cNvSpPr/>
          <p:nvPr/>
        </p:nvSpPr>
        <p:spPr>
          <a:xfrm>
            <a:off x="457200" y="4160520"/>
            <a:ext cx="2377080" cy="475200"/>
          </a:xfrm>
          <a:prstGeom prst="rect">
            <a:avLst/>
          </a:prstGeom>
          <a:solidFill>
            <a:srgbClr val="a26769"/>
          </a:solidFill>
          <a:ln w="12700">
            <a:solidFill>
              <a:srgbClr val="6d2e4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8" name="Text 10"/>
          <p:cNvSpPr/>
          <p:nvPr/>
        </p:nvSpPr>
        <p:spPr>
          <a:xfrm>
            <a:off x="548640" y="4251960"/>
            <a:ext cx="2194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'a': 1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89" name="Shape 11"/>
          <p:cNvSpPr/>
          <p:nvPr/>
        </p:nvSpPr>
        <p:spPr>
          <a:xfrm>
            <a:off x="3108960" y="4160520"/>
            <a:ext cx="2377080" cy="475200"/>
          </a:xfrm>
          <a:prstGeom prst="rect">
            <a:avLst/>
          </a:prstGeom>
          <a:solidFill>
            <a:srgbClr val="cc0000"/>
          </a:solidFill>
          <a:ln w="31750">
            <a:solidFill>
              <a:srgbClr val="6d2e4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0" name="Text 12"/>
          <p:cNvSpPr/>
          <p:nvPr/>
        </p:nvSpPr>
        <p:spPr>
          <a:xfrm>
            <a:off x="3200400" y="4251960"/>
            <a:ext cx="2194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'b': 2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91" name="Text 13"/>
          <p:cNvSpPr/>
          <p:nvPr/>
        </p:nvSpPr>
        <p:spPr>
          <a:xfrm>
            <a:off x="3108960" y="4709160"/>
            <a:ext cx="2377080" cy="18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900" spc="-1" strike="noStrike">
                <a:solidFill>
                  <a:srgbClr val="cc0000"/>
                </a:solidFill>
                <a:latin typeface="Calibri"/>
                <a:ea typeface="Calibri"/>
              </a:rPr>
              <a:t>✗ </a:t>
            </a:r>
            <a:r>
              <a:rPr b="1" lang="en-US" sz="900" spc="-1" strike="noStrike">
                <a:solidFill>
                  <a:srgbClr val="cc0000"/>
                </a:solidFill>
                <a:latin typeface="Calibri"/>
                <a:ea typeface="Calibri"/>
              </a:rPr>
              <a:t>removed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92" name="Shape 14"/>
          <p:cNvSpPr/>
          <p:nvPr/>
        </p:nvSpPr>
        <p:spPr>
          <a:xfrm>
            <a:off x="5760720" y="4160520"/>
            <a:ext cx="2377080" cy="475200"/>
          </a:xfrm>
          <a:prstGeom prst="rect">
            <a:avLst/>
          </a:prstGeom>
          <a:solidFill>
            <a:srgbClr val="a26769"/>
          </a:solidFill>
          <a:ln w="12700">
            <a:solidFill>
              <a:srgbClr val="6d2e4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3" name="Text 15"/>
          <p:cNvSpPr/>
          <p:nvPr/>
        </p:nvSpPr>
        <p:spPr>
          <a:xfrm>
            <a:off x="5852160" y="4251960"/>
            <a:ext cx="2194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'c': 3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94" name="Text 16"/>
          <p:cNvSpPr/>
          <p:nvPr/>
        </p:nvSpPr>
        <p:spPr>
          <a:xfrm>
            <a:off x="365760" y="5074920"/>
            <a:ext cx="27428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a9850"/>
                </a:solidFill>
                <a:latin typeface="Calibri"/>
                <a:ea typeface="Calibri"/>
              </a:rPr>
              <a:t>After pop('b'):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95" name="Shape 17"/>
          <p:cNvSpPr/>
          <p:nvPr/>
        </p:nvSpPr>
        <p:spPr>
          <a:xfrm>
            <a:off x="457200" y="5413320"/>
            <a:ext cx="2377080" cy="475200"/>
          </a:xfrm>
          <a:prstGeom prst="rect">
            <a:avLst/>
          </a:prstGeom>
          <a:solidFill>
            <a:srgbClr val="a26769"/>
          </a:solidFill>
          <a:ln w="12700">
            <a:solidFill>
              <a:srgbClr val="6d2e4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6" name="Text 18"/>
          <p:cNvSpPr/>
          <p:nvPr/>
        </p:nvSpPr>
        <p:spPr>
          <a:xfrm>
            <a:off x="548640" y="5504760"/>
            <a:ext cx="2194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'a': 1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97" name="Shape 19"/>
          <p:cNvSpPr/>
          <p:nvPr/>
        </p:nvSpPr>
        <p:spPr>
          <a:xfrm>
            <a:off x="3108960" y="5413320"/>
            <a:ext cx="2377080" cy="475200"/>
          </a:xfrm>
          <a:prstGeom prst="rect">
            <a:avLst/>
          </a:prstGeom>
          <a:solidFill>
            <a:srgbClr val="a26769"/>
          </a:solidFill>
          <a:ln w="12700">
            <a:solidFill>
              <a:srgbClr val="6d2e4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8" name="Text 20"/>
          <p:cNvSpPr/>
          <p:nvPr/>
        </p:nvSpPr>
        <p:spPr>
          <a:xfrm>
            <a:off x="3200400" y="5504760"/>
            <a:ext cx="21942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onsolas"/>
                <a:ea typeface="Consolas"/>
              </a:rPr>
              <a:t>'c': 3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99" name="Shape 21"/>
          <p:cNvSpPr/>
          <p:nvPr/>
        </p:nvSpPr>
        <p:spPr>
          <a:xfrm>
            <a:off x="365760" y="6035040"/>
            <a:ext cx="8412120" cy="529920"/>
          </a:xfrm>
          <a:prstGeom prst="rect">
            <a:avLst/>
          </a:prstGeom>
          <a:solidFill>
            <a:srgbClr val="fff0f5"/>
          </a:solidFill>
          <a:ln w="19050">
            <a:solidFill>
              <a:srgbClr val="c0004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0" name="Text 22"/>
          <p:cNvSpPr/>
          <p:nvPr/>
        </p:nvSpPr>
        <p:spPr>
          <a:xfrm>
            <a:off x="594360" y="6144840"/>
            <a:ext cx="80463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8b0032"/>
                </a:solidFill>
                <a:latin typeface="Calibri"/>
                <a:ea typeface="Calibri"/>
              </a:rPr>
              <a:t>⚠  </a:t>
            </a:r>
            <a:r>
              <a:rPr b="0" lang="en-US" sz="1250" spc="-1" strike="noStrike">
                <a:solidFill>
                  <a:srgbClr val="8b0032"/>
                </a:solidFill>
                <a:latin typeface="Calibri"/>
                <a:ea typeface="Calibri"/>
              </a:rPr>
              <a:t>pop(key) raises KeyError if key doesn't exist. Use pop(key, default) to avoid errors.</a:t>
            </a:r>
            <a:endParaRPr b="0" lang="en-IN" sz="12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Shape 0"/>
          <p:cNvSpPr/>
          <p:nvPr/>
        </p:nvSpPr>
        <p:spPr>
          <a:xfrm>
            <a:off x="0" y="0"/>
            <a:ext cx="9143640" cy="95976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2" name="Text 1"/>
          <p:cNvSpPr/>
          <p:nvPr/>
        </p:nvSpPr>
        <p:spPr>
          <a:xfrm>
            <a:off x="365760" y="109800"/>
            <a:ext cx="8412120" cy="475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Georgia"/>
                <a:ea typeface="Georgia"/>
              </a:rPr>
              <a:t>③ </a:t>
            </a:r>
            <a:r>
              <a:rPr b="1" lang="en-US" sz="3200" spc="-1" strike="noStrike">
                <a:solidFill>
                  <a:srgbClr val="ffffff"/>
                </a:solidFill>
                <a:latin typeface="Georgia"/>
                <a:ea typeface="Georgia"/>
              </a:rPr>
              <a:t>popitem()  &amp;  ④ clear()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203" name="Text 2"/>
          <p:cNvSpPr/>
          <p:nvPr/>
        </p:nvSpPr>
        <p:spPr>
          <a:xfrm>
            <a:off x="365760" y="603360"/>
            <a:ext cx="841212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d4a5a5"/>
                </a:solidFill>
                <a:latin typeface="Calibri"/>
                <a:ea typeface="Calibri"/>
              </a:rPr>
              <a:t>Remove last pair  |  Empty entire dictionary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04" name="Shape 3"/>
          <p:cNvSpPr/>
          <p:nvPr/>
        </p:nvSpPr>
        <p:spPr>
          <a:xfrm>
            <a:off x="365760" y="1078920"/>
            <a:ext cx="8412120" cy="25560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5" name="Text 4"/>
          <p:cNvSpPr/>
          <p:nvPr/>
        </p:nvSpPr>
        <p:spPr>
          <a:xfrm>
            <a:off x="548640" y="1115640"/>
            <a:ext cx="81378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③ </a:t>
            </a: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popitem() — Remove and return LAST key-value pair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206" name="Shape 5"/>
          <p:cNvSpPr/>
          <p:nvPr/>
        </p:nvSpPr>
        <p:spPr>
          <a:xfrm>
            <a:off x="365760" y="1426320"/>
            <a:ext cx="8412120" cy="914040"/>
          </a:xfrm>
          <a:prstGeom prst="rect">
            <a:avLst/>
          </a:prstGeom>
          <a:solidFill>
            <a:srgbClr val="3d1f2f"/>
          </a:solidFill>
          <a:ln w="19050">
            <a:solidFill>
              <a:srgbClr val="d4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7" name="Text 6"/>
          <p:cNvSpPr/>
          <p:nvPr/>
        </p:nvSpPr>
        <p:spPr>
          <a:xfrm>
            <a:off x="530280" y="1536120"/>
            <a:ext cx="8083080" cy="69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my_dict = {'a': 1, 'b': 2, 'c': 3}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my_dict.popitem()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print(my_dict)    # {'a': 1, 'b': 2}  ← 'c':3 removed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208" name="Shape 7"/>
          <p:cNvSpPr/>
          <p:nvPr/>
        </p:nvSpPr>
        <p:spPr>
          <a:xfrm>
            <a:off x="365760" y="2468880"/>
            <a:ext cx="8412120" cy="529920"/>
          </a:xfrm>
          <a:prstGeom prst="rect">
            <a:avLst/>
          </a:prstGeom>
          <a:solidFill>
            <a:srgbClr val="fcf5f0"/>
          </a:solidFill>
          <a:ln w="19050">
            <a:solidFill>
              <a:srgbClr val="8e44ad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9" name="Text 8"/>
          <p:cNvSpPr/>
          <p:nvPr/>
        </p:nvSpPr>
        <p:spPr>
          <a:xfrm>
            <a:off x="594360" y="2578680"/>
            <a:ext cx="804636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333333"/>
                </a:solidFill>
                <a:latin typeface="Calibri"/>
                <a:ea typeface="Calibri"/>
              </a:rPr>
              <a:t>✓ </a:t>
            </a:r>
            <a:r>
              <a:rPr b="0" lang="en-US" sz="1250" spc="-1" strike="noStrike">
                <a:solidFill>
                  <a:srgbClr val="333333"/>
                </a:solidFill>
                <a:latin typeface="Calibri"/>
                <a:ea typeface="Calibri"/>
              </a:rPr>
              <a:t>popitem() removes the LAST inserted pair (LIFO). Returns the removed (key, value) tuple.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210" name="Shape 9"/>
          <p:cNvSpPr/>
          <p:nvPr/>
        </p:nvSpPr>
        <p:spPr>
          <a:xfrm>
            <a:off x="365760" y="3127320"/>
            <a:ext cx="8412120" cy="255600"/>
          </a:xfrm>
          <a:prstGeom prst="rect">
            <a:avLst/>
          </a:prstGeom>
          <a:solidFill>
            <a:srgbClr val="c0004a"/>
          </a:solidFill>
          <a:ln w="12700">
            <a:solidFill>
              <a:srgbClr val="c0004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1" name="Text 10"/>
          <p:cNvSpPr/>
          <p:nvPr/>
        </p:nvSpPr>
        <p:spPr>
          <a:xfrm>
            <a:off x="548640" y="3163680"/>
            <a:ext cx="8137800" cy="200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④ </a:t>
            </a: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clear() — Remove ALL key-value pairs, making dictionary empty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212" name="Shape 11"/>
          <p:cNvSpPr/>
          <p:nvPr/>
        </p:nvSpPr>
        <p:spPr>
          <a:xfrm>
            <a:off x="365760" y="3474720"/>
            <a:ext cx="8412120" cy="914040"/>
          </a:xfrm>
          <a:prstGeom prst="rect">
            <a:avLst/>
          </a:prstGeom>
          <a:solidFill>
            <a:srgbClr val="3d1f2f"/>
          </a:solidFill>
          <a:ln w="19050">
            <a:solidFill>
              <a:srgbClr val="d4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3" name="Text 12"/>
          <p:cNvSpPr/>
          <p:nvPr/>
        </p:nvSpPr>
        <p:spPr>
          <a:xfrm>
            <a:off x="530280" y="3584520"/>
            <a:ext cx="8083080" cy="69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my_dict = {'a': 1, 'b': 2, 'c': 3}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my_dict.clear()</a:t>
            </a:r>
            <a:endParaRPr b="0" lang="en-IN" sz="1150" spc="-1" strike="noStrike">
              <a:latin typeface="Arial"/>
            </a:endParaRPr>
          </a:p>
          <a:p>
            <a:pPr>
              <a:lnSpc>
                <a:spcPts val="1899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5c9c9"/>
                </a:solidFill>
                <a:latin typeface="Consolas"/>
                <a:ea typeface="Consolas"/>
              </a:rPr>
              <a:t>print(my_dict)    # {}  ← empty dictionary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214" name="Text 13"/>
          <p:cNvSpPr/>
          <p:nvPr/>
        </p:nvSpPr>
        <p:spPr>
          <a:xfrm>
            <a:off x="365760" y="4553640"/>
            <a:ext cx="2285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a26769"/>
                </a:solidFill>
                <a:latin typeface="Calibri"/>
                <a:ea typeface="Calibri"/>
              </a:rPr>
              <a:t>Before clear():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215" name="Shape 14"/>
          <p:cNvSpPr/>
          <p:nvPr/>
        </p:nvSpPr>
        <p:spPr>
          <a:xfrm>
            <a:off x="2743200" y="4535280"/>
            <a:ext cx="1554120" cy="383760"/>
          </a:xfrm>
          <a:prstGeom prst="rect">
            <a:avLst/>
          </a:prstGeom>
          <a:solidFill>
            <a:srgbClr val="a26769"/>
          </a:solidFill>
          <a:ln w="12700">
            <a:solidFill>
              <a:srgbClr val="6d2e4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6" name="Text 15"/>
          <p:cNvSpPr/>
          <p:nvPr/>
        </p:nvSpPr>
        <p:spPr>
          <a:xfrm>
            <a:off x="2834640" y="4608720"/>
            <a:ext cx="13712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'a':1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17" name="Shape 16"/>
          <p:cNvSpPr/>
          <p:nvPr/>
        </p:nvSpPr>
        <p:spPr>
          <a:xfrm>
            <a:off x="4480560" y="4535280"/>
            <a:ext cx="1554120" cy="383760"/>
          </a:xfrm>
          <a:prstGeom prst="rect">
            <a:avLst/>
          </a:prstGeom>
          <a:solidFill>
            <a:srgbClr val="a26769"/>
          </a:solidFill>
          <a:ln w="12700">
            <a:solidFill>
              <a:srgbClr val="6d2e4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8" name="Text 17"/>
          <p:cNvSpPr/>
          <p:nvPr/>
        </p:nvSpPr>
        <p:spPr>
          <a:xfrm>
            <a:off x="4572000" y="4608720"/>
            <a:ext cx="13712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'b':2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19" name="Shape 18"/>
          <p:cNvSpPr/>
          <p:nvPr/>
        </p:nvSpPr>
        <p:spPr>
          <a:xfrm>
            <a:off x="6217920" y="4535280"/>
            <a:ext cx="1554120" cy="383760"/>
          </a:xfrm>
          <a:prstGeom prst="rect">
            <a:avLst/>
          </a:prstGeom>
          <a:solidFill>
            <a:srgbClr val="a26769"/>
          </a:solidFill>
          <a:ln w="12700">
            <a:solidFill>
              <a:srgbClr val="6d2e46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0" name="Text 19"/>
          <p:cNvSpPr/>
          <p:nvPr/>
        </p:nvSpPr>
        <p:spPr>
          <a:xfrm>
            <a:off x="6309360" y="4608720"/>
            <a:ext cx="13712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-1" strike="noStrike">
                <a:solidFill>
                  <a:srgbClr val="ffffff"/>
                </a:solidFill>
                <a:latin typeface="Consolas"/>
                <a:ea typeface="Consolas"/>
              </a:rPr>
              <a:t>'c':3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221" name="Text 20"/>
          <p:cNvSpPr/>
          <p:nvPr/>
        </p:nvSpPr>
        <p:spPr>
          <a:xfrm>
            <a:off x="365760" y="5065920"/>
            <a:ext cx="22856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c0004a"/>
                </a:solidFill>
                <a:latin typeface="Calibri"/>
                <a:ea typeface="Calibri"/>
              </a:rPr>
              <a:t>After clear():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222" name="Shape 21"/>
          <p:cNvSpPr/>
          <p:nvPr/>
        </p:nvSpPr>
        <p:spPr>
          <a:xfrm>
            <a:off x="2743200" y="5047560"/>
            <a:ext cx="1828440" cy="383760"/>
          </a:xfrm>
          <a:prstGeom prst="rect">
            <a:avLst/>
          </a:prstGeom>
          <a:solidFill>
            <a:srgbClr val="eeeeee"/>
          </a:solidFill>
          <a:ln w="19050">
            <a:solidFill>
              <a:srgbClr val="aaaaaa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3" name="Text 22"/>
          <p:cNvSpPr/>
          <p:nvPr/>
        </p:nvSpPr>
        <p:spPr>
          <a:xfrm>
            <a:off x="2743200" y="5120640"/>
            <a:ext cx="182844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aaaaaa"/>
                </a:solidFill>
                <a:latin typeface="Consolas"/>
                <a:ea typeface="Consolas"/>
              </a:rPr>
              <a:t>{ }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224" name="Shape 23"/>
          <p:cNvSpPr/>
          <p:nvPr/>
        </p:nvSpPr>
        <p:spPr>
          <a:xfrm>
            <a:off x="365760" y="5577840"/>
            <a:ext cx="8412120" cy="658080"/>
          </a:xfrm>
          <a:prstGeom prst="rect">
            <a:avLst/>
          </a:prstGeom>
          <a:solidFill>
            <a:srgbClr val="fff8e1"/>
          </a:solidFill>
          <a:ln w="19050">
            <a:solidFill>
              <a:srgbClr val="f4a62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5" name="Text 24"/>
          <p:cNvSpPr/>
          <p:nvPr/>
        </p:nvSpPr>
        <p:spPr>
          <a:xfrm>
            <a:off x="594360" y="5687640"/>
            <a:ext cx="8046360" cy="43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18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7d4e00"/>
                </a:solidFill>
                <a:latin typeface="Calibri"/>
                <a:ea typeface="Calibri"/>
              </a:rPr>
              <a:t>💡 </a:t>
            </a:r>
            <a:r>
              <a:rPr b="0" lang="en-US" sz="1250" spc="-1" strike="noStrike">
                <a:solidFill>
                  <a:srgbClr val="7d4e00"/>
                </a:solidFill>
                <a:latin typeface="Calibri"/>
                <a:ea typeface="Calibri"/>
              </a:rPr>
              <a:t>popitem() is useful for LIFO (stack) behavior. clear() removes all pairs at once.</a:t>
            </a:r>
            <a:endParaRPr b="0" lang="en-IN" sz="1250" spc="-1" strike="noStrike">
              <a:latin typeface="Arial"/>
            </a:endParaRPr>
          </a:p>
          <a:p>
            <a:pPr>
              <a:lnSpc>
                <a:spcPts val="18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7d4e00"/>
                </a:solidFill>
                <a:latin typeface="Calibri"/>
                <a:ea typeface="Calibri"/>
              </a:rPr>
              <a:t>⚠  </a:t>
            </a:r>
            <a:r>
              <a:rPr b="0" lang="en-US" sz="1250" spc="-1" strike="noStrike">
                <a:solidFill>
                  <a:srgbClr val="7d4e00"/>
                </a:solidFill>
                <a:latin typeface="Calibri"/>
                <a:ea typeface="Calibri"/>
              </a:rPr>
              <a:t>popitem() raises KeyError on empty dictionaries.</a:t>
            </a:r>
            <a:endParaRPr b="0" lang="en-IN" sz="12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Shape 0"/>
          <p:cNvSpPr/>
          <p:nvPr/>
        </p:nvSpPr>
        <p:spPr>
          <a:xfrm>
            <a:off x="0" y="0"/>
            <a:ext cx="200880" cy="5143320"/>
          </a:xfrm>
          <a:prstGeom prst="rect">
            <a:avLst/>
          </a:prstGeom>
          <a:solidFill>
            <a:srgbClr val="d4a5a5"/>
          </a:solidFill>
          <a:ln w="12700">
            <a:solidFill>
              <a:srgbClr val="d4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27" name="Text 1"/>
          <p:cNvSpPr/>
          <p:nvPr/>
        </p:nvSpPr>
        <p:spPr>
          <a:xfrm>
            <a:off x="502920" y="320040"/>
            <a:ext cx="832068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900" spc="-1" strike="noStrike">
                <a:solidFill>
                  <a:srgbClr val="ffffff"/>
                </a:solidFill>
                <a:latin typeface="Georgia"/>
                <a:ea typeface="Georgia"/>
              </a:rPr>
              <a:t>Python Dictionaries — Part 3 Summary</a:t>
            </a:r>
            <a:endParaRPr b="0" lang="en-IN" sz="2900" spc="-1" strike="noStrike">
              <a:latin typeface="Arial"/>
            </a:endParaRPr>
          </a:p>
        </p:txBody>
      </p:sp>
      <p:sp>
        <p:nvSpPr>
          <p:cNvPr id="228" name="Text 2"/>
          <p:cNvSpPr/>
          <p:nvPr/>
        </p:nvSpPr>
        <p:spPr>
          <a:xfrm>
            <a:off x="502920" y="914400"/>
            <a:ext cx="832068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d4a5a5"/>
                </a:solidFill>
                <a:latin typeface="Calibri"/>
                <a:ea typeface="Calibri"/>
              </a:rPr>
              <a:t>Operators, Built-in Functions &amp; Methods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29" name="Shape 3"/>
          <p:cNvSpPr/>
          <p:nvPr/>
        </p:nvSpPr>
        <p:spPr>
          <a:xfrm>
            <a:off x="502920" y="1325880"/>
            <a:ext cx="8320680" cy="328680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0" name="Text 4"/>
          <p:cNvSpPr/>
          <p:nvPr/>
        </p:nvSpPr>
        <p:spPr>
          <a:xfrm>
            <a:off x="685800" y="1380600"/>
            <a:ext cx="79549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Built-in Functions (8) — operate on KEYS by default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31" name="Shape 5"/>
          <p:cNvSpPr/>
          <p:nvPr/>
        </p:nvSpPr>
        <p:spPr>
          <a:xfrm>
            <a:off x="502920" y="1719000"/>
            <a:ext cx="1992960" cy="566640"/>
          </a:xfrm>
          <a:prstGeom prst="rect">
            <a:avLst/>
          </a:prstGeom>
          <a:solidFill>
            <a:srgbClr val="4d1f32"/>
          </a:solidFill>
          <a:ln w="12700">
            <a:solidFill>
              <a:srgbClr val="d4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2" name="Text 6"/>
          <p:cNvSpPr/>
          <p:nvPr/>
        </p:nvSpPr>
        <p:spPr>
          <a:xfrm>
            <a:off x="594360" y="1792080"/>
            <a:ext cx="1828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1701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cf5f0"/>
                </a:solidFill>
                <a:latin typeface="Consolas"/>
                <a:ea typeface="Consolas"/>
              </a:rPr>
              <a:t>len() → count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233" name="Shape 7"/>
          <p:cNvSpPr/>
          <p:nvPr/>
        </p:nvSpPr>
        <p:spPr>
          <a:xfrm>
            <a:off x="2587680" y="1719000"/>
            <a:ext cx="1992960" cy="566640"/>
          </a:xfrm>
          <a:prstGeom prst="rect">
            <a:avLst/>
          </a:prstGeom>
          <a:solidFill>
            <a:srgbClr val="4d1f32"/>
          </a:solidFill>
          <a:ln w="12700">
            <a:solidFill>
              <a:srgbClr val="d4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4" name="Text 8"/>
          <p:cNvSpPr/>
          <p:nvPr/>
        </p:nvSpPr>
        <p:spPr>
          <a:xfrm>
            <a:off x="2679120" y="1792080"/>
            <a:ext cx="1828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1701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cf5f0"/>
                </a:solidFill>
                <a:latin typeface="Consolas"/>
                <a:ea typeface="Consolas"/>
              </a:rPr>
              <a:t>max() → largest key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235" name="Shape 9"/>
          <p:cNvSpPr/>
          <p:nvPr/>
        </p:nvSpPr>
        <p:spPr>
          <a:xfrm>
            <a:off x="4672440" y="1719000"/>
            <a:ext cx="1992960" cy="566640"/>
          </a:xfrm>
          <a:prstGeom prst="rect">
            <a:avLst/>
          </a:prstGeom>
          <a:solidFill>
            <a:srgbClr val="4d1f32"/>
          </a:solidFill>
          <a:ln w="12700">
            <a:solidFill>
              <a:srgbClr val="d4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6" name="Text 10"/>
          <p:cNvSpPr/>
          <p:nvPr/>
        </p:nvSpPr>
        <p:spPr>
          <a:xfrm>
            <a:off x="4763880" y="1792080"/>
            <a:ext cx="1828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1701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cf5f0"/>
                </a:solidFill>
                <a:latin typeface="Consolas"/>
                <a:ea typeface="Consolas"/>
              </a:rPr>
              <a:t>min() → smallest key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237" name="Shape 11"/>
          <p:cNvSpPr/>
          <p:nvPr/>
        </p:nvSpPr>
        <p:spPr>
          <a:xfrm>
            <a:off x="6757560" y="1719000"/>
            <a:ext cx="1992960" cy="566640"/>
          </a:xfrm>
          <a:prstGeom prst="rect">
            <a:avLst/>
          </a:prstGeom>
          <a:solidFill>
            <a:srgbClr val="4d1f32"/>
          </a:solidFill>
          <a:ln w="12700">
            <a:solidFill>
              <a:srgbClr val="d4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38" name="Text 12"/>
          <p:cNvSpPr/>
          <p:nvPr/>
        </p:nvSpPr>
        <p:spPr>
          <a:xfrm>
            <a:off x="6849000" y="1792080"/>
            <a:ext cx="1828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1701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cf5f0"/>
                </a:solidFill>
                <a:latin typeface="Consolas"/>
                <a:ea typeface="Consolas"/>
              </a:rPr>
              <a:t>sum() → sum keys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239" name="Shape 13"/>
          <p:cNvSpPr/>
          <p:nvPr/>
        </p:nvSpPr>
        <p:spPr>
          <a:xfrm>
            <a:off x="502920" y="2377440"/>
            <a:ext cx="1992960" cy="566640"/>
          </a:xfrm>
          <a:prstGeom prst="rect">
            <a:avLst/>
          </a:prstGeom>
          <a:solidFill>
            <a:srgbClr val="4d1f32"/>
          </a:solidFill>
          <a:ln w="12700">
            <a:solidFill>
              <a:srgbClr val="d4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0" name="Text 14"/>
          <p:cNvSpPr/>
          <p:nvPr/>
        </p:nvSpPr>
        <p:spPr>
          <a:xfrm>
            <a:off x="594360" y="2450520"/>
            <a:ext cx="1828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1701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cf5f0"/>
                </a:solidFill>
                <a:latin typeface="Consolas"/>
                <a:ea typeface="Consolas"/>
              </a:rPr>
              <a:t>any() → ≥1 truthy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241" name="Shape 15"/>
          <p:cNvSpPr/>
          <p:nvPr/>
        </p:nvSpPr>
        <p:spPr>
          <a:xfrm>
            <a:off x="2587680" y="2377440"/>
            <a:ext cx="1992960" cy="566640"/>
          </a:xfrm>
          <a:prstGeom prst="rect">
            <a:avLst/>
          </a:prstGeom>
          <a:solidFill>
            <a:srgbClr val="4d1f32"/>
          </a:solidFill>
          <a:ln w="12700">
            <a:solidFill>
              <a:srgbClr val="d4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2" name="Text 16"/>
          <p:cNvSpPr/>
          <p:nvPr/>
        </p:nvSpPr>
        <p:spPr>
          <a:xfrm>
            <a:off x="2679120" y="2450520"/>
            <a:ext cx="1828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1701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cf5f0"/>
                </a:solidFill>
                <a:latin typeface="Consolas"/>
                <a:ea typeface="Consolas"/>
              </a:rPr>
              <a:t>all() → all truthy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243" name="Shape 17"/>
          <p:cNvSpPr/>
          <p:nvPr/>
        </p:nvSpPr>
        <p:spPr>
          <a:xfrm>
            <a:off x="4672440" y="2377440"/>
            <a:ext cx="1992960" cy="566640"/>
          </a:xfrm>
          <a:prstGeom prst="rect">
            <a:avLst/>
          </a:prstGeom>
          <a:solidFill>
            <a:srgbClr val="4d1f32"/>
          </a:solidFill>
          <a:ln w="12700">
            <a:solidFill>
              <a:srgbClr val="d4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4" name="Text 18"/>
          <p:cNvSpPr/>
          <p:nvPr/>
        </p:nvSpPr>
        <p:spPr>
          <a:xfrm>
            <a:off x="4763880" y="2450520"/>
            <a:ext cx="1828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1701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cf5f0"/>
                </a:solidFill>
                <a:latin typeface="Consolas"/>
                <a:ea typeface="Consolas"/>
              </a:rPr>
              <a:t>sorted() → sorted list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245" name="Shape 19"/>
          <p:cNvSpPr/>
          <p:nvPr/>
        </p:nvSpPr>
        <p:spPr>
          <a:xfrm>
            <a:off x="6757560" y="2377440"/>
            <a:ext cx="1992960" cy="566640"/>
          </a:xfrm>
          <a:prstGeom prst="rect">
            <a:avLst/>
          </a:prstGeom>
          <a:solidFill>
            <a:srgbClr val="4d1f32"/>
          </a:solidFill>
          <a:ln w="12700">
            <a:solidFill>
              <a:srgbClr val="d4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6" name="Text 20"/>
          <p:cNvSpPr/>
          <p:nvPr/>
        </p:nvSpPr>
        <p:spPr>
          <a:xfrm>
            <a:off x="6849000" y="2450520"/>
            <a:ext cx="18284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1701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cf5f0"/>
                </a:solidFill>
                <a:latin typeface="Consolas"/>
                <a:ea typeface="Consolas"/>
              </a:rPr>
              <a:t>reversed() → reverse order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247" name="Shape 21"/>
          <p:cNvSpPr/>
          <p:nvPr/>
        </p:nvSpPr>
        <p:spPr>
          <a:xfrm>
            <a:off x="502920" y="3127320"/>
            <a:ext cx="8320680" cy="328680"/>
          </a:xfrm>
          <a:prstGeom prst="rect">
            <a:avLst/>
          </a:prstGeom>
          <a:solidFill>
            <a:srgbClr val="a26769"/>
          </a:solidFill>
          <a:ln w="12700">
            <a:solidFill>
              <a:srgbClr val="a26769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48" name="Text 22"/>
          <p:cNvSpPr/>
          <p:nvPr/>
        </p:nvSpPr>
        <p:spPr>
          <a:xfrm>
            <a:off x="685800" y="3182040"/>
            <a:ext cx="7954920" cy="219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  <a:ea typeface="Calibri"/>
              </a:rPr>
              <a:t>Dictionary Methods (4)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49" name="Shape 23"/>
          <p:cNvSpPr/>
          <p:nvPr/>
        </p:nvSpPr>
        <p:spPr>
          <a:xfrm>
            <a:off x="502920" y="3547800"/>
            <a:ext cx="4068720" cy="914040"/>
          </a:xfrm>
          <a:prstGeom prst="rect">
            <a:avLst/>
          </a:prstGeom>
          <a:solidFill>
            <a:srgbClr val="4d1f32"/>
          </a:solidFill>
          <a:ln w="12700">
            <a:solidFill>
              <a:srgbClr val="d4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0" name="Text 24"/>
          <p:cNvSpPr/>
          <p:nvPr/>
        </p:nvSpPr>
        <p:spPr>
          <a:xfrm>
            <a:off x="640080" y="3639240"/>
            <a:ext cx="3794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f4a623"/>
                </a:solidFill>
                <a:latin typeface="Consolas"/>
                <a:ea typeface="Consolas"/>
              </a:rPr>
              <a:t>update({k:v,...})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251" name="Text 25"/>
          <p:cNvSpPr/>
          <p:nvPr/>
        </p:nvSpPr>
        <p:spPr>
          <a:xfrm>
            <a:off x="640080" y="4005000"/>
            <a:ext cx="37944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cf5f0"/>
                </a:solidFill>
                <a:latin typeface="Calibri"/>
                <a:ea typeface="Calibri"/>
              </a:rPr>
              <a:t>Add/update multiple pairs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252" name="Shape 26"/>
          <p:cNvSpPr/>
          <p:nvPr/>
        </p:nvSpPr>
        <p:spPr>
          <a:xfrm>
            <a:off x="4709160" y="3547800"/>
            <a:ext cx="4068720" cy="914040"/>
          </a:xfrm>
          <a:prstGeom prst="rect">
            <a:avLst/>
          </a:prstGeom>
          <a:solidFill>
            <a:srgbClr val="4d1f32"/>
          </a:solidFill>
          <a:ln w="12700">
            <a:solidFill>
              <a:srgbClr val="d4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3" name="Text 27"/>
          <p:cNvSpPr/>
          <p:nvPr/>
        </p:nvSpPr>
        <p:spPr>
          <a:xfrm>
            <a:off x="4846320" y="3639240"/>
            <a:ext cx="3794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f4a623"/>
                </a:solidFill>
                <a:latin typeface="Consolas"/>
                <a:ea typeface="Consolas"/>
              </a:rPr>
              <a:t>pop(key)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254" name="Text 28"/>
          <p:cNvSpPr/>
          <p:nvPr/>
        </p:nvSpPr>
        <p:spPr>
          <a:xfrm>
            <a:off x="4846320" y="4005000"/>
            <a:ext cx="37944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cf5f0"/>
                </a:solidFill>
                <a:latin typeface="Calibri"/>
                <a:ea typeface="Calibri"/>
              </a:rPr>
              <a:t>Remove key, return value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255" name="Shape 29"/>
          <p:cNvSpPr/>
          <p:nvPr/>
        </p:nvSpPr>
        <p:spPr>
          <a:xfrm>
            <a:off x="502920" y="4572000"/>
            <a:ext cx="4068720" cy="914040"/>
          </a:xfrm>
          <a:prstGeom prst="rect">
            <a:avLst/>
          </a:prstGeom>
          <a:solidFill>
            <a:srgbClr val="4d1f32"/>
          </a:solidFill>
          <a:ln w="12700">
            <a:solidFill>
              <a:srgbClr val="d4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6" name="Text 30"/>
          <p:cNvSpPr/>
          <p:nvPr/>
        </p:nvSpPr>
        <p:spPr>
          <a:xfrm>
            <a:off x="640080" y="4663440"/>
            <a:ext cx="3794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f4a623"/>
                </a:solidFill>
                <a:latin typeface="Consolas"/>
                <a:ea typeface="Consolas"/>
              </a:rPr>
              <a:t>popitem()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257" name="Text 31"/>
          <p:cNvSpPr/>
          <p:nvPr/>
        </p:nvSpPr>
        <p:spPr>
          <a:xfrm>
            <a:off x="640080" y="5029200"/>
            <a:ext cx="37944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cf5f0"/>
                </a:solidFill>
                <a:latin typeface="Calibri"/>
                <a:ea typeface="Calibri"/>
              </a:rPr>
              <a:t>Remove &amp; return last pair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258" name="Shape 32"/>
          <p:cNvSpPr/>
          <p:nvPr/>
        </p:nvSpPr>
        <p:spPr>
          <a:xfrm>
            <a:off x="4709160" y="4572000"/>
            <a:ext cx="4068720" cy="914040"/>
          </a:xfrm>
          <a:prstGeom prst="rect">
            <a:avLst/>
          </a:prstGeom>
          <a:solidFill>
            <a:srgbClr val="4d1f32"/>
          </a:solidFill>
          <a:ln w="12700">
            <a:solidFill>
              <a:srgbClr val="d4a5a5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59" name="Text 33"/>
          <p:cNvSpPr/>
          <p:nvPr/>
        </p:nvSpPr>
        <p:spPr>
          <a:xfrm>
            <a:off x="4846320" y="4663440"/>
            <a:ext cx="379440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f4a623"/>
                </a:solidFill>
                <a:latin typeface="Consolas"/>
                <a:ea typeface="Consolas"/>
              </a:rPr>
              <a:t>clear()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260" name="Text 34"/>
          <p:cNvSpPr/>
          <p:nvPr/>
        </p:nvSpPr>
        <p:spPr>
          <a:xfrm>
            <a:off x="4846320" y="5029200"/>
            <a:ext cx="379440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cf5f0"/>
                </a:solidFill>
                <a:latin typeface="Calibri"/>
                <a:ea typeface="Calibri"/>
              </a:rPr>
              <a:t>Remove all pairs → empty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261" name="Shape 35"/>
          <p:cNvSpPr/>
          <p:nvPr/>
        </p:nvSpPr>
        <p:spPr>
          <a:xfrm>
            <a:off x="502920" y="5687640"/>
            <a:ext cx="8320680" cy="658080"/>
          </a:xfrm>
          <a:prstGeom prst="rect">
            <a:avLst/>
          </a:prstGeom>
          <a:solidFill>
            <a:srgbClr val="4d1f32"/>
          </a:solidFill>
          <a:ln w="19050">
            <a:solidFill>
              <a:srgbClr val="f4a623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62" name="Text 36"/>
          <p:cNvSpPr/>
          <p:nvPr/>
        </p:nvSpPr>
        <p:spPr>
          <a:xfrm>
            <a:off x="685800" y="5833800"/>
            <a:ext cx="795492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ts val="18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4a623"/>
                </a:solidFill>
                <a:latin typeface="Calibri"/>
                <a:ea typeface="Calibri"/>
              </a:rPr>
              <a:t>Operators:  'is' checks identity (memory)  |  '==' checks equality (content)  |  'not' checks emptiness</a:t>
            </a:r>
            <a:endParaRPr b="0" lang="en-IN" sz="1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LibreOffice/7.3.7.2$Linux_X86_64 LibreOffice_project/30$Build-2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2026-02-17T03:30:57Z</dcterms:created>
  <dc:creator>PptxGenJS</dc:creator>
  <dc:description/>
  <dc:language>en-IN</dc:language>
  <cp:lastModifiedBy>PptxGenJS</cp:lastModifiedBy>
  <dcterms:modified xsi:type="dcterms:W3CDTF">2026-02-17T03:30:57Z</dcterms:modified>
  <cp:revision>1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16</vt:i4>
  </property>
  <property fmtid="{D5CDD505-2E9C-101B-9397-08002B2CF9AE}" pid="3" name="PresentationFormat">
    <vt:lpwstr>On-screen Show (16:9)</vt:lpwstr>
  </property>
  <property fmtid="{D5CDD505-2E9C-101B-9397-08002B2CF9AE}" pid="4" name="Slides">
    <vt:i4>16</vt:i4>
  </property>
</Properties>
</file>