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547B4C5-2983-4923-88BC-D1CC107CBF7C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8ABFF96-F54B-4E2C-AF94-4088B251CD8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1E8FBDC-9624-467B-BBAD-EFE9F487D71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8C65281-2A14-45A1-9634-22D43D80B1D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7D58128-BCC0-4637-B80B-34F0338A7DC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1B141E6-5338-41F0-8418-04FAF6D13AA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D8F7307-BCCA-4679-A5DF-E82B565CAEE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7F04227-21D4-40AD-95AC-EF6F77A180C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829162B-61EF-4ED5-AAEF-AD0FA9EF67D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D73D775-CCB3-4439-A5CA-364E46509D7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3856E8-BE32-4B5F-8405-8A2EDAB0433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08C1FAD-5317-43C8-9F88-0A18AFF0BCA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d4a5a5"/>
          </a:solidFill>
          <a:ln w="127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502920" y="169164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Georgia"/>
                <a:ea typeface="Georgia"/>
              </a:rPr>
              <a:t>Python Dictionaries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502920" y="32918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d4a5a5"/>
                </a:solidFill>
                <a:latin typeface="Calibri"/>
                <a:ea typeface="Calibri"/>
              </a:rPr>
              <a:t>Part 1 – Fundamentals, Properties, Accessing &amp; Looping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502920" y="62179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b8999a"/>
                </a:solidFill>
                <a:latin typeface="Calibri"/>
                <a:ea typeface="Calibri"/>
              </a:rPr>
              <a:t>Topic 11  •  Key-Value Pairs  •  Curly Brackets  •  Mutable  •  Unordered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What are Dictionaries?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Topic 11 — Key-Value Pair Collection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365760" y="107892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A dictionary is a collection of key-value pairs. Keys and values are separated by commas, and the entire dictionary is enclosed in curly brackets { }.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2" name="Shape 4"/>
          <p:cNvSpPr/>
          <p:nvPr/>
        </p:nvSpPr>
        <p:spPr>
          <a:xfrm>
            <a:off x="365760" y="1673280"/>
            <a:ext cx="8412120" cy="475200"/>
          </a:xfrm>
          <a:prstGeom prst="rect">
            <a:avLst/>
          </a:prstGeom>
          <a:solidFill>
            <a:srgbClr val="fef5f1"/>
          </a:solidFill>
          <a:ln w="254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5"/>
          <p:cNvSpPr/>
          <p:nvPr/>
        </p:nvSpPr>
        <p:spPr>
          <a:xfrm>
            <a:off x="640080" y="178308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onsolas"/>
                <a:ea typeface="Consolas"/>
              </a:rPr>
              <a:t>Syntax:   dict_name  =  { key1: value1,  key2: value2,  key3: value3 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4" name="Shape 6"/>
          <p:cNvSpPr/>
          <p:nvPr/>
        </p:nvSpPr>
        <p:spPr>
          <a:xfrm>
            <a:off x="365760" y="2286000"/>
            <a:ext cx="8412120" cy="118836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7"/>
          <p:cNvSpPr/>
          <p:nvPr/>
        </p:nvSpPr>
        <p:spPr>
          <a:xfrm>
            <a:off x="530280" y="2395800"/>
            <a:ext cx="808308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dict1 = {10: 'A', 20: 'B', 30: 'Z'}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print(dict1)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Output: {10: 'A', 20: 'B', 30: 'Z'}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56" name="Shape 8"/>
          <p:cNvSpPr/>
          <p:nvPr/>
        </p:nvSpPr>
        <p:spPr>
          <a:xfrm>
            <a:off x="365760" y="3611880"/>
            <a:ext cx="4205880" cy="1115280"/>
          </a:xfrm>
          <a:prstGeom prst="rect">
            <a:avLst/>
          </a:prstGeom>
          <a:solidFill>
            <a:srgbClr val="fcf5f0"/>
          </a:solidFill>
          <a:ln w="254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Shape 9"/>
          <p:cNvSpPr/>
          <p:nvPr/>
        </p:nvSpPr>
        <p:spPr>
          <a:xfrm>
            <a:off x="502920" y="3749040"/>
            <a:ext cx="420120" cy="42012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0"/>
          <p:cNvSpPr/>
          <p:nvPr/>
        </p:nvSpPr>
        <p:spPr>
          <a:xfrm>
            <a:off x="502920" y="376740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①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1024200" y="3776400"/>
            <a:ext cx="340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Key-Value Pairs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530280" y="4178880"/>
            <a:ext cx="38768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333333"/>
                </a:solidFill>
                <a:latin typeface="Calibri"/>
                <a:ea typeface="Calibri"/>
              </a:rPr>
              <a:t>Collection of key:value pairs separated by commas.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1" name="Shape 13"/>
          <p:cNvSpPr/>
          <p:nvPr/>
        </p:nvSpPr>
        <p:spPr>
          <a:xfrm>
            <a:off x="4754880" y="3611880"/>
            <a:ext cx="4205880" cy="1115280"/>
          </a:xfrm>
          <a:prstGeom prst="rect">
            <a:avLst/>
          </a:prstGeom>
          <a:solidFill>
            <a:srgbClr val="fcf5f0"/>
          </a:solidFill>
          <a:ln w="254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Shape 14"/>
          <p:cNvSpPr/>
          <p:nvPr/>
        </p:nvSpPr>
        <p:spPr>
          <a:xfrm>
            <a:off x="4892040" y="3749040"/>
            <a:ext cx="420120" cy="42012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15"/>
          <p:cNvSpPr/>
          <p:nvPr/>
        </p:nvSpPr>
        <p:spPr>
          <a:xfrm>
            <a:off x="4892040" y="376740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②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5413320" y="3776400"/>
            <a:ext cx="340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Curly Brackets { 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5" name="Text 17"/>
          <p:cNvSpPr/>
          <p:nvPr/>
        </p:nvSpPr>
        <p:spPr>
          <a:xfrm>
            <a:off x="4919400" y="4178880"/>
            <a:ext cx="38768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333333"/>
                </a:solidFill>
                <a:latin typeface="Calibri"/>
                <a:ea typeface="Calibri"/>
              </a:rPr>
              <a:t>Enclosed in curly brackets, key:value pairs inside.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6" name="Shape 18"/>
          <p:cNvSpPr/>
          <p:nvPr/>
        </p:nvSpPr>
        <p:spPr>
          <a:xfrm>
            <a:off x="365760" y="4818960"/>
            <a:ext cx="4205880" cy="1115280"/>
          </a:xfrm>
          <a:prstGeom prst="rect">
            <a:avLst/>
          </a:prstGeom>
          <a:solidFill>
            <a:srgbClr val="fcf5f0"/>
          </a:solidFill>
          <a:ln w="25400">
            <a:solidFill>
              <a:srgbClr val="d354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Shape 19"/>
          <p:cNvSpPr/>
          <p:nvPr/>
        </p:nvSpPr>
        <p:spPr>
          <a:xfrm>
            <a:off x="502920" y="4956120"/>
            <a:ext cx="420120" cy="42012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20"/>
          <p:cNvSpPr/>
          <p:nvPr/>
        </p:nvSpPr>
        <p:spPr>
          <a:xfrm>
            <a:off x="502920" y="497448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③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9" name="Text 21"/>
          <p:cNvSpPr/>
          <p:nvPr/>
        </p:nvSpPr>
        <p:spPr>
          <a:xfrm>
            <a:off x="1024200" y="4983480"/>
            <a:ext cx="340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Keys are Unique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0" name="Text 22"/>
          <p:cNvSpPr/>
          <p:nvPr/>
        </p:nvSpPr>
        <p:spPr>
          <a:xfrm>
            <a:off x="530280" y="5385960"/>
            <a:ext cx="38768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333333"/>
                </a:solidFill>
                <a:latin typeface="Calibri"/>
                <a:ea typeface="Calibri"/>
              </a:rPr>
              <a:t>Each key must be unique — duplicate keys overwrite.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71" name="Shape 23"/>
          <p:cNvSpPr/>
          <p:nvPr/>
        </p:nvSpPr>
        <p:spPr>
          <a:xfrm>
            <a:off x="4754880" y="4818960"/>
            <a:ext cx="4205880" cy="1115280"/>
          </a:xfrm>
          <a:prstGeom prst="rect">
            <a:avLst/>
          </a:prstGeom>
          <a:solidFill>
            <a:srgbClr val="fcf5f0"/>
          </a:solidFill>
          <a:ln w="254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Shape 24"/>
          <p:cNvSpPr/>
          <p:nvPr/>
        </p:nvSpPr>
        <p:spPr>
          <a:xfrm>
            <a:off x="4892040" y="4956120"/>
            <a:ext cx="420120" cy="42012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25"/>
          <p:cNvSpPr/>
          <p:nvPr/>
        </p:nvSpPr>
        <p:spPr>
          <a:xfrm>
            <a:off x="4892040" y="497448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④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4" name="Text 26"/>
          <p:cNvSpPr/>
          <p:nvPr/>
        </p:nvSpPr>
        <p:spPr>
          <a:xfrm>
            <a:off x="5413320" y="4983480"/>
            <a:ext cx="340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Different Keys, Same Values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5" name="Text 27"/>
          <p:cNvSpPr/>
          <p:nvPr/>
        </p:nvSpPr>
        <p:spPr>
          <a:xfrm>
            <a:off x="4919400" y="5385960"/>
            <a:ext cx="38768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333333"/>
                </a:solidFill>
                <a:latin typeface="Calibri"/>
                <a:ea typeface="Calibri"/>
              </a:rPr>
              <a:t>Different keys can have the same value.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76" name="Shape 28"/>
          <p:cNvSpPr/>
          <p:nvPr/>
        </p:nvSpPr>
        <p:spPr>
          <a:xfrm>
            <a:off x="365760" y="6026040"/>
            <a:ext cx="4205880" cy="1115280"/>
          </a:xfrm>
          <a:prstGeom prst="rect">
            <a:avLst/>
          </a:prstGeom>
          <a:solidFill>
            <a:srgbClr val="fcf5f0"/>
          </a:solidFill>
          <a:ln w="25400">
            <a:solidFill>
              <a:srgbClr val="c000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Shape 29"/>
          <p:cNvSpPr/>
          <p:nvPr/>
        </p:nvSpPr>
        <p:spPr>
          <a:xfrm>
            <a:off x="502920" y="6163200"/>
            <a:ext cx="420120" cy="420120"/>
          </a:xfrm>
          <a:prstGeom prst="ellipse">
            <a:avLst/>
          </a:prstGeom>
          <a:solidFill>
            <a:srgbClr val="c0004a"/>
          </a:solidFill>
          <a:ln w="12700">
            <a:solidFill>
              <a:srgbClr val="c000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30"/>
          <p:cNvSpPr/>
          <p:nvPr/>
        </p:nvSpPr>
        <p:spPr>
          <a:xfrm>
            <a:off x="502920" y="618120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⑤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9" name="Text 31"/>
          <p:cNvSpPr/>
          <p:nvPr/>
        </p:nvSpPr>
        <p:spPr>
          <a:xfrm>
            <a:off x="1024200" y="6190560"/>
            <a:ext cx="340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Keys Should Be Unique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0" name="Text 32"/>
          <p:cNvSpPr/>
          <p:nvPr/>
        </p:nvSpPr>
        <p:spPr>
          <a:xfrm>
            <a:off x="530280" y="6592680"/>
            <a:ext cx="38768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333333"/>
                </a:solidFill>
                <a:latin typeface="Calibri"/>
                <a:ea typeface="Calibri"/>
              </a:rPr>
              <a:t>Unique keys ≠ unique values. Same key → last value wins.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1" name="Shape 33"/>
          <p:cNvSpPr/>
          <p:nvPr/>
        </p:nvSpPr>
        <p:spPr>
          <a:xfrm>
            <a:off x="4754880" y="6026040"/>
            <a:ext cx="4205880" cy="1115280"/>
          </a:xfrm>
          <a:prstGeom prst="rect">
            <a:avLst/>
          </a:prstGeom>
          <a:solidFill>
            <a:srgbClr val="fcf5f0"/>
          </a:solidFill>
          <a:ln w="25400">
            <a:solidFill>
              <a:srgbClr val="1a98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Shape 34"/>
          <p:cNvSpPr/>
          <p:nvPr/>
        </p:nvSpPr>
        <p:spPr>
          <a:xfrm>
            <a:off x="4892040" y="6163200"/>
            <a:ext cx="420120" cy="420120"/>
          </a:xfrm>
          <a:prstGeom prst="ellipse">
            <a:avLst/>
          </a:prstGeom>
          <a:solidFill>
            <a:srgbClr val="1a9850"/>
          </a:solidFill>
          <a:ln w="12700">
            <a:solidFill>
              <a:srgbClr val="1a98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35"/>
          <p:cNvSpPr/>
          <p:nvPr/>
        </p:nvSpPr>
        <p:spPr>
          <a:xfrm>
            <a:off x="4892040" y="6181200"/>
            <a:ext cx="42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⑥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4" name="Text 36"/>
          <p:cNvSpPr/>
          <p:nvPr/>
        </p:nvSpPr>
        <p:spPr>
          <a:xfrm>
            <a:off x="5413320" y="6190560"/>
            <a:ext cx="340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Hard Repeat = Last Wins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5" name="Text 37"/>
          <p:cNvSpPr/>
          <p:nvPr/>
        </p:nvSpPr>
        <p:spPr>
          <a:xfrm>
            <a:off x="4919400" y="6592680"/>
            <a:ext cx="38768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333333"/>
                </a:solidFill>
                <a:latin typeface="Calibri"/>
                <a:ea typeface="Calibri"/>
              </a:rPr>
              <a:t>If a key-value pair repeats, only the last one is stored.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Dictionary Properties — Key Facts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Keys must be unique, values can repeat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365760" y="1078920"/>
            <a:ext cx="8412120" cy="27396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4"/>
          <p:cNvSpPr/>
          <p:nvPr/>
        </p:nvSpPr>
        <p:spPr>
          <a:xfrm>
            <a:off x="548640" y="1115640"/>
            <a:ext cx="813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③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Keys Must Be Unique — ⑤ Last Value Wins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1" name="Shape 5"/>
          <p:cNvSpPr/>
          <p:nvPr/>
        </p:nvSpPr>
        <p:spPr>
          <a:xfrm>
            <a:off x="365760" y="1444680"/>
            <a:ext cx="8412120" cy="148104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6"/>
          <p:cNvSpPr/>
          <p:nvPr/>
        </p:nvSpPr>
        <p:spPr>
          <a:xfrm>
            <a:off x="530280" y="1554480"/>
            <a:ext cx="80830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Duplicate key 10 → last value wins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dict1 = {10: 'A', 20: 'B', 10: 'Z'}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print(dict1)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Output: {10: 'Z', 20: 'B'}   ← 10:'A' was overwritten by 10:'Z'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365760" y="309060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a26769"/>
                </a:solidFill>
                <a:latin typeface="Calibri"/>
                <a:ea typeface="Calibri"/>
              </a:rPr>
              <a:t>Before (input code):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4" name="Shape 8"/>
          <p:cNvSpPr/>
          <p:nvPr/>
        </p:nvSpPr>
        <p:spPr>
          <a:xfrm>
            <a:off x="457200" y="3429000"/>
            <a:ext cx="2377080" cy="475200"/>
          </a:xfrm>
          <a:prstGeom prst="rect">
            <a:avLst/>
          </a:prstGeom>
          <a:solidFill>
            <a:srgbClr val="a26769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9"/>
          <p:cNvSpPr/>
          <p:nvPr/>
        </p:nvSpPr>
        <p:spPr>
          <a:xfrm>
            <a:off x="548640" y="352044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10: 'A'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6" name="Shape 10"/>
          <p:cNvSpPr/>
          <p:nvPr/>
        </p:nvSpPr>
        <p:spPr>
          <a:xfrm>
            <a:off x="3108960" y="3429000"/>
            <a:ext cx="2377080" cy="475200"/>
          </a:xfrm>
          <a:prstGeom prst="rect">
            <a:avLst/>
          </a:prstGeom>
          <a:solidFill>
            <a:srgbClr val="a26769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11"/>
          <p:cNvSpPr/>
          <p:nvPr/>
        </p:nvSpPr>
        <p:spPr>
          <a:xfrm>
            <a:off x="3200400" y="352044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20: 'B'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8" name="Shape 12"/>
          <p:cNvSpPr/>
          <p:nvPr/>
        </p:nvSpPr>
        <p:spPr>
          <a:xfrm>
            <a:off x="5760720" y="3429000"/>
            <a:ext cx="2377080" cy="475200"/>
          </a:xfrm>
          <a:prstGeom prst="rect">
            <a:avLst/>
          </a:prstGeom>
          <a:solidFill>
            <a:srgbClr val="cc0000"/>
          </a:solidFill>
          <a:ln w="3175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3"/>
          <p:cNvSpPr/>
          <p:nvPr/>
        </p:nvSpPr>
        <p:spPr>
          <a:xfrm>
            <a:off x="5852160" y="352044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10: 'Z'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5760720" y="397764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cc0000"/>
                </a:solidFill>
                <a:latin typeface="Calibri"/>
                <a:ea typeface="Calibri"/>
              </a:rPr>
              <a:t>✗ </a:t>
            </a:r>
            <a:r>
              <a:rPr b="1" lang="en-US" sz="900" spc="-1" strike="noStrike">
                <a:solidFill>
                  <a:srgbClr val="cc0000"/>
                </a:solidFill>
                <a:latin typeface="Calibri"/>
                <a:ea typeface="Calibri"/>
              </a:rPr>
              <a:t>overwrites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01" name="Text 15"/>
          <p:cNvSpPr/>
          <p:nvPr/>
        </p:nvSpPr>
        <p:spPr>
          <a:xfrm>
            <a:off x="365760" y="431604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9850"/>
                </a:solidFill>
                <a:latin typeface="Calibri"/>
                <a:ea typeface="Calibri"/>
              </a:rPr>
              <a:t>After (stored dictionary):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2" name="Shape 16"/>
          <p:cNvSpPr/>
          <p:nvPr/>
        </p:nvSpPr>
        <p:spPr>
          <a:xfrm>
            <a:off x="457200" y="4645080"/>
            <a:ext cx="2377080" cy="475200"/>
          </a:xfrm>
          <a:prstGeom prst="rect">
            <a:avLst/>
          </a:prstGeom>
          <a:solidFill>
            <a:srgbClr val="a26769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17"/>
          <p:cNvSpPr/>
          <p:nvPr/>
        </p:nvSpPr>
        <p:spPr>
          <a:xfrm>
            <a:off x="548640" y="473652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10: 'Z'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4" name="Shape 18"/>
          <p:cNvSpPr/>
          <p:nvPr/>
        </p:nvSpPr>
        <p:spPr>
          <a:xfrm>
            <a:off x="3108960" y="4645080"/>
            <a:ext cx="2377080" cy="475200"/>
          </a:xfrm>
          <a:prstGeom prst="rect">
            <a:avLst/>
          </a:prstGeom>
          <a:solidFill>
            <a:srgbClr val="a26769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19"/>
          <p:cNvSpPr/>
          <p:nvPr/>
        </p:nvSpPr>
        <p:spPr>
          <a:xfrm>
            <a:off x="3200400" y="473652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20: 'B'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6" name="Shape 20"/>
          <p:cNvSpPr/>
          <p:nvPr/>
        </p:nvSpPr>
        <p:spPr>
          <a:xfrm>
            <a:off x="365760" y="5321880"/>
            <a:ext cx="8412120" cy="2739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21"/>
          <p:cNvSpPr/>
          <p:nvPr/>
        </p:nvSpPr>
        <p:spPr>
          <a:xfrm>
            <a:off x="548640" y="5358240"/>
            <a:ext cx="813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④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Different Keys CAN Have Same Values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8" name="Shape 22"/>
          <p:cNvSpPr/>
          <p:nvPr/>
        </p:nvSpPr>
        <p:spPr>
          <a:xfrm>
            <a:off x="365760" y="5687640"/>
            <a:ext cx="8412120" cy="118836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23"/>
          <p:cNvSpPr/>
          <p:nvPr/>
        </p:nvSpPr>
        <p:spPr>
          <a:xfrm>
            <a:off x="530280" y="5797440"/>
            <a:ext cx="808308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dict2 = {10: 'A', 20: 'A', 30: 'Z'}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print(dict2)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Output: {10: 'A', 20: 'A', 30: 'Z'}   ✓ Values can repeat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267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0" y="2834640"/>
            <a:ext cx="9143640" cy="16455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1"/>
          <p:cNvSpPr/>
          <p:nvPr/>
        </p:nvSpPr>
        <p:spPr>
          <a:xfrm>
            <a:off x="457200" y="27432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4a623"/>
                </a:solidFill>
                <a:latin typeface="Georgia"/>
                <a:ea typeface="Georgia"/>
              </a:rPr>
              <a:t>●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0" y="2971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Accessing Dictionary Elements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Accessing Dictionary Elements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Print whole dictionary or access by key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365760" y="1078920"/>
            <a:ext cx="8412120" cy="2556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4"/>
          <p:cNvSpPr/>
          <p:nvPr/>
        </p:nvSpPr>
        <p:spPr>
          <a:xfrm>
            <a:off x="548640" y="1115640"/>
            <a:ext cx="813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①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Print Entire Dictionary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18" name="Shape 5"/>
          <p:cNvSpPr/>
          <p:nvPr/>
        </p:nvSpPr>
        <p:spPr>
          <a:xfrm>
            <a:off x="365760" y="1426320"/>
            <a:ext cx="8412120" cy="118836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6"/>
          <p:cNvSpPr/>
          <p:nvPr/>
        </p:nvSpPr>
        <p:spPr>
          <a:xfrm>
            <a:off x="530280" y="1536120"/>
            <a:ext cx="808308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info = {10: 'A', 20: 'B', 30: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print(info)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Output: {10: 'A', 20: 'B', 30: 'C'}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0" name="Shape 7"/>
          <p:cNvSpPr/>
          <p:nvPr/>
        </p:nvSpPr>
        <p:spPr>
          <a:xfrm>
            <a:off x="365760" y="2743200"/>
            <a:ext cx="8412120" cy="255600"/>
          </a:xfrm>
          <a:prstGeom prst="rect">
            <a:avLst/>
          </a:prstGeom>
          <a:solidFill>
            <a:srgbClr val="50808e"/>
          </a:solidFill>
          <a:ln w="12700">
            <a:solidFill>
              <a:srgbClr val="50808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8"/>
          <p:cNvSpPr/>
          <p:nvPr/>
        </p:nvSpPr>
        <p:spPr>
          <a:xfrm>
            <a:off x="548640" y="2779920"/>
            <a:ext cx="813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②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Access Value Using Key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365760" y="3090600"/>
            <a:ext cx="8412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  <a:ea typeface="Calibri"/>
              </a:rPr>
              <a:t>Use the key inside square brackets to retrieve the corresponding value.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3" name="Shape 10"/>
          <p:cNvSpPr/>
          <p:nvPr/>
        </p:nvSpPr>
        <p:spPr>
          <a:xfrm>
            <a:off x="365760" y="3456360"/>
            <a:ext cx="8412120" cy="129816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11"/>
          <p:cNvSpPr/>
          <p:nvPr/>
        </p:nvSpPr>
        <p:spPr>
          <a:xfrm>
            <a:off x="530280" y="3566160"/>
            <a:ext cx="808308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info = {10: 'A', 20: 'B', 30: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print(info[10])    # 'A'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print(info[20])    # 'B'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print(info[30])    # 'C'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5" name="Shape 12"/>
          <p:cNvSpPr/>
          <p:nvPr/>
        </p:nvSpPr>
        <p:spPr>
          <a:xfrm>
            <a:off x="365760" y="4883040"/>
            <a:ext cx="8412120" cy="255600"/>
          </a:xfrm>
          <a:prstGeom prst="rect">
            <a:avLst/>
          </a:prstGeom>
          <a:solidFill>
            <a:srgbClr val="c0004a"/>
          </a:solidFill>
          <a:ln w="12700">
            <a:solidFill>
              <a:srgbClr val="c000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13"/>
          <p:cNvSpPr/>
          <p:nvPr/>
        </p:nvSpPr>
        <p:spPr>
          <a:xfrm>
            <a:off x="548640" y="4919400"/>
            <a:ext cx="813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③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NO Indexing or Slicing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365760" y="5230440"/>
            <a:ext cx="8412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  <a:ea typeface="Calibri"/>
              </a:rPr>
              <a:t>Dictionaries do NOT support integer indexing or slicing. You access elements using KEYS, not positions.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8" name="Shape 15"/>
          <p:cNvSpPr/>
          <p:nvPr/>
        </p:nvSpPr>
        <p:spPr>
          <a:xfrm>
            <a:off x="365760" y="5650920"/>
            <a:ext cx="8412120" cy="566640"/>
          </a:xfrm>
          <a:prstGeom prst="rect">
            <a:avLst/>
          </a:prstGeom>
          <a:solidFill>
            <a:srgbClr val="fff0f5"/>
          </a:solidFill>
          <a:ln w="19050">
            <a:solidFill>
              <a:srgbClr val="c000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16"/>
          <p:cNvSpPr/>
          <p:nvPr/>
        </p:nvSpPr>
        <p:spPr>
          <a:xfrm>
            <a:off x="594360" y="5760720"/>
            <a:ext cx="8046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8b0032"/>
                </a:solidFill>
                <a:latin typeface="Calibri"/>
                <a:ea typeface="Calibri"/>
              </a:rPr>
              <a:t>✗  </a:t>
            </a:r>
            <a:r>
              <a:rPr b="0" lang="en-US" sz="1250" spc="-1" strike="noStrike">
                <a:solidFill>
                  <a:srgbClr val="8b0032"/>
                </a:solidFill>
                <a:latin typeface="Calibri"/>
                <a:ea typeface="Calibri"/>
              </a:rPr>
              <a:t>dict[0]  →  KeyError    |    ✗  dict[0:2]  →  TypeError    |    ✓  dict[key]  →  value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267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0" y="2834640"/>
            <a:ext cx="9143640" cy="16455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1"/>
          <p:cNvSpPr/>
          <p:nvPr/>
        </p:nvSpPr>
        <p:spPr>
          <a:xfrm>
            <a:off x="457200" y="27432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4a623"/>
                </a:solidFill>
                <a:latin typeface="Georgia"/>
                <a:ea typeface="Georgia"/>
              </a:rPr>
              <a:t>●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0" y="2971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Looping in Dictionaries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Looping in Dictionaries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35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Process each key-value pair, keys, or values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365760" y="107892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We can iterate through a dictionary in multiple ways using a for loop.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7" name="Shape 4"/>
          <p:cNvSpPr/>
          <p:nvPr/>
        </p:nvSpPr>
        <p:spPr>
          <a:xfrm>
            <a:off x="365760" y="1536120"/>
            <a:ext cx="8412120" cy="475200"/>
          </a:xfrm>
          <a:prstGeom prst="rect">
            <a:avLst/>
          </a:prstGeom>
          <a:solidFill>
            <a:srgbClr val="fef5f1"/>
          </a:solidFill>
          <a:ln w="254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5"/>
          <p:cNvSpPr/>
          <p:nvPr/>
        </p:nvSpPr>
        <p:spPr>
          <a:xfrm>
            <a:off x="640080" y="164592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We can loop in THREE ways: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9" name="Shape 6"/>
          <p:cNvSpPr/>
          <p:nvPr/>
        </p:nvSpPr>
        <p:spPr>
          <a:xfrm>
            <a:off x="365760" y="2148840"/>
            <a:ext cx="8412120" cy="1444320"/>
          </a:xfrm>
          <a:prstGeom prst="rect">
            <a:avLst/>
          </a:prstGeom>
          <a:solidFill>
            <a:srgbClr val="fcf5f0"/>
          </a:solidFill>
          <a:ln w="254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Shape 7"/>
          <p:cNvSpPr/>
          <p:nvPr/>
        </p:nvSpPr>
        <p:spPr>
          <a:xfrm>
            <a:off x="365760" y="2148840"/>
            <a:ext cx="529920" cy="14443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8"/>
          <p:cNvSpPr/>
          <p:nvPr/>
        </p:nvSpPr>
        <p:spPr>
          <a:xfrm>
            <a:off x="365760" y="2624400"/>
            <a:ext cx="52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①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1005840" y="228600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Iterate over key-value pairs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3" name="Text 10"/>
          <p:cNvSpPr/>
          <p:nvPr/>
        </p:nvSpPr>
        <p:spPr>
          <a:xfrm>
            <a:off x="1005840" y="2624400"/>
            <a:ext cx="4114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  <a:ea typeface="Calibri"/>
              </a:rPr>
              <a:t>Loop through both keys and values together.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4" name="Shape 11"/>
          <p:cNvSpPr/>
          <p:nvPr/>
        </p:nvSpPr>
        <p:spPr>
          <a:xfrm>
            <a:off x="5349240" y="2313360"/>
            <a:ext cx="3245760" cy="1060200"/>
          </a:xfrm>
          <a:prstGeom prst="rect">
            <a:avLst/>
          </a:prstGeom>
          <a:solidFill>
            <a:srgbClr val="3d1f2f"/>
          </a:solidFill>
          <a:ln w="127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12"/>
          <p:cNvSpPr/>
          <p:nvPr/>
        </p:nvSpPr>
        <p:spPr>
          <a:xfrm>
            <a:off x="5513760" y="26607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5c9c9"/>
                </a:solidFill>
                <a:latin typeface="Consolas"/>
                <a:ea typeface="Consolas"/>
              </a:rPr>
              <a:t>for k, v in dict.items():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6" name="Shape 13"/>
          <p:cNvSpPr/>
          <p:nvPr/>
        </p:nvSpPr>
        <p:spPr>
          <a:xfrm>
            <a:off x="365760" y="3684960"/>
            <a:ext cx="8412120" cy="1444320"/>
          </a:xfrm>
          <a:prstGeom prst="rect">
            <a:avLst/>
          </a:prstGeom>
          <a:solidFill>
            <a:srgbClr val="fcf5f0"/>
          </a:solidFill>
          <a:ln w="25400">
            <a:solidFill>
              <a:srgbClr val="50808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Shape 14"/>
          <p:cNvSpPr/>
          <p:nvPr/>
        </p:nvSpPr>
        <p:spPr>
          <a:xfrm>
            <a:off x="365760" y="3684960"/>
            <a:ext cx="529920" cy="1444320"/>
          </a:xfrm>
          <a:prstGeom prst="rect">
            <a:avLst/>
          </a:prstGeom>
          <a:solidFill>
            <a:srgbClr val="50808e"/>
          </a:solidFill>
          <a:ln w="12700">
            <a:solidFill>
              <a:srgbClr val="50808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15"/>
          <p:cNvSpPr/>
          <p:nvPr/>
        </p:nvSpPr>
        <p:spPr>
          <a:xfrm>
            <a:off x="365760" y="4160520"/>
            <a:ext cx="52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②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9" name="Text 16"/>
          <p:cNvSpPr/>
          <p:nvPr/>
        </p:nvSpPr>
        <p:spPr>
          <a:xfrm>
            <a:off x="1005840" y="382212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Iterate over keys only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0" name="Text 17"/>
          <p:cNvSpPr/>
          <p:nvPr/>
        </p:nvSpPr>
        <p:spPr>
          <a:xfrm>
            <a:off x="1005840" y="4160520"/>
            <a:ext cx="4114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  <a:ea typeface="Calibri"/>
              </a:rPr>
              <a:t>Loop through just the keys (can also use 'for k in dict').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1" name="Shape 18"/>
          <p:cNvSpPr/>
          <p:nvPr/>
        </p:nvSpPr>
        <p:spPr>
          <a:xfrm>
            <a:off x="5349240" y="3849480"/>
            <a:ext cx="3245760" cy="1060200"/>
          </a:xfrm>
          <a:prstGeom prst="rect">
            <a:avLst/>
          </a:prstGeom>
          <a:solidFill>
            <a:srgbClr val="3d1f2f"/>
          </a:solidFill>
          <a:ln w="12700">
            <a:solidFill>
              <a:srgbClr val="50808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19"/>
          <p:cNvSpPr/>
          <p:nvPr/>
        </p:nvSpPr>
        <p:spPr>
          <a:xfrm>
            <a:off x="5513760" y="41972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5c9c9"/>
                </a:solidFill>
                <a:latin typeface="Consolas"/>
                <a:ea typeface="Consolas"/>
              </a:rPr>
              <a:t>for k in dict.keys():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3" name="Shape 20"/>
          <p:cNvSpPr/>
          <p:nvPr/>
        </p:nvSpPr>
        <p:spPr>
          <a:xfrm>
            <a:off x="365760" y="5221080"/>
            <a:ext cx="8412120" cy="1444320"/>
          </a:xfrm>
          <a:prstGeom prst="rect">
            <a:avLst/>
          </a:prstGeom>
          <a:solidFill>
            <a:srgbClr val="fcf5f0"/>
          </a:solidFill>
          <a:ln w="254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Shape 21"/>
          <p:cNvSpPr/>
          <p:nvPr/>
        </p:nvSpPr>
        <p:spPr>
          <a:xfrm>
            <a:off x="365760" y="5221080"/>
            <a:ext cx="529920" cy="14443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22"/>
          <p:cNvSpPr/>
          <p:nvPr/>
        </p:nvSpPr>
        <p:spPr>
          <a:xfrm>
            <a:off x="365760" y="5696640"/>
            <a:ext cx="52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③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6" name="Text 23"/>
          <p:cNvSpPr/>
          <p:nvPr/>
        </p:nvSpPr>
        <p:spPr>
          <a:xfrm>
            <a:off x="1005840" y="535824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Iterate over values only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7" name="Text 24"/>
          <p:cNvSpPr/>
          <p:nvPr/>
        </p:nvSpPr>
        <p:spPr>
          <a:xfrm>
            <a:off x="1005840" y="5696640"/>
            <a:ext cx="4114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44444"/>
                </a:solidFill>
                <a:latin typeface="Calibri"/>
                <a:ea typeface="Calibri"/>
              </a:rPr>
              <a:t>Loop through just the values.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8" name="Shape 25"/>
          <p:cNvSpPr/>
          <p:nvPr/>
        </p:nvSpPr>
        <p:spPr>
          <a:xfrm>
            <a:off x="5349240" y="5385960"/>
            <a:ext cx="3245760" cy="1060200"/>
          </a:xfrm>
          <a:prstGeom prst="rect">
            <a:avLst/>
          </a:prstGeom>
          <a:solidFill>
            <a:srgbClr val="3d1f2f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26"/>
          <p:cNvSpPr/>
          <p:nvPr/>
        </p:nvSpPr>
        <p:spPr>
          <a:xfrm>
            <a:off x="5513760" y="57333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5c9c9"/>
                </a:solidFill>
                <a:latin typeface="Consolas"/>
                <a:ea typeface="Consolas"/>
              </a:rPr>
              <a:t>for v in dict.values():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① </a:t>
            </a: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Iterate Over Key-Value Pairs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for k, v in dict.items():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3" name="Shape 3"/>
          <p:cNvSpPr/>
          <p:nvPr/>
        </p:nvSpPr>
        <p:spPr>
          <a:xfrm>
            <a:off x="365760" y="1078920"/>
            <a:ext cx="8412120" cy="475200"/>
          </a:xfrm>
          <a:prstGeom prst="rect">
            <a:avLst/>
          </a:prstGeom>
          <a:solidFill>
            <a:srgbClr val="fef5f1"/>
          </a:solidFill>
          <a:ln w="254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4"/>
          <p:cNvSpPr/>
          <p:nvPr/>
        </p:nvSpPr>
        <p:spPr>
          <a:xfrm>
            <a:off x="640080" y="118872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onsolas"/>
                <a:ea typeface="Consolas"/>
              </a:rPr>
              <a:t>Syntax:   for  key, value  in  dict.items():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5" name="Shape 5"/>
          <p:cNvSpPr/>
          <p:nvPr/>
        </p:nvSpPr>
        <p:spPr>
          <a:xfrm>
            <a:off x="365760" y="1664280"/>
            <a:ext cx="4571640" cy="217584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6"/>
          <p:cNvSpPr/>
          <p:nvPr/>
        </p:nvSpPr>
        <p:spPr>
          <a:xfrm>
            <a:off x="530280" y="1774080"/>
            <a:ext cx="4242600" cy="19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data = {10: 'A', 20: 'B', 30: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for k, v in data.items():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print(k, v)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Output: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10 A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20 B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30 C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67" name="Text 7"/>
          <p:cNvSpPr/>
          <p:nvPr/>
        </p:nvSpPr>
        <p:spPr>
          <a:xfrm>
            <a:off x="5212080" y="166428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a26769"/>
                </a:solidFill>
                <a:latin typeface="Calibri"/>
                <a:ea typeface="Calibri"/>
              </a:rPr>
              <a:t>Loop Trace: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8" name="Shape 8"/>
          <p:cNvSpPr/>
          <p:nvPr/>
        </p:nvSpPr>
        <p:spPr>
          <a:xfrm>
            <a:off x="5212080" y="2011680"/>
            <a:ext cx="3565800" cy="3470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9"/>
          <p:cNvSpPr/>
          <p:nvPr/>
        </p:nvSpPr>
        <p:spPr>
          <a:xfrm>
            <a:off x="5349240" y="2075760"/>
            <a:ext cx="1051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Iteration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70" name="Text 10"/>
          <p:cNvSpPr/>
          <p:nvPr/>
        </p:nvSpPr>
        <p:spPr>
          <a:xfrm>
            <a:off x="6492240" y="2075760"/>
            <a:ext cx="1051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Key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71" name="Text 11"/>
          <p:cNvSpPr/>
          <p:nvPr/>
        </p:nvSpPr>
        <p:spPr>
          <a:xfrm>
            <a:off x="7635240" y="2075760"/>
            <a:ext cx="1051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Value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72" name="Shape 12"/>
          <p:cNvSpPr/>
          <p:nvPr/>
        </p:nvSpPr>
        <p:spPr>
          <a:xfrm>
            <a:off x="5212080" y="2359080"/>
            <a:ext cx="3565800" cy="438480"/>
          </a:xfrm>
          <a:prstGeom prst="rect">
            <a:avLst/>
          </a:prstGeom>
          <a:solidFill>
            <a:srgbClr val="fcf5f0"/>
          </a:solidFill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13"/>
          <p:cNvSpPr/>
          <p:nvPr/>
        </p:nvSpPr>
        <p:spPr>
          <a:xfrm>
            <a:off x="5349240" y="245052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d2e46"/>
                </a:solidFill>
                <a:latin typeface="Calibri"/>
                <a:ea typeface="Calibri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4" name="Text 14"/>
          <p:cNvSpPr/>
          <p:nvPr/>
        </p:nvSpPr>
        <p:spPr>
          <a:xfrm>
            <a:off x="6492240" y="245052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6d2e46"/>
                </a:solidFill>
                <a:latin typeface="Consolas"/>
                <a:ea typeface="Consolas"/>
              </a:rPr>
              <a:t>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5" name="Text 15"/>
          <p:cNvSpPr/>
          <p:nvPr/>
        </p:nvSpPr>
        <p:spPr>
          <a:xfrm>
            <a:off x="7635240" y="245052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6d2e46"/>
                </a:solidFill>
                <a:latin typeface="Consolas"/>
                <a:ea typeface="Consolas"/>
              </a:rPr>
              <a:t>'A'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6" name="Shape 16"/>
          <p:cNvSpPr/>
          <p:nvPr/>
        </p:nvSpPr>
        <p:spPr>
          <a:xfrm>
            <a:off x="5212080" y="2853000"/>
            <a:ext cx="3565800" cy="438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17"/>
          <p:cNvSpPr/>
          <p:nvPr/>
        </p:nvSpPr>
        <p:spPr>
          <a:xfrm>
            <a:off x="5349240" y="294444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d2e46"/>
                </a:solidFill>
                <a:latin typeface="Calibri"/>
                <a:ea typeface="Calibri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8" name="Text 18"/>
          <p:cNvSpPr/>
          <p:nvPr/>
        </p:nvSpPr>
        <p:spPr>
          <a:xfrm>
            <a:off x="6492240" y="294444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6d2e46"/>
                </a:solidFill>
                <a:latin typeface="Consolas"/>
                <a:ea typeface="Consolas"/>
              </a:rPr>
              <a:t>20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9" name="Text 19"/>
          <p:cNvSpPr/>
          <p:nvPr/>
        </p:nvSpPr>
        <p:spPr>
          <a:xfrm>
            <a:off x="7635240" y="294444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6d2e46"/>
                </a:solidFill>
                <a:latin typeface="Consolas"/>
                <a:ea typeface="Consolas"/>
              </a:rPr>
              <a:t>'B'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0" name="Shape 20"/>
          <p:cNvSpPr/>
          <p:nvPr/>
        </p:nvSpPr>
        <p:spPr>
          <a:xfrm>
            <a:off x="5212080" y="3346560"/>
            <a:ext cx="3565800" cy="438480"/>
          </a:xfrm>
          <a:prstGeom prst="rect">
            <a:avLst/>
          </a:prstGeom>
          <a:solidFill>
            <a:srgbClr val="fcf5f0"/>
          </a:solidFill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21"/>
          <p:cNvSpPr/>
          <p:nvPr/>
        </p:nvSpPr>
        <p:spPr>
          <a:xfrm>
            <a:off x="5349240" y="343800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d2e46"/>
                </a:solidFill>
                <a:latin typeface="Calibri"/>
                <a:ea typeface="Calibri"/>
              </a:rPr>
              <a:t>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2" name="Text 22"/>
          <p:cNvSpPr/>
          <p:nvPr/>
        </p:nvSpPr>
        <p:spPr>
          <a:xfrm>
            <a:off x="6492240" y="343800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6d2e46"/>
                </a:solidFill>
                <a:latin typeface="Consolas"/>
                <a:ea typeface="Consolas"/>
              </a:rPr>
              <a:t>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3" name="Text 23"/>
          <p:cNvSpPr/>
          <p:nvPr/>
        </p:nvSpPr>
        <p:spPr>
          <a:xfrm>
            <a:off x="7635240" y="343800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6d2e46"/>
                </a:solidFill>
                <a:latin typeface="Consolas"/>
                <a:ea typeface="Consolas"/>
              </a:rPr>
              <a:t>'C'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② </a:t>
            </a: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Iterate Over Keys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86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for k in dict.keys():  OR  for k in dict: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365760" y="1078920"/>
            <a:ext cx="8412120" cy="475200"/>
          </a:xfrm>
          <a:prstGeom prst="rect">
            <a:avLst/>
          </a:prstGeom>
          <a:solidFill>
            <a:srgbClr val="fef5f1"/>
          </a:solidFill>
          <a:ln w="254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4"/>
          <p:cNvSpPr/>
          <p:nvPr/>
        </p:nvSpPr>
        <p:spPr>
          <a:xfrm>
            <a:off x="640080" y="118872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onsolas"/>
                <a:ea typeface="Consolas"/>
              </a:rPr>
              <a:t>Syntax:   for  key  in  dict.keys():   OR shorter:   for  key  in  dict: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9" name="Shape 5"/>
          <p:cNvSpPr/>
          <p:nvPr/>
        </p:nvSpPr>
        <p:spPr>
          <a:xfrm>
            <a:off x="365760" y="1664280"/>
            <a:ext cx="4114440" cy="217584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6"/>
          <p:cNvSpPr/>
          <p:nvPr/>
        </p:nvSpPr>
        <p:spPr>
          <a:xfrm>
            <a:off x="530280" y="1774080"/>
            <a:ext cx="3785400" cy="19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info = {10: 'A', 20: 'B', 30: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for k in info.keys():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print(k)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Output: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10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20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30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91" name="Shape 7"/>
          <p:cNvSpPr/>
          <p:nvPr/>
        </p:nvSpPr>
        <p:spPr>
          <a:xfrm>
            <a:off x="4663440" y="1664280"/>
            <a:ext cx="4114440" cy="217584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8"/>
          <p:cNvSpPr/>
          <p:nvPr/>
        </p:nvSpPr>
        <p:spPr>
          <a:xfrm>
            <a:off x="4827960" y="1774080"/>
            <a:ext cx="3785400" cy="19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Shorter way (same result):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for k in info: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print(k)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Output: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10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20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30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93" name="Shape 9"/>
          <p:cNvSpPr/>
          <p:nvPr/>
        </p:nvSpPr>
        <p:spPr>
          <a:xfrm>
            <a:off x="365760" y="3977640"/>
            <a:ext cx="8412120" cy="56664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10"/>
          <p:cNvSpPr/>
          <p:nvPr/>
        </p:nvSpPr>
        <p:spPr>
          <a:xfrm>
            <a:off x="594360" y="4087440"/>
            <a:ext cx="8046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💡 </a:t>
            </a: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Both 'for k in dict.keys()' and 'for k in dict' work identically — the shorter form is more common.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③ </a:t>
            </a: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Iterate Over Values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for v in dict.values():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8" name="Shape 3"/>
          <p:cNvSpPr/>
          <p:nvPr/>
        </p:nvSpPr>
        <p:spPr>
          <a:xfrm>
            <a:off x="365760" y="1078920"/>
            <a:ext cx="8412120" cy="475200"/>
          </a:xfrm>
          <a:prstGeom prst="rect">
            <a:avLst/>
          </a:prstGeom>
          <a:solidFill>
            <a:srgbClr val="fef5f1"/>
          </a:solidFill>
          <a:ln w="254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4"/>
          <p:cNvSpPr/>
          <p:nvPr/>
        </p:nvSpPr>
        <p:spPr>
          <a:xfrm>
            <a:off x="640080" y="118872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onsolas"/>
                <a:ea typeface="Consolas"/>
              </a:rPr>
              <a:t>Syntax:   for  value  in  dict.values():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0" name="Shape 5"/>
          <p:cNvSpPr/>
          <p:nvPr/>
        </p:nvSpPr>
        <p:spPr>
          <a:xfrm>
            <a:off x="365760" y="1664280"/>
            <a:ext cx="4571640" cy="217584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6"/>
          <p:cNvSpPr/>
          <p:nvPr/>
        </p:nvSpPr>
        <p:spPr>
          <a:xfrm>
            <a:off x="530280" y="1774080"/>
            <a:ext cx="4242600" cy="19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info = {10: 'A', 20: 'B', 30: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for v in info.values():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print(v)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Output: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'A'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'B'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'C'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5212080" y="166428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8e44ad"/>
                </a:solidFill>
                <a:latin typeface="Calibri"/>
                <a:ea typeface="Calibri"/>
              </a:rPr>
              <a:t>Loop Trace: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3" name="Shape 8"/>
          <p:cNvSpPr/>
          <p:nvPr/>
        </p:nvSpPr>
        <p:spPr>
          <a:xfrm>
            <a:off x="5212080" y="2011680"/>
            <a:ext cx="3565800" cy="3470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9"/>
          <p:cNvSpPr/>
          <p:nvPr/>
        </p:nvSpPr>
        <p:spPr>
          <a:xfrm>
            <a:off x="5349240" y="2075760"/>
            <a:ext cx="1645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Iteration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05" name="Text 10"/>
          <p:cNvSpPr/>
          <p:nvPr/>
        </p:nvSpPr>
        <p:spPr>
          <a:xfrm>
            <a:off x="7086600" y="2075760"/>
            <a:ext cx="1645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Value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06" name="Shape 11"/>
          <p:cNvSpPr/>
          <p:nvPr/>
        </p:nvSpPr>
        <p:spPr>
          <a:xfrm>
            <a:off x="5212080" y="2359080"/>
            <a:ext cx="3565800" cy="438480"/>
          </a:xfrm>
          <a:prstGeom prst="rect">
            <a:avLst/>
          </a:prstGeom>
          <a:solidFill>
            <a:srgbClr val="fcf5f0"/>
          </a:solidFill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12"/>
          <p:cNvSpPr/>
          <p:nvPr/>
        </p:nvSpPr>
        <p:spPr>
          <a:xfrm>
            <a:off x="5349240" y="245052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e44ad"/>
                </a:solidFill>
                <a:latin typeface="Calibri"/>
                <a:ea typeface="Calibri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8" name="Text 13"/>
          <p:cNvSpPr/>
          <p:nvPr/>
        </p:nvSpPr>
        <p:spPr>
          <a:xfrm>
            <a:off x="7086600" y="245052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6d2e46"/>
                </a:solidFill>
                <a:latin typeface="Consolas"/>
                <a:ea typeface="Consolas"/>
              </a:rPr>
              <a:t>'A'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9" name="Shape 14"/>
          <p:cNvSpPr/>
          <p:nvPr/>
        </p:nvSpPr>
        <p:spPr>
          <a:xfrm>
            <a:off x="5212080" y="2853000"/>
            <a:ext cx="3565800" cy="438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5"/>
          <p:cNvSpPr/>
          <p:nvPr/>
        </p:nvSpPr>
        <p:spPr>
          <a:xfrm>
            <a:off x="5349240" y="294444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e44ad"/>
                </a:solidFill>
                <a:latin typeface="Calibri"/>
                <a:ea typeface="Calibri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1" name="Text 16"/>
          <p:cNvSpPr/>
          <p:nvPr/>
        </p:nvSpPr>
        <p:spPr>
          <a:xfrm>
            <a:off x="7086600" y="294444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6d2e46"/>
                </a:solidFill>
                <a:latin typeface="Consolas"/>
                <a:ea typeface="Consolas"/>
              </a:rPr>
              <a:t>'B'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2" name="Shape 17"/>
          <p:cNvSpPr/>
          <p:nvPr/>
        </p:nvSpPr>
        <p:spPr>
          <a:xfrm>
            <a:off x="5212080" y="3346560"/>
            <a:ext cx="3565800" cy="438480"/>
          </a:xfrm>
          <a:prstGeom prst="rect">
            <a:avLst/>
          </a:prstGeom>
          <a:solidFill>
            <a:srgbClr val="fcf5f0"/>
          </a:solidFill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18"/>
          <p:cNvSpPr/>
          <p:nvPr/>
        </p:nvSpPr>
        <p:spPr>
          <a:xfrm>
            <a:off x="5349240" y="343800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e44ad"/>
                </a:solidFill>
                <a:latin typeface="Calibri"/>
                <a:ea typeface="Calibri"/>
              </a:rPr>
              <a:t>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4" name="Text 19"/>
          <p:cNvSpPr/>
          <p:nvPr/>
        </p:nvSpPr>
        <p:spPr>
          <a:xfrm>
            <a:off x="7086600" y="343800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6d2e46"/>
                </a:solidFill>
                <a:latin typeface="Consolas"/>
                <a:ea typeface="Consolas"/>
              </a:rPr>
              <a:t>'C'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5" name="Shape 20"/>
          <p:cNvSpPr/>
          <p:nvPr/>
        </p:nvSpPr>
        <p:spPr>
          <a:xfrm>
            <a:off x="365760" y="3977640"/>
            <a:ext cx="8412120" cy="566640"/>
          </a:xfrm>
          <a:prstGeom prst="rect">
            <a:avLst/>
          </a:prstGeom>
          <a:solidFill>
            <a:srgbClr val="fef5f1"/>
          </a:solidFill>
          <a:ln w="1905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21"/>
          <p:cNvSpPr/>
          <p:nvPr/>
        </p:nvSpPr>
        <p:spPr>
          <a:xfrm>
            <a:off x="594360" y="4087440"/>
            <a:ext cx="8046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333333"/>
                </a:solidFill>
                <a:latin typeface="Calibri"/>
                <a:ea typeface="Calibri"/>
              </a:rPr>
              <a:t>⚠  </a:t>
            </a:r>
            <a:r>
              <a:rPr b="0" lang="en-US" sz="1250" spc="-1" strike="noStrike">
                <a:solidFill>
                  <a:srgbClr val="333333"/>
                </a:solidFill>
                <a:latin typeface="Calibri"/>
                <a:ea typeface="Calibri"/>
              </a:rPr>
              <a:t>When looping over values, you can't see the keys. If you need both, use items().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1"/>
          <p:cNvSpPr/>
          <p:nvPr/>
        </p:nvSpPr>
        <p:spPr>
          <a:xfrm>
            <a:off x="47880" y="-5904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enumerate() Function with Dictionaries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19" name="Text 2"/>
          <p:cNvSpPr/>
          <p:nvPr/>
        </p:nvSpPr>
        <p:spPr>
          <a:xfrm>
            <a:off x="143640" y="66708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Get index along with key-value pairs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0" name="Text 3"/>
          <p:cNvSpPr/>
          <p:nvPr/>
        </p:nvSpPr>
        <p:spPr>
          <a:xfrm>
            <a:off x="365760" y="1078920"/>
            <a:ext cx="8412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Use enumerate() to get both the iteration index and key-value pairs during looping.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1" name="Shape 4"/>
          <p:cNvSpPr/>
          <p:nvPr/>
        </p:nvSpPr>
        <p:spPr>
          <a:xfrm>
            <a:off x="365760" y="1554480"/>
            <a:ext cx="8412120" cy="475200"/>
          </a:xfrm>
          <a:prstGeom prst="rect">
            <a:avLst/>
          </a:prstGeom>
          <a:solidFill>
            <a:srgbClr val="fef5f1"/>
          </a:solidFill>
          <a:ln w="254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5"/>
          <p:cNvSpPr/>
          <p:nvPr/>
        </p:nvSpPr>
        <p:spPr>
          <a:xfrm>
            <a:off x="640080" y="166428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onsolas"/>
                <a:ea typeface="Consolas"/>
              </a:rPr>
              <a:t>Syntax:   for  index, (key, value)  in  enumerate(dict.items()):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3" name="Shape 6"/>
          <p:cNvSpPr/>
          <p:nvPr/>
        </p:nvSpPr>
        <p:spPr>
          <a:xfrm>
            <a:off x="365760" y="2157840"/>
            <a:ext cx="4571640" cy="217584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7"/>
          <p:cNvSpPr/>
          <p:nvPr/>
        </p:nvSpPr>
        <p:spPr>
          <a:xfrm>
            <a:off x="530280" y="2267640"/>
            <a:ext cx="4242600" cy="19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data = {10: 'A', 20: 'B', 30: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for i, (k, v) in enumerate(data.items()):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print(i, k, v)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Output: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0  10  'A'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1  20  'B'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2  30  'C'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25" name="Text 8"/>
          <p:cNvSpPr/>
          <p:nvPr/>
        </p:nvSpPr>
        <p:spPr>
          <a:xfrm>
            <a:off x="5212080" y="215784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a26769"/>
                </a:solidFill>
                <a:latin typeface="Calibri"/>
                <a:ea typeface="Calibri"/>
              </a:rPr>
              <a:t>Output Table: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6" name="Shape 9"/>
          <p:cNvSpPr/>
          <p:nvPr/>
        </p:nvSpPr>
        <p:spPr>
          <a:xfrm>
            <a:off x="5212080" y="2505600"/>
            <a:ext cx="3565800" cy="3470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10"/>
          <p:cNvSpPr/>
          <p:nvPr/>
        </p:nvSpPr>
        <p:spPr>
          <a:xfrm>
            <a:off x="5349240" y="2569320"/>
            <a:ext cx="1051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Index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28" name="Text 11"/>
          <p:cNvSpPr/>
          <p:nvPr/>
        </p:nvSpPr>
        <p:spPr>
          <a:xfrm>
            <a:off x="6492240" y="2569320"/>
            <a:ext cx="1051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Key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29" name="Text 12"/>
          <p:cNvSpPr/>
          <p:nvPr/>
        </p:nvSpPr>
        <p:spPr>
          <a:xfrm>
            <a:off x="7635240" y="2569320"/>
            <a:ext cx="1051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Value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30" name="Shape 13"/>
          <p:cNvSpPr/>
          <p:nvPr/>
        </p:nvSpPr>
        <p:spPr>
          <a:xfrm>
            <a:off x="5212080" y="2853000"/>
            <a:ext cx="3565800" cy="438480"/>
          </a:xfrm>
          <a:prstGeom prst="rect">
            <a:avLst/>
          </a:prstGeom>
          <a:solidFill>
            <a:srgbClr val="fcf5f0"/>
          </a:solidFill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14"/>
          <p:cNvSpPr/>
          <p:nvPr/>
        </p:nvSpPr>
        <p:spPr>
          <a:xfrm>
            <a:off x="5349240" y="294444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d4a5a5"/>
                </a:solidFill>
                <a:latin typeface="Consolas"/>
                <a:ea typeface="Consolas"/>
              </a:rPr>
              <a:t>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2" name="Text 15"/>
          <p:cNvSpPr/>
          <p:nvPr/>
        </p:nvSpPr>
        <p:spPr>
          <a:xfrm>
            <a:off x="6492240" y="294444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6d2e46"/>
                </a:solidFill>
                <a:latin typeface="Consolas"/>
                <a:ea typeface="Consolas"/>
              </a:rPr>
              <a:t>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3" name="Text 16"/>
          <p:cNvSpPr/>
          <p:nvPr/>
        </p:nvSpPr>
        <p:spPr>
          <a:xfrm>
            <a:off x="7635240" y="294444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6d2e46"/>
                </a:solidFill>
                <a:latin typeface="Consolas"/>
                <a:ea typeface="Consolas"/>
              </a:rPr>
              <a:t>'A'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4" name="Shape 17"/>
          <p:cNvSpPr/>
          <p:nvPr/>
        </p:nvSpPr>
        <p:spPr>
          <a:xfrm>
            <a:off x="5212080" y="3346560"/>
            <a:ext cx="3565800" cy="438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18"/>
          <p:cNvSpPr/>
          <p:nvPr/>
        </p:nvSpPr>
        <p:spPr>
          <a:xfrm>
            <a:off x="5349240" y="343800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d4a5a5"/>
                </a:solidFill>
                <a:latin typeface="Consolas"/>
                <a:ea typeface="Consolas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6" name="Text 19"/>
          <p:cNvSpPr/>
          <p:nvPr/>
        </p:nvSpPr>
        <p:spPr>
          <a:xfrm>
            <a:off x="6492240" y="343800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6d2e46"/>
                </a:solidFill>
                <a:latin typeface="Consolas"/>
                <a:ea typeface="Consolas"/>
              </a:rPr>
              <a:t>20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7" name="Text 20"/>
          <p:cNvSpPr/>
          <p:nvPr/>
        </p:nvSpPr>
        <p:spPr>
          <a:xfrm>
            <a:off x="7635240" y="343800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6d2e46"/>
                </a:solidFill>
                <a:latin typeface="Consolas"/>
                <a:ea typeface="Consolas"/>
              </a:rPr>
              <a:t>'B'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8" name="Shape 21"/>
          <p:cNvSpPr/>
          <p:nvPr/>
        </p:nvSpPr>
        <p:spPr>
          <a:xfrm>
            <a:off x="5212080" y="3840480"/>
            <a:ext cx="3565800" cy="438480"/>
          </a:xfrm>
          <a:prstGeom prst="rect">
            <a:avLst/>
          </a:prstGeom>
          <a:solidFill>
            <a:srgbClr val="fcf5f0"/>
          </a:solidFill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22"/>
          <p:cNvSpPr/>
          <p:nvPr/>
        </p:nvSpPr>
        <p:spPr>
          <a:xfrm>
            <a:off x="5349240" y="393192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d4a5a5"/>
                </a:solidFill>
                <a:latin typeface="Consolas"/>
                <a:ea typeface="Consolas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0" name="Text 23"/>
          <p:cNvSpPr/>
          <p:nvPr/>
        </p:nvSpPr>
        <p:spPr>
          <a:xfrm>
            <a:off x="6492240" y="393192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6d2e46"/>
                </a:solidFill>
                <a:latin typeface="Consolas"/>
                <a:ea typeface="Consolas"/>
              </a:rPr>
              <a:t>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1" name="Text 24"/>
          <p:cNvSpPr/>
          <p:nvPr/>
        </p:nvSpPr>
        <p:spPr>
          <a:xfrm>
            <a:off x="7635240" y="393192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6d2e46"/>
                </a:solidFill>
                <a:latin typeface="Consolas"/>
                <a:ea typeface="Consolas"/>
              </a:rPr>
              <a:t>'C'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2" name="Shape 25"/>
          <p:cNvSpPr/>
          <p:nvPr/>
        </p:nvSpPr>
        <p:spPr>
          <a:xfrm>
            <a:off x="365760" y="4572000"/>
            <a:ext cx="8412120" cy="56664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26"/>
          <p:cNvSpPr/>
          <p:nvPr/>
        </p:nvSpPr>
        <p:spPr>
          <a:xfrm>
            <a:off x="594360" y="4681800"/>
            <a:ext cx="8046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💡 </a:t>
            </a: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enumerate() is useful when you need to track the iteration count alongside dictionary key-value pairs.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-77760" y="0"/>
            <a:ext cx="9257760" cy="104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enumerate() Function with Dictionaries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2026-02-17T03:09:34Z</dcterms:created>
  <dc:creator>PptxGenJS</dc:creator>
  <dc:description/>
  <dc:language>en-IN</dc:language>
  <cp:lastModifiedBy/>
  <dcterms:modified xsi:type="dcterms:W3CDTF">2026-02-17T22:45:50Z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