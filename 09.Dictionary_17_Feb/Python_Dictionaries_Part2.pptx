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3BD0280-CCC1-4102-90FA-BD77AC84DC4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08D77B-4D83-46C4-ABA6-39444AF48C8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4014AA-6813-45AD-B439-7DA3A462E38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5E42B84-4543-47A9-B0B5-A06D4814C11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CDD401-0717-4402-A695-D72B45C83D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A8682E-1D82-45CF-8AB5-A1053D2169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58BFBE-89F7-4F5A-8B99-204AC4E8B9B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981DDA-E408-4B3A-B9CF-D34850E560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088B8F-C362-4014-94CE-4A2633F857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41413B-4A46-40C0-BF79-0E7A56ABB75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E9A02E-9291-4344-ACA2-F4C1C46F307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17C6CD0-3607-48B6-AAEB-1DD24721EDF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890ABC-8BBD-47D4-8623-102AFD16D92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6FD18E-FE26-4824-B5CF-FA78235905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B35477-5E07-495E-A7DC-739B95170D9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502920" y="169164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Python Dictionaries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02920" y="3291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d4a5a5"/>
                </a:solidFill>
                <a:latin typeface="Calibri"/>
                <a:ea typeface="Calibri"/>
              </a:rPr>
              <a:t>Part 2 – Operations, Conversions, Aliasing, Cloning &amp; Searching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02920" y="6217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b8999a"/>
                </a:solidFill>
                <a:latin typeface="Calibri"/>
                <a:ea typeface="Calibri"/>
              </a:rPr>
              <a:t>Mutability • Concatenation • Conversion • Aliasing • Cloning • 'in' operator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●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Basic Dictionary Operations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1"/>
          <p:cNvSpPr/>
          <p:nvPr/>
        </p:nvSpPr>
        <p:spPr>
          <a:xfrm>
            <a:off x="0" y="0"/>
            <a:ext cx="972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①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Mutability — Dictionaries are Mutable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180000" y="62604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Can be changed after creation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365760" y="1078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Dictionaries are mutable (changeable). After creating a dictionary, you can add new key-value pairs, modify existing values, or delete pairs.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365760" y="1691640"/>
            <a:ext cx="8412120" cy="255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5"/>
          <p:cNvSpPr/>
          <p:nvPr/>
        </p:nvSpPr>
        <p:spPr>
          <a:xfrm>
            <a:off x="548640" y="172836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Add New Pair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365760" y="2020680"/>
            <a:ext cx="8412120" cy="1243080"/>
          </a:xfrm>
          <a:prstGeom prst="rect">
            <a:avLst/>
          </a:prstGeom>
          <a:solidFill>
            <a:srgbClr val="3d1f2f"/>
          </a:solidFill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7"/>
          <p:cNvSpPr/>
          <p:nvPr/>
        </p:nvSpPr>
        <p:spPr>
          <a:xfrm>
            <a:off x="530280" y="2130480"/>
            <a:ext cx="8137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data = {10: 'A', 20: 'B', 30: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data[40] = 'D'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print(data)  # {10:'A',20:'B',30:'C',40:'D'}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365760" y="3355920"/>
            <a:ext cx="8412120" cy="25560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9"/>
          <p:cNvSpPr/>
          <p:nvPr/>
        </p:nvSpPr>
        <p:spPr>
          <a:xfrm>
            <a:off x="548640" y="339228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Modify Value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365760" y="3684960"/>
            <a:ext cx="8412120" cy="1243080"/>
          </a:xfrm>
          <a:prstGeom prst="rect">
            <a:avLst/>
          </a:prstGeom>
          <a:solidFill>
            <a:srgbClr val="3d1f2f"/>
          </a:solidFill>
          <a:ln w="1905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1"/>
          <p:cNvSpPr/>
          <p:nvPr/>
        </p:nvSpPr>
        <p:spPr>
          <a:xfrm>
            <a:off x="530280" y="3794760"/>
            <a:ext cx="8137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data[10] = 'Z'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print(data)  # {10:'Z',20:'B',30:'C',40:'D'}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365760" y="5020200"/>
            <a:ext cx="8412120" cy="2556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3"/>
          <p:cNvSpPr/>
          <p:nvPr/>
        </p:nvSpPr>
        <p:spPr>
          <a:xfrm>
            <a:off x="548640" y="505656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Delete Pair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365760" y="5349240"/>
            <a:ext cx="8412120" cy="1243080"/>
          </a:xfrm>
          <a:prstGeom prst="rect">
            <a:avLst/>
          </a:prstGeom>
          <a:solidFill>
            <a:srgbClr val="3d1f2f"/>
          </a:solidFill>
          <a:ln w="1905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5"/>
          <p:cNvSpPr/>
          <p:nvPr/>
        </p:nvSpPr>
        <p:spPr>
          <a:xfrm>
            <a:off x="530280" y="5459040"/>
            <a:ext cx="8137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del data[10]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print(data)  # {20:'B',30:'C',40:'D'}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365760" y="6720840"/>
            <a:ext cx="8412120" cy="50256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7"/>
          <p:cNvSpPr/>
          <p:nvPr/>
        </p:nvSpPr>
        <p:spPr>
          <a:xfrm>
            <a:off x="594360" y="68212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💡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Dictionaries are mutable: add elements, remove elements, or change values of existing keys.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②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Concatenation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"/>
          <p:cNvSpPr/>
          <p:nvPr/>
        </p:nvSpPr>
        <p:spPr>
          <a:xfrm>
            <a:off x="365760" y="109800"/>
            <a:ext cx="953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②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Concatenation — Merging Dictionaries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227880" y="72000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Combine two dictionaries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365760" y="107892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① </a:t>
            </a: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When two dictionaries are merged using concatenation, they are joined into a single dictionary.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② </a:t>
            </a: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If a key appears in both dictionaries, the value from the SECOND dictionary overwrites the first.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365760" y="1938960"/>
            <a:ext cx="8412120" cy="255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5"/>
          <p:cNvSpPr/>
          <p:nvPr/>
        </p:nvSpPr>
        <p:spPr>
          <a:xfrm>
            <a:off x="548640" y="188352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Using the | (pipe) Operator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365760" y="2194560"/>
            <a:ext cx="8412120" cy="17186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7"/>
          <p:cNvSpPr/>
          <p:nvPr/>
        </p:nvSpPr>
        <p:spPr>
          <a:xfrm>
            <a:off x="530280" y="2304360"/>
            <a:ext cx="808308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dict_a = {10: 'A', 20: 'B', 30: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dict_b = {40: 'D', 50: 'E'}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dict_c = dict_a | dict_b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print(dict_c)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 {10:'A', 20:'B', 30:'C', 40:'D', 50:'E'}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365760" y="4096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26769"/>
                </a:solidFill>
                <a:latin typeface="Calibri"/>
                <a:ea typeface="Calibri"/>
              </a:rPr>
              <a:t>Visual Merge: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365760" y="4462200"/>
            <a:ext cx="3474360" cy="1115280"/>
          </a:xfrm>
          <a:prstGeom prst="rect">
            <a:avLst/>
          </a:prstGeom>
          <a:solidFill>
            <a:srgbClr val="fef5f1"/>
          </a:solidFill>
          <a:ln w="254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10"/>
          <p:cNvSpPr/>
          <p:nvPr/>
        </p:nvSpPr>
        <p:spPr>
          <a:xfrm>
            <a:off x="530280" y="4572000"/>
            <a:ext cx="3145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Calibri"/>
              </a:rPr>
              <a:t>dict_a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530280" y="4892040"/>
            <a:ext cx="1005480" cy="43848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12"/>
          <p:cNvSpPr/>
          <p:nvPr/>
        </p:nvSpPr>
        <p:spPr>
          <a:xfrm>
            <a:off x="530280" y="49834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10:'A'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1627560" y="4892040"/>
            <a:ext cx="1005480" cy="43848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4"/>
          <p:cNvSpPr/>
          <p:nvPr/>
        </p:nvSpPr>
        <p:spPr>
          <a:xfrm>
            <a:off x="1627560" y="49834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20:'B'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2724840" y="4892040"/>
            <a:ext cx="1005480" cy="43848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16"/>
          <p:cNvSpPr/>
          <p:nvPr/>
        </p:nvSpPr>
        <p:spPr>
          <a:xfrm>
            <a:off x="2724840" y="49834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30:'C'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4023360" y="489204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4a623"/>
                </a:solidFill>
                <a:latin typeface="Calibri"/>
                <a:ea typeface="Calibri"/>
              </a:rPr>
              <a:t>|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0" name="Shape 18"/>
          <p:cNvSpPr/>
          <p:nvPr/>
        </p:nvSpPr>
        <p:spPr>
          <a:xfrm>
            <a:off x="4663440" y="4462200"/>
            <a:ext cx="2285640" cy="1115280"/>
          </a:xfrm>
          <a:prstGeom prst="rect">
            <a:avLst/>
          </a:prstGeom>
          <a:solidFill>
            <a:srgbClr val="fff8e1"/>
          </a:solidFill>
          <a:ln w="2540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9"/>
          <p:cNvSpPr/>
          <p:nvPr/>
        </p:nvSpPr>
        <p:spPr>
          <a:xfrm>
            <a:off x="4827960" y="4572000"/>
            <a:ext cx="1956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7d4e00"/>
                </a:solidFill>
                <a:latin typeface="Calibri"/>
                <a:ea typeface="Calibri"/>
              </a:rPr>
              <a:t>dict_b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Shape 20"/>
          <p:cNvSpPr/>
          <p:nvPr/>
        </p:nvSpPr>
        <p:spPr>
          <a:xfrm>
            <a:off x="4827960" y="4892040"/>
            <a:ext cx="959760" cy="438480"/>
          </a:xfrm>
          <a:prstGeom prst="rect">
            <a:avLst/>
          </a:prstGeom>
          <a:solidFill>
            <a:srgbClr val="f4a623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21"/>
          <p:cNvSpPr/>
          <p:nvPr/>
        </p:nvSpPr>
        <p:spPr>
          <a:xfrm>
            <a:off x="4827960" y="498348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40:'D'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4" name="Shape 22"/>
          <p:cNvSpPr/>
          <p:nvPr/>
        </p:nvSpPr>
        <p:spPr>
          <a:xfrm>
            <a:off x="5879520" y="4892040"/>
            <a:ext cx="959760" cy="438480"/>
          </a:xfrm>
          <a:prstGeom prst="rect">
            <a:avLst/>
          </a:prstGeom>
          <a:solidFill>
            <a:srgbClr val="f4a623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3"/>
          <p:cNvSpPr/>
          <p:nvPr/>
        </p:nvSpPr>
        <p:spPr>
          <a:xfrm>
            <a:off x="5879520" y="498348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50:'E'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7132320" y="4892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d4a5a5"/>
                </a:solidFill>
                <a:latin typeface="Calibri"/>
                <a:ea typeface="Calibri"/>
              </a:rPr>
              <a:t>=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7" name="Shape 25"/>
          <p:cNvSpPr/>
          <p:nvPr/>
        </p:nvSpPr>
        <p:spPr>
          <a:xfrm>
            <a:off x="365760" y="5779080"/>
            <a:ext cx="8412120" cy="877320"/>
          </a:xfrm>
          <a:prstGeom prst="rect">
            <a:avLst/>
          </a:prstGeom>
          <a:solidFill>
            <a:srgbClr val="e8f5e9"/>
          </a:solidFill>
          <a:ln w="2540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6"/>
          <p:cNvSpPr/>
          <p:nvPr/>
        </p:nvSpPr>
        <p:spPr>
          <a:xfrm>
            <a:off x="530280" y="5888880"/>
            <a:ext cx="8137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5e3a"/>
                </a:solidFill>
                <a:latin typeface="Calibri"/>
                <a:ea typeface="Calibri"/>
              </a:rPr>
              <a:t>dict_c (result)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9" name="Shape 27"/>
          <p:cNvSpPr/>
          <p:nvPr/>
        </p:nvSpPr>
        <p:spPr>
          <a:xfrm>
            <a:off x="530280" y="6199560"/>
            <a:ext cx="1462680" cy="383760"/>
          </a:xfrm>
          <a:prstGeom prst="rect">
            <a:avLst/>
          </a:prstGeom>
          <a:solidFill>
            <a:srgbClr val="1a9850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28"/>
          <p:cNvSpPr/>
          <p:nvPr/>
        </p:nvSpPr>
        <p:spPr>
          <a:xfrm>
            <a:off x="530280" y="627264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10:'A'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1" name="Shape 29"/>
          <p:cNvSpPr/>
          <p:nvPr/>
        </p:nvSpPr>
        <p:spPr>
          <a:xfrm>
            <a:off x="2103120" y="6199560"/>
            <a:ext cx="1462680" cy="383760"/>
          </a:xfrm>
          <a:prstGeom prst="rect">
            <a:avLst/>
          </a:prstGeom>
          <a:solidFill>
            <a:srgbClr val="1a9850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30"/>
          <p:cNvSpPr/>
          <p:nvPr/>
        </p:nvSpPr>
        <p:spPr>
          <a:xfrm>
            <a:off x="2103120" y="627264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20:'B'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3" name="Shape 31"/>
          <p:cNvSpPr/>
          <p:nvPr/>
        </p:nvSpPr>
        <p:spPr>
          <a:xfrm>
            <a:off x="3675960" y="6199560"/>
            <a:ext cx="1462680" cy="383760"/>
          </a:xfrm>
          <a:prstGeom prst="rect">
            <a:avLst/>
          </a:prstGeom>
          <a:solidFill>
            <a:srgbClr val="1a9850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32"/>
          <p:cNvSpPr/>
          <p:nvPr/>
        </p:nvSpPr>
        <p:spPr>
          <a:xfrm>
            <a:off x="3675960" y="627264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30:'C'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5" name="Shape 33"/>
          <p:cNvSpPr/>
          <p:nvPr/>
        </p:nvSpPr>
        <p:spPr>
          <a:xfrm>
            <a:off x="5248800" y="6199560"/>
            <a:ext cx="1462680" cy="383760"/>
          </a:xfrm>
          <a:prstGeom prst="rect">
            <a:avLst/>
          </a:prstGeom>
          <a:solidFill>
            <a:srgbClr val="1a9850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4"/>
          <p:cNvSpPr/>
          <p:nvPr/>
        </p:nvSpPr>
        <p:spPr>
          <a:xfrm>
            <a:off x="5248800" y="627264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40:'D'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7" name="Shape 35"/>
          <p:cNvSpPr/>
          <p:nvPr/>
        </p:nvSpPr>
        <p:spPr>
          <a:xfrm>
            <a:off x="6821280" y="6199560"/>
            <a:ext cx="1462680" cy="383760"/>
          </a:xfrm>
          <a:prstGeom prst="rect">
            <a:avLst/>
          </a:prstGeom>
          <a:solidFill>
            <a:srgbClr val="1a9850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36"/>
          <p:cNvSpPr/>
          <p:nvPr/>
        </p:nvSpPr>
        <p:spPr>
          <a:xfrm>
            <a:off x="6821280" y="627264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50:'E'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③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Conversion to Dictionary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Converting to Dictionary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Tuple, List, Set, Range → Dictionary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365760" y="107892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Use dict() function to convert iterables into dictionaries.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365760" y="1517760"/>
            <a:ext cx="8412120" cy="255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5"/>
          <p:cNvSpPr/>
          <p:nvPr/>
        </p:nvSpPr>
        <p:spPr>
          <a:xfrm>
            <a:off x="548640" y="155448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i) Convert Tuple of (key,value) Pairs to Dictionary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365760" y="1865520"/>
            <a:ext cx="8412120" cy="914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7"/>
          <p:cNvSpPr/>
          <p:nvPr/>
        </p:nvSpPr>
        <p:spPr>
          <a:xfrm>
            <a:off x="530280" y="197496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pairs = (('a', 1), ('b', 2), ('c', 3))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result = dict(pairs)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print(result)   # {'a': 1, 'b': 2, 'c': 3}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365760" y="2907720"/>
            <a:ext cx="8412120" cy="25560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9"/>
          <p:cNvSpPr/>
          <p:nvPr/>
        </p:nvSpPr>
        <p:spPr>
          <a:xfrm>
            <a:off x="548640" y="29444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ii) Convert List of Tuples to Dictionary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365760" y="3255120"/>
            <a:ext cx="8412120" cy="914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1"/>
          <p:cNvSpPr/>
          <p:nvPr/>
        </p:nvSpPr>
        <p:spPr>
          <a:xfrm>
            <a:off x="530280" y="336492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pairs_list = [('a', 1), ('b', 2), ('c', 3)]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result = dict(pairs_list)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print(result)   # {'a': 1, 'b': 2, 'c': 3}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365760" y="4297680"/>
            <a:ext cx="8412120" cy="255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3"/>
          <p:cNvSpPr/>
          <p:nvPr/>
        </p:nvSpPr>
        <p:spPr>
          <a:xfrm>
            <a:off x="548640" y="433440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iii) Convert Set Elements as Keys with Default Values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365760" y="4645080"/>
            <a:ext cx="8412120" cy="914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5"/>
          <p:cNvSpPr/>
          <p:nvPr/>
        </p:nvSpPr>
        <p:spPr>
          <a:xfrm>
            <a:off x="530280" y="475488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my_set = {'a', 'b',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result = {key: None for key in my_set}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print(result)   # {'a': None, 'b': None, 'c': None}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8" name="Shape 16"/>
          <p:cNvSpPr/>
          <p:nvPr/>
        </p:nvSpPr>
        <p:spPr>
          <a:xfrm>
            <a:off x="365760" y="5687640"/>
            <a:ext cx="8412120" cy="2556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7"/>
          <p:cNvSpPr/>
          <p:nvPr/>
        </p:nvSpPr>
        <p:spPr>
          <a:xfrm>
            <a:off x="548640" y="572400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iv) Convert Range as Keys with Default Values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0" name="Shape 18"/>
          <p:cNvSpPr/>
          <p:nvPr/>
        </p:nvSpPr>
        <p:spPr>
          <a:xfrm>
            <a:off x="365760" y="6035040"/>
            <a:ext cx="8412120" cy="914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9"/>
          <p:cNvSpPr/>
          <p:nvPr/>
        </p:nvSpPr>
        <p:spPr>
          <a:xfrm>
            <a:off x="530280" y="614484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my_range = range(5)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result = {key: None for key in my_range}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print(result)   # {0:None, 1:None, 2:None, 3:None, 4:None}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④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Aliasing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④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Aliasing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Multiple variables → same dictionary in memory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365760" y="10789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Aliasing means multiple variables refer to the same dictionary object stored at the same memory location.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365760" y="1627560"/>
            <a:ext cx="8412120" cy="520920"/>
          </a:xfrm>
          <a:prstGeom prst="rect">
            <a:avLst/>
          </a:prstGeom>
          <a:solidFill>
            <a:srgbClr val="fcf5f0"/>
          </a:solidFill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5"/>
          <p:cNvSpPr/>
          <p:nvPr/>
        </p:nvSpPr>
        <p:spPr>
          <a:xfrm>
            <a:off x="594360" y="173736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① </a:t>
            </a: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Aliasing means multiple variables refer to the same dictionary object in memory.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365760" y="2221920"/>
            <a:ext cx="8412120" cy="520920"/>
          </a:xfrm>
          <a:prstGeom prst="rect">
            <a:avLst/>
          </a:prstGeom>
          <a:solidFill>
            <a:srgbClr val="fcf5f0"/>
          </a:solidFill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7"/>
          <p:cNvSpPr/>
          <p:nvPr/>
        </p:nvSpPr>
        <p:spPr>
          <a:xfrm>
            <a:off x="594360" y="23317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② </a:t>
            </a: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If one variable changes the dictionary, the other variable also sees the change.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365760" y="2962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26769"/>
                </a:solidFill>
                <a:latin typeface="Calibri"/>
                <a:ea typeface="Calibri"/>
              </a:rPr>
              <a:t>Memory Diagram: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4114800" y="2907720"/>
            <a:ext cx="4571640" cy="137124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0"/>
          <p:cNvSpPr/>
          <p:nvPr/>
        </p:nvSpPr>
        <p:spPr>
          <a:xfrm>
            <a:off x="4297680" y="301752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b8999a"/>
                </a:solidFill>
                <a:latin typeface="Consolas"/>
                <a:ea typeface="Consolas"/>
              </a:rPr>
              <a:t>Address: 1024113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4480560" y="3310200"/>
            <a:ext cx="1279800" cy="43848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2"/>
          <p:cNvSpPr/>
          <p:nvPr/>
        </p:nvSpPr>
        <p:spPr>
          <a:xfrm>
            <a:off x="4480560" y="34016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1:'a'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5897880" y="3310200"/>
            <a:ext cx="1279800" cy="43848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4"/>
          <p:cNvSpPr/>
          <p:nvPr/>
        </p:nvSpPr>
        <p:spPr>
          <a:xfrm>
            <a:off x="5897880" y="34016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2:'b'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Shape 15"/>
          <p:cNvSpPr/>
          <p:nvPr/>
        </p:nvSpPr>
        <p:spPr>
          <a:xfrm>
            <a:off x="7315200" y="3310200"/>
            <a:ext cx="1279800" cy="43848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6"/>
          <p:cNvSpPr/>
          <p:nvPr/>
        </p:nvSpPr>
        <p:spPr>
          <a:xfrm>
            <a:off x="7315200" y="34016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3:'c'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4297680" y="384048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8999a"/>
                </a:solidFill>
                <a:latin typeface="Consolas"/>
                <a:ea typeface="Consolas"/>
              </a:rPr>
              <a:t>{1:'a', 2:'b', 3:'c'}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3" name="Shape 18"/>
          <p:cNvSpPr/>
          <p:nvPr/>
        </p:nvSpPr>
        <p:spPr>
          <a:xfrm>
            <a:off x="360000" y="2962800"/>
            <a:ext cx="2559960" cy="402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9"/>
          <p:cNvSpPr/>
          <p:nvPr/>
        </p:nvSpPr>
        <p:spPr>
          <a:xfrm>
            <a:off x="451440" y="3017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original_dict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2919960" y="3014640"/>
            <a:ext cx="1096920" cy="453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1"/>
          <p:cNvSpPr/>
          <p:nvPr/>
        </p:nvSpPr>
        <p:spPr>
          <a:xfrm>
            <a:off x="3749040" y="245052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a623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7" name="Shape 22"/>
          <p:cNvSpPr/>
          <p:nvPr/>
        </p:nvSpPr>
        <p:spPr>
          <a:xfrm>
            <a:off x="360000" y="3657600"/>
            <a:ext cx="2559960" cy="402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23"/>
          <p:cNvSpPr/>
          <p:nvPr/>
        </p:nvSpPr>
        <p:spPr>
          <a:xfrm>
            <a:off x="451440" y="37126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alias_dict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9" name="Shape 24"/>
          <p:cNvSpPr/>
          <p:nvPr/>
        </p:nvSpPr>
        <p:spPr>
          <a:xfrm>
            <a:off x="3017880" y="3780000"/>
            <a:ext cx="1096920" cy="453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5"/>
          <p:cNvSpPr/>
          <p:nvPr/>
        </p:nvSpPr>
        <p:spPr>
          <a:xfrm>
            <a:off x="3749040" y="314568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a623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1" name="Shape 26"/>
          <p:cNvSpPr/>
          <p:nvPr/>
        </p:nvSpPr>
        <p:spPr>
          <a:xfrm>
            <a:off x="365760" y="4526280"/>
            <a:ext cx="8412120" cy="135288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27"/>
          <p:cNvSpPr/>
          <p:nvPr/>
        </p:nvSpPr>
        <p:spPr>
          <a:xfrm>
            <a:off x="530280" y="4636080"/>
            <a:ext cx="80830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original_dict = {1: 'a', 2: 'b', 3: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alias_dict = original_dict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print(id(original_dict))  # 1024113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print(id(alias_dict))     # 1024113  ← Same!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⑤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Cloning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⑤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Cloning — Independent Copy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copy() creates new dictionary at different memory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365760" y="1078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Cloning copies the content of one dictionary into a new dictionary at a different memory location. Changes to one do NOT affect the other.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365760" y="1691640"/>
            <a:ext cx="8412120" cy="493560"/>
          </a:xfrm>
          <a:prstGeom prst="rect">
            <a:avLst/>
          </a:prstGeom>
          <a:solidFill>
            <a:srgbClr val="fcf5f0"/>
          </a:solidFill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5"/>
          <p:cNvSpPr/>
          <p:nvPr/>
        </p:nvSpPr>
        <p:spPr>
          <a:xfrm>
            <a:off x="594360" y="180144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① </a:t>
            </a: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Cloning copies the content of one dictionary into another dictionary.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365760" y="2258640"/>
            <a:ext cx="8412120" cy="493560"/>
          </a:xfrm>
          <a:prstGeom prst="rect">
            <a:avLst/>
          </a:prstGeom>
          <a:solidFill>
            <a:srgbClr val="fcf5f0"/>
          </a:solidFill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7"/>
          <p:cNvSpPr/>
          <p:nvPr/>
        </p:nvSpPr>
        <p:spPr>
          <a:xfrm>
            <a:off x="594360" y="236844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② </a:t>
            </a: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Changing one dictionary does NOT reflect in the other — they are independent.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365760" y="2825640"/>
            <a:ext cx="8412120" cy="493560"/>
          </a:xfrm>
          <a:prstGeom prst="rect">
            <a:avLst/>
          </a:prstGeom>
          <a:solidFill>
            <a:srgbClr val="fcf5f0"/>
          </a:solidFill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9"/>
          <p:cNvSpPr/>
          <p:nvPr/>
        </p:nvSpPr>
        <p:spPr>
          <a:xfrm>
            <a:off x="594360" y="29350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③ </a:t>
            </a:r>
            <a:r>
              <a:rPr b="0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This is called a deep copy — both are separate objects in memory.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365760" y="3429000"/>
            <a:ext cx="8412120" cy="135288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1"/>
          <p:cNvSpPr/>
          <p:nvPr/>
        </p:nvSpPr>
        <p:spPr>
          <a:xfrm>
            <a:off x="530280" y="3538800"/>
            <a:ext cx="80830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original_dict = {1: 'a', 2: 'b', 3: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cloned_dict = original_dict.copy()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print(id(original_dict))  # 100123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print(id(cloned_dict))    # 100124  ← Different!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365760" y="4956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  <a:ea typeface="Calibri"/>
              </a:rPr>
              <a:t>Memory — Two Different Addresses: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9" name="Shape 13"/>
          <p:cNvSpPr/>
          <p:nvPr/>
        </p:nvSpPr>
        <p:spPr>
          <a:xfrm>
            <a:off x="365760" y="5303520"/>
            <a:ext cx="3931560" cy="914040"/>
          </a:xfrm>
          <a:prstGeom prst="rect">
            <a:avLst/>
          </a:prstGeom>
          <a:solidFill>
            <a:srgbClr val="fef5f1"/>
          </a:solidFill>
          <a:ln w="254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14"/>
          <p:cNvSpPr/>
          <p:nvPr/>
        </p:nvSpPr>
        <p:spPr>
          <a:xfrm>
            <a:off x="530280" y="5413320"/>
            <a:ext cx="3602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a26769"/>
                </a:solidFill>
                <a:latin typeface="Consolas"/>
                <a:ea typeface="Consolas"/>
              </a:rPr>
              <a:t>original_dict (100123)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530280" y="5706000"/>
            <a:ext cx="1096920" cy="38376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6"/>
          <p:cNvSpPr/>
          <p:nvPr/>
        </p:nvSpPr>
        <p:spPr>
          <a:xfrm>
            <a:off x="530280" y="577908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1:'a'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1719000" y="5706000"/>
            <a:ext cx="1096920" cy="38376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8"/>
          <p:cNvSpPr/>
          <p:nvPr/>
        </p:nvSpPr>
        <p:spPr>
          <a:xfrm>
            <a:off x="1719000" y="577908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2:'b'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5" name="Shape 19"/>
          <p:cNvSpPr/>
          <p:nvPr/>
        </p:nvSpPr>
        <p:spPr>
          <a:xfrm>
            <a:off x="2907720" y="5706000"/>
            <a:ext cx="1096920" cy="38376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20"/>
          <p:cNvSpPr/>
          <p:nvPr/>
        </p:nvSpPr>
        <p:spPr>
          <a:xfrm>
            <a:off x="2907720" y="577908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3:'c'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7" name="Shape 21"/>
          <p:cNvSpPr/>
          <p:nvPr/>
        </p:nvSpPr>
        <p:spPr>
          <a:xfrm>
            <a:off x="4846320" y="5303520"/>
            <a:ext cx="3931560" cy="914040"/>
          </a:xfrm>
          <a:prstGeom prst="rect">
            <a:avLst/>
          </a:prstGeom>
          <a:solidFill>
            <a:srgbClr val="fff8e1"/>
          </a:solidFill>
          <a:ln w="2540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22"/>
          <p:cNvSpPr/>
          <p:nvPr/>
        </p:nvSpPr>
        <p:spPr>
          <a:xfrm>
            <a:off x="5010840" y="5413320"/>
            <a:ext cx="3602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7d4e00"/>
                </a:solidFill>
                <a:latin typeface="Consolas"/>
                <a:ea typeface="Consolas"/>
              </a:rPr>
              <a:t>cloned_dict (100124)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9" name="Shape 23"/>
          <p:cNvSpPr/>
          <p:nvPr/>
        </p:nvSpPr>
        <p:spPr>
          <a:xfrm>
            <a:off x="5010840" y="5706000"/>
            <a:ext cx="1096920" cy="383760"/>
          </a:xfrm>
          <a:prstGeom prst="rect">
            <a:avLst/>
          </a:prstGeom>
          <a:solidFill>
            <a:srgbClr val="f4a623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24"/>
          <p:cNvSpPr/>
          <p:nvPr/>
        </p:nvSpPr>
        <p:spPr>
          <a:xfrm>
            <a:off x="5010840" y="577908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1:'a'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1" name="Shape 25"/>
          <p:cNvSpPr/>
          <p:nvPr/>
        </p:nvSpPr>
        <p:spPr>
          <a:xfrm>
            <a:off x="6199560" y="5706000"/>
            <a:ext cx="1096920" cy="383760"/>
          </a:xfrm>
          <a:prstGeom prst="rect">
            <a:avLst/>
          </a:prstGeom>
          <a:solidFill>
            <a:srgbClr val="f4a623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26"/>
          <p:cNvSpPr/>
          <p:nvPr/>
        </p:nvSpPr>
        <p:spPr>
          <a:xfrm>
            <a:off x="6199560" y="577908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2:'b'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3" name="Shape 27"/>
          <p:cNvSpPr/>
          <p:nvPr/>
        </p:nvSpPr>
        <p:spPr>
          <a:xfrm>
            <a:off x="7388280" y="5706000"/>
            <a:ext cx="1096920" cy="383760"/>
          </a:xfrm>
          <a:prstGeom prst="rect">
            <a:avLst/>
          </a:prstGeom>
          <a:solidFill>
            <a:srgbClr val="f4a623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28"/>
          <p:cNvSpPr/>
          <p:nvPr/>
        </p:nvSpPr>
        <p:spPr>
          <a:xfrm>
            <a:off x="7388280" y="577908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3:'c'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Text 29"/>
          <p:cNvSpPr/>
          <p:nvPr/>
        </p:nvSpPr>
        <p:spPr>
          <a:xfrm>
            <a:off x="2286000" y="63550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a5e3a"/>
                </a:solidFill>
                <a:latin typeface="Calibri"/>
                <a:ea typeface="Calibri"/>
              </a:rPr>
              <a:t>✓ </a:t>
            </a:r>
            <a:r>
              <a:rPr b="1" lang="en-US" sz="1250" spc="-1" strike="noStrike">
                <a:solidFill>
                  <a:srgbClr val="1a5e3a"/>
                </a:solidFill>
                <a:latin typeface="Calibri"/>
                <a:ea typeface="Calibri"/>
              </a:rPr>
              <a:t>Same content — different memory addresses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⑥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Searching — 'in' Operator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⑥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Searching — 'in' Membership Operator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Check if a key exists in the dictionary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365760" y="10789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Use the 'in' membership operator to check whether a particular KEY is present in the dictionary.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365760" y="159120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5"/>
          <p:cNvSpPr/>
          <p:nvPr/>
        </p:nvSpPr>
        <p:spPr>
          <a:xfrm>
            <a:off x="640080" y="170064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key  in  dict_name   →  True / False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365760" y="2212920"/>
            <a:ext cx="8412120" cy="100548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7"/>
          <p:cNvSpPr/>
          <p:nvPr/>
        </p:nvSpPr>
        <p:spPr>
          <a:xfrm>
            <a:off x="530280" y="2322720"/>
            <a:ext cx="8083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info = {1: 'a', 2: 'b', 3: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print(3 in info)    # True  ← key 3 exists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print(5 in info)    # False ← key 5 does NOT exist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365760" y="3383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26769"/>
                </a:solidFill>
                <a:latin typeface="Calibri"/>
                <a:ea typeface="Calibri"/>
              </a:rPr>
              <a:t>Using 'in' with if-else: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8" name="Shape 9"/>
          <p:cNvSpPr/>
          <p:nvPr/>
        </p:nvSpPr>
        <p:spPr>
          <a:xfrm>
            <a:off x="365760" y="3730680"/>
            <a:ext cx="8412120" cy="201132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0"/>
          <p:cNvSpPr/>
          <p:nvPr/>
        </p:nvSpPr>
        <p:spPr>
          <a:xfrm>
            <a:off x="530280" y="3840480"/>
            <a:ext cx="8083080" cy="179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 = {1: 'a', 2: 'b', 3: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if (3 in my_dict):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print("3 is present in dict")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else: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print("3 is not present in dict")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 3 is present in dict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10" name="Shape 11"/>
          <p:cNvSpPr/>
          <p:nvPr/>
        </p:nvSpPr>
        <p:spPr>
          <a:xfrm>
            <a:off x="365760" y="5906880"/>
            <a:ext cx="4023000" cy="566640"/>
          </a:xfrm>
          <a:prstGeom prst="rect">
            <a:avLst/>
          </a:prstGeom>
          <a:solidFill>
            <a:srgbClr val="e8f5e9"/>
          </a:solidFill>
          <a:ln w="1905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2"/>
          <p:cNvSpPr/>
          <p:nvPr/>
        </p:nvSpPr>
        <p:spPr>
          <a:xfrm>
            <a:off x="548640" y="6016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5e3a"/>
                </a:solidFill>
                <a:latin typeface="Calibri"/>
                <a:ea typeface="Calibri"/>
              </a:rPr>
              <a:t>Key FOUND  →  True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2" name="Shape 13"/>
          <p:cNvSpPr/>
          <p:nvPr/>
        </p:nvSpPr>
        <p:spPr>
          <a:xfrm>
            <a:off x="4754880" y="5906880"/>
            <a:ext cx="4023000" cy="566640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4"/>
          <p:cNvSpPr/>
          <p:nvPr/>
        </p:nvSpPr>
        <p:spPr>
          <a:xfrm>
            <a:off x="4937760" y="6016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8b0032"/>
                </a:solidFill>
                <a:latin typeface="Calibri"/>
                <a:ea typeface="Calibri"/>
              </a:rPr>
              <a:t>Key NOT FOUND  →  False ✗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4" name="Shape 15"/>
          <p:cNvSpPr/>
          <p:nvPr/>
        </p:nvSpPr>
        <p:spPr>
          <a:xfrm>
            <a:off x="365760" y="6602040"/>
            <a:ext cx="8412120" cy="52992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6"/>
          <p:cNvSpPr/>
          <p:nvPr/>
        </p:nvSpPr>
        <p:spPr>
          <a:xfrm>
            <a:off x="594360" y="671184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The 'in' operator checks for KEYS, not values. To check values, use: value in dict.values()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"/>
          <p:cNvSpPr/>
          <p:nvPr/>
        </p:nvSpPr>
        <p:spPr>
          <a:xfrm>
            <a:off x="502920" y="320040"/>
            <a:ext cx="8320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Python Dictionaries — Summary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502920" y="91440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Complete overview of Parts 1 &amp;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502920" y="1371600"/>
            <a:ext cx="8320680" cy="1298160"/>
          </a:xfrm>
          <a:prstGeom prst="rect">
            <a:avLst/>
          </a:prstGeom>
          <a:solidFill>
            <a:srgbClr val="4d1f32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Shape 4"/>
          <p:cNvSpPr/>
          <p:nvPr/>
        </p:nvSpPr>
        <p:spPr>
          <a:xfrm>
            <a:off x="502920" y="1371600"/>
            <a:ext cx="1279800" cy="1298160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5"/>
          <p:cNvSpPr/>
          <p:nvPr/>
        </p:nvSpPr>
        <p:spPr>
          <a:xfrm>
            <a:off x="502920" y="175572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Georgia"/>
                <a:ea typeface="Georgia"/>
              </a:rPr>
              <a:t>Part 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1920240" y="1627560"/>
            <a:ext cx="6720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cf5f0"/>
                </a:solidFill>
                <a:latin typeface="Calibri"/>
                <a:ea typeface="Calibri"/>
              </a:rPr>
              <a:t>What are dictionaries • Properties (key-value, curly brackets, unique keys, repeats overwrite) • Accessing (print whole, by key, NO indexing) • Looping (items, keys, values, enumerate)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502920" y="2816280"/>
            <a:ext cx="8320680" cy="1298160"/>
          </a:xfrm>
          <a:prstGeom prst="rect">
            <a:avLst/>
          </a:prstGeom>
          <a:solidFill>
            <a:srgbClr val="4d1f32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Shape 8"/>
          <p:cNvSpPr/>
          <p:nvPr/>
        </p:nvSpPr>
        <p:spPr>
          <a:xfrm>
            <a:off x="502920" y="2816280"/>
            <a:ext cx="1279800" cy="1298160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9"/>
          <p:cNvSpPr/>
          <p:nvPr/>
        </p:nvSpPr>
        <p:spPr>
          <a:xfrm>
            <a:off x="502920" y="320040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Georgia"/>
                <a:ea typeface="Georgia"/>
              </a:rPr>
              <a:t>Part 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1920240" y="3072240"/>
            <a:ext cx="6720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cf5f0"/>
                </a:solidFill>
                <a:latin typeface="Calibri"/>
                <a:ea typeface="Calibri"/>
              </a:rPr>
              <a:t>Mutability (add/modify/delete) • Concatenation (| operator) • Conversion (tuple/list/set/range→dict) • Aliasing • Cloning (copy()) • 'in' operator (checks keys)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502920" y="4279320"/>
            <a:ext cx="8320680" cy="2541600"/>
          </a:xfrm>
          <a:prstGeom prst="rect">
            <a:avLst/>
          </a:prstGeom>
          <a:solidFill>
            <a:srgbClr val="4d1f32"/>
          </a:solidFill>
          <a:ln w="2540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2"/>
          <p:cNvSpPr/>
          <p:nvPr/>
        </p:nvSpPr>
        <p:spPr>
          <a:xfrm>
            <a:off x="685800" y="4407480"/>
            <a:ext cx="7954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a623"/>
                </a:solidFill>
                <a:latin typeface="Georgia"/>
                <a:ea typeface="Georgia"/>
              </a:rPr>
              <a:t>Key Differences — Dictionary vs List vs Tuple vs Set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685800" y="486468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d4a5a5"/>
                </a:solidFill>
                <a:latin typeface="Calibri"/>
                <a:ea typeface="Calibri"/>
              </a:rPr>
              <a:t>Feature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2468880" y="48646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d4a5a5"/>
                </a:solidFill>
                <a:latin typeface="Calibri"/>
                <a:ea typeface="Calibri"/>
              </a:rPr>
              <a:t>Dictionary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1" name="Text 15"/>
          <p:cNvSpPr/>
          <p:nvPr/>
        </p:nvSpPr>
        <p:spPr>
          <a:xfrm>
            <a:off x="4114800" y="48646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d4a5a5"/>
                </a:solidFill>
                <a:latin typeface="Calibri"/>
                <a:ea typeface="Calibri"/>
              </a:rPr>
              <a:t>List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5760720" y="48646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d4a5a5"/>
                </a:solidFill>
                <a:latin typeface="Calibri"/>
                <a:ea typeface="Calibri"/>
              </a:rPr>
              <a:t>Tuple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7406640" y="48646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d4a5a5"/>
                </a:solidFill>
                <a:latin typeface="Calibri"/>
                <a:ea typeface="Calibri"/>
              </a:rPr>
              <a:t>Set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4" name="Text 18"/>
          <p:cNvSpPr/>
          <p:nvPr/>
        </p:nvSpPr>
        <p:spPr>
          <a:xfrm>
            <a:off x="685800" y="521208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Brackets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5" name="Text 19"/>
          <p:cNvSpPr/>
          <p:nvPr/>
        </p:nvSpPr>
        <p:spPr>
          <a:xfrm>
            <a:off x="2468880" y="521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a623"/>
                </a:solidFill>
                <a:latin typeface="Calibri"/>
                <a:ea typeface="Calibri"/>
              </a:rPr>
              <a:t>{key:val}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Text 20"/>
          <p:cNvSpPr/>
          <p:nvPr/>
        </p:nvSpPr>
        <p:spPr>
          <a:xfrm>
            <a:off x="4114800" y="521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[ 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5760720" y="521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( 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8" name="Text 22"/>
          <p:cNvSpPr/>
          <p:nvPr/>
        </p:nvSpPr>
        <p:spPr>
          <a:xfrm>
            <a:off x="7406640" y="521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{  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9" name="Text 23"/>
          <p:cNvSpPr/>
          <p:nvPr/>
        </p:nvSpPr>
        <p:spPr>
          <a:xfrm>
            <a:off x="685800" y="555948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Ordered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Text 24"/>
          <p:cNvSpPr/>
          <p:nvPr/>
        </p:nvSpPr>
        <p:spPr>
          <a:xfrm>
            <a:off x="2468880" y="55594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a623"/>
                </a:solidFill>
                <a:latin typeface="Calibri"/>
                <a:ea typeface="Calibri"/>
              </a:rPr>
              <a:t>No (until 3.7+)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1" name="Text 25"/>
          <p:cNvSpPr/>
          <p:nvPr/>
        </p:nvSpPr>
        <p:spPr>
          <a:xfrm>
            <a:off x="4114800" y="55594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2" name="Text 26"/>
          <p:cNvSpPr/>
          <p:nvPr/>
        </p:nvSpPr>
        <p:spPr>
          <a:xfrm>
            <a:off x="5760720" y="55594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3" name="Text 27"/>
          <p:cNvSpPr/>
          <p:nvPr/>
        </p:nvSpPr>
        <p:spPr>
          <a:xfrm>
            <a:off x="7406640" y="55594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No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Text 28"/>
          <p:cNvSpPr/>
          <p:nvPr/>
        </p:nvSpPr>
        <p:spPr>
          <a:xfrm>
            <a:off x="685800" y="590688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Duplicates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5" name="Text 29"/>
          <p:cNvSpPr/>
          <p:nvPr/>
        </p:nvSpPr>
        <p:spPr>
          <a:xfrm>
            <a:off x="2468880" y="59068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a623"/>
                </a:solidFill>
                <a:latin typeface="Calibri"/>
                <a:ea typeface="Calibri"/>
              </a:rPr>
              <a:t>Keys: No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Text 30"/>
          <p:cNvSpPr/>
          <p:nvPr/>
        </p:nvSpPr>
        <p:spPr>
          <a:xfrm>
            <a:off x="4114800" y="59068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7" name="Text 31"/>
          <p:cNvSpPr/>
          <p:nvPr/>
        </p:nvSpPr>
        <p:spPr>
          <a:xfrm>
            <a:off x="5760720" y="59068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8" name="Text 32"/>
          <p:cNvSpPr/>
          <p:nvPr/>
        </p:nvSpPr>
        <p:spPr>
          <a:xfrm>
            <a:off x="7406640" y="59068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No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9" name="Text 33"/>
          <p:cNvSpPr/>
          <p:nvPr/>
        </p:nvSpPr>
        <p:spPr>
          <a:xfrm>
            <a:off x="685800" y="625464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Mutable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Text 34"/>
          <p:cNvSpPr/>
          <p:nvPr/>
        </p:nvSpPr>
        <p:spPr>
          <a:xfrm>
            <a:off x="2468880" y="625464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a623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1" name="Text 35"/>
          <p:cNvSpPr/>
          <p:nvPr/>
        </p:nvSpPr>
        <p:spPr>
          <a:xfrm>
            <a:off x="4114800" y="625464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2" name="Text 36"/>
          <p:cNvSpPr/>
          <p:nvPr/>
        </p:nvSpPr>
        <p:spPr>
          <a:xfrm>
            <a:off x="5760720" y="625464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No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3" name="Text 37"/>
          <p:cNvSpPr/>
          <p:nvPr/>
        </p:nvSpPr>
        <p:spPr>
          <a:xfrm>
            <a:off x="7406640" y="625464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Text 38"/>
          <p:cNvSpPr/>
          <p:nvPr/>
        </p:nvSpPr>
        <p:spPr>
          <a:xfrm>
            <a:off x="685800" y="660204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Access By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5" name="Text 39"/>
          <p:cNvSpPr/>
          <p:nvPr/>
        </p:nvSpPr>
        <p:spPr>
          <a:xfrm>
            <a:off x="2468880" y="660204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a623"/>
                </a:solidFill>
                <a:latin typeface="Calibri"/>
                <a:ea typeface="Calibri"/>
              </a:rPr>
              <a:t>Key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6" name="Text 40"/>
          <p:cNvSpPr/>
          <p:nvPr/>
        </p:nvSpPr>
        <p:spPr>
          <a:xfrm>
            <a:off x="4114800" y="660204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Index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Text 41"/>
          <p:cNvSpPr/>
          <p:nvPr/>
        </p:nvSpPr>
        <p:spPr>
          <a:xfrm>
            <a:off x="5760720" y="660204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Index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42"/>
          <p:cNvSpPr/>
          <p:nvPr/>
        </p:nvSpPr>
        <p:spPr>
          <a:xfrm>
            <a:off x="7406640" y="660204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cf5f0"/>
                </a:solidFill>
                <a:latin typeface="Calibri"/>
                <a:ea typeface="Calibri"/>
              </a:rPr>
              <a:t>—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2026-02-17T03:11:56Z</dcterms:created>
  <dc:creator>PptxGenJS</dc:creator>
  <dc:description/>
  <dc:language>en-IN</dc:language>
  <cp:lastModifiedBy/>
  <dcterms:modified xsi:type="dcterms:W3CDTF">2026-02-17T21:02:28Z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