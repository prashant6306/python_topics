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18872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Basics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D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Identifiers, Keywords, Data Types &amp; Operators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Topics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234440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280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Identifiers &amp; Keywords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783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Data Types Overview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240280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286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Types: int, float, complex, bool, string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2743200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788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Assignment &amp; Dynamic Typing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246120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291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Operators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749040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3794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Precedence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4251960"/>
            <a:ext cx="365760" cy="36576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4297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Conversions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is Case Sensitive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64008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371600" y="1188720"/>
            <a:ext cx="6400800" cy="54864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71600" y="1280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distinguishes between uppercase and lowercase letters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14400" y="2011680"/>
            <a:ext cx="7315200" cy="21031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1945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C379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Different variables - case sensitive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25603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6C75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= 10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29260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6C75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= 20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32918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print(A)  # Output: 10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36576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print(a)  # Output: 20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2976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6888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and a are two completely different variables!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Identifiers?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64008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11887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identifier is a name used to identify a variable, function,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class, module, or other object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14400" y="2103120"/>
            <a:ext cx="7315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19456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22128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3840480" y="2240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age = 25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914400" y="2788920"/>
            <a:ext cx="7315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880360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28986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840480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def sum(): ...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914400" y="3474720"/>
            <a:ext cx="7315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56616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37360" y="35844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3840480" y="3611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class Employee: ...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914400" y="4160520"/>
            <a:ext cx="7315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306998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25196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737360" y="427024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3840480" y="4297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import math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for Creating Identifiers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188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Start with alphabet or underscore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3040" y="1508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= 10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463040" y="17830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_a = 10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63040" y="20574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1a = 10  # Error!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463040" y="23317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-a = 10  # Error!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731520" y="2743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Followed by letters, digits, or underscores</a:t>
            </a:r>
            <a:endParaRPr lang="en-US" sz="15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01752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30632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a1 = 10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463040" y="33375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a_ = 10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463040" y="36118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AE6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abc = 10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Keywords cannot be used as identifiers</a:t>
            </a:r>
            <a:endParaRPr lang="en-US" sz="15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29768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63040" y="43434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False = 10  # Error!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1463040" y="46177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def = 20  # Error!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146304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for = 30  # Error!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Keywords (Reserved Words)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64008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005840"/>
            <a:ext cx="7315200" cy="45720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have special meaning and cannot be used as identifiers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97280" y="1737360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1737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False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258568" y="1737360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9" name="Text 6"/>
          <p:cNvSpPr/>
          <p:nvPr/>
        </p:nvSpPr>
        <p:spPr>
          <a:xfrm>
            <a:off x="2258568" y="1737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True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19856" y="1737360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11" name="Text 8"/>
          <p:cNvSpPr/>
          <p:nvPr/>
        </p:nvSpPr>
        <p:spPr>
          <a:xfrm>
            <a:off x="3419856" y="1737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None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81144" y="1737360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13" name="Text 10"/>
          <p:cNvSpPr/>
          <p:nvPr/>
        </p:nvSpPr>
        <p:spPr>
          <a:xfrm>
            <a:off x="4581144" y="1737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and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42432" y="1737360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15" name="Text 12"/>
          <p:cNvSpPr/>
          <p:nvPr/>
        </p:nvSpPr>
        <p:spPr>
          <a:xfrm>
            <a:off x="5742432" y="1737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or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903720" y="1737360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17" name="Text 14"/>
          <p:cNvSpPr/>
          <p:nvPr/>
        </p:nvSpPr>
        <p:spPr>
          <a:xfrm>
            <a:off x="6903720" y="17373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not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097280" y="2121408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280" y="21214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258568" y="2121408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21" name="Text 18"/>
          <p:cNvSpPr/>
          <p:nvPr/>
        </p:nvSpPr>
        <p:spPr>
          <a:xfrm>
            <a:off x="2258568" y="21214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assert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419856" y="2121408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23" name="Text 20"/>
          <p:cNvSpPr/>
          <p:nvPr/>
        </p:nvSpPr>
        <p:spPr>
          <a:xfrm>
            <a:off x="3419856" y="21214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break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81144" y="2121408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25" name="Text 22"/>
          <p:cNvSpPr/>
          <p:nvPr/>
        </p:nvSpPr>
        <p:spPr>
          <a:xfrm>
            <a:off x="4581144" y="21214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class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742432" y="2121408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27" name="Text 24"/>
          <p:cNvSpPr/>
          <p:nvPr/>
        </p:nvSpPr>
        <p:spPr>
          <a:xfrm>
            <a:off x="5742432" y="21214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continue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903720" y="2121408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29" name="Text 26"/>
          <p:cNvSpPr/>
          <p:nvPr/>
        </p:nvSpPr>
        <p:spPr>
          <a:xfrm>
            <a:off x="6903720" y="21214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def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1097280" y="2505456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31" name="Text 28"/>
          <p:cNvSpPr/>
          <p:nvPr/>
        </p:nvSpPr>
        <p:spPr>
          <a:xfrm>
            <a:off x="1097280" y="25054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del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258568" y="2505456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33" name="Text 30"/>
          <p:cNvSpPr/>
          <p:nvPr/>
        </p:nvSpPr>
        <p:spPr>
          <a:xfrm>
            <a:off x="2258568" y="25054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elif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419856" y="2505456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35" name="Text 32"/>
          <p:cNvSpPr/>
          <p:nvPr/>
        </p:nvSpPr>
        <p:spPr>
          <a:xfrm>
            <a:off x="3419856" y="25054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else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581144" y="2505456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37" name="Text 34"/>
          <p:cNvSpPr/>
          <p:nvPr/>
        </p:nvSpPr>
        <p:spPr>
          <a:xfrm>
            <a:off x="4581144" y="25054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except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742432" y="2505456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39" name="Text 36"/>
          <p:cNvSpPr/>
          <p:nvPr/>
        </p:nvSpPr>
        <p:spPr>
          <a:xfrm>
            <a:off x="5742432" y="25054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finally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903720" y="2505456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41" name="Text 38"/>
          <p:cNvSpPr/>
          <p:nvPr/>
        </p:nvSpPr>
        <p:spPr>
          <a:xfrm>
            <a:off x="6903720" y="25054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for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1097280" y="2889504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43" name="Text 40"/>
          <p:cNvSpPr/>
          <p:nvPr/>
        </p:nvSpPr>
        <p:spPr>
          <a:xfrm>
            <a:off x="1097280" y="288950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from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2258568" y="2889504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45" name="Text 42"/>
          <p:cNvSpPr/>
          <p:nvPr/>
        </p:nvSpPr>
        <p:spPr>
          <a:xfrm>
            <a:off x="2258568" y="288950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global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3419856" y="2889504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47" name="Text 44"/>
          <p:cNvSpPr/>
          <p:nvPr/>
        </p:nvSpPr>
        <p:spPr>
          <a:xfrm>
            <a:off x="3419856" y="288950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if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4581144" y="2889504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49" name="Text 46"/>
          <p:cNvSpPr/>
          <p:nvPr/>
        </p:nvSpPr>
        <p:spPr>
          <a:xfrm>
            <a:off x="4581144" y="288950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import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742432" y="2889504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51" name="Text 48"/>
          <p:cNvSpPr/>
          <p:nvPr/>
        </p:nvSpPr>
        <p:spPr>
          <a:xfrm>
            <a:off x="5742432" y="288950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in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6903720" y="2889504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53" name="Text 50"/>
          <p:cNvSpPr/>
          <p:nvPr/>
        </p:nvSpPr>
        <p:spPr>
          <a:xfrm>
            <a:off x="6903720" y="288950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is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097280" y="3273552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55" name="Text 52"/>
          <p:cNvSpPr/>
          <p:nvPr/>
        </p:nvSpPr>
        <p:spPr>
          <a:xfrm>
            <a:off x="1097280" y="32735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lambda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2258568" y="3273552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57" name="Text 54"/>
          <p:cNvSpPr/>
          <p:nvPr/>
        </p:nvSpPr>
        <p:spPr>
          <a:xfrm>
            <a:off x="2258568" y="32735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pass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3419856" y="3273552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59" name="Text 56"/>
          <p:cNvSpPr/>
          <p:nvPr/>
        </p:nvSpPr>
        <p:spPr>
          <a:xfrm>
            <a:off x="3419856" y="32735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raise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4581144" y="3273552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61" name="Text 58"/>
          <p:cNvSpPr/>
          <p:nvPr/>
        </p:nvSpPr>
        <p:spPr>
          <a:xfrm>
            <a:off x="4581144" y="32735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return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5742432" y="3273552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63" name="Text 60"/>
          <p:cNvSpPr/>
          <p:nvPr/>
        </p:nvSpPr>
        <p:spPr>
          <a:xfrm>
            <a:off x="5742432" y="32735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try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6903720" y="3273552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65" name="Text 62"/>
          <p:cNvSpPr/>
          <p:nvPr/>
        </p:nvSpPr>
        <p:spPr>
          <a:xfrm>
            <a:off x="6903720" y="32735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while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1097280" y="3657600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67" name="Text 64"/>
          <p:cNvSpPr/>
          <p:nvPr/>
        </p:nvSpPr>
        <p:spPr>
          <a:xfrm>
            <a:off x="1097280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with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2258568" y="3657600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69" name="Text 66"/>
          <p:cNvSpPr/>
          <p:nvPr/>
        </p:nvSpPr>
        <p:spPr>
          <a:xfrm>
            <a:off x="2258568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yield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3419856" y="3657600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71" name="Text 68"/>
          <p:cNvSpPr/>
          <p:nvPr/>
        </p:nvSpPr>
        <p:spPr>
          <a:xfrm>
            <a:off x="3419856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async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4581144" y="3657600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73" name="Text 70"/>
          <p:cNvSpPr/>
          <p:nvPr/>
        </p:nvSpPr>
        <p:spPr>
          <a:xfrm>
            <a:off x="4581144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await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5742432" y="3657600"/>
            <a:ext cx="1097280" cy="32004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75" name="Text 72"/>
          <p:cNvSpPr/>
          <p:nvPr/>
        </p:nvSpPr>
        <p:spPr>
          <a:xfrm>
            <a:off x="5742432" y="3657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nonlocal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Data Types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supports 3 categories of data types: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914400" y="1463040"/>
            <a:ext cx="731520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143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Basic Types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1691640"/>
            <a:ext cx="9144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int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377440" y="1691640"/>
            <a:ext cx="9144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7744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float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9144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complex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89120" y="1691640"/>
            <a:ext cx="9144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8912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bool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394960" y="1691640"/>
            <a:ext cx="9144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string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0" y="1691640"/>
            <a:ext cx="9144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17373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bytes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14400" y="2468880"/>
            <a:ext cx="7315200" cy="13716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2148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Container Types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371600" y="2697480"/>
            <a:ext cx="9144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7160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699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list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377440" y="2697480"/>
            <a:ext cx="9144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37744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699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tuple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383280" y="2697480"/>
            <a:ext cx="9144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8328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699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set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389120" y="2697480"/>
            <a:ext cx="9144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389120" y="2743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0699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dict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914400" y="3474720"/>
            <a:ext cx="7315200" cy="13716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0" name="Text 27"/>
          <p:cNvSpPr/>
          <p:nvPr/>
        </p:nvSpPr>
        <p:spPr>
          <a:xfrm>
            <a:off x="914400" y="3154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User-Defined Types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371600" y="3703320"/>
            <a:ext cx="914400" cy="365760"/>
          </a:xfrm>
          <a:prstGeom prst="rect">
            <a:avLst/>
          </a:prstGeom>
          <a:solidFill>
            <a:srgbClr val="F5F5F5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37160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59B6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class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 Type (int)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Integers can be expressed in different number systems: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1554480"/>
            <a:ext cx="7315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88720" y="16459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(base 10)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88720" y="1874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Prefix: 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40480" y="17373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10 = 10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2240280"/>
            <a:ext cx="7315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23317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(base 2)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2560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Prefix: 0b / 0B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840480" y="2423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0b1010 = 10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2926080"/>
            <a:ext cx="7315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88720" y="3017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Octal (base 8)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32461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Prefix: 0o / 0O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840480" y="31089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0o12 = 10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14400" y="3611880"/>
            <a:ext cx="73152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88720" y="37033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Hexadecimal (base 16)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88720" y="39319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Prefix: 0x / 0X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840480" y="37947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0xA = 10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 Type (Decimal Numbers)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Floating-point numbers can be expressed in two forms: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3474720" cy="118872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1945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pi = 3.14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5146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price = 99.99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474720" cy="1188720"/>
          </a:xfrm>
          <a:prstGeom prst="rect">
            <a:avLst/>
          </a:prstGeom>
          <a:solidFill>
            <a:srgbClr val="FFF9E6"/>
          </a:solidFill>
          <a:ln w="25400">
            <a:solidFill>
              <a:srgbClr val="FFD4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x = 3.14e2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4231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Same as 3.14 * 10²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6060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Value: 314.0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333756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Examples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36118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f1 = 3.14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f2 = 3.14152802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f3 = 1.5e3  # 1500.0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Type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solidFill>
            <a:srgbClr val="F3E5F5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numbers have real and imaginary parts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Format:  real + imaginary j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377440"/>
            <a:ext cx="6400800" cy="146304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51460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Complex number examples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278892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c1 = 3 + 2j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c2 = 1 + 4j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c3 = 5 + 0j  # Real number as complex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print(c1)  # Output: (3+2j)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4114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Python uses 'j' instead of 'i' for imaginary unit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Type (bool)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28600"/>
            <a:ext cx="548640" cy="5486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28600"/>
            <a:ext cx="548640" cy="5486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371600" y="1097280"/>
            <a:ext cx="6400800" cy="54864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371600" y="1188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type has only two values: True and False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914400" y="1920240"/>
            <a:ext cx="3474720" cy="201168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8" name="Text 4"/>
          <p:cNvSpPr/>
          <p:nvPr/>
        </p:nvSpPr>
        <p:spPr>
          <a:xfrm>
            <a:off x="1097280" y="20574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Boolean values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7280" y="23317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is_active =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is_deleted = False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Comparison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x = 10 &gt; 5  #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y = 3 &lt; 2   # False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1920240"/>
            <a:ext cx="3474720" cy="201168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1" name="Text 7"/>
          <p:cNvSpPr/>
          <p:nvPr/>
        </p:nvSpPr>
        <p:spPr>
          <a:xfrm>
            <a:off x="4937760" y="20574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Type checking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937760" y="23317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 =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print(type(b))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&lt;class 'bool'&gt;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print(True)   #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print(False)  # False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Type (str)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64008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11887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is an immutable collection of Unicode characters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enclosed in quotes: ' ', " ", ''' ''', """ """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14400" y="2011680"/>
            <a:ext cx="7315200" cy="21031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14884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Different ways to create strings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2423160"/>
            <a:ext cx="6949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s1 = 'Hello'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s2 = "Hello"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s3 = '''Hello'''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name = "Python"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message = 'Learning Python is fun!'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print(s1)  # Output: Hello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Assignment &amp; Dynamic Typing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64008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097280"/>
            <a:ext cx="7315200" cy="548640"/>
          </a:xfrm>
          <a:prstGeom prst="rect">
            <a:avLst/>
          </a:prstGeom>
          <a:solidFill>
            <a:srgbClr val="E3F2FD"/>
          </a:solidFill>
          <a:ln w="25400">
            <a:solidFill>
              <a:srgbClr val="30699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automatically determines variable type at runtime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14400" y="1920240"/>
            <a:ext cx="7315200" cy="219456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205740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Python is dynamically typed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2331720"/>
            <a:ext cx="6949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= 10           # a is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print(type(a))   # &lt;class 'int'&gt;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= 25.5         # now a is float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print(type(a))   # &lt;class 'float'&gt;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= "Hello"      # now a is 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print(type(a))   # &lt;class 'str'&gt;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Variable Assignment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allows assigning values to multiple variables at once: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78308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Method 1: Multiple assignments in one 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a, pi, name = 10, 3.14, "Sanjay"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print(a, pi, name)  # 10 3.14 Sanjay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7315200" cy="82296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8803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Method 2: Same value to multiple variables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1546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= b = c = d =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print(a, b, c, d)  # 5 5 5 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Operators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640080" cy="640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097280"/>
            <a:ext cx="3657600" cy="137160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 (+)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05840" y="1600200"/>
            <a:ext cx="3108960" cy="7315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=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 =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 = a +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print(c)  # 15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657600" cy="13716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Subtraction (-)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0" y="1600200"/>
            <a:ext cx="3108960" cy="7315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1" name="Text 8"/>
          <p:cNvSpPr/>
          <p:nvPr/>
        </p:nvSpPr>
        <p:spPr>
          <a:xfrm>
            <a:off x="5212080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=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 =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 = a -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print(c)  # 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2651760"/>
            <a:ext cx="3657600" cy="1371600"/>
          </a:xfrm>
          <a:prstGeom prst="rect">
            <a:avLst/>
          </a:prstGeom>
          <a:solidFill>
            <a:srgbClr val="F3E5F5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Multiplication (*)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05840" y="3154680"/>
            <a:ext cx="3108960" cy="7315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3246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=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 =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 = a *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print(c)  # 50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2651760"/>
            <a:ext cx="3657600" cy="1371600"/>
          </a:xfrm>
          <a:prstGeom prst="rect">
            <a:avLst/>
          </a:prstGeom>
          <a:solidFill>
            <a:srgbClr val="FFEBEE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(/)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0" y="3154680"/>
            <a:ext cx="3108960" cy="7315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3246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=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 =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 = a / 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print(c)  # 2.0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Arithmetic Operators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118872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Division (//)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integer quotient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1737360"/>
            <a:ext cx="3108960" cy="45720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=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 =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 = a //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print(c)  #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657600" cy="118872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Modulus (%)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remainder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737360"/>
            <a:ext cx="3108960" cy="45720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=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 =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 = a %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print(c)  # 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468880"/>
            <a:ext cx="7680960" cy="1463040"/>
          </a:xfrm>
          <a:prstGeom prst="rect">
            <a:avLst/>
          </a:prstGeom>
          <a:solidFill>
            <a:srgbClr val="F3E5F5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560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Exponentiation (**) - Raise to Power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28800" y="3017520"/>
            <a:ext cx="5486400" cy="82296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31089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=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 =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 = a ** b  # 5 raised to power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print(c)  # 25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Precedence in Python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Highest to Lowest Priority: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1463040"/>
            <a:ext cx="73152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88720" y="155448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Text 4"/>
          <p:cNvSpPr/>
          <p:nvPr/>
        </p:nvSpPr>
        <p:spPr>
          <a:xfrm>
            <a:off x="11887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28800" y="1600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( 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84048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Parentheses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82880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59B6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**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84048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2926080"/>
            <a:ext cx="73152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30699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88720" y="3017520"/>
            <a:ext cx="457200" cy="457200"/>
          </a:xfrm>
          <a:prstGeom prst="ellipse">
            <a:avLst/>
          </a:prstGeom>
          <a:solidFill>
            <a:srgbClr val="306998"/>
          </a:solidFill>
          <a:ln/>
        </p:spPr>
      </p:sp>
      <p:sp>
        <p:nvSpPr>
          <p:cNvPr id="17" name="Text 14"/>
          <p:cNvSpPr/>
          <p:nvPr/>
        </p:nvSpPr>
        <p:spPr>
          <a:xfrm>
            <a:off x="11887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82880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06998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*, /, //, %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840480" y="3108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Multiplication, Division, Floor Division, Modulus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88720" y="374904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19"/>
          <p:cNvSpPr/>
          <p:nvPr/>
        </p:nvSpPr>
        <p:spPr>
          <a:xfrm>
            <a:off x="11887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82880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+, -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840480" y="3840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Addition, Subtraction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solidFill>
            <a:srgbClr val="FFD43B"/>
          </a:solidFill>
          <a:ln/>
        </p:spPr>
      </p:sp>
      <p:sp>
        <p:nvSpPr>
          <p:cNvPr id="26" name="Text 23"/>
          <p:cNvSpPr/>
          <p:nvPr/>
        </p:nvSpPr>
        <p:spPr>
          <a:xfrm>
            <a:off x="137160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at same level are evaluated left to right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Precedence Examples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100584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3444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Example 1: Parentheses have highest precedence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result = (2 + 3) * 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First: 2 + 3 =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Then: 5 * 4 = 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print(result)  # 20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7315200" cy="100584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231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Example 2: Exponentiation before multiplication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69748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result = 2 + 3 **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First: 3 ** 2 = 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Then: 2 + 9 = 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print(result)  # 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7315200" cy="100584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61188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8C379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Example 3: Left to right evaluation (same precedence)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8862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result = 10 - 2 + 3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First: 10 - 2 = 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Then: 8 + 3 = 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print(result)  # 11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Conversions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005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can convert values from one type to another using built-in functions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1554480"/>
            <a:ext cx="731520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280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to Integer - int()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371600" y="1828800"/>
            <a:ext cx="6400800" cy="137160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8" name="Text 5"/>
          <p:cNvSpPr/>
          <p:nvPr/>
        </p:nvSpPr>
        <p:spPr>
          <a:xfrm>
            <a:off x="1554480" y="1920240"/>
            <a:ext cx="6035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Float to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x = int(3.8)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print(x)  # 3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String to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y = int("10")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print(y)  # 10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Bool to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z = int(True)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print(z)  # 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3474720"/>
            <a:ext cx="7315200" cy="13716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200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69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to Float - float()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71600" y="3749040"/>
            <a:ext cx="6400800" cy="73152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2" name="Text 9"/>
          <p:cNvSpPr/>
          <p:nvPr/>
        </p:nvSpPr>
        <p:spPr>
          <a:xfrm>
            <a:off x="1554480" y="38404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x = float(5)        # 5.0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y = float("3.14")  # 3.14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z = float(False)   # 0.0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Type Conversions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13716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to Complex - complex()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91440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46304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x = complex(4)       # (4+0j)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y = complex(3.5)     # (3.5+0j)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z = complex("3+2j")  # (3+2j)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w = complex(True)    # (1+0j)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1371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to Boolean - bool()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834640"/>
            <a:ext cx="6400800" cy="1554480"/>
          </a:xfrm>
          <a:prstGeom prst="rect">
            <a:avLst/>
          </a:prstGeom>
          <a:solidFill>
            <a:srgbClr val="282C34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292608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Non-zero numbers →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x = bool(1)          #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y = bool(0)          # False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Non-empty strings →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z = bool("Hello")    #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w = bool("")         # False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# Special 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a = bool(0.0)        #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b = bool(0+0j)       #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BB2BF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c = bool("Jai Ganesh") # True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640080" cy="6400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34440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45920" y="1280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is case sensitive (A ≠ a)</a:t>
            </a:r>
            <a:endParaRPr lang="en-US" sz="1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645920"/>
            <a:ext cx="365760" cy="365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645920" y="1691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Identifiers: names for variables, functions, classes, modules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057400"/>
            <a:ext cx="365760" cy="3657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645920" y="21031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 are reserved and cannot be used as identifiers</a:t>
            </a:r>
            <a:endParaRPr lang="en-US" sz="14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468880"/>
            <a:ext cx="365760" cy="36576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645920" y="2514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types: int, float, complex, bool, string</a:t>
            </a:r>
            <a:endParaRPr lang="en-US" sz="14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880360"/>
            <a:ext cx="365760" cy="36576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645920" y="2926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is dynamically typed - type determined at runtime</a:t>
            </a:r>
            <a:endParaRPr lang="en-US" sz="140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291840"/>
            <a:ext cx="365760" cy="36576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645920" y="33375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operators: +, -, *, /, //, %, **</a:t>
            </a:r>
            <a:endParaRPr lang="en-US" sz="14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3703320"/>
            <a:ext cx="365760" cy="36576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645920" y="3749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precedence: ( ) &gt; ** &gt; *,/,//,% &gt; +,-</a:t>
            </a:r>
            <a:endParaRPr lang="en-US" sz="1400" dirty="0"/>
          </a:p>
        </p:txBody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" y="4114800"/>
            <a:ext cx="365760" cy="36576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164592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conversions: int(), float(), complex(), bool()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64592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learned Python Basics!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Control Flow &amp; Conditional Statements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Basics - Identifiers, Types &amp; Operators</dc:title>
  <dc:subject>PptxGenJS Presentation</dc:subject>
  <dc:creator>Python Training</dc:creator>
  <cp:lastModifiedBy>Python Training</cp:lastModifiedBy>
  <cp:revision>1</cp:revision>
  <dcterms:created xsi:type="dcterms:W3CDTF">2026-01-30T11:54:16Z</dcterms:created>
  <dcterms:modified xsi:type="dcterms:W3CDTF">2026-01-30T11:54:16Z</dcterms:modified>
</cp:coreProperties>
</file>