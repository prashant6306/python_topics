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29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311AAFE-40B5-4A01-816C-8C5DAD7EF606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FCD581-9120-439B-8EED-07FB258C54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28ED89-640D-49DB-AB73-3E4963FD1A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ACAD91-0FF2-411C-920D-77EABA0F6E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C5A484-4290-4192-9666-47043FDFA5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F98721-75CD-4A43-AA37-4D0C1F287D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30F77D-EEA9-4E42-862C-067E776B252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8818B3-D33A-4459-9D27-3767BE27BD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2FD256-7A7B-44BC-9709-D3F4F95BF7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FB6946-5E8E-4249-B90E-5BB26327D8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6D055C-FF44-41B5-8099-0ACA5FBF12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817C94-35BD-4EBB-B546-28BD8B586D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FC57A0-CFC4-4C8E-9A0D-46F8B83EDF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6EBCF2-7195-4C4D-86DC-D81E0872DB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B864D1-83EF-402D-83B3-ADE0110D8CF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41CA3B-A16E-4B5C-8252-78AFC7A78A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529F08-2EA1-418E-876E-5B8495B1B0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0A5515-373D-4FA2-9A32-29362B420D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2F8479-863E-48A8-8D90-6CAE272771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6047FC-6E7B-40F0-A700-FEC00CF158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3840480" y="11887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457200" y="2926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Python for Professionals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36576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d43b"/>
                </a:solidFill>
                <a:latin typeface="Arial"/>
                <a:ea typeface="Arial"/>
              </a:rPr>
              <a:t>Complete Beginner to Job-Ready Training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42976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Lesson 1: Introduction to Python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You'll Learn Today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914400" y="123444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2"/>
          <p:cNvSpPr/>
          <p:nvPr/>
        </p:nvSpPr>
        <p:spPr>
          <a:xfrm>
            <a:off x="914400" y="12344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1463040" y="12801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Why Programming Matters in 2026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914400" y="178308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5"/>
          <p:cNvSpPr/>
          <p:nvPr/>
        </p:nvSpPr>
        <p:spPr>
          <a:xfrm>
            <a:off x="914400" y="17830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463040" y="1828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What is Python? Origin &amp; Philosophy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914400" y="233172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8"/>
          <p:cNvSpPr/>
          <p:nvPr/>
        </p:nvSpPr>
        <p:spPr>
          <a:xfrm>
            <a:off x="914400" y="23317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1463040" y="237744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Python Applications Across Industries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914400" y="288036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1"/>
          <p:cNvSpPr/>
          <p:nvPr/>
        </p:nvSpPr>
        <p:spPr>
          <a:xfrm>
            <a:off x="914400" y="28803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1463040" y="29260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Core Features That Make Python Powerful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914400" y="342900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4"/>
          <p:cNvSpPr/>
          <p:nvPr/>
        </p:nvSpPr>
        <p:spPr>
          <a:xfrm>
            <a:off x="914400" y="34290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1463040" y="34747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Companies Using Python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" name="Shape 16"/>
          <p:cNvSpPr/>
          <p:nvPr/>
        </p:nvSpPr>
        <p:spPr>
          <a:xfrm>
            <a:off x="914400" y="397764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7"/>
          <p:cNvSpPr/>
          <p:nvPr/>
        </p:nvSpPr>
        <p:spPr>
          <a:xfrm>
            <a:off x="914400" y="39776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1463040" y="40233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Career Opportunities &amp; Learning Path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Why Programming Matters in 2026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8460000" y="-27972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69" name="Shape 1"/>
          <p:cNvSpPr/>
          <p:nvPr/>
        </p:nvSpPr>
        <p:spPr>
          <a:xfrm>
            <a:off x="914400" y="137160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Image 1" descr="preencoded.png"/>
          <p:cNvPicPr/>
          <p:nvPr/>
        </p:nvPicPr>
        <p:blipFill>
          <a:blip r:embed="rId2"/>
          <a:stretch/>
        </p:blipFill>
        <p:spPr>
          <a:xfrm>
            <a:off x="1097280" y="146304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71" name="Text 2"/>
          <p:cNvSpPr/>
          <p:nvPr/>
        </p:nvSpPr>
        <p:spPr>
          <a:xfrm>
            <a:off x="1737360" y="146304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Higher Salaries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1737360" y="173736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Tech roles pay 50-100% above average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914400" y="214884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" name="Image 2" descr="preencoded.png"/>
          <p:cNvPicPr/>
          <p:nvPr/>
        </p:nvPicPr>
        <p:blipFill>
          <a:blip r:embed="rId3"/>
          <a:stretch/>
        </p:blipFill>
        <p:spPr>
          <a:xfrm>
            <a:off x="1097280" y="224028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75" name="Text 5"/>
          <p:cNvSpPr/>
          <p:nvPr/>
        </p:nvSpPr>
        <p:spPr>
          <a:xfrm>
            <a:off x="1737360" y="224028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Automate Tasks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737360" y="251460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Save hours weekly on repetitive work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914400" y="292608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8" name="Image 3" descr="preencoded.png"/>
          <p:cNvPicPr/>
          <p:nvPr/>
        </p:nvPicPr>
        <p:blipFill>
          <a:blip r:embed="rId4"/>
          <a:stretch/>
        </p:blipFill>
        <p:spPr>
          <a:xfrm>
            <a:off x="1097280" y="30175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79" name="Text 8"/>
          <p:cNvSpPr/>
          <p:nvPr/>
        </p:nvSpPr>
        <p:spPr>
          <a:xfrm>
            <a:off x="1737360" y="301752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Data Insights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1737360" y="329184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Analyze data and make informed decisions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914400" y="3703320"/>
            <a:ext cx="7314480" cy="63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2" name="Image 4" descr="preencoded.png"/>
          <p:cNvPicPr/>
          <p:nvPr/>
        </p:nvPicPr>
        <p:blipFill>
          <a:blip r:embed="rId5"/>
          <a:stretch/>
        </p:blipFill>
        <p:spPr>
          <a:xfrm>
            <a:off x="1097280" y="37947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83" name="Text 11"/>
          <p:cNvSpPr/>
          <p:nvPr/>
        </p:nvSpPr>
        <p:spPr>
          <a:xfrm>
            <a:off x="1737360" y="379476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Build Solutions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1737360" y="406908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Create applications that solve real problems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Exactly is Python?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87" name="Shape 1"/>
          <p:cNvSpPr/>
          <p:nvPr/>
        </p:nvSpPr>
        <p:spPr>
          <a:xfrm>
            <a:off x="914400" y="1188720"/>
            <a:ext cx="7314480" cy="109656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2"/>
          <p:cNvSpPr/>
          <p:nvPr/>
        </p:nvSpPr>
        <p:spPr>
          <a:xfrm>
            <a:off x="1097280" y="1371600"/>
            <a:ext cx="69487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7ae60"/>
                </a:solidFill>
                <a:latin typeface="Arial"/>
                <a:ea typeface="Arial"/>
              </a:rPr>
              <a:t>A high-level, general-purpose programming language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7ae60"/>
                </a:solidFill>
                <a:latin typeface="Arial"/>
                <a:ea typeface="Arial"/>
              </a:rPr>
              <a:t>designed for readability and productivity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371600" y="24688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• </a:t>
            </a: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High-Level: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3657600" y="246888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Handles complex details automatically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371600" y="28803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• </a:t>
            </a: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General-Purpose: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3657600" y="28803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Build anything from websites to AI systems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1371600" y="32918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• </a:t>
            </a: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Interpreted: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3657600" y="32918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Run code immediately without compilation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1371600" y="37033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• </a:t>
            </a: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Multi-Paradigm: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3657600" y="370332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Supports multiple programming styles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Python's Origin Story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1371600" y="1371600"/>
            <a:ext cx="3199680" cy="274248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2"/>
          <p:cNvSpPr/>
          <p:nvPr/>
        </p:nvSpPr>
        <p:spPr>
          <a:xfrm>
            <a:off x="1554480" y="155448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Created By: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1554480" y="182880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Guido van Rossum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(Netherlands)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554480" y="246888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Started: December 1989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First Release: February 1991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554480" y="310896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Arial"/>
                <a:ea typeface="Arial"/>
              </a:rPr>
              <a:t>Named after: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Arial"/>
                <a:ea typeface="Arial"/>
              </a:rPr>
              <a:t>Monty Python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Arial"/>
                <a:ea typeface="Arial"/>
              </a:rPr>
              <a:t>(comedy group)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5029200" y="1371600"/>
            <a:ext cx="3199680" cy="27424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7"/>
          <p:cNvSpPr/>
          <p:nvPr/>
        </p:nvSpPr>
        <p:spPr>
          <a:xfrm>
            <a:off x="5212080" y="1554480"/>
            <a:ext cx="2833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Design Philosophy: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303520" y="192024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"Simple is better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than complex"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303520" y="256032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"Readability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counts"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303520" y="3200400"/>
            <a:ext cx="2742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"There should be one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obvious way to do it"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Where Python is Used Today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731520" y="1188720"/>
            <a:ext cx="2651040" cy="8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868680" y="1325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11" name="Text 2"/>
          <p:cNvSpPr/>
          <p:nvPr/>
        </p:nvSpPr>
        <p:spPr>
          <a:xfrm>
            <a:off x="1554480" y="132588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Data Science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1554480" y="164592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Pandas, NumPy, Matplotlib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3520440" y="1188720"/>
            <a:ext cx="2651040" cy="8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3657600" y="1325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15" name="Text 5"/>
          <p:cNvSpPr/>
          <p:nvPr/>
        </p:nvSpPr>
        <p:spPr>
          <a:xfrm>
            <a:off x="4343400" y="132588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AI &amp; Machine Learning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4343400" y="164592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TensorFlow, PyTorch, Scikit-learn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6309360" y="1188720"/>
            <a:ext cx="2651040" cy="8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8" name="Image 2" descr="preencoded.png"/>
          <p:cNvPicPr/>
          <p:nvPr/>
        </p:nvPicPr>
        <p:blipFill>
          <a:blip r:embed="rId3"/>
          <a:stretch/>
        </p:blipFill>
        <p:spPr>
          <a:xfrm>
            <a:off x="6446520" y="1325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19" name="Text 8"/>
          <p:cNvSpPr/>
          <p:nvPr/>
        </p:nvSpPr>
        <p:spPr>
          <a:xfrm>
            <a:off x="7132320" y="132588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Web Development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7132320" y="164592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Django, Flask frameworks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Shape 10"/>
          <p:cNvSpPr/>
          <p:nvPr/>
        </p:nvSpPr>
        <p:spPr>
          <a:xfrm>
            <a:off x="731520" y="2194560"/>
            <a:ext cx="2651040" cy="8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2" name="Image 3" descr="preencoded.png"/>
          <p:cNvPicPr/>
          <p:nvPr/>
        </p:nvPicPr>
        <p:blipFill>
          <a:blip r:embed="rId4"/>
          <a:stretch/>
        </p:blipFill>
        <p:spPr>
          <a:xfrm>
            <a:off x="868680" y="233172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23" name="Text 11"/>
          <p:cNvSpPr/>
          <p:nvPr/>
        </p:nvSpPr>
        <p:spPr>
          <a:xfrm>
            <a:off x="1554480" y="233172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Automation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1554480" y="265176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DevOps, Testing, Scripting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3520440" y="2194560"/>
            <a:ext cx="2651040" cy="8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6" name="Image 4" descr="preencoded.png"/>
          <p:cNvPicPr/>
          <p:nvPr/>
        </p:nvPicPr>
        <p:blipFill>
          <a:blip r:embed="rId5"/>
          <a:stretch/>
        </p:blipFill>
        <p:spPr>
          <a:xfrm>
            <a:off x="3657600" y="233172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27" name="Text 14"/>
          <p:cNvSpPr/>
          <p:nvPr/>
        </p:nvSpPr>
        <p:spPr>
          <a:xfrm>
            <a:off x="4343400" y="233172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498db"/>
                </a:solidFill>
                <a:latin typeface="Arial"/>
                <a:ea typeface="Arial"/>
              </a:rPr>
              <a:t>Cloud Computing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4343400" y="265176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AWS, Azure, Google Cloud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6309360" y="2194560"/>
            <a:ext cx="2651040" cy="8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5" descr="preencoded.png"/>
          <p:cNvPicPr/>
          <p:nvPr/>
        </p:nvPicPr>
        <p:blipFill>
          <a:blip r:embed="rId6"/>
          <a:stretch/>
        </p:blipFill>
        <p:spPr>
          <a:xfrm>
            <a:off x="6446520" y="233172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31" name="Text 17"/>
          <p:cNvSpPr/>
          <p:nvPr/>
        </p:nvSpPr>
        <p:spPr>
          <a:xfrm>
            <a:off x="7132320" y="233172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Cybersecurity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7132320" y="265176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Penetration testing, Security tools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Companies Powered by Python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3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35" name="Shape 1"/>
          <p:cNvSpPr/>
          <p:nvPr/>
        </p:nvSpPr>
        <p:spPr>
          <a:xfrm>
            <a:off x="731520" y="1280160"/>
            <a:ext cx="7680240" cy="13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2"/>
          <p:cNvSpPr/>
          <p:nvPr/>
        </p:nvSpPr>
        <p:spPr>
          <a:xfrm>
            <a:off x="731520" y="960120"/>
            <a:ext cx="7680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Tech Giants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1097280" y="155448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Google - Search, YouTube, Infrastructure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1097280" y="182880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Meta - Instagram entirely in Python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1097280" y="21031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Netflix - Recommendation engine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1097280" y="237744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Amazon - Product recommendations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731520" y="2834640"/>
            <a:ext cx="7680240" cy="13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8"/>
          <p:cNvSpPr/>
          <p:nvPr/>
        </p:nvSpPr>
        <p:spPr>
          <a:xfrm>
            <a:off x="731520" y="2514600"/>
            <a:ext cx="7680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Startups &amp; More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1097280" y="310896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Spotify - Music recommendations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1097280" y="338328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Uber - Surge pricing, routes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1097280" y="365760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Dropbox - Core infrastructure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1097280" y="39319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NASA - Mission control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731520" y="4389120"/>
            <a:ext cx="7680240" cy="13644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4"/>
          <p:cNvSpPr/>
          <p:nvPr/>
        </p:nvSpPr>
        <p:spPr>
          <a:xfrm>
            <a:off x="731520" y="4069080"/>
            <a:ext cx="7680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Finance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1097280" y="466344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JP Morgan - Trading algorithms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1097280" y="493776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Goldman Sachs - Financial analytics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1097280" y="521208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Bloomberg - Analytics platform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1097280" y="548640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Robinhood - Trading platform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Why Learn Python in 2026?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55" name="Shape 1"/>
          <p:cNvSpPr/>
          <p:nvPr/>
        </p:nvSpPr>
        <p:spPr>
          <a:xfrm>
            <a:off x="731520" y="1188720"/>
            <a:ext cx="3656880" cy="13708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"/>
          <p:cNvSpPr/>
          <p:nvPr/>
        </p:nvSpPr>
        <p:spPr>
          <a:xfrm>
            <a:off x="731520" y="12801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e67e22"/>
                </a:solidFill>
                <a:latin typeface="Arial"/>
                <a:ea typeface="Arial"/>
              </a:rPr>
              <a:t>Market Demand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914400" y="1645920"/>
            <a:ext cx="3291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70% of data science jobs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require Python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Average salary: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$110k-140k (US)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5M+ developers worldwide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4754880" y="1188720"/>
            <a:ext cx="3656880" cy="13708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5"/>
          <p:cNvSpPr/>
          <p:nvPr/>
        </p:nvSpPr>
        <p:spPr>
          <a:xfrm>
            <a:off x="4754880" y="12801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7ae60"/>
                </a:solidFill>
                <a:latin typeface="Arial"/>
                <a:ea typeface="Arial"/>
              </a:rPr>
              <a:t>Career Paths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4937760" y="1645920"/>
            <a:ext cx="3291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Data Scientist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Backend Engineer, Website Developer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ML Engineer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DevOps Engineer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Cloud Architect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731520" y="2743200"/>
            <a:ext cx="7680240" cy="73080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1097280" y="28803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163" name="Text 8"/>
          <p:cNvSpPr/>
          <p:nvPr/>
        </p:nvSpPr>
        <p:spPr>
          <a:xfrm>
            <a:off x="1737360" y="29260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Easiest language for beginners  •  3-6 months to job-ready  •  Massive community support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914400" y="37490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Central to AI revolution  ✓ Essential for quantum computing  ✓ Growing in IoT &amp; edge computing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vs Other Languages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57200" y="822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666666"/>
                </a:solidFill>
                <a:latin typeface="Arial"/>
                <a:ea typeface="Arial"/>
              </a:rPr>
              <a:t>Code Comparison: Print "Hello World"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731520" y="1371600"/>
            <a:ext cx="3656880" cy="1188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"/>
          <p:cNvSpPr/>
          <p:nvPr/>
        </p:nvSpPr>
        <p:spPr>
          <a:xfrm>
            <a:off x="731520" y="141732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Java (5 lines)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914400" y="173736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public class HelloWorld 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public static void main(String[] args) 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System.out.println("Hello");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4754880" y="1371600"/>
            <a:ext cx="3656880" cy="1188000"/>
          </a:xfrm>
          <a:prstGeom prst="rect">
            <a:avLst/>
          </a:prstGeom>
          <a:solidFill>
            <a:srgbClr val="f3e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6"/>
          <p:cNvSpPr/>
          <p:nvPr/>
        </p:nvSpPr>
        <p:spPr>
          <a:xfrm>
            <a:off x="4754880" y="141732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C++ (7 lines)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4937760" y="173736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#include &lt;iostream&gt;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using namespace std;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int main() 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cout &lt;&lt; "Hello" &lt;&lt; endl;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return 0;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2286000" y="2834640"/>
            <a:ext cx="4571280" cy="822240"/>
          </a:xfrm>
          <a:prstGeom prst="rect">
            <a:avLst/>
          </a:prstGeom>
          <a:solidFill>
            <a:srgbClr val="e8f5e9"/>
          </a:solidFill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9"/>
          <p:cNvSpPr/>
          <p:nvPr/>
        </p:nvSpPr>
        <p:spPr>
          <a:xfrm>
            <a:off x="2286000" y="29260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Python (1 line)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2286000" y="32918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print("Hello World")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176" name="Image 0" descr="preencoded.png"/>
          <p:cNvPicPr/>
          <p:nvPr/>
        </p:nvPicPr>
        <p:blipFill>
          <a:blip r:embed="rId1"/>
          <a:stretch/>
        </p:blipFill>
        <p:spPr>
          <a:xfrm>
            <a:off x="4297680" y="38404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177" name="Text 11"/>
          <p:cNvSpPr/>
          <p:nvPr/>
        </p:nvSpPr>
        <p:spPr>
          <a:xfrm>
            <a:off x="1371600" y="42976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Python is 3-5x faster to write and much easier to read!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Core Feature #1: Simple Syntax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79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80" name="Text 1"/>
          <p:cNvSpPr/>
          <p:nvPr/>
        </p:nvSpPr>
        <p:spPr>
          <a:xfrm>
            <a:off x="914400" y="12801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No Boilerplate Code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1371600" y="160020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No main() function required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1371600" y="192024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No semicolons at line ends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1371600" y="22402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Uses indentation instead of braces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914400" y="26517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English-Like Syntax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1371600" y="297180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if age &gt;= 18: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1371600" y="329184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   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print("Can vote")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1371600" y="36118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Code reads like instructions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914400" y="40233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Beginner Friendly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1371600" y="434340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50% faster to learn than Java/C++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1371600" y="466344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Used in university intro courses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1371600" y="4983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Kids can learn Python at age 10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Core Feature #2: Dynamic Typing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914400" y="9144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Variables automatically adapt to the data type you assign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731520" y="1463040"/>
            <a:ext cx="3656880" cy="164520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3"/>
          <p:cNvSpPr/>
          <p:nvPr/>
        </p:nvSpPr>
        <p:spPr>
          <a:xfrm>
            <a:off x="731520" y="1554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74c3c"/>
                </a:solidFill>
                <a:latin typeface="Arial"/>
                <a:ea typeface="Arial"/>
              </a:rPr>
              <a:t>Static (Java, C++)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914400" y="1920240"/>
            <a:ext cx="3291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int age = 25;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"twenty"; // ERROR!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String name = "John";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914400" y="2834640"/>
            <a:ext cx="3291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Must declare types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4754880" y="1463040"/>
            <a:ext cx="3656880" cy="16452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7"/>
          <p:cNvSpPr/>
          <p:nvPr/>
        </p:nvSpPr>
        <p:spPr>
          <a:xfrm>
            <a:off x="4754880" y="1554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Dynamic (Python)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4937760" y="1920240"/>
            <a:ext cx="3291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25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"twenty"  # OK!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name = "John"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4937760" y="2834640"/>
            <a:ext cx="3291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No type declarations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1371600" y="3474720"/>
            <a:ext cx="6400080" cy="822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1"/>
          <p:cNvSpPr/>
          <p:nvPr/>
        </p:nvSpPr>
        <p:spPr>
          <a:xfrm>
            <a:off x="1554480" y="3657600"/>
            <a:ext cx="603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Benefits: Write code faster • More flexible • Easier experimentation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Core Feature #3: Robust Error Handling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05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06" name="Text 1"/>
          <p:cNvSpPr/>
          <p:nvPr/>
        </p:nvSpPr>
        <p:spPr>
          <a:xfrm>
            <a:off x="914400" y="9144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Python catches errors immediately to prevent data corruption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731520" y="1463040"/>
            <a:ext cx="3656880" cy="137088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3"/>
          <p:cNvSpPr/>
          <p:nvPr/>
        </p:nvSpPr>
        <p:spPr>
          <a:xfrm>
            <a:off x="731520" y="1554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74c3c"/>
                </a:solidFill>
                <a:latin typeface="Arial"/>
                <a:ea typeface="Arial"/>
              </a:rPr>
              <a:t>C/C++ (Unsafe)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914400" y="192024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int arr[5];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for(int i=0; i&lt;10; i++)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arr[i] = i;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// Corrupts memory!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4754880" y="1463040"/>
            <a:ext cx="3656880" cy="13708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6"/>
          <p:cNvSpPr/>
          <p:nvPr/>
        </p:nvSpPr>
        <p:spPr>
          <a:xfrm>
            <a:off x="4754880" y="1554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Python (Safe)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4937760" y="192024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arr = [0] * 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for i in range(10):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arr[i] = i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# IndexError!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914400" y="32004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Stops with clear error  ✓ Prevents corruption  ✓ Easier debugging  ✓ More stable apps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Core Feature #4: Multi-Paradigm Support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914400" y="12801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Procedural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1371600" y="1600200"/>
            <a:ext cx="6400080" cy="6393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3"/>
          <p:cNvSpPr/>
          <p:nvPr/>
        </p:nvSpPr>
        <p:spPr>
          <a:xfrm>
            <a:off x="1554480" y="1645920"/>
            <a:ext cx="6034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def calculate(x, y):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return x + 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result = calculate(5, 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914400" y="237744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Object-Oriented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1371600" y="2697480"/>
            <a:ext cx="6400080" cy="6393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6"/>
          <p:cNvSpPr/>
          <p:nvPr/>
        </p:nvSpPr>
        <p:spPr>
          <a:xfrm>
            <a:off x="1554480" y="2743200"/>
            <a:ext cx="6034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class Calculator: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def add(self, x, y):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return x + 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914400" y="34747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Functional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1371600" y="3794760"/>
            <a:ext cx="6400080" cy="6393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9"/>
          <p:cNvSpPr/>
          <p:nvPr/>
        </p:nvSpPr>
        <p:spPr>
          <a:xfrm>
            <a:off x="1554480" y="3840480"/>
            <a:ext cx="6034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result = list(map(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lambda x: x*2, [1,2,3]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))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1371600" y="420624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Choose the best approach for each problem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Core Feature #5: Cross-Platform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26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27" name="Text 1"/>
          <p:cNvSpPr/>
          <p:nvPr/>
        </p:nvSpPr>
        <p:spPr>
          <a:xfrm>
            <a:off x="914400" y="10058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306998"/>
                </a:solidFill>
                <a:latin typeface="Arial"/>
                <a:ea typeface="Arial"/>
              </a:rPr>
              <a:t>Write Once, Run Anywhere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28" name="Image 1" descr="preencoded.png"/>
          <p:cNvPicPr/>
          <p:nvPr/>
        </p:nvPicPr>
        <p:blipFill>
          <a:blip r:embed="rId2"/>
          <a:stretch/>
        </p:blipFill>
        <p:spPr>
          <a:xfrm>
            <a:off x="1828800" y="17830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29" name="Text 2"/>
          <p:cNvSpPr/>
          <p:nvPr/>
        </p:nvSpPr>
        <p:spPr>
          <a:xfrm>
            <a:off x="2377440" y="18288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Windows (10, 11, Server)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30" name="Image 2" descr="preencoded.png"/>
          <p:cNvPicPr/>
          <p:nvPr/>
        </p:nvPicPr>
        <p:blipFill>
          <a:blip r:embed="rId3"/>
          <a:stretch/>
        </p:blipFill>
        <p:spPr>
          <a:xfrm>
            <a:off x="1828800" y="22402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1" name="Text 3"/>
          <p:cNvSpPr/>
          <p:nvPr/>
        </p:nvSpPr>
        <p:spPr>
          <a:xfrm>
            <a:off x="2377440" y="22860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macOS (Intel &amp; Apple Silicon)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32" name="Image 3" descr="preencoded.png"/>
          <p:cNvPicPr/>
          <p:nvPr/>
        </p:nvPicPr>
        <p:blipFill>
          <a:blip r:embed="rId4"/>
          <a:stretch/>
        </p:blipFill>
        <p:spPr>
          <a:xfrm>
            <a:off x="1828800" y="26974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3" name="Text 4"/>
          <p:cNvSpPr/>
          <p:nvPr/>
        </p:nvSpPr>
        <p:spPr>
          <a:xfrm>
            <a:off x="2377440" y="27432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Linux (Ubuntu, CentOS, Fedora)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34" name="Image 4" descr="preencoded.png"/>
          <p:cNvPicPr/>
          <p:nvPr/>
        </p:nvPicPr>
        <p:blipFill>
          <a:blip r:embed="rId5"/>
          <a:stretch/>
        </p:blipFill>
        <p:spPr>
          <a:xfrm>
            <a:off x="1828800" y="31546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5" name="Text 5"/>
          <p:cNvSpPr/>
          <p:nvPr/>
        </p:nvSpPr>
        <p:spPr>
          <a:xfrm>
            <a:off x="2377440" y="32004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Raspberry Pi (IoT devices)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36" name="Image 5" descr="preencoded.png"/>
          <p:cNvPicPr/>
          <p:nvPr/>
        </p:nvPicPr>
        <p:blipFill>
          <a:blip r:embed="rId6"/>
          <a:stretch/>
        </p:blipFill>
        <p:spPr>
          <a:xfrm>
            <a:off x="1828800" y="36118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37" name="Text 6"/>
          <p:cNvSpPr/>
          <p:nvPr/>
        </p:nvSpPr>
        <p:spPr>
          <a:xfrm>
            <a:off x="2377440" y="36576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Cloud (AWS, Azure, Google Cloud)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1371600" y="3931920"/>
            <a:ext cx="6400080" cy="547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8"/>
          <p:cNvSpPr/>
          <p:nvPr/>
        </p:nvSpPr>
        <p:spPr>
          <a:xfrm>
            <a:off x="1371600" y="402336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Same code works everywhere - no changes required!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Career Paths with Python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4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42" name="Shape 1"/>
          <p:cNvSpPr/>
          <p:nvPr/>
        </p:nvSpPr>
        <p:spPr>
          <a:xfrm>
            <a:off x="731520" y="1280160"/>
            <a:ext cx="768024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2"/>
          <p:cNvSpPr/>
          <p:nvPr/>
        </p:nvSpPr>
        <p:spPr>
          <a:xfrm>
            <a:off x="914400" y="137160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Data Analyst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3383280" y="137160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$60k-80k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4937760" y="137160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Pandas, SQL, Excel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7315200" y="137160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Entry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731520" y="1920240"/>
            <a:ext cx="768024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7"/>
          <p:cNvSpPr/>
          <p:nvPr/>
        </p:nvSpPr>
        <p:spPr>
          <a:xfrm>
            <a:off x="914400" y="20116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Python Developer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3383280" y="201168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$65k-85k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4937760" y="20116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Django/Flask, Git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7315200" y="201168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Entry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731520" y="2560320"/>
            <a:ext cx="768024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12"/>
          <p:cNvSpPr/>
          <p:nvPr/>
        </p:nvSpPr>
        <p:spPr>
          <a:xfrm>
            <a:off x="914400" y="26517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Data Scientist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3383280" y="265176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$95k-130k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4937760" y="26517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ML, Statistics, Viz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7315200" y="265176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Mid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731520" y="3200400"/>
            <a:ext cx="768024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17"/>
          <p:cNvSpPr/>
          <p:nvPr/>
        </p:nvSpPr>
        <p:spPr>
          <a:xfrm>
            <a:off x="914400" y="32918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Backend Engineer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9" name="Text 18"/>
          <p:cNvSpPr/>
          <p:nvPr/>
        </p:nvSpPr>
        <p:spPr>
          <a:xfrm>
            <a:off x="3383280" y="329184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$100k-140k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4937760" y="32918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APIs, Databases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7315200" y="329184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Mid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731520" y="3840480"/>
            <a:ext cx="768024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2"/>
          <p:cNvSpPr/>
          <p:nvPr/>
        </p:nvSpPr>
        <p:spPr>
          <a:xfrm>
            <a:off x="914400" y="39319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ML Engineer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4" name="Text 23"/>
          <p:cNvSpPr/>
          <p:nvPr/>
        </p:nvSpPr>
        <p:spPr>
          <a:xfrm>
            <a:off x="3383280" y="393192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$110k-150k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5" name="Text 24"/>
          <p:cNvSpPr/>
          <p:nvPr/>
        </p:nvSpPr>
        <p:spPr>
          <a:xfrm>
            <a:off x="4937760" y="393192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TensorFlow, MLOps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6" name="Text 25"/>
          <p:cNvSpPr/>
          <p:nvPr/>
        </p:nvSpPr>
        <p:spPr>
          <a:xfrm>
            <a:off x="7315200" y="393192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Senior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7" name="Shape 26"/>
          <p:cNvSpPr/>
          <p:nvPr/>
        </p:nvSpPr>
        <p:spPr>
          <a:xfrm>
            <a:off x="731520" y="4480560"/>
            <a:ext cx="768024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27"/>
          <p:cNvSpPr/>
          <p:nvPr/>
        </p:nvSpPr>
        <p:spPr>
          <a:xfrm>
            <a:off x="914400" y="457200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Cloud Architect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9" name="Text 28"/>
          <p:cNvSpPr/>
          <p:nvPr/>
        </p:nvSpPr>
        <p:spPr>
          <a:xfrm>
            <a:off x="3383280" y="457200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$105k-135k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Text 29"/>
          <p:cNvSpPr/>
          <p:nvPr/>
        </p:nvSpPr>
        <p:spPr>
          <a:xfrm>
            <a:off x="4937760" y="457200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AWS/Azure, IaC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1" name="Text 30"/>
          <p:cNvSpPr/>
          <p:nvPr/>
        </p:nvSpPr>
        <p:spPr>
          <a:xfrm>
            <a:off x="7315200" y="457200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Arial"/>
                <a:ea typeface="Arial"/>
              </a:rPr>
              <a:t>Senior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Essential Tools to Install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73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74" name="Shape 1"/>
          <p:cNvSpPr/>
          <p:nvPr/>
        </p:nvSpPr>
        <p:spPr>
          <a:xfrm>
            <a:off x="914400" y="1371600"/>
            <a:ext cx="7314480" cy="730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5" name="Image 1" descr="preencoded.png"/>
          <p:cNvPicPr/>
          <p:nvPr/>
        </p:nvPicPr>
        <p:blipFill>
          <a:blip r:embed="rId2"/>
          <a:stretch/>
        </p:blipFill>
        <p:spPr>
          <a:xfrm>
            <a:off x="1188720" y="15087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76" name="Text 2"/>
          <p:cNvSpPr/>
          <p:nvPr/>
        </p:nvSpPr>
        <p:spPr>
          <a:xfrm>
            <a:off x="1828800" y="150876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Python 3.11+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7" name="Text 3"/>
          <p:cNvSpPr/>
          <p:nvPr/>
        </p:nvSpPr>
        <p:spPr>
          <a:xfrm>
            <a:off x="1828800" y="1783080"/>
            <a:ext cx="6217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Download from python.org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914400" y="2240280"/>
            <a:ext cx="7314480" cy="730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9" name="Image 2" descr="preencoded.png"/>
          <p:cNvPicPr/>
          <p:nvPr/>
        </p:nvPicPr>
        <p:blipFill>
          <a:blip r:embed="rId3"/>
          <a:stretch/>
        </p:blipFill>
        <p:spPr>
          <a:xfrm>
            <a:off x="1188720" y="237744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80" name="Text 5"/>
          <p:cNvSpPr/>
          <p:nvPr/>
        </p:nvSpPr>
        <p:spPr>
          <a:xfrm>
            <a:off x="1828800" y="237744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VS Code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1828800" y="2651760"/>
            <a:ext cx="6217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Free, powerful code editor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914400" y="3108960"/>
            <a:ext cx="7314480" cy="730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3" name="Image 3" descr="preencoded.png"/>
          <p:cNvPicPr/>
          <p:nvPr/>
        </p:nvPicPr>
        <p:blipFill>
          <a:blip r:embed="rId4"/>
          <a:stretch/>
        </p:blipFill>
        <p:spPr>
          <a:xfrm>
            <a:off x="1188720" y="324612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84" name="Text 8"/>
          <p:cNvSpPr/>
          <p:nvPr/>
        </p:nvSpPr>
        <p:spPr>
          <a:xfrm>
            <a:off x="1828800" y="324612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pip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5" name="Text 9"/>
          <p:cNvSpPr/>
          <p:nvPr/>
        </p:nvSpPr>
        <p:spPr>
          <a:xfrm>
            <a:off x="1828800" y="3520440"/>
            <a:ext cx="6217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Package manager (comes with Python)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Shape 10"/>
          <p:cNvSpPr/>
          <p:nvPr/>
        </p:nvSpPr>
        <p:spPr>
          <a:xfrm>
            <a:off x="914400" y="3977640"/>
            <a:ext cx="7314480" cy="730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7" name="Image 4" descr="preencoded.png"/>
          <p:cNvPicPr/>
          <p:nvPr/>
        </p:nvPicPr>
        <p:blipFill>
          <a:blip r:embed="rId5"/>
          <a:stretch/>
        </p:blipFill>
        <p:spPr>
          <a:xfrm>
            <a:off x="1188720" y="411480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88" name="Text 11"/>
          <p:cNvSpPr/>
          <p:nvPr/>
        </p:nvSpPr>
        <p:spPr>
          <a:xfrm>
            <a:off x="1828800" y="411480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Git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1828800" y="4389120"/>
            <a:ext cx="6217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Version control system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Key Takeaways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9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pic>
        <p:nvPicPr>
          <p:cNvPr id="292" name="Image 1" descr="preencoded.png"/>
          <p:cNvPicPr/>
          <p:nvPr/>
        </p:nvPicPr>
        <p:blipFill>
          <a:blip r:embed="rId2"/>
          <a:stretch/>
        </p:blipFill>
        <p:spPr>
          <a:xfrm>
            <a:off x="1097280" y="13258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93" name="Text 1"/>
          <p:cNvSpPr/>
          <p:nvPr/>
        </p:nvSpPr>
        <p:spPr>
          <a:xfrm>
            <a:off x="1645920" y="13716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Programming skills are essential in 2026 job market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94" name="Image 2" descr="preencoded.png"/>
          <p:cNvPicPr/>
          <p:nvPr/>
        </p:nvPicPr>
        <p:blipFill>
          <a:blip r:embed="rId3"/>
          <a:stretch/>
        </p:blipFill>
        <p:spPr>
          <a:xfrm>
            <a:off x="1097280" y="18745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95" name="Text 2"/>
          <p:cNvSpPr/>
          <p:nvPr/>
        </p:nvSpPr>
        <p:spPr>
          <a:xfrm>
            <a:off x="1645920" y="192024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Python is the #1 choice for beginners and professionals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96" name="Image 3" descr="preencoded.png"/>
          <p:cNvPicPr/>
          <p:nvPr/>
        </p:nvPicPr>
        <p:blipFill>
          <a:blip r:embed="rId4"/>
          <a:stretch/>
        </p:blipFill>
        <p:spPr>
          <a:xfrm>
            <a:off x="1097280" y="24231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97" name="Text 3"/>
          <p:cNvSpPr/>
          <p:nvPr/>
        </p:nvSpPr>
        <p:spPr>
          <a:xfrm>
            <a:off x="1645920" y="2468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Simple syntax, dynamic typing, robust error handling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98" name="Image 4" descr="preencoded.png"/>
          <p:cNvPicPr/>
          <p:nvPr/>
        </p:nvPicPr>
        <p:blipFill>
          <a:blip r:embed="rId5"/>
          <a:stretch/>
        </p:blipFill>
        <p:spPr>
          <a:xfrm>
            <a:off x="1097280" y="29718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99" name="Text 4"/>
          <p:cNvSpPr/>
          <p:nvPr/>
        </p:nvSpPr>
        <p:spPr>
          <a:xfrm>
            <a:off x="1645920" y="3017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Used across industries: Web, Data, AI, Automation, Cloud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300" name="Image 5" descr="preencoded.png"/>
          <p:cNvPicPr/>
          <p:nvPr/>
        </p:nvPicPr>
        <p:blipFill>
          <a:blip r:embed="rId6"/>
          <a:stretch/>
        </p:blipFill>
        <p:spPr>
          <a:xfrm>
            <a:off x="1097280" y="35204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301" name="Text 5"/>
          <p:cNvSpPr/>
          <p:nvPr/>
        </p:nvSpPr>
        <p:spPr>
          <a:xfrm>
            <a:off x="1645920" y="35661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Career paths: $60k-150k salary range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302" name="Image 6" descr="preencoded.png"/>
          <p:cNvPicPr/>
          <p:nvPr/>
        </p:nvPicPr>
        <p:blipFill>
          <a:blip r:embed="rId7"/>
          <a:stretch/>
        </p:blipFill>
        <p:spPr>
          <a:xfrm>
            <a:off x="1097280" y="40690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303" name="Text 6"/>
          <p:cNvSpPr/>
          <p:nvPr/>
        </p:nvSpPr>
        <p:spPr>
          <a:xfrm>
            <a:off x="1645920" y="4114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6-month learning path to job-ready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1371600" y="4114800"/>
            <a:ext cx="6400080" cy="547920"/>
          </a:xfrm>
          <a:prstGeom prst="rect">
            <a:avLst/>
          </a:prstGeom>
          <a:solidFill>
            <a:srgbClr val="ffd43b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8"/>
          <p:cNvSpPr/>
          <p:nvPr/>
        </p:nvSpPr>
        <p:spPr>
          <a:xfrm>
            <a:off x="1371600" y="420624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Arial"/>
                <a:ea typeface="Arial"/>
              </a:rPr>
              <a:t>Start your Python journey today!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Image 0" descr="preencoded.png"/>
          <p:cNvPicPr/>
          <p:nvPr/>
        </p:nvPicPr>
        <p:blipFill>
          <a:blip r:embed="rId1"/>
          <a:stretch/>
        </p:blipFill>
        <p:spPr>
          <a:xfrm>
            <a:off x="3840480" y="11887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307" name="Text 0"/>
          <p:cNvSpPr/>
          <p:nvPr/>
        </p:nvSpPr>
        <p:spPr>
          <a:xfrm>
            <a:off x="457200" y="2926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d43b"/>
                </a:solidFill>
                <a:latin typeface="Arial"/>
                <a:ea typeface="Arial"/>
              </a:rPr>
              <a:t>Ready to Start?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1371600" y="365760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1. Install Python 3.11+ on your computer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>
            <a:off x="1371600" y="395028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2. Set up VS Code or your preferred editor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1371600" y="424296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3. Write your first program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1" name="Text 4"/>
          <p:cNvSpPr/>
          <p:nvPr/>
        </p:nvSpPr>
        <p:spPr>
          <a:xfrm>
            <a:off x="1371600" y="453528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4. Join a Python community (Reddit, Discord)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2" name="Text 5"/>
          <p:cNvSpPr/>
          <p:nvPr/>
        </p:nvSpPr>
        <p:spPr>
          <a:xfrm>
            <a:off x="1371600" y="482796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5. Start learning with free resources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3840480" y="16459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314" name="Text 0"/>
          <p:cNvSpPr/>
          <p:nvPr/>
        </p:nvSpPr>
        <p:spPr>
          <a:xfrm>
            <a:off x="457200" y="33832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d43b"/>
                </a:solidFill>
                <a:latin typeface="Arial"/>
                <a:ea typeface="Arial"/>
              </a:rPr>
              <a:t>Thank You!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41148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Next: Lesson 2 - Python Installation &amp; Setup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2026-01-30T11:32:47Z</dcterms:created>
  <dc:creator>Python Training</dc:creator>
  <dc:description/>
  <dc:language>en-IN</dc:language>
  <cp:lastModifiedBy/>
  <dcterms:modified xsi:type="dcterms:W3CDTF">2026-01-30T22:39:46Z</dcterms:modified>
  <cp:revision>3</cp:revision>
  <dc:subject>PptxGenJS Presentation</dc:subject>
  <dc:title>Python for Professionals -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