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8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9.png" ContentType="image/png"/>
  <Override PartName="/ppt/media/image1.png" ContentType="image/png"/>
  <Override PartName="/ppt/media/image3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media/image4.png" ContentType="image/png"/>
  <Override PartName="/ppt/media/image5.png" ContentType="image/png"/>
  <Override PartName="/ppt/media/image10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19AB655-4EAA-4779-A029-8FEECA7A61E6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F6B73C5-F499-4B77-9F12-42F52723546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268A704-A360-4F56-AEFD-C2212FD41BB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560464C-D7F8-464F-90E3-E26336BEB4C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22ABCE2-707F-4657-92A6-E40AC04E992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D4BFAE9-9B55-46ED-AFF7-243AA4C90B3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BABC8D3-5218-4A26-B1BD-E78E1E6993D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BD710EF-FED6-41A1-A7CC-61FDB3F803E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6C0930F-65B2-4174-91CC-83740596FB7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4D33E75-4D0F-47BE-BAE4-1443E8C0247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C737C30-C4E6-48B6-AE36-12690336041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C289FA6-E6CD-477B-BEE3-C932C912428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53EC181-E805-4DCB-BBB0-75F2F1D0719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86E9D01-4743-4852-9C5F-03AAC41586D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2D2D9E4-5FA9-4D93-9BD6-A2573A33A9C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69E6EC4-140E-431F-B64A-C12137782F0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860DDAB-3EC1-4390-B071-077210140DC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</a:t>
            </a:r>
            <a:r>
              <a:rPr b="0" lang="en-IN" sz="4400" spc="-1" strike="noStrike">
                <a:latin typeface="Arial"/>
              </a:rPr>
              <a:t>l</a:t>
            </a:r>
            <a:r>
              <a:rPr b="0" lang="en-IN" sz="4400" spc="-1" strike="noStrike">
                <a:latin typeface="Arial"/>
              </a:rPr>
              <a:t>i</a:t>
            </a:r>
            <a:r>
              <a:rPr b="0" lang="en-IN" sz="4400" spc="-1" strike="noStrike">
                <a:latin typeface="Arial"/>
              </a:rPr>
              <a:t>c</a:t>
            </a:r>
            <a:r>
              <a:rPr b="0" lang="en-IN" sz="4400" spc="-1" strike="noStrike">
                <a:latin typeface="Arial"/>
              </a:rPr>
              <a:t>k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o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e</a:t>
            </a:r>
            <a:r>
              <a:rPr b="0" lang="en-IN" sz="4400" spc="-1" strike="noStrike">
                <a:latin typeface="Arial"/>
              </a:rPr>
              <a:t>d</a:t>
            </a:r>
            <a:r>
              <a:rPr b="0" lang="en-IN" sz="4400" spc="-1" strike="noStrike">
                <a:latin typeface="Arial"/>
              </a:rPr>
              <a:t>i</a:t>
            </a:r>
            <a:r>
              <a:rPr b="0" lang="en-IN" sz="4400" spc="-1" strike="noStrike">
                <a:latin typeface="Arial"/>
              </a:rPr>
              <a:t>t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h</a:t>
            </a:r>
            <a:r>
              <a:rPr b="0" lang="en-IN" sz="4400" spc="-1" strike="noStrike">
                <a:latin typeface="Arial"/>
              </a:rPr>
              <a:t>e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i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l</a:t>
            </a:r>
            <a:r>
              <a:rPr b="0" lang="en-IN" sz="4400" spc="-1" strike="noStrike">
                <a:latin typeface="Arial"/>
              </a:rPr>
              <a:t>e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e</a:t>
            </a:r>
            <a:r>
              <a:rPr b="0" lang="en-IN" sz="4400" spc="-1" strike="noStrike">
                <a:latin typeface="Arial"/>
              </a:rPr>
              <a:t>x</a:t>
            </a:r>
            <a:r>
              <a:rPr b="0" lang="en-IN" sz="4400" spc="-1" strike="noStrike">
                <a:latin typeface="Arial"/>
              </a:rPr>
              <a:t>t </a:t>
            </a:r>
            <a:r>
              <a:rPr b="0" lang="en-IN" sz="4400" spc="-1" strike="noStrike">
                <a:latin typeface="Arial"/>
              </a:rPr>
              <a:t>f</a:t>
            </a:r>
            <a:r>
              <a:rPr b="0" lang="en-IN" sz="4400" spc="-1" strike="noStrike">
                <a:latin typeface="Arial"/>
              </a:rPr>
              <a:t>o</a:t>
            </a:r>
            <a:r>
              <a:rPr b="0" lang="en-IN" sz="4400" spc="-1" strike="noStrike">
                <a:latin typeface="Arial"/>
              </a:rPr>
              <a:t>r</a:t>
            </a:r>
            <a:r>
              <a:rPr b="0" lang="en-IN" sz="4400" spc="-1" strike="noStrike">
                <a:latin typeface="Arial"/>
              </a:rPr>
              <a:t>m</a:t>
            </a:r>
            <a:r>
              <a:rPr b="0" lang="en-IN" sz="4400" spc="-1" strike="noStrike">
                <a:latin typeface="Arial"/>
              </a:rPr>
              <a:t>a</a:t>
            </a:r>
            <a:r>
              <a:rPr b="0" lang="en-IN" sz="4400" spc="-1" strike="noStrike">
                <a:latin typeface="Arial"/>
              </a:rPr>
              <a:t>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preencoded.png"/>
          <p:cNvPicPr/>
          <p:nvPr/>
        </p:nvPicPr>
        <p:blipFill>
          <a:blip r:embed="rId1"/>
          <a:stretch/>
        </p:blipFill>
        <p:spPr>
          <a:xfrm>
            <a:off x="3840480" y="1188720"/>
            <a:ext cx="1462320" cy="1462320"/>
          </a:xfrm>
          <a:prstGeom prst="rect">
            <a:avLst/>
          </a:prstGeom>
          <a:ln w="0">
            <a:noFill/>
          </a:ln>
        </p:spPr>
      </p:pic>
      <p:sp>
        <p:nvSpPr>
          <p:cNvPr id="45" name="Text 0"/>
          <p:cNvSpPr/>
          <p:nvPr/>
        </p:nvSpPr>
        <p:spPr>
          <a:xfrm>
            <a:off x="457200" y="2926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Arial"/>
                <a:ea typeface="Arial"/>
              </a:rPr>
              <a:t>Python Training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457200" y="36576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d43b"/>
                </a:solidFill>
                <a:latin typeface="Arial"/>
                <a:ea typeface="Arial"/>
              </a:rPr>
              <a:t>Version History, Downloading and Installing Python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457200" y="429768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ccccc"/>
                </a:solidFill>
                <a:latin typeface="Arial"/>
                <a:ea typeface="Arial"/>
              </a:rPr>
              <a:t>Lesson 2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Today's Agenda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49" name="Shape 1"/>
          <p:cNvSpPr/>
          <p:nvPr/>
        </p:nvSpPr>
        <p:spPr>
          <a:xfrm>
            <a:off x="914400" y="1143000"/>
            <a:ext cx="365040" cy="365040"/>
          </a:xfrm>
          <a:prstGeom prst="ellipse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2"/>
          <p:cNvSpPr/>
          <p:nvPr/>
        </p:nvSpPr>
        <p:spPr>
          <a:xfrm>
            <a:off x="914400" y="114300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1463040" y="11887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2c3e50"/>
                </a:solidFill>
                <a:latin typeface="Arial"/>
                <a:ea typeface="Arial"/>
              </a:rPr>
              <a:t>Version History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" name="Shape 4"/>
          <p:cNvSpPr/>
          <p:nvPr/>
        </p:nvSpPr>
        <p:spPr>
          <a:xfrm>
            <a:off x="914400" y="1691640"/>
            <a:ext cx="365040" cy="365040"/>
          </a:xfrm>
          <a:prstGeom prst="ellipse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5"/>
          <p:cNvSpPr/>
          <p:nvPr/>
        </p:nvSpPr>
        <p:spPr>
          <a:xfrm>
            <a:off x="914400" y="169164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1463040" y="173736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2c3e50"/>
                </a:solidFill>
                <a:latin typeface="Arial"/>
                <a:ea typeface="Arial"/>
              </a:rPr>
              <a:t>Python 2 vs Python 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5" name="Shape 7"/>
          <p:cNvSpPr/>
          <p:nvPr/>
        </p:nvSpPr>
        <p:spPr>
          <a:xfrm>
            <a:off x="914400" y="2240280"/>
            <a:ext cx="365040" cy="365040"/>
          </a:xfrm>
          <a:prstGeom prst="ellipse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8"/>
          <p:cNvSpPr/>
          <p:nvPr/>
        </p:nvSpPr>
        <p:spPr>
          <a:xfrm>
            <a:off x="914400" y="224028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1463040" y="228600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2c3e50"/>
                </a:solidFill>
                <a:latin typeface="Arial"/>
                <a:ea typeface="Arial"/>
              </a:rPr>
              <a:t>Different Python Implementations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" name="Shape 10"/>
          <p:cNvSpPr/>
          <p:nvPr/>
        </p:nvSpPr>
        <p:spPr>
          <a:xfrm>
            <a:off x="914400" y="2788920"/>
            <a:ext cx="365040" cy="365040"/>
          </a:xfrm>
          <a:prstGeom prst="ellipse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11"/>
          <p:cNvSpPr/>
          <p:nvPr/>
        </p:nvSpPr>
        <p:spPr>
          <a:xfrm>
            <a:off x="914400" y="278892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1463040" y="283464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2c3e50"/>
                </a:solidFill>
                <a:latin typeface="Arial"/>
                <a:ea typeface="Arial"/>
              </a:rPr>
              <a:t>Downloading and Installing Python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" name="Shape 13"/>
          <p:cNvSpPr/>
          <p:nvPr/>
        </p:nvSpPr>
        <p:spPr>
          <a:xfrm>
            <a:off x="914400" y="3337560"/>
            <a:ext cx="365040" cy="365040"/>
          </a:xfrm>
          <a:prstGeom prst="ellipse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14"/>
          <p:cNvSpPr/>
          <p:nvPr/>
        </p:nvSpPr>
        <p:spPr>
          <a:xfrm>
            <a:off x="914400" y="333756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" name="Text 15"/>
          <p:cNvSpPr/>
          <p:nvPr/>
        </p:nvSpPr>
        <p:spPr>
          <a:xfrm>
            <a:off x="1463040" y="33832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2c3e50"/>
                </a:solidFill>
                <a:latin typeface="Arial"/>
                <a:ea typeface="Arial"/>
              </a:rPr>
              <a:t>Testing Python Installation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457200" y="274320"/>
            <a:ext cx="5485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Python Version History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65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66" name="Shape 1"/>
          <p:cNvSpPr/>
          <p:nvPr/>
        </p:nvSpPr>
        <p:spPr>
          <a:xfrm>
            <a:off x="914400" y="1280160"/>
            <a:ext cx="7314480" cy="456480"/>
          </a:xfrm>
          <a:prstGeom prst="rect">
            <a:avLst/>
          </a:prstGeom>
          <a:solidFill>
            <a:srgbClr val="ffd43b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2"/>
          <p:cNvSpPr/>
          <p:nvPr/>
        </p:nvSpPr>
        <p:spPr>
          <a:xfrm>
            <a:off x="1097280" y="1325880"/>
            <a:ext cx="913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1991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8" name="Text 3"/>
          <p:cNvSpPr/>
          <p:nvPr/>
        </p:nvSpPr>
        <p:spPr>
          <a:xfrm>
            <a:off x="2286000" y="1325880"/>
            <a:ext cx="137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0.9.0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9" name="Text 4"/>
          <p:cNvSpPr/>
          <p:nvPr/>
        </p:nvSpPr>
        <p:spPr>
          <a:xfrm>
            <a:off x="3840480" y="132588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First Release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0" name="Shape 5"/>
          <p:cNvSpPr/>
          <p:nvPr/>
        </p:nvSpPr>
        <p:spPr>
          <a:xfrm>
            <a:off x="914400" y="1828800"/>
            <a:ext cx="731448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6"/>
          <p:cNvSpPr/>
          <p:nvPr/>
        </p:nvSpPr>
        <p:spPr>
          <a:xfrm>
            <a:off x="1097280" y="1874520"/>
            <a:ext cx="913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666666"/>
                </a:solidFill>
                <a:latin typeface="Arial"/>
                <a:ea typeface="Arial"/>
              </a:rPr>
              <a:t>1994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2286000" y="1874520"/>
            <a:ext cx="137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1.0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3" name="Text 8"/>
          <p:cNvSpPr/>
          <p:nvPr/>
        </p:nvSpPr>
        <p:spPr>
          <a:xfrm>
            <a:off x="3840480" y="187452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666666"/>
                </a:solidFill>
                <a:latin typeface="Arial"/>
                <a:ea typeface="Arial"/>
              </a:rPr>
              <a:t>Python 1.0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4" name="Shape 9"/>
          <p:cNvSpPr/>
          <p:nvPr/>
        </p:nvSpPr>
        <p:spPr>
          <a:xfrm>
            <a:off x="914400" y="2377440"/>
            <a:ext cx="731448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10"/>
          <p:cNvSpPr/>
          <p:nvPr/>
        </p:nvSpPr>
        <p:spPr>
          <a:xfrm>
            <a:off x="1097280" y="2423160"/>
            <a:ext cx="913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666666"/>
                </a:solidFill>
                <a:latin typeface="Arial"/>
                <a:ea typeface="Arial"/>
              </a:rPr>
              <a:t>2000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6" name="Text 11"/>
          <p:cNvSpPr/>
          <p:nvPr/>
        </p:nvSpPr>
        <p:spPr>
          <a:xfrm>
            <a:off x="2286000" y="2423160"/>
            <a:ext cx="137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2.0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7" name="Text 12"/>
          <p:cNvSpPr/>
          <p:nvPr/>
        </p:nvSpPr>
        <p:spPr>
          <a:xfrm>
            <a:off x="3840480" y="242316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666666"/>
                </a:solidFill>
                <a:latin typeface="Arial"/>
                <a:ea typeface="Arial"/>
              </a:rPr>
              <a:t>Python 2.0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8" name="Shape 13"/>
          <p:cNvSpPr/>
          <p:nvPr/>
        </p:nvSpPr>
        <p:spPr>
          <a:xfrm>
            <a:off x="914400" y="2926080"/>
            <a:ext cx="7314480" cy="456480"/>
          </a:xfrm>
          <a:prstGeom prst="rect">
            <a:avLst/>
          </a:prstGeom>
          <a:solidFill>
            <a:srgbClr val="ffd43b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 14"/>
          <p:cNvSpPr/>
          <p:nvPr/>
        </p:nvSpPr>
        <p:spPr>
          <a:xfrm>
            <a:off x="1097280" y="2971800"/>
            <a:ext cx="913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2008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0" name="Text 15"/>
          <p:cNvSpPr/>
          <p:nvPr/>
        </p:nvSpPr>
        <p:spPr>
          <a:xfrm>
            <a:off x="2286000" y="2971800"/>
            <a:ext cx="137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3.0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1" name="Text 16"/>
          <p:cNvSpPr/>
          <p:nvPr/>
        </p:nvSpPr>
        <p:spPr>
          <a:xfrm>
            <a:off x="3840480" y="297180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Python 3.0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2" name="Shape 17"/>
          <p:cNvSpPr/>
          <p:nvPr/>
        </p:nvSpPr>
        <p:spPr>
          <a:xfrm>
            <a:off x="914400" y="3474720"/>
            <a:ext cx="731448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 18"/>
          <p:cNvSpPr/>
          <p:nvPr/>
        </p:nvSpPr>
        <p:spPr>
          <a:xfrm>
            <a:off x="1097280" y="3520440"/>
            <a:ext cx="913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666666"/>
                </a:solidFill>
                <a:latin typeface="Arial"/>
                <a:ea typeface="Arial"/>
              </a:rPr>
              <a:t>2010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4" name="Text 19"/>
          <p:cNvSpPr/>
          <p:nvPr/>
        </p:nvSpPr>
        <p:spPr>
          <a:xfrm>
            <a:off x="2286000" y="3520440"/>
            <a:ext cx="137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2.7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5" name="Text 20"/>
          <p:cNvSpPr/>
          <p:nvPr/>
        </p:nvSpPr>
        <p:spPr>
          <a:xfrm>
            <a:off x="3840480" y="352044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666666"/>
                </a:solidFill>
                <a:latin typeface="Arial"/>
                <a:ea typeface="Arial"/>
              </a:rPr>
              <a:t>Python 2.7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6" name="Shape 21"/>
          <p:cNvSpPr/>
          <p:nvPr/>
        </p:nvSpPr>
        <p:spPr>
          <a:xfrm>
            <a:off x="914400" y="4023360"/>
            <a:ext cx="7314480" cy="456480"/>
          </a:xfrm>
          <a:prstGeom prst="rect">
            <a:avLst/>
          </a:prstGeom>
          <a:solidFill>
            <a:srgbClr val="ffd43b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22"/>
          <p:cNvSpPr/>
          <p:nvPr/>
        </p:nvSpPr>
        <p:spPr>
          <a:xfrm>
            <a:off x="1097280" y="4069080"/>
            <a:ext cx="913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2026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8" name="Text 23"/>
          <p:cNvSpPr/>
          <p:nvPr/>
        </p:nvSpPr>
        <p:spPr>
          <a:xfrm>
            <a:off x="2286000" y="4069080"/>
            <a:ext cx="137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3.13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9" name="Text 24"/>
          <p:cNvSpPr/>
          <p:nvPr/>
        </p:nvSpPr>
        <p:spPr>
          <a:xfrm>
            <a:off x="3840480" y="406908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Current Era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Python 2 vs Python 3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91" name="Shape 1"/>
          <p:cNvSpPr/>
          <p:nvPr/>
        </p:nvSpPr>
        <p:spPr>
          <a:xfrm>
            <a:off x="731520" y="1097280"/>
            <a:ext cx="3656880" cy="3474000"/>
          </a:xfrm>
          <a:prstGeom prst="rect">
            <a:avLst/>
          </a:prstGeom>
          <a:solidFill>
            <a:srgbClr val="ffe6e6"/>
          </a:solidFill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2"/>
          <p:cNvSpPr/>
          <p:nvPr/>
        </p:nvSpPr>
        <p:spPr>
          <a:xfrm>
            <a:off x="731520" y="118872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e74c3c"/>
                </a:solidFill>
                <a:latin typeface="Arial"/>
                <a:ea typeface="Arial"/>
              </a:rPr>
              <a:t>Python 2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93" name="Image 0" descr="preencoded.png"/>
          <p:cNvPicPr/>
          <p:nvPr/>
        </p:nvPicPr>
        <p:blipFill>
          <a:blip r:embed="rId1"/>
          <a:stretch/>
        </p:blipFill>
        <p:spPr>
          <a:xfrm>
            <a:off x="2286000" y="173736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94" name="Text 3"/>
          <p:cNvSpPr/>
          <p:nvPr/>
        </p:nvSpPr>
        <p:spPr>
          <a:xfrm>
            <a:off x="914400" y="2286000"/>
            <a:ext cx="329112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Retired: Jan 1, 2020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Final version: 2.7.18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Courier New"/>
                <a:ea typeface="Courier New"/>
              </a:rPr>
              <a:t>print "Hello"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Courier New"/>
                <a:ea typeface="Courier New"/>
              </a:rPr>
              <a:t>5/2 → 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5" name="Shape 4"/>
          <p:cNvSpPr/>
          <p:nvPr/>
        </p:nvSpPr>
        <p:spPr>
          <a:xfrm>
            <a:off x="4754880" y="1097280"/>
            <a:ext cx="3656880" cy="3474000"/>
          </a:xfrm>
          <a:prstGeom prst="rect">
            <a:avLst/>
          </a:prstGeom>
          <a:solidFill>
            <a:srgbClr val="e6f7ff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5"/>
          <p:cNvSpPr/>
          <p:nvPr/>
        </p:nvSpPr>
        <p:spPr>
          <a:xfrm>
            <a:off x="4754880" y="118872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7ae60"/>
                </a:solidFill>
                <a:latin typeface="Arial"/>
                <a:ea typeface="Arial"/>
              </a:rPr>
              <a:t>Python 3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97" name="Image 1" descr="preencoded.png"/>
          <p:cNvPicPr/>
          <p:nvPr/>
        </p:nvPicPr>
        <p:blipFill>
          <a:blip r:embed="rId2"/>
          <a:stretch/>
        </p:blipFill>
        <p:spPr>
          <a:xfrm>
            <a:off x="6309360" y="173736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98" name="Text 6"/>
          <p:cNvSpPr/>
          <p:nvPr/>
        </p:nvSpPr>
        <p:spPr>
          <a:xfrm>
            <a:off x="4937760" y="2286000"/>
            <a:ext cx="329112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Current standard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Latest: 3.13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Courier New"/>
                <a:ea typeface="Courier New"/>
              </a:rPr>
              <a:t>print("Hello")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Courier New"/>
                <a:ea typeface="Courier New"/>
              </a:rPr>
              <a:t>5/2 → 2.5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9" name="Shape 7"/>
          <p:cNvSpPr/>
          <p:nvPr/>
        </p:nvSpPr>
        <p:spPr>
          <a:xfrm>
            <a:off x="1371600" y="4754880"/>
            <a:ext cx="6400080" cy="13644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8"/>
          <p:cNvSpPr/>
          <p:nvPr/>
        </p:nvSpPr>
        <p:spPr>
          <a:xfrm>
            <a:off x="457200" y="43891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67e22"/>
                </a:solidFill>
                <a:latin typeface="Arial"/>
                <a:ea typeface="Arial"/>
              </a:rPr>
              <a:t>⚠ </a:t>
            </a:r>
            <a:r>
              <a:rPr b="1" lang="en-US" sz="1400" spc="-1" strike="noStrike">
                <a:solidFill>
                  <a:srgbClr val="e67e22"/>
                </a:solidFill>
                <a:latin typeface="Arial"/>
                <a:ea typeface="Arial"/>
              </a:rPr>
              <a:t>Not Backward Compatible - Python 2 code will NOT run on Python 3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Key Differences Between Python 2 &amp; 3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02" name="Shape 1"/>
          <p:cNvSpPr/>
          <p:nvPr/>
        </p:nvSpPr>
        <p:spPr>
          <a:xfrm>
            <a:off x="731520" y="1371600"/>
            <a:ext cx="2285280" cy="54792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2"/>
          <p:cNvSpPr/>
          <p:nvPr/>
        </p:nvSpPr>
        <p:spPr>
          <a:xfrm>
            <a:off x="822960" y="1463040"/>
            <a:ext cx="2102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Print Statement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4" name="Shape 3"/>
          <p:cNvSpPr/>
          <p:nvPr/>
        </p:nvSpPr>
        <p:spPr>
          <a:xfrm>
            <a:off x="3200400" y="1371600"/>
            <a:ext cx="2559600" cy="547920"/>
          </a:xfrm>
          <a:prstGeom prst="rect">
            <a:avLst/>
          </a:prstGeom>
          <a:solidFill>
            <a:srgbClr val="ffe6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4"/>
          <p:cNvSpPr/>
          <p:nvPr/>
        </p:nvSpPr>
        <p:spPr>
          <a:xfrm>
            <a:off x="3291840" y="146304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74c3c"/>
                </a:solidFill>
                <a:latin typeface="Courier New"/>
                <a:ea typeface="Courier New"/>
              </a:rPr>
              <a:t>print "text"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6" name="Shape 5"/>
          <p:cNvSpPr/>
          <p:nvPr/>
        </p:nvSpPr>
        <p:spPr>
          <a:xfrm>
            <a:off x="5943600" y="1371600"/>
            <a:ext cx="2559600" cy="547920"/>
          </a:xfrm>
          <a:prstGeom prst="rect">
            <a:avLst/>
          </a:prstGeom>
          <a:solidFill>
            <a:srgbClr val="e6f7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6"/>
          <p:cNvSpPr/>
          <p:nvPr/>
        </p:nvSpPr>
        <p:spPr>
          <a:xfrm>
            <a:off x="6035040" y="146304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7ae60"/>
                </a:solidFill>
                <a:latin typeface="Courier New"/>
                <a:ea typeface="Courier New"/>
              </a:rPr>
              <a:t>print("text")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8" name="Shape 7"/>
          <p:cNvSpPr/>
          <p:nvPr/>
        </p:nvSpPr>
        <p:spPr>
          <a:xfrm>
            <a:off x="731520" y="2103120"/>
            <a:ext cx="2285280" cy="54792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8"/>
          <p:cNvSpPr/>
          <p:nvPr/>
        </p:nvSpPr>
        <p:spPr>
          <a:xfrm>
            <a:off x="822960" y="2194560"/>
            <a:ext cx="2102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Division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0" name="Shape 9"/>
          <p:cNvSpPr/>
          <p:nvPr/>
        </p:nvSpPr>
        <p:spPr>
          <a:xfrm>
            <a:off x="3200400" y="2103120"/>
            <a:ext cx="2559600" cy="547920"/>
          </a:xfrm>
          <a:prstGeom prst="rect">
            <a:avLst/>
          </a:prstGeom>
          <a:solidFill>
            <a:srgbClr val="ffe6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10"/>
          <p:cNvSpPr/>
          <p:nvPr/>
        </p:nvSpPr>
        <p:spPr>
          <a:xfrm>
            <a:off x="3291840" y="219456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74c3c"/>
                </a:solidFill>
                <a:latin typeface="Courier New"/>
                <a:ea typeface="Courier New"/>
              </a:rPr>
              <a:t>5/2 → 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2" name="Shape 11"/>
          <p:cNvSpPr/>
          <p:nvPr/>
        </p:nvSpPr>
        <p:spPr>
          <a:xfrm>
            <a:off x="5943600" y="2103120"/>
            <a:ext cx="2559600" cy="547920"/>
          </a:xfrm>
          <a:prstGeom prst="rect">
            <a:avLst/>
          </a:prstGeom>
          <a:solidFill>
            <a:srgbClr val="e6f7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12"/>
          <p:cNvSpPr/>
          <p:nvPr/>
        </p:nvSpPr>
        <p:spPr>
          <a:xfrm>
            <a:off x="6035040" y="219456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7ae60"/>
                </a:solidFill>
                <a:latin typeface="Courier New"/>
                <a:ea typeface="Courier New"/>
              </a:rPr>
              <a:t>5/2 → 2.5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4" name="Shape 13"/>
          <p:cNvSpPr/>
          <p:nvPr/>
        </p:nvSpPr>
        <p:spPr>
          <a:xfrm>
            <a:off x="731520" y="2834640"/>
            <a:ext cx="2285280" cy="54792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14"/>
          <p:cNvSpPr/>
          <p:nvPr/>
        </p:nvSpPr>
        <p:spPr>
          <a:xfrm>
            <a:off x="822960" y="2926080"/>
            <a:ext cx="2102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Integer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6" name="Shape 15"/>
          <p:cNvSpPr/>
          <p:nvPr/>
        </p:nvSpPr>
        <p:spPr>
          <a:xfrm>
            <a:off x="3200400" y="2834640"/>
            <a:ext cx="2559600" cy="547920"/>
          </a:xfrm>
          <a:prstGeom prst="rect">
            <a:avLst/>
          </a:prstGeom>
          <a:solidFill>
            <a:srgbClr val="ffe6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16"/>
          <p:cNvSpPr/>
          <p:nvPr/>
        </p:nvSpPr>
        <p:spPr>
          <a:xfrm>
            <a:off x="3291840" y="292608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74c3c"/>
                </a:solidFill>
                <a:latin typeface="Courier New"/>
                <a:ea typeface="Courier New"/>
              </a:rPr>
              <a:t>int and long types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8" name="Shape 17"/>
          <p:cNvSpPr/>
          <p:nvPr/>
        </p:nvSpPr>
        <p:spPr>
          <a:xfrm>
            <a:off x="5943600" y="2834640"/>
            <a:ext cx="2559600" cy="547920"/>
          </a:xfrm>
          <a:prstGeom prst="rect">
            <a:avLst/>
          </a:prstGeom>
          <a:solidFill>
            <a:srgbClr val="e6f7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18"/>
          <p:cNvSpPr/>
          <p:nvPr/>
        </p:nvSpPr>
        <p:spPr>
          <a:xfrm>
            <a:off x="6035040" y="292608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7ae60"/>
                </a:solidFill>
                <a:latin typeface="Courier New"/>
                <a:ea typeface="Courier New"/>
              </a:rPr>
              <a:t>Only int type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0" name="Shape 19"/>
          <p:cNvSpPr/>
          <p:nvPr/>
        </p:nvSpPr>
        <p:spPr>
          <a:xfrm>
            <a:off x="731520" y="3566160"/>
            <a:ext cx="2285280" cy="54792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20"/>
          <p:cNvSpPr/>
          <p:nvPr/>
        </p:nvSpPr>
        <p:spPr>
          <a:xfrm>
            <a:off x="822960" y="3657600"/>
            <a:ext cx="2102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Unicode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2" name="Shape 21"/>
          <p:cNvSpPr/>
          <p:nvPr/>
        </p:nvSpPr>
        <p:spPr>
          <a:xfrm>
            <a:off x="3200400" y="3566160"/>
            <a:ext cx="2559600" cy="547920"/>
          </a:xfrm>
          <a:prstGeom prst="rect">
            <a:avLst/>
          </a:prstGeom>
          <a:solidFill>
            <a:srgbClr val="ffe6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22"/>
          <p:cNvSpPr/>
          <p:nvPr/>
        </p:nvSpPr>
        <p:spPr>
          <a:xfrm>
            <a:off x="3291840" y="365760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74c3c"/>
                </a:solidFill>
                <a:latin typeface="Courier New"/>
                <a:ea typeface="Courier New"/>
              </a:rPr>
              <a:t>ASCII by default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4" name="Shape 23"/>
          <p:cNvSpPr/>
          <p:nvPr/>
        </p:nvSpPr>
        <p:spPr>
          <a:xfrm>
            <a:off x="5943600" y="3566160"/>
            <a:ext cx="2559600" cy="547920"/>
          </a:xfrm>
          <a:prstGeom prst="rect">
            <a:avLst/>
          </a:prstGeom>
          <a:solidFill>
            <a:srgbClr val="e6f7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24"/>
          <p:cNvSpPr/>
          <p:nvPr/>
        </p:nvSpPr>
        <p:spPr>
          <a:xfrm>
            <a:off x="6035040" y="365760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7ae60"/>
                </a:solidFill>
                <a:latin typeface="Courier New"/>
                <a:ea typeface="Courier New"/>
              </a:rPr>
              <a:t>Unicode by default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6" name="Text 25"/>
          <p:cNvSpPr/>
          <p:nvPr/>
        </p:nvSpPr>
        <p:spPr>
          <a:xfrm>
            <a:off x="914400" y="4389120"/>
            <a:ext cx="7314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306998"/>
                </a:solidFill>
                <a:latin typeface="Arial"/>
                <a:ea typeface="Arial"/>
              </a:rPr>
              <a:t>Recommendation: Always use Python 3 for new projects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Python Implementations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731520" y="914400"/>
            <a:ext cx="7680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66666"/>
                </a:solidFill>
                <a:latin typeface="Arial"/>
                <a:ea typeface="Arial"/>
              </a:rPr>
              <a:t>1.Implementation = Tools/software used to execute Python programs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66666"/>
                </a:solidFill>
                <a:latin typeface="Arial"/>
                <a:ea typeface="Arial"/>
              </a:rPr>
              <a:t>2.CPython = the Python interpreter itself is written in C.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66666"/>
                </a:solidFill>
                <a:latin typeface="Arial"/>
                <a:ea typeface="Arial"/>
              </a:rPr>
              <a:t>3.The program that runs your .py file is written in C.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731520" y="1554480"/>
            <a:ext cx="7680240" cy="639360"/>
          </a:xfrm>
          <a:prstGeom prst="rect">
            <a:avLst/>
          </a:prstGeom>
          <a:solidFill>
            <a:srgbClr val="f5f5f5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Shape 3"/>
          <p:cNvSpPr/>
          <p:nvPr/>
        </p:nvSpPr>
        <p:spPr>
          <a:xfrm>
            <a:off x="731520" y="1554480"/>
            <a:ext cx="90720" cy="63936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4"/>
          <p:cNvSpPr/>
          <p:nvPr/>
        </p:nvSpPr>
        <p:spPr>
          <a:xfrm>
            <a:off x="1080000" y="1645920"/>
            <a:ext cx="1828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CPython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1097280" y="1892880"/>
            <a:ext cx="5028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Standard implementation (written in C)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6858000" y="1691640"/>
            <a:ext cx="137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306998"/>
                </a:solidFill>
                <a:latin typeface="Arial"/>
                <a:ea typeface="Arial"/>
              </a:rPr>
              <a:t>95%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4" name="Shape 7"/>
          <p:cNvSpPr/>
          <p:nvPr/>
        </p:nvSpPr>
        <p:spPr>
          <a:xfrm>
            <a:off x="731520" y="2331720"/>
            <a:ext cx="7680240" cy="639360"/>
          </a:xfrm>
          <a:prstGeom prst="rect">
            <a:avLst/>
          </a:prstGeom>
          <a:solidFill>
            <a:srgbClr val="f5f5f5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Shape 8"/>
          <p:cNvSpPr/>
          <p:nvPr/>
        </p:nvSpPr>
        <p:spPr>
          <a:xfrm>
            <a:off x="731520" y="2331720"/>
            <a:ext cx="90720" cy="63936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9"/>
          <p:cNvSpPr/>
          <p:nvPr/>
        </p:nvSpPr>
        <p:spPr>
          <a:xfrm>
            <a:off x="1097280" y="2423160"/>
            <a:ext cx="1828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e67e22"/>
                </a:solidFill>
                <a:latin typeface="Arial"/>
                <a:ea typeface="Arial"/>
              </a:rPr>
              <a:t>Jython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1097280" y="2670120"/>
            <a:ext cx="5028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Runs on Java Virtual Machine (JVM)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8" name="Text 11"/>
          <p:cNvSpPr/>
          <p:nvPr/>
        </p:nvSpPr>
        <p:spPr>
          <a:xfrm>
            <a:off x="6858000" y="2468880"/>
            <a:ext cx="137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e67e22"/>
                </a:solidFill>
                <a:latin typeface="Arial"/>
                <a:ea typeface="Arial"/>
              </a:rPr>
              <a:t>2%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9" name="Shape 12"/>
          <p:cNvSpPr/>
          <p:nvPr/>
        </p:nvSpPr>
        <p:spPr>
          <a:xfrm>
            <a:off x="731520" y="3108960"/>
            <a:ext cx="7680240" cy="639360"/>
          </a:xfrm>
          <a:prstGeom prst="rect">
            <a:avLst/>
          </a:prstGeom>
          <a:solidFill>
            <a:srgbClr val="f5f5f5"/>
          </a:solidFill>
          <a:ln w="254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Shape 13"/>
          <p:cNvSpPr/>
          <p:nvPr/>
        </p:nvSpPr>
        <p:spPr>
          <a:xfrm>
            <a:off x="731520" y="3108960"/>
            <a:ext cx="90720" cy="639360"/>
          </a:xfrm>
          <a:prstGeom prst="rect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14"/>
          <p:cNvSpPr/>
          <p:nvPr/>
        </p:nvSpPr>
        <p:spPr>
          <a:xfrm>
            <a:off x="1097280" y="3200400"/>
            <a:ext cx="1828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9b59b6"/>
                </a:solidFill>
                <a:latin typeface="Arial"/>
                <a:ea typeface="Arial"/>
              </a:rPr>
              <a:t>IronPython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1097280" y="3447360"/>
            <a:ext cx="5028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Runs on .NET Framework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3" name="Text 16"/>
          <p:cNvSpPr/>
          <p:nvPr/>
        </p:nvSpPr>
        <p:spPr>
          <a:xfrm>
            <a:off x="6858000" y="3246120"/>
            <a:ext cx="137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9b59b6"/>
                </a:solidFill>
                <a:latin typeface="Arial"/>
                <a:ea typeface="Arial"/>
              </a:rPr>
              <a:t>2%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4" name="Shape 17"/>
          <p:cNvSpPr/>
          <p:nvPr/>
        </p:nvSpPr>
        <p:spPr>
          <a:xfrm>
            <a:off x="731520" y="3886200"/>
            <a:ext cx="7680240" cy="63936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Shape 18"/>
          <p:cNvSpPr/>
          <p:nvPr/>
        </p:nvSpPr>
        <p:spPr>
          <a:xfrm>
            <a:off x="731520" y="3886200"/>
            <a:ext cx="90720" cy="63936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19"/>
          <p:cNvSpPr/>
          <p:nvPr/>
        </p:nvSpPr>
        <p:spPr>
          <a:xfrm>
            <a:off x="1097280" y="3977640"/>
            <a:ext cx="1828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7ae60"/>
                </a:solidFill>
                <a:latin typeface="Arial"/>
                <a:ea typeface="Arial"/>
              </a:rPr>
              <a:t>PyPy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7" name="Text 20"/>
          <p:cNvSpPr/>
          <p:nvPr/>
        </p:nvSpPr>
        <p:spPr>
          <a:xfrm>
            <a:off x="1097280" y="4224600"/>
            <a:ext cx="5028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Just-In-Time (JIT) compiler for speed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8" name="Text 21"/>
          <p:cNvSpPr/>
          <p:nvPr/>
        </p:nvSpPr>
        <p:spPr>
          <a:xfrm>
            <a:off x="6858000" y="4023360"/>
            <a:ext cx="1370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7ae60"/>
                </a:solidFill>
                <a:latin typeface="Arial"/>
                <a:ea typeface="Arial"/>
              </a:rPr>
              <a:t>1%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Machine Code vs Bytecode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50" name="Shape 1"/>
          <p:cNvSpPr/>
          <p:nvPr/>
        </p:nvSpPr>
        <p:spPr>
          <a:xfrm>
            <a:off x="457200" y="1097280"/>
            <a:ext cx="3931200" cy="3199680"/>
          </a:xfrm>
          <a:prstGeom prst="rect">
            <a:avLst/>
          </a:prstGeom>
          <a:solidFill>
            <a:srgbClr val="fff5e6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2"/>
          <p:cNvSpPr/>
          <p:nvPr/>
        </p:nvSpPr>
        <p:spPr>
          <a:xfrm>
            <a:off x="457200" y="1188720"/>
            <a:ext cx="3931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e67e22"/>
                </a:solidFill>
                <a:latin typeface="Arial"/>
                <a:ea typeface="Arial"/>
              </a:rPr>
              <a:t>Machine Code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52" name="Shape 3"/>
          <p:cNvSpPr/>
          <p:nvPr/>
        </p:nvSpPr>
        <p:spPr>
          <a:xfrm>
            <a:off x="1371600" y="1828800"/>
            <a:ext cx="2102400" cy="4564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4"/>
          <p:cNvSpPr/>
          <p:nvPr/>
        </p:nvSpPr>
        <p:spPr>
          <a:xfrm>
            <a:off x="1371600" y="1920240"/>
            <a:ext cx="210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Source Code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4" name="Shape 5"/>
          <p:cNvSpPr/>
          <p:nvPr/>
        </p:nvSpPr>
        <p:spPr>
          <a:xfrm>
            <a:off x="2423160" y="2286000"/>
            <a:ext cx="360" cy="365760"/>
          </a:xfrm>
          <a:prstGeom prst="line">
            <a:avLst/>
          </a:prstGeom>
          <a:ln w="381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6"/>
          <p:cNvSpPr/>
          <p:nvPr/>
        </p:nvSpPr>
        <p:spPr>
          <a:xfrm>
            <a:off x="2286000" y="233172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e67e22"/>
                </a:solidFill>
                <a:latin typeface="Calibri"/>
                <a:ea typeface="DejaVu Sans"/>
              </a:rPr>
              <a:t>↓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6" name="Shape 7"/>
          <p:cNvSpPr/>
          <p:nvPr/>
        </p:nvSpPr>
        <p:spPr>
          <a:xfrm>
            <a:off x="1554480" y="2743200"/>
            <a:ext cx="1736640" cy="456480"/>
          </a:xfrm>
          <a:prstGeom prst="ellipse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8"/>
          <p:cNvSpPr/>
          <p:nvPr/>
        </p:nvSpPr>
        <p:spPr>
          <a:xfrm>
            <a:off x="1554480" y="283464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Compiler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8" name="Shape 9"/>
          <p:cNvSpPr/>
          <p:nvPr/>
        </p:nvSpPr>
        <p:spPr>
          <a:xfrm>
            <a:off x="2423160" y="3200400"/>
            <a:ext cx="360" cy="365760"/>
          </a:xfrm>
          <a:prstGeom prst="line">
            <a:avLst/>
          </a:prstGeom>
          <a:ln w="381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10"/>
          <p:cNvSpPr/>
          <p:nvPr/>
        </p:nvSpPr>
        <p:spPr>
          <a:xfrm>
            <a:off x="2286000" y="324612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e67e22"/>
                </a:solidFill>
                <a:latin typeface="Calibri"/>
                <a:ea typeface="DejaVu Sans"/>
              </a:rPr>
              <a:t>↓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0" name="Shape 11"/>
          <p:cNvSpPr/>
          <p:nvPr/>
        </p:nvSpPr>
        <p:spPr>
          <a:xfrm>
            <a:off x="1188720" y="3657600"/>
            <a:ext cx="2468160" cy="4564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12"/>
          <p:cNvSpPr/>
          <p:nvPr/>
        </p:nvSpPr>
        <p:spPr>
          <a:xfrm>
            <a:off x="1188720" y="3749040"/>
            <a:ext cx="246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Calibri"/>
                <a:ea typeface="DejaVu Sans"/>
              </a:rPr>
              <a:t>Machine Code (.exe)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2" name="Text 13"/>
          <p:cNvSpPr/>
          <p:nvPr/>
        </p:nvSpPr>
        <p:spPr>
          <a:xfrm>
            <a:off x="731520" y="429768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7ae60"/>
                </a:solidFill>
                <a:latin typeface="Arial"/>
                <a:ea typeface="Arial"/>
              </a:rPr>
              <a:t>✓ </a:t>
            </a:r>
            <a:r>
              <a:rPr b="0" lang="en-US" sz="1100" spc="-1" strike="noStrike">
                <a:solidFill>
                  <a:srgbClr val="27ae60"/>
                </a:solidFill>
                <a:latin typeface="Arial"/>
                <a:ea typeface="Arial"/>
              </a:rPr>
              <a:t>Very Fast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74c3c"/>
                </a:solidFill>
                <a:latin typeface="Arial"/>
                <a:ea typeface="Arial"/>
              </a:rPr>
              <a:t>✗ </a:t>
            </a:r>
            <a:r>
              <a:rPr b="0" lang="en-US" sz="1100" spc="-1" strike="noStrike">
                <a:solidFill>
                  <a:srgbClr val="e74c3c"/>
                </a:solidFill>
                <a:latin typeface="Arial"/>
                <a:ea typeface="Arial"/>
              </a:rPr>
              <a:t>Not Portable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74c3c"/>
                </a:solidFill>
                <a:latin typeface="Arial"/>
                <a:ea typeface="Arial"/>
              </a:rPr>
              <a:t>Ex. c, c++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3" name="Shape 14"/>
          <p:cNvSpPr/>
          <p:nvPr/>
        </p:nvSpPr>
        <p:spPr>
          <a:xfrm>
            <a:off x="4754880" y="1097280"/>
            <a:ext cx="3931200" cy="3199680"/>
          </a:xfrm>
          <a:prstGeom prst="rect">
            <a:avLst/>
          </a:prstGeom>
          <a:solidFill>
            <a:srgbClr val="e6f7ff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15"/>
          <p:cNvSpPr/>
          <p:nvPr/>
        </p:nvSpPr>
        <p:spPr>
          <a:xfrm>
            <a:off x="4754880" y="1188720"/>
            <a:ext cx="3931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306998"/>
                </a:solidFill>
                <a:latin typeface="Arial"/>
                <a:ea typeface="Arial"/>
              </a:rPr>
              <a:t>Bytecode (Python)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65" name="Shape 16"/>
          <p:cNvSpPr/>
          <p:nvPr/>
        </p:nvSpPr>
        <p:spPr>
          <a:xfrm>
            <a:off x="5669280" y="1828800"/>
            <a:ext cx="2102400" cy="4564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17"/>
          <p:cNvSpPr/>
          <p:nvPr/>
        </p:nvSpPr>
        <p:spPr>
          <a:xfrm>
            <a:off x="5669280" y="1920240"/>
            <a:ext cx="210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Source Code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7" name="Shape 18"/>
          <p:cNvSpPr/>
          <p:nvPr/>
        </p:nvSpPr>
        <p:spPr>
          <a:xfrm>
            <a:off x="6720840" y="2286000"/>
            <a:ext cx="360" cy="365760"/>
          </a:xfrm>
          <a:prstGeom prst="line">
            <a:avLst/>
          </a:prstGeom>
          <a:ln w="381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19"/>
          <p:cNvSpPr/>
          <p:nvPr/>
        </p:nvSpPr>
        <p:spPr>
          <a:xfrm>
            <a:off x="6583680" y="233172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06998"/>
                </a:solidFill>
                <a:latin typeface="Calibri"/>
                <a:ea typeface="DejaVu Sans"/>
              </a:rPr>
              <a:t>↓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9" name="Shape 20"/>
          <p:cNvSpPr/>
          <p:nvPr/>
        </p:nvSpPr>
        <p:spPr>
          <a:xfrm>
            <a:off x="5852160" y="2743200"/>
            <a:ext cx="1736640" cy="456480"/>
          </a:xfrm>
          <a:prstGeom prst="ellipse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21"/>
          <p:cNvSpPr/>
          <p:nvPr/>
        </p:nvSpPr>
        <p:spPr>
          <a:xfrm>
            <a:off x="5852160" y="2834640"/>
            <a:ext cx="173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Compiler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1" name="Shape 22"/>
          <p:cNvSpPr/>
          <p:nvPr/>
        </p:nvSpPr>
        <p:spPr>
          <a:xfrm>
            <a:off x="6720840" y="3200400"/>
            <a:ext cx="360" cy="365760"/>
          </a:xfrm>
          <a:prstGeom prst="line">
            <a:avLst/>
          </a:prstGeom>
          <a:ln w="381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23"/>
          <p:cNvSpPr/>
          <p:nvPr/>
        </p:nvSpPr>
        <p:spPr>
          <a:xfrm>
            <a:off x="6583680" y="324612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06998"/>
                </a:solidFill>
                <a:latin typeface="Calibri"/>
                <a:ea typeface="DejaVu Sans"/>
              </a:rPr>
              <a:t>↓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3" name="Shape 24"/>
          <p:cNvSpPr/>
          <p:nvPr/>
        </p:nvSpPr>
        <p:spPr>
          <a:xfrm>
            <a:off x="5486400" y="3657600"/>
            <a:ext cx="2468160" cy="4564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25"/>
          <p:cNvSpPr/>
          <p:nvPr/>
        </p:nvSpPr>
        <p:spPr>
          <a:xfrm>
            <a:off x="5486400" y="3749040"/>
            <a:ext cx="246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Calibri"/>
                <a:ea typeface="Noto Sans CJK SC"/>
              </a:rPr>
              <a:t>Bytecode + </a:t>
            </a:r>
            <a:r>
              <a:rPr b="1" lang="en-US" sz="1100" spc="-1" strike="noStrike">
                <a:solidFill>
                  <a:srgbClr val="000000"/>
                </a:solidFill>
                <a:latin typeface="Calibri"/>
                <a:ea typeface="DejaVu Sans"/>
              </a:rPr>
              <a:t>PVM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Calibri"/>
                <a:ea typeface="Noto Sans CJK SC"/>
              </a:rPr>
              <a:t>bytecode is executed by </a:t>
            </a:r>
            <a:r>
              <a:rPr b="1" lang="en-US" sz="1100" spc="-1" strike="noStrike">
                <a:solidFill>
                  <a:srgbClr val="000000"/>
                </a:solidFill>
                <a:latin typeface="Calibri"/>
                <a:ea typeface="DejaVu Sans"/>
              </a:rPr>
              <a:t>PVM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5" name="Text 26"/>
          <p:cNvSpPr/>
          <p:nvPr/>
        </p:nvSpPr>
        <p:spPr>
          <a:xfrm>
            <a:off x="5029200" y="429768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7ae60"/>
                </a:solidFill>
                <a:latin typeface="Arial"/>
                <a:ea typeface="Arial"/>
              </a:rPr>
              <a:t>✓ </a:t>
            </a:r>
            <a:r>
              <a:rPr b="0" lang="en-US" sz="1100" spc="-1" strike="noStrike">
                <a:solidFill>
                  <a:srgbClr val="27ae60"/>
                </a:solidFill>
                <a:latin typeface="Arial"/>
                <a:ea typeface="Arial"/>
              </a:rPr>
              <a:t>Cross-Platform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74c3c"/>
                </a:solidFill>
                <a:latin typeface="Arial"/>
                <a:ea typeface="Arial"/>
              </a:rPr>
              <a:t>✗ </a:t>
            </a:r>
            <a:r>
              <a:rPr b="0" lang="en-US" sz="1100" spc="-1" strike="noStrike">
                <a:solidFill>
                  <a:srgbClr val="e74c3c"/>
                </a:solidFill>
                <a:latin typeface="Arial"/>
                <a:ea typeface="Arial"/>
              </a:rPr>
              <a:t>Slower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74c3c"/>
                </a:solidFill>
                <a:latin typeface="Arial"/>
                <a:ea typeface="Arial"/>
              </a:rPr>
              <a:t>Ex. Python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CPython: Standard Implementation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177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178" name="Shape 1"/>
          <p:cNvSpPr/>
          <p:nvPr/>
        </p:nvSpPr>
        <p:spPr>
          <a:xfrm>
            <a:off x="1188720" y="2011680"/>
            <a:ext cx="1828080" cy="1096560"/>
          </a:xfrm>
          <a:prstGeom prst="rect">
            <a:avLst/>
          </a:prstGeom>
          <a:solidFill>
            <a:srgbClr val="ffffff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2"/>
          <p:cNvSpPr/>
          <p:nvPr/>
        </p:nvSpPr>
        <p:spPr>
          <a:xfrm>
            <a:off x="1188720" y="2286000"/>
            <a:ext cx="1828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Source Code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(.py file)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0" name="Shape 3"/>
          <p:cNvSpPr/>
          <p:nvPr/>
        </p:nvSpPr>
        <p:spPr>
          <a:xfrm>
            <a:off x="3017160" y="2559960"/>
            <a:ext cx="640080" cy="360"/>
          </a:xfrm>
          <a:prstGeom prst="line">
            <a:avLst/>
          </a:prstGeom>
          <a:ln w="508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4"/>
          <p:cNvSpPr/>
          <p:nvPr/>
        </p:nvSpPr>
        <p:spPr>
          <a:xfrm>
            <a:off x="3566160" y="242316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306998"/>
                </a:solidFill>
                <a:latin typeface="Calibri"/>
                <a:ea typeface="DejaVu Sans"/>
              </a:rPr>
              <a:t>→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82" name="Shape 5"/>
          <p:cNvSpPr/>
          <p:nvPr/>
        </p:nvSpPr>
        <p:spPr>
          <a:xfrm>
            <a:off x="3291840" y="2011680"/>
            <a:ext cx="1828080" cy="1096560"/>
          </a:xfrm>
          <a:prstGeom prst="ellipse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6"/>
          <p:cNvSpPr/>
          <p:nvPr/>
        </p:nvSpPr>
        <p:spPr>
          <a:xfrm>
            <a:off x="3291840" y="2286000"/>
            <a:ext cx="1828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CPython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Compiler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4" name="Shape 7"/>
          <p:cNvSpPr/>
          <p:nvPr/>
        </p:nvSpPr>
        <p:spPr>
          <a:xfrm>
            <a:off x="5119920" y="2559960"/>
            <a:ext cx="640080" cy="360"/>
          </a:xfrm>
          <a:prstGeom prst="line">
            <a:avLst/>
          </a:prstGeom>
          <a:ln w="508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Text 8"/>
          <p:cNvSpPr/>
          <p:nvPr/>
        </p:nvSpPr>
        <p:spPr>
          <a:xfrm>
            <a:off x="5669280" y="242316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306998"/>
                </a:solidFill>
                <a:latin typeface="Calibri"/>
                <a:ea typeface="DejaVu Sans"/>
              </a:rPr>
              <a:t>→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86" name="Shape 9"/>
          <p:cNvSpPr/>
          <p:nvPr/>
        </p:nvSpPr>
        <p:spPr>
          <a:xfrm>
            <a:off x="5551560" y="1980000"/>
            <a:ext cx="1828080" cy="1096560"/>
          </a:xfrm>
          <a:prstGeom prst="rect">
            <a:avLst/>
          </a:prstGeom>
          <a:solidFill>
            <a:srgbClr val="ffd43b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10"/>
          <p:cNvSpPr/>
          <p:nvPr/>
        </p:nvSpPr>
        <p:spPr>
          <a:xfrm>
            <a:off x="5394960" y="2286000"/>
            <a:ext cx="1828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Bytecode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(.pyc file)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8" name="Shape 11"/>
          <p:cNvSpPr/>
          <p:nvPr/>
        </p:nvSpPr>
        <p:spPr>
          <a:xfrm>
            <a:off x="7315200" y="2560320"/>
            <a:ext cx="640080" cy="360"/>
          </a:xfrm>
          <a:prstGeom prst="line">
            <a:avLst/>
          </a:prstGeom>
          <a:ln w="508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12"/>
          <p:cNvSpPr/>
          <p:nvPr/>
        </p:nvSpPr>
        <p:spPr>
          <a:xfrm>
            <a:off x="7772400" y="242316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306998"/>
                </a:solidFill>
                <a:latin typeface="Calibri"/>
                <a:ea typeface="DejaVu Sans"/>
              </a:rPr>
              <a:t>→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90" name="Shape 13"/>
          <p:cNvSpPr/>
          <p:nvPr/>
        </p:nvSpPr>
        <p:spPr>
          <a:xfrm>
            <a:off x="7531560" y="1980000"/>
            <a:ext cx="1828080" cy="1096560"/>
          </a:xfrm>
          <a:prstGeom prst="rect">
            <a:avLst/>
          </a:prstGeom>
          <a:solidFill>
            <a:srgbClr val="27ae60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14"/>
          <p:cNvSpPr/>
          <p:nvPr/>
        </p:nvSpPr>
        <p:spPr>
          <a:xfrm>
            <a:off x="7498080" y="2286000"/>
            <a:ext cx="1828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Python VM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(PVM)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2" name="Shape 15"/>
          <p:cNvSpPr/>
          <p:nvPr/>
        </p:nvSpPr>
        <p:spPr>
          <a:xfrm>
            <a:off x="914400" y="3657600"/>
            <a:ext cx="7314480" cy="73080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16"/>
          <p:cNvSpPr/>
          <p:nvPr/>
        </p:nvSpPr>
        <p:spPr>
          <a:xfrm>
            <a:off x="1097280" y="3840480"/>
            <a:ext cx="6948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✓ </a:t>
            </a: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Written in C Language  |  ✓ 95% of Python users  |  ✓ Download from python.org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Python Virtual Machine (PVM)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95" name="Shape 1"/>
          <p:cNvSpPr/>
          <p:nvPr/>
        </p:nvSpPr>
        <p:spPr>
          <a:xfrm>
            <a:off x="3474720" y="1371600"/>
            <a:ext cx="2193840" cy="913680"/>
          </a:xfrm>
          <a:prstGeom prst="rect">
            <a:avLst/>
          </a:prstGeom>
          <a:solidFill>
            <a:srgbClr val="ffd43b"/>
          </a:solidFill>
          <a:ln w="381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2"/>
          <p:cNvSpPr/>
          <p:nvPr/>
        </p:nvSpPr>
        <p:spPr>
          <a:xfrm>
            <a:off x="3474720" y="1554480"/>
            <a:ext cx="2193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Python</a:t>
            </a:r>
            <a:endParaRPr b="0" lang="en-IN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Bytecode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97" name="Shape 3"/>
          <p:cNvSpPr/>
          <p:nvPr/>
        </p:nvSpPr>
        <p:spPr>
          <a:xfrm flipH="1">
            <a:off x="1920240" y="2286000"/>
            <a:ext cx="2651760" cy="731520"/>
          </a:xfrm>
          <a:prstGeom prst="line">
            <a:avLst/>
          </a:prstGeom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Shape 4"/>
          <p:cNvSpPr/>
          <p:nvPr/>
        </p:nvSpPr>
        <p:spPr>
          <a:xfrm>
            <a:off x="1188720" y="3017520"/>
            <a:ext cx="1462320" cy="82224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99" name="Image 0" descr="preencoded.png"/>
          <p:cNvPicPr/>
          <p:nvPr/>
        </p:nvPicPr>
        <p:blipFill>
          <a:blip r:embed="rId1"/>
          <a:stretch/>
        </p:blipFill>
        <p:spPr>
          <a:xfrm>
            <a:off x="1691640" y="310896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200" name="Text 5"/>
          <p:cNvSpPr/>
          <p:nvPr/>
        </p:nvSpPr>
        <p:spPr>
          <a:xfrm>
            <a:off x="1188720" y="3474720"/>
            <a:ext cx="1462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Arial"/>
                <a:ea typeface="Arial"/>
              </a:rPr>
              <a:t>Windows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Arial"/>
                <a:ea typeface="Arial"/>
              </a:rPr>
              <a:t>PVM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1" name="Shape 6"/>
          <p:cNvSpPr/>
          <p:nvPr/>
        </p:nvSpPr>
        <p:spPr>
          <a:xfrm flipH="1">
            <a:off x="4389120" y="2286000"/>
            <a:ext cx="182880" cy="731520"/>
          </a:xfrm>
          <a:prstGeom prst="line">
            <a:avLst/>
          </a:prstGeom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Shape 7"/>
          <p:cNvSpPr/>
          <p:nvPr/>
        </p:nvSpPr>
        <p:spPr>
          <a:xfrm>
            <a:off x="3657600" y="3017520"/>
            <a:ext cx="1462320" cy="82224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03" name="Image 1" descr="preencoded.png"/>
          <p:cNvPicPr/>
          <p:nvPr/>
        </p:nvPicPr>
        <p:blipFill>
          <a:blip r:embed="rId2"/>
          <a:stretch/>
        </p:blipFill>
        <p:spPr>
          <a:xfrm>
            <a:off x="4160520" y="310896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204" name="Text 8"/>
          <p:cNvSpPr/>
          <p:nvPr/>
        </p:nvSpPr>
        <p:spPr>
          <a:xfrm>
            <a:off x="3657600" y="3474720"/>
            <a:ext cx="1462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Arial"/>
                <a:ea typeface="Arial"/>
              </a:rPr>
              <a:t>macOS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Arial"/>
                <a:ea typeface="Arial"/>
              </a:rPr>
              <a:t>PVM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5" name="Shape 9"/>
          <p:cNvSpPr/>
          <p:nvPr/>
        </p:nvSpPr>
        <p:spPr>
          <a:xfrm>
            <a:off x="4572000" y="2286000"/>
            <a:ext cx="2286000" cy="731520"/>
          </a:xfrm>
          <a:prstGeom prst="line">
            <a:avLst/>
          </a:prstGeom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Shape 10"/>
          <p:cNvSpPr/>
          <p:nvPr/>
        </p:nvSpPr>
        <p:spPr>
          <a:xfrm>
            <a:off x="6126480" y="3017520"/>
            <a:ext cx="1462320" cy="82224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07" name="Image 2" descr="preencoded.png"/>
          <p:cNvPicPr/>
          <p:nvPr/>
        </p:nvPicPr>
        <p:blipFill>
          <a:blip r:embed="rId3"/>
          <a:stretch/>
        </p:blipFill>
        <p:spPr>
          <a:xfrm>
            <a:off x="6629400" y="310896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208" name="Text 11"/>
          <p:cNvSpPr/>
          <p:nvPr/>
        </p:nvSpPr>
        <p:spPr>
          <a:xfrm>
            <a:off x="6126480" y="3474720"/>
            <a:ext cx="1462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Arial"/>
                <a:ea typeface="Arial"/>
              </a:rPr>
              <a:t>Linux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Arial"/>
                <a:ea typeface="Arial"/>
              </a:rPr>
              <a:t>PVM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9" name="Text 12"/>
          <p:cNvSpPr/>
          <p:nvPr/>
        </p:nvSpPr>
        <p:spPr>
          <a:xfrm>
            <a:off x="914400" y="429768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7ae60"/>
                </a:solidFill>
                <a:latin typeface="Arial"/>
                <a:ea typeface="Arial"/>
              </a:rPr>
              <a:t>✓ </a:t>
            </a:r>
            <a:r>
              <a:rPr b="1" lang="en-US" sz="1600" spc="-1" strike="noStrike">
                <a:solidFill>
                  <a:srgbClr val="27ae60"/>
                </a:solidFill>
                <a:latin typeface="Arial"/>
                <a:ea typeface="Arial"/>
              </a:rPr>
              <a:t>Write Once, Run Anywhere - Same code runs on all platforms!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>
            <a:off x="354600" y="1121760"/>
            <a:ext cx="4833000" cy="85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$ python -m py_compile main.py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latin typeface="Arial"/>
              </a:rPr>
              <a:t>$ python __pycache__/main.cpython-313.pyc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/>
          <p:nvPr/>
        </p:nvSpPr>
        <p:spPr>
          <a:xfrm>
            <a:off x="457200" y="274320"/>
            <a:ext cx="6400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Downloading Python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212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213" name="Shape 1"/>
          <p:cNvSpPr/>
          <p:nvPr/>
        </p:nvSpPr>
        <p:spPr>
          <a:xfrm>
            <a:off x="1371600" y="1097280"/>
            <a:ext cx="6400080" cy="730800"/>
          </a:xfrm>
          <a:prstGeom prst="rect">
            <a:avLst/>
          </a:prstGeom>
          <a:solidFill>
            <a:srgbClr val="306998"/>
          </a:solidFill>
          <a:ln w="254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2"/>
          <p:cNvSpPr/>
          <p:nvPr/>
        </p:nvSpPr>
        <p:spPr>
          <a:xfrm>
            <a:off x="1371600" y="128016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  <a:ea typeface="Arial"/>
              </a:rPr>
              <a:t>https://www.python.org/downloads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15" name="Shape 3"/>
          <p:cNvSpPr/>
          <p:nvPr/>
        </p:nvSpPr>
        <p:spPr>
          <a:xfrm>
            <a:off x="1097280" y="2057400"/>
            <a:ext cx="365040" cy="36504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4"/>
          <p:cNvSpPr/>
          <p:nvPr/>
        </p:nvSpPr>
        <p:spPr>
          <a:xfrm>
            <a:off x="1097280" y="205740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1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17" name="Text 5"/>
          <p:cNvSpPr/>
          <p:nvPr/>
        </p:nvSpPr>
        <p:spPr>
          <a:xfrm>
            <a:off x="1645920" y="21031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Visit python.org/downloads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8" name="Shape 6"/>
          <p:cNvSpPr/>
          <p:nvPr/>
        </p:nvSpPr>
        <p:spPr>
          <a:xfrm>
            <a:off x="1097280" y="2514600"/>
            <a:ext cx="365040" cy="36504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7"/>
          <p:cNvSpPr/>
          <p:nvPr/>
        </p:nvSpPr>
        <p:spPr>
          <a:xfrm>
            <a:off x="1097280" y="251460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20" name="Text 8"/>
          <p:cNvSpPr/>
          <p:nvPr/>
        </p:nvSpPr>
        <p:spPr>
          <a:xfrm>
            <a:off x="1645920" y="25603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Website auto-detects your OS (Windows/Mac/Linux)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1" name="Shape 9"/>
          <p:cNvSpPr/>
          <p:nvPr/>
        </p:nvSpPr>
        <p:spPr>
          <a:xfrm>
            <a:off x="1097280" y="2971800"/>
            <a:ext cx="365040" cy="36504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10"/>
          <p:cNvSpPr/>
          <p:nvPr/>
        </p:nvSpPr>
        <p:spPr>
          <a:xfrm>
            <a:off x="1097280" y="297180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23" name="Text 11"/>
          <p:cNvSpPr/>
          <p:nvPr/>
        </p:nvSpPr>
        <p:spPr>
          <a:xfrm>
            <a:off x="1645920" y="3017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Click 'Download Python 3.x' button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4" name="Shape 12"/>
          <p:cNvSpPr/>
          <p:nvPr/>
        </p:nvSpPr>
        <p:spPr>
          <a:xfrm>
            <a:off x="1097280" y="3429000"/>
            <a:ext cx="365040" cy="36504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13"/>
          <p:cNvSpPr/>
          <p:nvPr/>
        </p:nvSpPr>
        <p:spPr>
          <a:xfrm>
            <a:off x="1097280" y="342900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4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26" name="Text 14"/>
          <p:cNvSpPr/>
          <p:nvPr/>
        </p:nvSpPr>
        <p:spPr>
          <a:xfrm>
            <a:off x="1645920" y="34747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For 64-bit: Select 'Windows x86-64 executable installer'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7" name="Shape 15"/>
          <p:cNvSpPr/>
          <p:nvPr/>
        </p:nvSpPr>
        <p:spPr>
          <a:xfrm>
            <a:off x="1097280" y="3886200"/>
            <a:ext cx="365040" cy="36504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16"/>
          <p:cNvSpPr/>
          <p:nvPr/>
        </p:nvSpPr>
        <p:spPr>
          <a:xfrm>
            <a:off x="1097280" y="388620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5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29" name="Text 17"/>
          <p:cNvSpPr/>
          <p:nvPr/>
        </p:nvSpPr>
        <p:spPr>
          <a:xfrm>
            <a:off x="1645920" y="39319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For 32-bit: Select 'Windows x86 executable installer'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Installing Python on Windows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231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232" name="Shape 1"/>
          <p:cNvSpPr/>
          <p:nvPr/>
        </p:nvSpPr>
        <p:spPr>
          <a:xfrm>
            <a:off x="914400" y="1371600"/>
            <a:ext cx="731448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Shape 2"/>
          <p:cNvSpPr/>
          <p:nvPr/>
        </p:nvSpPr>
        <p:spPr>
          <a:xfrm>
            <a:off x="1188720" y="1440360"/>
            <a:ext cx="365040" cy="365040"/>
          </a:xfrm>
          <a:prstGeom prst="ellipse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3"/>
          <p:cNvSpPr/>
          <p:nvPr/>
        </p:nvSpPr>
        <p:spPr>
          <a:xfrm>
            <a:off x="1188720" y="144036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35" name="Text 4"/>
          <p:cNvSpPr/>
          <p:nvPr/>
        </p:nvSpPr>
        <p:spPr>
          <a:xfrm>
            <a:off x="1737360" y="1463040"/>
            <a:ext cx="6400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Run the installer (python-3.x-amd64.exe)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36" name="Shape 5"/>
          <p:cNvSpPr/>
          <p:nvPr/>
        </p:nvSpPr>
        <p:spPr>
          <a:xfrm>
            <a:off x="914400" y="2011680"/>
            <a:ext cx="7314480" cy="502200"/>
          </a:xfrm>
          <a:prstGeom prst="rect">
            <a:avLst/>
          </a:prstGeom>
          <a:solidFill>
            <a:srgbClr val="fff3cd"/>
          </a:solidFill>
          <a:ln w="38100">
            <a:solidFill>
              <a:srgbClr val="ffc10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Shape 6"/>
          <p:cNvSpPr/>
          <p:nvPr/>
        </p:nvSpPr>
        <p:spPr>
          <a:xfrm>
            <a:off x="1188720" y="2080440"/>
            <a:ext cx="365040" cy="365040"/>
          </a:xfrm>
          <a:prstGeom prst="ellipse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7"/>
          <p:cNvSpPr/>
          <p:nvPr/>
        </p:nvSpPr>
        <p:spPr>
          <a:xfrm>
            <a:off x="1188720" y="208044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39" name="Text 8"/>
          <p:cNvSpPr/>
          <p:nvPr/>
        </p:nvSpPr>
        <p:spPr>
          <a:xfrm>
            <a:off x="1737360" y="2103120"/>
            <a:ext cx="6400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✓ </a:t>
            </a: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Check 'Add Python to PATH' (VERY IMPORTANT!)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40" name="Shape 9"/>
          <p:cNvSpPr/>
          <p:nvPr/>
        </p:nvSpPr>
        <p:spPr>
          <a:xfrm>
            <a:off x="914400" y="2651760"/>
            <a:ext cx="731448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Shape 10"/>
          <p:cNvSpPr/>
          <p:nvPr/>
        </p:nvSpPr>
        <p:spPr>
          <a:xfrm>
            <a:off x="1188720" y="2720520"/>
            <a:ext cx="365040" cy="365040"/>
          </a:xfrm>
          <a:prstGeom prst="ellipse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Text 11"/>
          <p:cNvSpPr/>
          <p:nvPr/>
        </p:nvSpPr>
        <p:spPr>
          <a:xfrm>
            <a:off x="1188720" y="272052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43" name="Text 12"/>
          <p:cNvSpPr/>
          <p:nvPr/>
        </p:nvSpPr>
        <p:spPr>
          <a:xfrm>
            <a:off x="1737360" y="2743200"/>
            <a:ext cx="6400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Click 'Install Now'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4" name="Shape 13"/>
          <p:cNvSpPr/>
          <p:nvPr/>
        </p:nvSpPr>
        <p:spPr>
          <a:xfrm>
            <a:off x="914400" y="3291840"/>
            <a:ext cx="731448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Shape 14"/>
          <p:cNvSpPr/>
          <p:nvPr/>
        </p:nvSpPr>
        <p:spPr>
          <a:xfrm>
            <a:off x="1188720" y="3360600"/>
            <a:ext cx="365040" cy="365040"/>
          </a:xfrm>
          <a:prstGeom prst="ellipse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15"/>
          <p:cNvSpPr/>
          <p:nvPr/>
        </p:nvSpPr>
        <p:spPr>
          <a:xfrm>
            <a:off x="1188720" y="336060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47" name="Text 16"/>
          <p:cNvSpPr/>
          <p:nvPr/>
        </p:nvSpPr>
        <p:spPr>
          <a:xfrm>
            <a:off x="1737360" y="3383280"/>
            <a:ext cx="6400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Wait for installation to complete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8" name="Shape 17"/>
          <p:cNvSpPr/>
          <p:nvPr/>
        </p:nvSpPr>
        <p:spPr>
          <a:xfrm>
            <a:off x="914400" y="3931920"/>
            <a:ext cx="731448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f5f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Shape 18"/>
          <p:cNvSpPr/>
          <p:nvPr/>
        </p:nvSpPr>
        <p:spPr>
          <a:xfrm>
            <a:off x="1188720" y="4000680"/>
            <a:ext cx="365040" cy="365040"/>
          </a:xfrm>
          <a:prstGeom prst="ellipse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19"/>
          <p:cNvSpPr/>
          <p:nvPr/>
        </p:nvSpPr>
        <p:spPr>
          <a:xfrm>
            <a:off x="1188720" y="400068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51" name="Text 20"/>
          <p:cNvSpPr/>
          <p:nvPr/>
        </p:nvSpPr>
        <p:spPr>
          <a:xfrm>
            <a:off x="1737360" y="4023360"/>
            <a:ext cx="6400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Click 'Close' when finished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7ae60"/>
                </a:solidFill>
                <a:latin typeface="Arial"/>
                <a:ea typeface="Arial"/>
              </a:rPr>
              <a:t>Installation Complete!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253" name="Image 0" descr="preencoded.png"/>
          <p:cNvPicPr/>
          <p:nvPr/>
        </p:nvPicPr>
        <p:blipFill>
          <a:blip r:embed="rId1"/>
          <a:stretch/>
        </p:blipFill>
        <p:spPr>
          <a:xfrm>
            <a:off x="4114800" y="1371600"/>
            <a:ext cx="913680" cy="913680"/>
          </a:xfrm>
          <a:prstGeom prst="rect">
            <a:avLst/>
          </a:prstGeom>
          <a:ln w="0">
            <a:noFill/>
          </a:ln>
        </p:spPr>
      </p:pic>
      <p:sp>
        <p:nvSpPr>
          <p:cNvPr id="254" name="Shape 1"/>
          <p:cNvSpPr/>
          <p:nvPr/>
        </p:nvSpPr>
        <p:spPr>
          <a:xfrm>
            <a:off x="1828800" y="2560320"/>
            <a:ext cx="5485680" cy="137088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2"/>
          <p:cNvSpPr/>
          <p:nvPr/>
        </p:nvSpPr>
        <p:spPr>
          <a:xfrm>
            <a:off x="1828800" y="2743200"/>
            <a:ext cx="5485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7ae60"/>
                </a:solidFill>
                <a:latin typeface="Arial"/>
                <a:ea typeface="Arial"/>
              </a:rPr>
              <a:t>Setup was successful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56" name="Text 3"/>
          <p:cNvSpPr/>
          <p:nvPr/>
        </p:nvSpPr>
        <p:spPr>
          <a:xfrm>
            <a:off x="1828800" y="329184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You are now ready to start coding in Python!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57" name="Text 4"/>
          <p:cNvSpPr/>
          <p:nvPr/>
        </p:nvSpPr>
        <p:spPr>
          <a:xfrm>
            <a:off x="2286000" y="429768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306998"/>
                </a:solidFill>
                <a:latin typeface="Arial"/>
                <a:ea typeface="Arial"/>
              </a:rPr>
              <a:t>Next step: Verify installation →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Testing Python Installation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259" name="Image 0" descr="preencoded.png"/>
          <p:cNvPicPr/>
          <p:nvPr/>
        </p:nvPicPr>
        <p:blipFill>
          <a:blip r:embed="rId1"/>
          <a:stretch/>
        </p:blipFill>
        <p:spPr>
          <a:xfrm>
            <a:off x="7772400" y="228600"/>
            <a:ext cx="639360" cy="639360"/>
          </a:xfrm>
          <a:prstGeom prst="rect">
            <a:avLst/>
          </a:prstGeom>
          <a:ln w="0">
            <a:noFill/>
          </a:ln>
        </p:spPr>
      </p:pic>
      <p:sp>
        <p:nvSpPr>
          <p:cNvPr id="260" name="Text 1"/>
          <p:cNvSpPr/>
          <p:nvPr/>
        </p:nvSpPr>
        <p:spPr>
          <a:xfrm>
            <a:off x="914400" y="118872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306998"/>
                </a:solidFill>
                <a:latin typeface="Arial"/>
                <a:ea typeface="Arial"/>
              </a:rPr>
              <a:t>Open Command Prompt (cmd) or Terminal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1" name="Shape 2"/>
          <p:cNvSpPr/>
          <p:nvPr/>
        </p:nvSpPr>
        <p:spPr>
          <a:xfrm>
            <a:off x="1371600" y="1828800"/>
            <a:ext cx="6400080" cy="639360"/>
          </a:xfrm>
          <a:prstGeom prst="rect">
            <a:avLst/>
          </a:prstGeom>
          <a:solidFill>
            <a:srgbClr val="1e1e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3"/>
          <p:cNvSpPr/>
          <p:nvPr/>
        </p:nvSpPr>
        <p:spPr>
          <a:xfrm>
            <a:off x="1554480" y="1965960"/>
            <a:ext cx="6034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ff00"/>
                </a:solidFill>
                <a:latin typeface="Courier New"/>
                <a:ea typeface="Courier New"/>
              </a:rPr>
              <a:t>$ python --version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63" name="Shape 4"/>
          <p:cNvSpPr/>
          <p:nvPr/>
        </p:nvSpPr>
        <p:spPr>
          <a:xfrm>
            <a:off x="1371600" y="2651760"/>
            <a:ext cx="6400080" cy="63936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Text 5"/>
          <p:cNvSpPr/>
          <p:nvPr/>
        </p:nvSpPr>
        <p:spPr>
          <a:xfrm>
            <a:off x="1554480" y="2788920"/>
            <a:ext cx="6034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7ae60"/>
                </a:solidFill>
                <a:latin typeface="Courier New"/>
                <a:ea typeface="Courier New"/>
              </a:rPr>
              <a:t>Python 3.13.x</a:t>
            </a:r>
            <a:endParaRPr b="0" lang="en-IN" sz="2000" spc="-1" strike="noStrike">
              <a:latin typeface="Arial"/>
            </a:endParaRPr>
          </a:p>
        </p:txBody>
      </p:sp>
      <p:pic>
        <p:nvPicPr>
          <p:cNvPr id="265" name="Image 1" descr="preencoded.png"/>
          <p:cNvPicPr/>
          <p:nvPr/>
        </p:nvPicPr>
        <p:blipFill>
          <a:blip r:embed="rId2"/>
          <a:stretch/>
        </p:blipFill>
        <p:spPr>
          <a:xfrm>
            <a:off x="4297680" y="3566160"/>
            <a:ext cx="547920" cy="547920"/>
          </a:xfrm>
          <a:prstGeom prst="rect">
            <a:avLst/>
          </a:prstGeom>
          <a:ln w="0">
            <a:noFill/>
          </a:ln>
        </p:spPr>
      </p:pic>
      <p:sp>
        <p:nvSpPr>
          <p:cNvPr id="266" name="Text 6"/>
          <p:cNvSpPr/>
          <p:nvPr/>
        </p:nvSpPr>
        <p:spPr>
          <a:xfrm>
            <a:off x="1371600" y="420624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7ae60"/>
                </a:solidFill>
                <a:latin typeface="Arial"/>
                <a:ea typeface="Arial"/>
              </a:rPr>
              <a:t>If you see the version number, Python is correctly installed!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 0"/>
          <p:cNvSpPr/>
          <p:nvPr/>
        </p:nvSpPr>
        <p:spPr>
          <a:xfrm>
            <a:off x="457200" y="27432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Troubleshooting Installation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68" name="Shape 1"/>
          <p:cNvSpPr/>
          <p:nvPr/>
        </p:nvSpPr>
        <p:spPr>
          <a:xfrm>
            <a:off x="731520" y="1371600"/>
            <a:ext cx="7680240" cy="685080"/>
          </a:xfrm>
          <a:prstGeom prst="rect">
            <a:avLst/>
          </a:prstGeom>
          <a:solidFill>
            <a:srgbClr val="f5f5f5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69" name="Image 0" descr="preencoded.png"/>
          <p:cNvPicPr/>
          <p:nvPr/>
        </p:nvPicPr>
        <p:blipFill>
          <a:blip r:embed="rId1"/>
          <a:stretch/>
        </p:blipFill>
        <p:spPr>
          <a:xfrm>
            <a:off x="914400" y="153180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70" name="Text 2"/>
          <p:cNvSpPr/>
          <p:nvPr/>
        </p:nvSpPr>
        <p:spPr>
          <a:xfrm>
            <a:off x="1463040" y="146304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74c3c"/>
                </a:solidFill>
                <a:latin typeface="Arial"/>
                <a:ea typeface="Arial"/>
              </a:rPr>
              <a:t>'python' is not recognized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1" name="Text 3"/>
          <p:cNvSpPr/>
          <p:nvPr/>
        </p:nvSpPr>
        <p:spPr>
          <a:xfrm>
            <a:off x="1463040" y="1737360"/>
            <a:ext cx="6400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Add Python to PATH (re-run installer)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2" name="Shape 4"/>
          <p:cNvSpPr/>
          <p:nvPr/>
        </p:nvSpPr>
        <p:spPr>
          <a:xfrm>
            <a:off x="731520" y="2194560"/>
            <a:ext cx="7680240" cy="685080"/>
          </a:xfrm>
          <a:prstGeom prst="rect">
            <a:avLst/>
          </a:prstGeom>
          <a:solidFill>
            <a:srgbClr val="f5f5f5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73" name="Image 1" descr="preencoded.png"/>
          <p:cNvPicPr/>
          <p:nvPr/>
        </p:nvPicPr>
        <p:blipFill>
          <a:blip r:embed="rId2"/>
          <a:stretch/>
        </p:blipFill>
        <p:spPr>
          <a:xfrm>
            <a:off x="914400" y="235476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74" name="Text 5"/>
          <p:cNvSpPr/>
          <p:nvPr/>
        </p:nvSpPr>
        <p:spPr>
          <a:xfrm>
            <a:off x="1463040" y="228600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74c3c"/>
                </a:solidFill>
                <a:latin typeface="Arial"/>
                <a:ea typeface="Arial"/>
              </a:rPr>
              <a:t>Wrong version showing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5" name="Text 6"/>
          <p:cNvSpPr/>
          <p:nvPr/>
        </p:nvSpPr>
        <p:spPr>
          <a:xfrm>
            <a:off x="1463040" y="2560320"/>
            <a:ext cx="6400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Multiple Python versions installed - use 'python3'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6" name="Shape 7"/>
          <p:cNvSpPr/>
          <p:nvPr/>
        </p:nvSpPr>
        <p:spPr>
          <a:xfrm>
            <a:off x="731520" y="3017520"/>
            <a:ext cx="7680240" cy="685080"/>
          </a:xfrm>
          <a:prstGeom prst="rect">
            <a:avLst/>
          </a:prstGeom>
          <a:solidFill>
            <a:srgbClr val="f5f5f5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77" name="Image 2" descr="preencoded.png"/>
          <p:cNvPicPr/>
          <p:nvPr/>
        </p:nvPicPr>
        <p:blipFill>
          <a:blip r:embed="rId3"/>
          <a:stretch/>
        </p:blipFill>
        <p:spPr>
          <a:xfrm>
            <a:off x="914400" y="317772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78" name="Text 8"/>
          <p:cNvSpPr/>
          <p:nvPr/>
        </p:nvSpPr>
        <p:spPr>
          <a:xfrm>
            <a:off x="1463040" y="310896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74c3c"/>
                </a:solidFill>
                <a:latin typeface="Arial"/>
                <a:ea typeface="Arial"/>
              </a:rPr>
              <a:t>Permission denied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9" name="Text 9"/>
          <p:cNvSpPr/>
          <p:nvPr/>
        </p:nvSpPr>
        <p:spPr>
          <a:xfrm>
            <a:off x="1463040" y="3383280"/>
            <a:ext cx="6400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Run command prompt as Administrator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0" name="Shape 10"/>
          <p:cNvSpPr/>
          <p:nvPr/>
        </p:nvSpPr>
        <p:spPr>
          <a:xfrm>
            <a:off x="731520" y="3840480"/>
            <a:ext cx="7680240" cy="685080"/>
          </a:xfrm>
          <a:prstGeom prst="rect">
            <a:avLst/>
          </a:prstGeom>
          <a:solidFill>
            <a:srgbClr val="f5f5f5"/>
          </a:solidFill>
          <a:ln w="127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81" name="Image 3" descr="preencoded.png"/>
          <p:cNvPicPr/>
          <p:nvPr/>
        </p:nvPicPr>
        <p:blipFill>
          <a:blip r:embed="rId4"/>
          <a:stretch/>
        </p:blipFill>
        <p:spPr>
          <a:xfrm>
            <a:off x="914400" y="400068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82" name="Text 11"/>
          <p:cNvSpPr/>
          <p:nvPr/>
        </p:nvSpPr>
        <p:spPr>
          <a:xfrm>
            <a:off x="1463040" y="393192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74c3c"/>
                </a:solidFill>
                <a:latin typeface="Arial"/>
                <a:ea typeface="Arial"/>
              </a:rPr>
              <a:t>Installation fails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3" name="Text 12"/>
          <p:cNvSpPr/>
          <p:nvPr/>
        </p:nvSpPr>
        <p:spPr>
          <a:xfrm>
            <a:off x="1463040" y="4206240"/>
            <a:ext cx="6400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Disable antivirus temporarily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 0"/>
          <p:cNvSpPr/>
          <p:nvPr/>
        </p:nvSpPr>
        <p:spPr>
          <a:xfrm>
            <a:off x="457200" y="4572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d43b"/>
                </a:solidFill>
                <a:latin typeface="Arial"/>
                <a:ea typeface="Arial"/>
              </a:rPr>
              <a:t>Lesson 2 Summary</a:t>
            </a:r>
            <a:endParaRPr b="0" lang="en-IN" sz="4000" spc="-1" strike="noStrike">
              <a:latin typeface="Arial"/>
            </a:endParaRPr>
          </a:p>
        </p:txBody>
      </p:sp>
      <p:pic>
        <p:nvPicPr>
          <p:cNvPr id="285" name="Image 0" descr="preencoded.png"/>
          <p:cNvPicPr/>
          <p:nvPr/>
        </p:nvPicPr>
        <p:blipFill>
          <a:blip r:embed="rId1"/>
          <a:stretch/>
        </p:blipFill>
        <p:spPr>
          <a:xfrm>
            <a:off x="3840480" y="1188720"/>
            <a:ext cx="1462320" cy="1462320"/>
          </a:xfrm>
          <a:prstGeom prst="rect">
            <a:avLst/>
          </a:prstGeom>
          <a:ln w="0">
            <a:noFill/>
          </a:ln>
        </p:spPr>
      </p:pic>
      <p:sp>
        <p:nvSpPr>
          <p:cNvPr id="286" name="Text 1"/>
          <p:cNvSpPr/>
          <p:nvPr/>
        </p:nvSpPr>
        <p:spPr>
          <a:xfrm>
            <a:off x="914400" y="292608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✓ </a:t>
            </a: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Python 2 is retired (2020) - Always use Python 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7" name="Text 2"/>
          <p:cNvSpPr/>
          <p:nvPr/>
        </p:nvSpPr>
        <p:spPr>
          <a:xfrm>
            <a:off x="914400" y="32461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✓ </a:t>
            </a: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CPython is the standard implementation (95% usage)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8" name="Text 3"/>
          <p:cNvSpPr/>
          <p:nvPr/>
        </p:nvSpPr>
        <p:spPr>
          <a:xfrm>
            <a:off x="914400" y="356616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✓ </a:t>
            </a: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Python uses bytecode + PVM for cross-platform support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9" name="Text 4"/>
          <p:cNvSpPr/>
          <p:nvPr/>
        </p:nvSpPr>
        <p:spPr>
          <a:xfrm>
            <a:off x="914400" y="388620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✓ </a:t>
            </a: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Download from python.org/downloads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90" name="Text 5"/>
          <p:cNvSpPr/>
          <p:nvPr/>
        </p:nvSpPr>
        <p:spPr>
          <a:xfrm>
            <a:off x="914400" y="420624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✓ </a:t>
            </a: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Always check 'Add Python to PATH' during installation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91" name="Text 6"/>
          <p:cNvSpPr/>
          <p:nvPr/>
        </p:nvSpPr>
        <p:spPr>
          <a:xfrm>
            <a:off x="914400" y="452628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✓ </a:t>
            </a: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Verify with: python --version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Image 0" descr="preencoded.png"/>
          <p:cNvPicPr/>
          <p:nvPr/>
        </p:nvPicPr>
        <p:blipFill>
          <a:blip r:embed="rId1"/>
          <a:stretch/>
        </p:blipFill>
        <p:spPr>
          <a:xfrm>
            <a:off x="3840480" y="1371600"/>
            <a:ext cx="1462320" cy="1462320"/>
          </a:xfrm>
          <a:prstGeom prst="rect">
            <a:avLst/>
          </a:prstGeom>
          <a:ln w="0">
            <a:noFill/>
          </a:ln>
        </p:spPr>
      </p:pic>
      <p:sp>
        <p:nvSpPr>
          <p:cNvPr id="293" name="Text 0"/>
          <p:cNvSpPr/>
          <p:nvPr/>
        </p:nvSpPr>
        <p:spPr>
          <a:xfrm>
            <a:off x="457200" y="310896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d43b"/>
                </a:solidFill>
                <a:latin typeface="Arial"/>
                <a:ea typeface="Arial"/>
              </a:rPr>
              <a:t>Ready to Code!</a:t>
            </a:r>
            <a:endParaRPr b="0" lang="en-IN" sz="4400" spc="-1" strike="noStrike">
              <a:latin typeface="Arial"/>
            </a:endParaRPr>
          </a:p>
        </p:txBody>
      </p:sp>
      <p:pic>
        <p:nvPicPr>
          <p:cNvPr id="294" name="Image 1" descr="preencoded.png"/>
          <p:cNvPicPr/>
          <p:nvPr/>
        </p:nvPicPr>
        <p:blipFill>
          <a:blip r:embed="rId2"/>
          <a:stretch/>
        </p:blipFill>
        <p:spPr>
          <a:xfrm>
            <a:off x="4297680" y="3931920"/>
            <a:ext cx="547920" cy="547920"/>
          </a:xfrm>
          <a:prstGeom prst="rect">
            <a:avLst/>
          </a:prstGeom>
          <a:ln w="0">
            <a:noFill/>
          </a:ln>
        </p:spPr>
      </p:pic>
      <p:sp>
        <p:nvSpPr>
          <p:cNvPr id="295" name="Text 1"/>
          <p:cNvSpPr/>
          <p:nvPr/>
        </p:nvSpPr>
        <p:spPr>
          <a:xfrm>
            <a:off x="457200" y="429768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Next: Writing Your First Python Program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2026-01-30T11:25:38Z</dcterms:created>
  <dc:creator>Python Training</dc:creator>
  <dc:description/>
  <dc:language>en-IN</dc:language>
  <cp:lastModifiedBy/>
  <dcterms:modified xsi:type="dcterms:W3CDTF">2026-01-30T22:39:37Z</dcterms:modified>
  <cp:revision>5</cp:revision>
  <dc:subject>PptxGenJS Presentation</dc:subject>
  <dc:title>Python Version History, Installation &amp; Setup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