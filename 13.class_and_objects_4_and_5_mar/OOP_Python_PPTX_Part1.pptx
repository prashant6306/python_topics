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B679B77-FB21-4694-941C-3B424A7012A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01A295-F22B-4FF5-B7B8-9DE3C98111A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DCF338-87D1-4F63-95DB-F15F640EF4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611CFA-2006-4542-B5D7-A46973BD5A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4450CE-78F8-49FA-8EB3-24B07E6B49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FC6E8E-C919-497F-9E00-1BA67B2C78C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7A6D7C-68AB-4616-8807-2E27AC8F04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2BEDB6-3969-414D-B762-E7470E00D8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A3F951-AC62-4441-A501-3850CDDEB69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59538C-4D96-48BC-8E63-FA25D5C373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476102-4E89-4A76-9B61-B14F73168B4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127CA5-B5D2-4388-B12A-3D5790CDE1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EA4EC2-A175-41F3-8115-7E53EAA5774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647946-C9A6-48C7-A625-5F325A62E96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4F80D2-447F-4E7C-8B7A-17ACEAF2FD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3640" cy="514260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364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48640"/>
            <a:ext cx="2376360" cy="23763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48640"/>
            <a:ext cx="237636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🐍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74320" y="3108960"/>
            <a:ext cx="29250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92" strike="noStrike">
                <a:solidFill>
                  <a:srgbClr val="38bdf8"/>
                </a:solidFill>
                <a:latin typeface="Calibri"/>
                <a:ea typeface="DejaVu Sans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10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Object-Oriented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10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Session 8 · Part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1000" cy="35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10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Coordinate Geometry Practice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Reference Variables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Pass by Reference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Object Mutability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Encapsulation (Deep Dive)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02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The technical truth: what does a variable actually store?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 – The Technical Truth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182880" y="804600"/>
            <a:ext cx="4113720" cy="1919160"/>
          </a:xfrm>
          <a:prstGeom prst="rect">
            <a:avLst/>
          </a:prstGeom>
          <a:solidFill>
            <a:srgbClr val="1f0b0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Shape 6"/>
          <p:cNvSpPr/>
          <p:nvPr/>
        </p:nvSpPr>
        <p:spPr>
          <a:xfrm>
            <a:off x="182880" y="804600"/>
            <a:ext cx="411372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7"/>
          <p:cNvSpPr/>
          <p:nvPr/>
        </p:nvSpPr>
        <p:spPr>
          <a:xfrm>
            <a:off x="320040" y="8960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f87171"/>
                </a:solidFill>
                <a:latin typeface="Calibri"/>
                <a:ea typeface="DejaVu Sans"/>
              </a:rPr>
              <a:t>    </a:t>
            </a:r>
            <a:r>
              <a:rPr b="1" lang="en-US" sz="1000" spc="194" strike="noStrike">
                <a:solidFill>
                  <a:srgbClr val="f87171"/>
                </a:solidFill>
                <a:latin typeface="Calibri"/>
                <a:ea typeface="DejaVu Sans"/>
              </a:rPr>
              <a:t>COMMON MISCONCEPTION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320040" y="1207080"/>
            <a:ext cx="3747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"user = Employee('Alex', 'Dev')"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320040" y="1554480"/>
            <a:ext cx="3747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DejaVu Sans"/>
              </a:rPr>
              <a:t>People say: "user is an object of Employee class."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228600" y="822960"/>
            <a:ext cx="273240" cy="2732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1"/>
          <p:cNvSpPr/>
          <p:nvPr/>
        </p:nvSpPr>
        <p:spPr>
          <a:xfrm>
            <a:off x="228600" y="82296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✗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4572000" y="804600"/>
            <a:ext cx="4388040" cy="1919160"/>
          </a:xfrm>
          <a:prstGeom prst="rect">
            <a:avLst/>
          </a:prstGeom>
          <a:solidFill>
            <a:srgbClr val="0b1f12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3"/>
          <p:cNvSpPr/>
          <p:nvPr/>
        </p:nvSpPr>
        <p:spPr>
          <a:xfrm>
            <a:off x="4572000" y="804600"/>
            <a:ext cx="4388040" cy="53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4"/>
          <p:cNvSpPr/>
          <p:nvPr/>
        </p:nvSpPr>
        <p:spPr>
          <a:xfrm>
            <a:off x="4709160" y="8960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34d399"/>
                </a:solidFill>
                <a:latin typeface="Calibri"/>
                <a:ea typeface="DejaVu Sans"/>
              </a:rPr>
              <a:t>TECHNICALLY CORRECT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4709160" y="120708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DejaVu Sans"/>
              </a:rPr>
              <a:t>"user is a REFERENCE that holds the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DejaVu Sans"/>
              </a:rPr>
              <a:t>MEMORY ADDRESS of the object"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4709160" y="178308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DejaVu Sans"/>
              </a:rPr>
              <a:t>Employee() creates the object. user stores its address.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182880" y="2834640"/>
            <a:ext cx="8777160" cy="20106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 18"/>
          <p:cNvSpPr/>
          <p:nvPr/>
        </p:nvSpPr>
        <p:spPr>
          <a:xfrm>
            <a:off x="365760" y="292608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38bdf8"/>
                </a:solidFill>
                <a:latin typeface="Calibri"/>
                <a:ea typeface="DejaVu Sans"/>
              </a:rPr>
              <a:t>MEMORY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457200" y="3273480"/>
            <a:ext cx="1644840" cy="776160"/>
          </a:xfrm>
          <a:prstGeom prst="rect">
            <a:avLst/>
          </a:prstGeom>
          <a:solidFill>
            <a:srgbClr val="0c2a3a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emp3/emp4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457200" y="3620880"/>
            <a:ext cx="1644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0x7f3a4c2b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2148840" y="3657600"/>
            <a:ext cx="164592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3"/>
          <p:cNvSpPr/>
          <p:nvPr/>
        </p:nvSpPr>
        <p:spPr>
          <a:xfrm>
            <a:off x="3566160" y="340164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3931920" y="3200400"/>
            <a:ext cx="3199320" cy="1279080"/>
          </a:xfrm>
          <a:prstGeom prst="rect">
            <a:avLst/>
          </a:prstGeom>
          <a:solidFill>
            <a:srgbClr val="0c1a2a"/>
          </a:solidFill>
          <a:ln w="1905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25"/>
          <p:cNvSpPr/>
          <p:nvPr/>
        </p:nvSpPr>
        <p:spPr>
          <a:xfrm>
            <a:off x="4069080" y="3246120"/>
            <a:ext cx="2925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DejaVu Sans"/>
              </a:rPr>
              <a:t>Employee object @ 0x7f3a4c2b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4069080" y="3566160"/>
            <a:ext cx="29250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name = 'Alex'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job_title = 'Dev'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5" name="Shape 27"/>
          <p:cNvSpPr/>
          <p:nvPr/>
        </p:nvSpPr>
        <p:spPr>
          <a:xfrm>
            <a:off x="7315200" y="3108960"/>
            <a:ext cx="1553400" cy="1461960"/>
          </a:xfrm>
          <a:prstGeom prst="rect">
            <a:avLst/>
          </a:prstGeom>
          <a:solidFill>
            <a:srgbClr val="1a1a0c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8"/>
          <p:cNvSpPr/>
          <p:nvPr/>
        </p:nvSpPr>
        <p:spPr>
          <a:xfrm>
            <a:off x="7360920" y="3154680"/>
            <a:ext cx="1461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94" strike="noStrike">
                <a:solidFill>
                  <a:srgbClr val="f59e0b"/>
                </a:solidFill>
                <a:latin typeface="Calibri"/>
                <a:ea typeface="DejaVu Sans"/>
              </a:rPr>
              <a:t>PROOF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7360920" y="3447360"/>
            <a:ext cx="14619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id(user)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→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memory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address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 – 4 Key Points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82880" y="804600"/>
            <a:ext cx="4250880" cy="1964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6"/>
          <p:cNvSpPr/>
          <p:nvPr/>
        </p:nvSpPr>
        <p:spPr>
          <a:xfrm>
            <a:off x="182880" y="804600"/>
            <a:ext cx="425088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7"/>
          <p:cNvSpPr/>
          <p:nvPr/>
        </p:nvSpPr>
        <p:spPr>
          <a:xfrm>
            <a:off x="347400" y="941760"/>
            <a:ext cx="383040" cy="383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347400" y="9417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822960" y="96912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Object Without a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365760" y="139896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An object is created the moment the class is called. You don't need to assign it to a variable. Without a reference, the object exists in memory but is inaccessible.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365760" y="2039040"/>
            <a:ext cx="3930840" cy="56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457200" y="2066400"/>
            <a:ext cx="37479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Employee('Alex','Dev')  # created but immediately lost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4617720" y="804600"/>
            <a:ext cx="4250880" cy="1964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Shape 14"/>
          <p:cNvSpPr/>
          <p:nvPr/>
        </p:nvSpPr>
        <p:spPr>
          <a:xfrm>
            <a:off x="4617720" y="804600"/>
            <a:ext cx="4250880" cy="53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15"/>
          <p:cNvSpPr/>
          <p:nvPr/>
        </p:nvSpPr>
        <p:spPr>
          <a:xfrm>
            <a:off x="4782240" y="941760"/>
            <a:ext cx="383040" cy="3830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4782240" y="9417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5257800" y="96912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One Object, Many References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4800600" y="139896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Multiple variables can point to the same object. This is called aliasing — the same pattern you've seen with Python lists.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4800600" y="2039040"/>
            <a:ext cx="3930840" cy="56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0"/>
          <p:cNvSpPr/>
          <p:nvPr/>
        </p:nvSpPr>
        <p:spPr>
          <a:xfrm>
            <a:off x="4892040" y="2066400"/>
            <a:ext cx="37479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user = Employee('Alex','Dev')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alias = user  # both point to same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182880" y="2953440"/>
            <a:ext cx="4250880" cy="1964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Shape 22"/>
          <p:cNvSpPr/>
          <p:nvPr/>
        </p:nvSpPr>
        <p:spPr>
          <a:xfrm>
            <a:off x="182880" y="2953440"/>
            <a:ext cx="425088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23"/>
          <p:cNvSpPr/>
          <p:nvPr/>
        </p:nvSpPr>
        <p:spPr>
          <a:xfrm>
            <a:off x="347400" y="3090600"/>
            <a:ext cx="383040" cy="3830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4"/>
          <p:cNvSpPr/>
          <p:nvPr/>
        </p:nvSpPr>
        <p:spPr>
          <a:xfrm>
            <a:off x="347400" y="309060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822960" y="311796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DANGER — Changes Via Any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365760" y="354780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If you modify the object via one reference, ALL references see the change. They all point to the same memory location!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Shape 27"/>
          <p:cNvSpPr/>
          <p:nvPr/>
        </p:nvSpPr>
        <p:spPr>
          <a:xfrm>
            <a:off x="365760" y="4187880"/>
            <a:ext cx="3930840" cy="56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8"/>
          <p:cNvSpPr/>
          <p:nvPr/>
        </p:nvSpPr>
        <p:spPr>
          <a:xfrm>
            <a:off x="457200" y="4215240"/>
            <a:ext cx="37479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alias.name = 'Bob'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print(user.name)  # Output: Bob (!)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7" name="Shape 29"/>
          <p:cNvSpPr/>
          <p:nvPr/>
        </p:nvSpPr>
        <p:spPr>
          <a:xfrm>
            <a:off x="4617720" y="2953440"/>
            <a:ext cx="4250880" cy="1964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30"/>
          <p:cNvSpPr/>
          <p:nvPr/>
        </p:nvSpPr>
        <p:spPr>
          <a:xfrm>
            <a:off x="4617720" y="2953440"/>
            <a:ext cx="4250880" cy="53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31"/>
          <p:cNvSpPr/>
          <p:nvPr/>
        </p:nvSpPr>
        <p:spPr>
          <a:xfrm>
            <a:off x="4782240" y="3090600"/>
            <a:ext cx="383040" cy="383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32"/>
          <p:cNvSpPr/>
          <p:nvPr/>
        </p:nvSpPr>
        <p:spPr>
          <a:xfrm>
            <a:off x="4782240" y="309060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1" name="Text 33"/>
          <p:cNvSpPr/>
          <p:nvPr/>
        </p:nvSpPr>
        <p:spPr>
          <a:xfrm>
            <a:off x="5257800" y="311796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alias = user Does NOT Copy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4800600" y="354780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Writing alias = user does NOT create a new object. It merely copies the memory address. For a true copy, use the copy module.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35"/>
          <p:cNvSpPr/>
          <p:nvPr/>
        </p:nvSpPr>
        <p:spPr>
          <a:xfrm>
            <a:off x="4800600" y="4187880"/>
            <a:ext cx="3930840" cy="56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6"/>
          <p:cNvSpPr/>
          <p:nvPr/>
        </p:nvSpPr>
        <p:spPr>
          <a:xfrm>
            <a:off x="4892040" y="4215240"/>
            <a:ext cx="37479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import copy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new_obj = copy.deepcopy(user)  # real copy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1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03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4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Pass by Reference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When you pass an object to a function, what actually travels?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Pass by Reference – Proof with id()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182880" y="804600"/>
            <a:ext cx="5211000" cy="40222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7" name="Text 6"/>
          <p:cNvSpPr/>
          <p:nvPr/>
        </p:nvSpPr>
        <p:spPr>
          <a:xfrm>
            <a:off x="320040" y="896040"/>
            <a:ext cx="4936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  <a:ea typeface="DejaVu Sans"/>
              </a:rPr>
              <a:t>Code: Passing &amp; Returning Objects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320040" y="1280160"/>
            <a:ext cx="4899960" cy="38635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8"/>
          <p:cNvSpPr/>
          <p:nvPr/>
        </p:nvSpPr>
        <p:spPr>
          <a:xfrm>
            <a:off x="429840" y="133488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9"/>
          <p:cNvSpPr/>
          <p:nvPr/>
        </p:nvSpPr>
        <p:spPr>
          <a:xfrm>
            <a:off x="612720" y="133488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0"/>
          <p:cNvSpPr/>
          <p:nvPr/>
        </p:nvSpPr>
        <p:spPr>
          <a:xfrm>
            <a:off x="795600" y="133488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1"/>
          <p:cNvSpPr/>
          <p:nvPr/>
        </p:nvSpPr>
        <p:spPr>
          <a:xfrm>
            <a:off x="320040" y="1280160"/>
            <a:ext cx="493668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2"/>
          <p:cNvSpPr/>
          <p:nvPr/>
        </p:nvSpPr>
        <p:spPr>
          <a:xfrm>
            <a:off x="429840" y="1572840"/>
            <a:ext cx="4753800" cy="29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Employee: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emp_name, role):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.emp_name = emp_name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.role = role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Function receives an Employee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display_info(emp):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('Inside fn, id:', id(emp))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(emp.emp_name, '-', emp.role)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Function returns an Employee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build_employee():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temp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'Jamie'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'Manager'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temp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Proof: same id inside &amp; outside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worker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'Dev'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('Outside fn, id:', id(worker))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display_info(worker)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SAME id in both lines!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5577840" y="804600"/>
            <a:ext cx="3422160" cy="4235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Text 14"/>
          <p:cNvSpPr/>
          <p:nvPr/>
        </p:nvSpPr>
        <p:spPr>
          <a:xfrm>
            <a:off x="5715000" y="89604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  <a:ea typeface="DejaVu Sans"/>
              </a:rPr>
              <a:t>Why This Matters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715000" y="135324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Object as argument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5715000" y="1627560"/>
            <a:ext cx="31078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For the first time — you're passing a class object to a function (not just int or list)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5715000" y="228600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Object as return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5715000" y="2560320"/>
            <a:ext cx="31078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Functions can also return objects — very common in real programs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5715000" y="321876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Same memory address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5715000" y="3493080"/>
            <a:ext cx="31078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id() inside and outside the function is IDENTICAL — proves Python passes the reference (address), not a copy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715000" y="415152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Changes persist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5715000" y="4425840"/>
            <a:ext cx="31078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Modifying emp.emp_name inside a function changes it globally — the original object is affected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04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4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Object Mutability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User-defined class objects are mutable by default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Object Mutability – Proof &amp; Interview Answer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182880" y="804600"/>
            <a:ext cx="4250880" cy="2376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Shape 6"/>
          <p:cNvSpPr/>
          <p:nvPr/>
        </p:nvSpPr>
        <p:spPr>
          <a:xfrm>
            <a:off x="182880" y="804600"/>
            <a:ext cx="4250880" cy="53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7"/>
          <p:cNvSpPr/>
          <p:nvPr/>
        </p:nvSpPr>
        <p:spPr>
          <a:xfrm>
            <a:off x="320040" y="896040"/>
            <a:ext cx="4022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MUTABLE (can change in-place)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320040" y="1298520"/>
            <a:ext cx="402228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Lists  [ ]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Sets  { }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Dicts  { : }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User-defined objects 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320040" y="2395800"/>
            <a:ext cx="402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→ </a:t>
            </a:r>
            <a:r>
              <a:rPr b="1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id() stays the SAME after changes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4617720" y="804600"/>
            <a:ext cx="4250880" cy="2376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11"/>
          <p:cNvSpPr/>
          <p:nvPr/>
        </p:nvSpPr>
        <p:spPr>
          <a:xfrm>
            <a:off x="4617720" y="804600"/>
            <a:ext cx="425088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2"/>
          <p:cNvSpPr/>
          <p:nvPr/>
        </p:nvSpPr>
        <p:spPr>
          <a:xfrm>
            <a:off x="4754880" y="896040"/>
            <a:ext cx="4022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DejaVu Sans"/>
              </a:rPr>
              <a:t>IMMUTABLE (change = new object)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4754880" y="1298520"/>
            <a:ext cx="402228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Strings  str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Integers  int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Tuples  ( 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4754880" y="2395800"/>
            <a:ext cx="4022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ourier New"/>
                <a:ea typeface="Courier New"/>
              </a:rPr>
              <a:t>→ </a:t>
            </a:r>
            <a:r>
              <a:rPr b="1" lang="en-US" sz="1200" spc="-1" strike="noStrike">
                <a:solidFill>
                  <a:srgbClr val="f87171"/>
                </a:solidFill>
                <a:latin typeface="Courier New"/>
                <a:ea typeface="Courier New"/>
              </a:rPr>
              <a:t>id() changes when you 'modify'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2880" y="3273480"/>
            <a:ext cx="5036400" cy="212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Shape 16"/>
          <p:cNvSpPr/>
          <p:nvPr/>
        </p:nvSpPr>
        <p:spPr>
          <a:xfrm>
            <a:off x="182880" y="3273480"/>
            <a:ext cx="5028120" cy="22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17"/>
          <p:cNvSpPr/>
          <p:nvPr/>
        </p:nvSpPr>
        <p:spPr>
          <a:xfrm>
            <a:off x="292680" y="3328560"/>
            <a:ext cx="99360" cy="99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8"/>
          <p:cNvSpPr/>
          <p:nvPr/>
        </p:nvSpPr>
        <p:spPr>
          <a:xfrm>
            <a:off x="475560" y="3328560"/>
            <a:ext cx="99360" cy="99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19"/>
          <p:cNvSpPr/>
          <p:nvPr/>
        </p:nvSpPr>
        <p:spPr>
          <a:xfrm>
            <a:off x="658440" y="3328560"/>
            <a:ext cx="99360" cy="99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20"/>
          <p:cNvSpPr/>
          <p:nvPr/>
        </p:nvSpPr>
        <p:spPr>
          <a:xfrm>
            <a:off x="292680" y="3520440"/>
            <a:ext cx="4845240" cy="12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update_name(emp):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emp.emp_name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'Morgan'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emp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worker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'Dev'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(id(worker))   # e.g. 140234567890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result = update_name(worker)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(id(result))   # SAME: 140234567890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id unchanged → object was modified IN PLACE → MUTABLE!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5394960" y="3273480"/>
            <a:ext cx="3565080" cy="1599120"/>
          </a:xfrm>
          <a:prstGeom prst="rect">
            <a:avLst/>
          </a:prstGeom>
          <a:solidFill>
            <a:srgbClr val="1a2a0c"/>
          </a:solidFill>
          <a:ln w="25400">
            <a:solidFill>
              <a:srgbClr val="34d399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Text 22"/>
          <p:cNvSpPr/>
          <p:nvPr/>
        </p:nvSpPr>
        <p:spPr>
          <a:xfrm>
            <a:off x="5532120" y="336492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34d399"/>
                </a:solidFill>
                <a:latin typeface="Calibri"/>
                <a:ea typeface="DejaVu Sans"/>
              </a:rPr>
              <a:t>INTERVIEW ANSWER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5532120" y="3657600"/>
            <a:ext cx="32907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User-defined class objects are MUTABLE by default. Proof: after modifying an attribute inside a function, the object's id() remains unchanged — the change happened in place.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1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05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Data hiding + controlled access · The story that explains why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The Story (ATM Class)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182880" y="804600"/>
            <a:ext cx="8777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4a3b8"/>
                </a:solidFill>
                <a:latin typeface="Calibri"/>
                <a:ea typeface="DejaVu Sans"/>
              </a:rPr>
              <a:t>Scenario: You (the HERO — senior developer) have written this ATM class. A junior developer joins and causes trouble.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182880" y="1280160"/>
            <a:ext cx="5302440" cy="35650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7"/>
          <p:cNvSpPr/>
          <p:nvPr/>
        </p:nvSpPr>
        <p:spPr>
          <a:xfrm>
            <a:off x="182880" y="1280160"/>
            <a:ext cx="530244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8"/>
          <p:cNvSpPr/>
          <p:nvPr/>
        </p:nvSpPr>
        <p:spPr>
          <a:xfrm>
            <a:off x="292680" y="133488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9"/>
          <p:cNvSpPr/>
          <p:nvPr/>
        </p:nvSpPr>
        <p:spPr>
          <a:xfrm>
            <a:off x="475560" y="133488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10"/>
          <p:cNvSpPr/>
          <p:nvPr/>
        </p:nvSpPr>
        <p:spPr>
          <a:xfrm>
            <a:off x="658440" y="133488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1"/>
          <p:cNvSpPr/>
          <p:nvPr/>
        </p:nvSpPr>
        <p:spPr>
          <a:xfrm>
            <a:off x="182880" y="1298520"/>
            <a:ext cx="5256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bank_machine.py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292680" y="1572840"/>
            <a:ext cx="5119560" cy="32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 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 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setup_pin(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 input(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'Set PIN: '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view_balance(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print('Balance:',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withdraw(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amt):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== input(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'PIN: '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 &gt;= amt: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.account_balance -= amt  # CRASH if balance is a string!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5669280" y="1280160"/>
            <a:ext cx="3290760" cy="3565080"/>
          </a:xfrm>
          <a:prstGeom prst="rect">
            <a:avLst/>
          </a:prstGeom>
          <a:solidFill>
            <a:srgbClr val="1f050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Shape 14"/>
          <p:cNvSpPr/>
          <p:nvPr/>
        </p:nvSpPr>
        <p:spPr>
          <a:xfrm>
            <a:off x="5669280" y="1280160"/>
            <a:ext cx="329076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5"/>
          <p:cNvSpPr/>
          <p:nvPr/>
        </p:nvSpPr>
        <p:spPr>
          <a:xfrm>
            <a:off x="5806440" y="137160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DejaVu Sans"/>
              </a:rPr>
              <a:t>THE JUNIOR DEVELOPER'S SABOTAGE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5806440" y="1828800"/>
            <a:ext cx="3016440" cy="182772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7"/>
          <p:cNvSpPr/>
          <p:nvPr/>
        </p:nvSpPr>
        <p:spPr>
          <a:xfrm>
            <a:off x="5916240" y="1883520"/>
            <a:ext cx="283356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Villain corrupts the balance!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machine.account_balance = 'hehe'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machine.setup_pin()  # Works fine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machine.withdraw(500)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CRASH! Can't do 'hehe' - 500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TypeError: unsupported operand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type(s) for -=: 'str' and 'int'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5806440" y="3749040"/>
            <a:ext cx="30164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Problem: Python allows ANYONE to modify object attributes directly from outside the class. The senior dev gets blamed for the crash!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Private Variables &amp; Name Mangling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182880" y="804600"/>
            <a:ext cx="457092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Text 6"/>
          <p:cNvSpPr/>
          <p:nvPr/>
        </p:nvSpPr>
        <p:spPr>
          <a:xfrm>
            <a:off x="320040" y="896040"/>
            <a:ext cx="4296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  <a:ea typeface="DejaVu Sans"/>
              </a:rPr>
              <a:t>SOLUTION 1: Private Variables (__ prefix)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320040" y="1261800"/>
            <a:ext cx="4296600" cy="12333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8"/>
          <p:cNvSpPr/>
          <p:nvPr/>
        </p:nvSpPr>
        <p:spPr>
          <a:xfrm>
            <a:off x="429840" y="1316880"/>
            <a:ext cx="411372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class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self.__secret_pin = ''    # PRIVATE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self.__account_balance = 0  # PRIVATE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From outside: obj.__account_balance → NOT visible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4937760" y="804600"/>
            <a:ext cx="402228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10"/>
          <p:cNvSpPr/>
          <p:nvPr/>
        </p:nvSpPr>
        <p:spPr>
          <a:xfrm>
            <a:off x="5074920" y="896040"/>
            <a:ext cx="3747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NAME MANGLING — Python's Trick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074920" y="1261800"/>
            <a:ext cx="3747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Python renames self.__account_balance internally to _BankMachine__account_balance in memory.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5074920" y="1801440"/>
            <a:ext cx="3747960" cy="50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3"/>
          <p:cNvSpPr/>
          <p:nvPr/>
        </p:nvSpPr>
        <p:spPr>
          <a:xfrm>
            <a:off x="5184720" y="1856160"/>
            <a:ext cx="356508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self.__balance  →  _BankMachine__balance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Shape 14"/>
          <p:cNvSpPr/>
          <p:nvPr/>
        </p:nvSpPr>
        <p:spPr>
          <a:xfrm>
            <a:off x="182880" y="2816280"/>
            <a:ext cx="4113720" cy="2010600"/>
          </a:xfrm>
          <a:prstGeom prst="rect">
            <a:avLst/>
          </a:prstGeom>
          <a:solidFill>
            <a:srgbClr val="200a0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15"/>
          <p:cNvSpPr/>
          <p:nvPr/>
        </p:nvSpPr>
        <p:spPr>
          <a:xfrm>
            <a:off x="182880" y="2816280"/>
            <a:ext cx="411372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6"/>
          <p:cNvSpPr/>
          <p:nvPr/>
        </p:nvSpPr>
        <p:spPr>
          <a:xfrm>
            <a:off x="320040" y="290772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DejaVu Sans"/>
              </a:rPr>
              <a:t>LOOPHOLE — The Villain Strikes Back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320040" y="3264480"/>
            <a:ext cx="3839400" cy="118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8"/>
          <p:cNvSpPr/>
          <p:nvPr/>
        </p:nvSpPr>
        <p:spPr>
          <a:xfrm>
            <a:off x="429840" y="3319200"/>
            <a:ext cx="365652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Villain discovers name mangling and uses it: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machine._BankMachine__account_balance = 'hehe'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This DOES change the real private variable!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withdraw() will crash again!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4480560" y="2816280"/>
            <a:ext cx="4479480" cy="2010600"/>
          </a:xfrm>
          <a:prstGeom prst="rect">
            <a:avLst/>
          </a:prstGeom>
          <a:solidFill>
            <a:srgbClr val="0c1a2a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9" name="Shape 20"/>
          <p:cNvSpPr/>
          <p:nvPr/>
        </p:nvSpPr>
        <p:spPr>
          <a:xfrm>
            <a:off x="4480560" y="2816280"/>
            <a:ext cx="447948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1"/>
          <p:cNvSpPr/>
          <p:nvPr/>
        </p:nvSpPr>
        <p:spPr>
          <a:xfrm>
            <a:off x="4617720" y="2907720"/>
            <a:ext cx="4205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Python's Philosophy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4617720" y="3264480"/>
            <a:ext cx="429660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Python is a language built for adults. Nothing is truly private. Double underscore is a Gentleman's Agreement — it signals that a variable is private and should not be accessed externally.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Unlike Java (where private is enforced), Python trusts developers to follow convention. If someone intentionally bypasses it — that is a team culture problem, not Python's responsibility.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Getters &amp; Setters (The Real Solution)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5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7" name="Shape 5"/>
          <p:cNvSpPr/>
          <p:nvPr/>
        </p:nvSpPr>
        <p:spPr>
          <a:xfrm>
            <a:off x="182880" y="804600"/>
            <a:ext cx="5211000" cy="40680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6"/>
          <p:cNvSpPr/>
          <p:nvPr/>
        </p:nvSpPr>
        <p:spPr>
          <a:xfrm>
            <a:off x="182880" y="804600"/>
            <a:ext cx="521100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7"/>
          <p:cNvSpPr/>
          <p:nvPr/>
        </p:nvSpPr>
        <p:spPr>
          <a:xfrm>
            <a:off x="292680" y="85968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8"/>
          <p:cNvSpPr/>
          <p:nvPr/>
        </p:nvSpPr>
        <p:spPr>
          <a:xfrm>
            <a:off x="475560" y="85968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9"/>
          <p:cNvSpPr/>
          <p:nvPr/>
        </p:nvSpPr>
        <p:spPr>
          <a:xfrm>
            <a:off x="658440" y="85968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0"/>
          <p:cNvSpPr/>
          <p:nvPr/>
        </p:nvSpPr>
        <p:spPr>
          <a:xfrm>
            <a:off x="182880" y="822960"/>
            <a:ext cx="51652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bank_machine_v2.py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3" name="Text 11"/>
          <p:cNvSpPr/>
          <p:nvPr/>
        </p:nvSpPr>
        <p:spPr>
          <a:xfrm>
            <a:off x="292680" y="1097280"/>
            <a:ext cx="502812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.__secret_pin = 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GETTER — read-only access to balance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retrieve_balance(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SETTER — write access WITH validation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assign_balance(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int: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.__account_balance = new_amount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else: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('Invalid! Balance must be an integer.')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Usage ---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 = BankMachine()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m.assign_balance(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1500</a:t>
            </a:r>
            <a:r>
              <a:rPr b="0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)         # OK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(m.retrieve_balance())    # Output: 1500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m.assign_balance(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'hehe'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)     # Rejected!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(m.retrieve_balance())    # Still: 1500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4" name="Shape 12"/>
          <p:cNvSpPr/>
          <p:nvPr/>
        </p:nvSpPr>
        <p:spPr>
          <a:xfrm>
            <a:off x="5577840" y="804600"/>
            <a:ext cx="3382200" cy="182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Text 13"/>
          <p:cNvSpPr/>
          <p:nvPr/>
        </p:nvSpPr>
        <p:spPr>
          <a:xfrm>
            <a:off x="5715000" y="896040"/>
            <a:ext cx="3107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4" strike="noStrike">
                <a:solidFill>
                  <a:srgbClr val="34d399"/>
                </a:solidFill>
                <a:latin typeface="Calibri"/>
                <a:ea typeface="DejaVu Sans"/>
              </a:rPr>
              <a:t>GETTER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14"/>
          <p:cNvSpPr/>
          <p:nvPr/>
        </p:nvSpPr>
        <p:spPr>
          <a:xfrm>
            <a:off x="5715000" y="1207080"/>
            <a:ext cx="310788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Returns the value of a private variable. Gives READ-ONLY access from outside the class. No modification possible through a getter.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7" name="Shape 15"/>
          <p:cNvSpPr/>
          <p:nvPr/>
        </p:nvSpPr>
        <p:spPr>
          <a:xfrm>
            <a:off x="5577840" y="2743200"/>
            <a:ext cx="338220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Text 16"/>
          <p:cNvSpPr/>
          <p:nvPr/>
        </p:nvSpPr>
        <p:spPr>
          <a:xfrm>
            <a:off x="5715000" y="2834640"/>
            <a:ext cx="3107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4" strike="noStrike">
                <a:solidFill>
                  <a:srgbClr val="f59e0b"/>
                </a:solidFill>
                <a:latin typeface="Calibri"/>
                <a:ea typeface="DejaVu Sans"/>
              </a:rPr>
              <a:t>SETTER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5715000" y="3154680"/>
            <a:ext cx="31078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Allows changing a private variable's value — but only AFTER passing validation. You control exactly what values are acceptable. Invalid data is silently rejected.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The Complete Answer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3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182880" y="804600"/>
            <a:ext cx="8777160" cy="132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Text 6"/>
          <p:cNvSpPr/>
          <p:nvPr/>
        </p:nvSpPr>
        <p:spPr>
          <a:xfrm>
            <a:off x="320040" y="896040"/>
            <a:ext cx="8411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3" strike="noStrike">
                <a:solidFill>
                  <a:srgbClr val="38bdf8"/>
                </a:solidFill>
                <a:latin typeface="Calibri"/>
                <a:ea typeface="DejaVu Sans"/>
              </a:rPr>
              <a:t>THE CAPSULE ANALOGY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365760" y="1207080"/>
            <a:ext cx="1416240" cy="684720"/>
          </a:xfrm>
          <a:prstGeom prst="rect">
            <a:avLst/>
          </a:prstGeom>
          <a:solidFill>
            <a:srgbClr val="0d1117"/>
          </a:solidFill>
          <a:ln w="1905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8"/>
          <p:cNvSpPr/>
          <p:nvPr/>
        </p:nvSpPr>
        <p:spPr>
          <a:xfrm>
            <a:off x="411480" y="1207080"/>
            <a:ext cx="13248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87171"/>
                </a:solidFill>
                <a:latin typeface="Calibri"/>
                <a:ea typeface="DejaVu Sans"/>
              </a:rPr>
              <a:t>Private Attribute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87171"/>
                </a:solidFill>
                <a:latin typeface="Calibri"/>
                <a:ea typeface="DejaVu Sans"/>
              </a:rPr>
              <a:t>__account_balance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1828800" y="1261800"/>
            <a:ext cx="1818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1965960" y="1207080"/>
            <a:ext cx="2056320" cy="68472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1"/>
          <p:cNvSpPr/>
          <p:nvPr/>
        </p:nvSpPr>
        <p:spPr>
          <a:xfrm>
            <a:off x="2011680" y="1207080"/>
            <a:ext cx="1964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DejaVu Sans"/>
              </a:rPr>
              <a:t>Getter Method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DejaVu Sans"/>
              </a:rPr>
              <a:t>retrieve_balance()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4069080" y="1261800"/>
            <a:ext cx="1818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3" name="Shape 13"/>
          <p:cNvSpPr/>
          <p:nvPr/>
        </p:nvSpPr>
        <p:spPr>
          <a:xfrm>
            <a:off x="4206240" y="1207080"/>
            <a:ext cx="2056320" cy="684720"/>
          </a:xfrm>
          <a:prstGeom prst="rect">
            <a:avLst/>
          </a:prstGeom>
          <a:solidFill>
            <a:srgbClr val="0d1117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4"/>
          <p:cNvSpPr/>
          <p:nvPr/>
        </p:nvSpPr>
        <p:spPr>
          <a:xfrm>
            <a:off x="4251960" y="1207080"/>
            <a:ext cx="1964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DejaVu Sans"/>
              </a:rPr>
              <a:t>Setter Method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DejaVu Sans"/>
              </a:rPr>
              <a:t>assign_balance()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6309360" y="1261800"/>
            <a:ext cx="1818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=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6446520" y="1207080"/>
            <a:ext cx="2467800" cy="68472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7"/>
          <p:cNvSpPr/>
          <p:nvPr/>
        </p:nvSpPr>
        <p:spPr>
          <a:xfrm>
            <a:off x="6492240" y="1207080"/>
            <a:ext cx="2376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  <a:ea typeface="DejaVu Sans"/>
              </a:rPr>
              <a:t>ONE CAPSULE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  <a:ea typeface="DejaVu Sans"/>
              </a:rPr>
              <a:t>(Encapsulation)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182880" y="2249280"/>
            <a:ext cx="8777160" cy="123336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19"/>
          <p:cNvSpPr/>
          <p:nvPr/>
        </p:nvSpPr>
        <p:spPr>
          <a:xfrm>
            <a:off x="182880" y="2249280"/>
            <a:ext cx="53640" cy="123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0"/>
          <p:cNvSpPr/>
          <p:nvPr/>
        </p:nvSpPr>
        <p:spPr>
          <a:xfrm>
            <a:off x="365760" y="2340720"/>
            <a:ext cx="1370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38bdf8"/>
                </a:solidFill>
                <a:latin typeface="Calibri"/>
                <a:ea typeface="DejaVu Sans"/>
              </a:rPr>
              <a:t>DEFINITION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365760" y="2633400"/>
            <a:ext cx="8411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Encapsulation = hiding internal data (making variables private) + providing controlled access through getter and setter methods. It prevents external code from accidentally or intentionally corrupting the internal state of an object.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2" name="Shape 22"/>
          <p:cNvSpPr/>
          <p:nvPr/>
        </p:nvSpPr>
        <p:spPr>
          <a:xfrm>
            <a:off x="182880" y="3584520"/>
            <a:ext cx="2102040" cy="132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23"/>
          <p:cNvSpPr/>
          <p:nvPr/>
        </p:nvSpPr>
        <p:spPr>
          <a:xfrm>
            <a:off x="274320" y="3675960"/>
            <a:ext cx="383040" cy="383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24"/>
          <p:cNvSpPr/>
          <p:nvPr/>
        </p:nvSpPr>
        <p:spPr>
          <a:xfrm>
            <a:off x="274320" y="36759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5" name="Text 25"/>
          <p:cNvSpPr/>
          <p:nvPr/>
        </p:nvSpPr>
        <p:spPr>
          <a:xfrm>
            <a:off x="749880" y="3675960"/>
            <a:ext cx="1416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Make ALL class attributes private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Text 26"/>
          <p:cNvSpPr/>
          <p:nvPr/>
        </p:nvSpPr>
        <p:spPr>
          <a:xfrm>
            <a:off x="274320" y="4133160"/>
            <a:ext cx="1919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Always use __ prefix on instance variables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Shape 27"/>
          <p:cNvSpPr/>
          <p:nvPr/>
        </p:nvSpPr>
        <p:spPr>
          <a:xfrm>
            <a:off x="2377440" y="3584520"/>
            <a:ext cx="2102040" cy="132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8" name="Shape 28"/>
          <p:cNvSpPr/>
          <p:nvPr/>
        </p:nvSpPr>
        <p:spPr>
          <a:xfrm>
            <a:off x="2468880" y="3675960"/>
            <a:ext cx="383040" cy="383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29"/>
          <p:cNvSpPr/>
          <p:nvPr/>
        </p:nvSpPr>
        <p:spPr>
          <a:xfrm>
            <a:off x="2468880" y="36759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0" name="Text 30"/>
          <p:cNvSpPr/>
          <p:nvPr/>
        </p:nvSpPr>
        <p:spPr>
          <a:xfrm>
            <a:off x="2944440" y="3675960"/>
            <a:ext cx="1416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Create getters for read access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Text 31"/>
          <p:cNvSpPr/>
          <p:nvPr/>
        </p:nvSpPr>
        <p:spPr>
          <a:xfrm>
            <a:off x="2468880" y="4133160"/>
            <a:ext cx="1919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Only expose attributes that external code genuinely needs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2" name="Shape 32"/>
          <p:cNvSpPr/>
          <p:nvPr/>
        </p:nvSpPr>
        <p:spPr>
          <a:xfrm>
            <a:off x="4572000" y="3584520"/>
            <a:ext cx="2102040" cy="132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Shape 33"/>
          <p:cNvSpPr/>
          <p:nvPr/>
        </p:nvSpPr>
        <p:spPr>
          <a:xfrm>
            <a:off x="4663440" y="3675960"/>
            <a:ext cx="383040" cy="383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34"/>
          <p:cNvSpPr/>
          <p:nvPr/>
        </p:nvSpPr>
        <p:spPr>
          <a:xfrm>
            <a:off x="4663440" y="36759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5" name="Text 35"/>
          <p:cNvSpPr/>
          <p:nvPr/>
        </p:nvSpPr>
        <p:spPr>
          <a:xfrm>
            <a:off x="5139000" y="3675960"/>
            <a:ext cx="1416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Create setters with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36"/>
          <p:cNvSpPr/>
          <p:nvPr/>
        </p:nvSpPr>
        <p:spPr>
          <a:xfrm>
            <a:off x="4663440" y="4133160"/>
            <a:ext cx="1919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Always validate type/range before assigning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7" name="Shape 37"/>
          <p:cNvSpPr/>
          <p:nvPr/>
        </p:nvSpPr>
        <p:spPr>
          <a:xfrm>
            <a:off x="6766560" y="3584520"/>
            <a:ext cx="2102040" cy="132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Shape 38"/>
          <p:cNvSpPr/>
          <p:nvPr/>
        </p:nvSpPr>
        <p:spPr>
          <a:xfrm>
            <a:off x="6858000" y="3675960"/>
            <a:ext cx="383040" cy="383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39"/>
          <p:cNvSpPr/>
          <p:nvPr/>
        </p:nvSpPr>
        <p:spPr>
          <a:xfrm>
            <a:off x="6858000" y="36759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0" name="Text 40"/>
          <p:cNvSpPr/>
          <p:nvPr/>
        </p:nvSpPr>
        <p:spPr>
          <a:xfrm>
            <a:off x="7333560" y="3675960"/>
            <a:ext cx="1416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Interview answer ready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1" name="Text 41"/>
          <p:cNvSpPr/>
          <p:nvPr/>
        </p:nvSpPr>
        <p:spPr>
          <a:xfrm>
            <a:off x="6858000" y="4133160"/>
            <a:ext cx="1919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Encapsulation prevents corruption of internal state by controlling external access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Part 1 – Quick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OOP S8 P2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182880" y="822960"/>
            <a:ext cx="283356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8"/>
          <p:cNvSpPr/>
          <p:nvPr/>
        </p:nvSpPr>
        <p:spPr>
          <a:xfrm>
            <a:off x="292680" y="95112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320040" y="1463040"/>
            <a:ext cx="26049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Point &amp; Line classes · Two classes interacting · Methods accepting object arguments · Smart reuse of methods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3154680" y="822960"/>
            <a:ext cx="283356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1" name="Shape 12"/>
          <p:cNvSpPr/>
          <p:nvPr/>
        </p:nvSpPr>
        <p:spPr>
          <a:xfrm>
            <a:off x="3154680" y="822960"/>
            <a:ext cx="2833560" cy="53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13"/>
          <p:cNvSpPr/>
          <p:nvPr/>
        </p:nvSpPr>
        <p:spPr>
          <a:xfrm>
            <a:off x="3264480" y="951120"/>
            <a:ext cx="410400" cy="4104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14"/>
          <p:cNvSpPr/>
          <p:nvPr/>
        </p:nvSpPr>
        <p:spPr>
          <a:xfrm>
            <a:off x="3264480" y="95112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3749040" y="987480"/>
            <a:ext cx="2147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3291840" y="1463040"/>
            <a:ext cx="26049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p stores memory address, not the object · Aliasing danger · id() as proof · k=p does NOT copy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6126480" y="822960"/>
            <a:ext cx="283356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Shape 18"/>
          <p:cNvSpPr/>
          <p:nvPr/>
        </p:nvSpPr>
        <p:spPr>
          <a:xfrm>
            <a:off x="6126480" y="822960"/>
            <a:ext cx="2833560" cy="53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19"/>
          <p:cNvSpPr/>
          <p:nvPr/>
        </p:nvSpPr>
        <p:spPr>
          <a:xfrm>
            <a:off x="6236280" y="951120"/>
            <a:ext cx="410400" cy="410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20"/>
          <p:cNvSpPr/>
          <p:nvPr/>
        </p:nvSpPr>
        <p:spPr>
          <a:xfrm>
            <a:off x="6236280" y="95112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6720840" y="987480"/>
            <a:ext cx="2147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Pass by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6263640" y="1463040"/>
            <a:ext cx="26049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Objects travel by reference · id() same inside/outside function · Changes inside functions persist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2" name="Shape 23"/>
          <p:cNvSpPr/>
          <p:nvPr/>
        </p:nvSpPr>
        <p:spPr>
          <a:xfrm>
            <a:off x="182880" y="2926080"/>
            <a:ext cx="283356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3" name="Shape 24"/>
          <p:cNvSpPr/>
          <p:nvPr/>
        </p:nvSpPr>
        <p:spPr>
          <a:xfrm>
            <a:off x="182880" y="2926080"/>
            <a:ext cx="283356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Shape 25"/>
          <p:cNvSpPr/>
          <p:nvPr/>
        </p:nvSpPr>
        <p:spPr>
          <a:xfrm>
            <a:off x="292680" y="3054240"/>
            <a:ext cx="410400" cy="4104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6"/>
          <p:cNvSpPr/>
          <p:nvPr/>
        </p:nvSpPr>
        <p:spPr>
          <a:xfrm>
            <a:off x="292680" y="305424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777240" y="3090600"/>
            <a:ext cx="2147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Object Mutability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320040" y="3566160"/>
            <a:ext cx="26049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User-defined objects are mutable · id() stays same after modification · Unlike strings/integers (immutable)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3154680" y="2926080"/>
            <a:ext cx="2833560" cy="19191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30"/>
          <p:cNvSpPr/>
          <p:nvPr/>
        </p:nvSpPr>
        <p:spPr>
          <a:xfrm>
            <a:off x="3154680" y="2926080"/>
            <a:ext cx="283356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31"/>
          <p:cNvSpPr/>
          <p:nvPr/>
        </p:nvSpPr>
        <p:spPr>
          <a:xfrm>
            <a:off x="3264480" y="3054240"/>
            <a:ext cx="410400" cy="4104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32"/>
          <p:cNvSpPr/>
          <p:nvPr/>
        </p:nvSpPr>
        <p:spPr>
          <a:xfrm>
            <a:off x="3264480" y="305424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2" name="Text 33"/>
          <p:cNvSpPr/>
          <p:nvPr/>
        </p:nvSpPr>
        <p:spPr>
          <a:xfrm>
            <a:off x="3749040" y="3090600"/>
            <a:ext cx="2147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Text 34"/>
          <p:cNvSpPr/>
          <p:nvPr/>
        </p:nvSpPr>
        <p:spPr>
          <a:xfrm>
            <a:off x="3291840" y="3566160"/>
            <a:ext cx="26049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Private vars (__ prefix) · Name mangling · Getters &amp; setters · Validation in setters · Python Gentleman's Agreement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Shape 35"/>
          <p:cNvSpPr/>
          <p:nvPr/>
        </p:nvSpPr>
        <p:spPr>
          <a:xfrm>
            <a:off x="182880" y="4663440"/>
            <a:ext cx="8777160" cy="38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36"/>
          <p:cNvSpPr/>
          <p:nvPr/>
        </p:nvSpPr>
        <p:spPr>
          <a:xfrm>
            <a:off x="182880" y="4663440"/>
            <a:ext cx="87771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Continued in Part 2  →  Collections of Objects · Static Variables · Static Methods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2026-02-21T17:51:06Z</dcterms:created>
  <dc:creator>PptxGenJS</dc:creator>
  <dc:description/>
  <dc:language>en-IN</dc:language>
  <cp:lastModifiedBy/>
  <dcterms:modified xsi:type="dcterms:W3CDTF">2026-03-04T22:52:08Z</dcterms:modified>
  <cp:revision>6</cp:revision>
  <dc:subject>PptxGenJS Presentation</dc:subject>
  <dc:title>Python OOP –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