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</a:t>
            </a:r>
            <a:r>
              <a:rPr b="0" lang="en-IN" sz="4400" spc="-1" strike="noStrike">
                <a:latin typeface="Arial"/>
              </a:rPr>
              <a:t>move </a:t>
            </a:r>
            <a:r>
              <a:rPr b="0" lang="en-IN" sz="4400" spc="-1" strike="noStrike">
                <a:latin typeface="Arial"/>
              </a:rPr>
              <a:t>the </a:t>
            </a:r>
            <a:r>
              <a:rPr b="0" lang="en-IN" sz="4400" spc="-1" strike="noStrike">
                <a:latin typeface="Arial"/>
              </a:rPr>
              <a:t>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</a:t>
            </a:r>
            <a:r>
              <a:rPr b="0" lang="en-IN" sz="2000" spc="-1" strike="noStrike">
                <a:latin typeface="Arial"/>
              </a:rPr>
              <a:t>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8CE6E5F-71D2-4DA2-A560-B8CFDDF50140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E391F05-061B-483A-9BF9-C717788B33E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75DFE3E-0F19-4844-8850-93BA554E516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08C376-3E76-47C8-B7BB-1E6FF63FB3A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6351858-D041-4204-84A5-9C291E79EE4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B38B1B2-E818-47EC-A8A0-3D9067FD5E4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741854-1533-430E-AC37-5D0A99F5702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011A5F8-0D01-459B-B9EA-68CC0E0E122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3A99CF-0BE2-47FC-994F-CEE4840E625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63C723E-DCB5-421C-88CB-7E43AC94EDB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67179D-851F-4174-8F0F-FF1BA90EB12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9BF4FF5-EF1E-4A89-BE43-B1184F22872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9068632-7F77-433B-8F8F-9B8EDFE1F15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FDDE8E-E5F1-4039-B652-2D344829869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</a:t>
            </a:r>
            <a:r>
              <a:rPr b="0" lang="en-IN" sz="4400" spc="-1" strike="noStrike">
                <a:latin typeface="Arial"/>
              </a:rPr>
              <a:t>edit the </a:t>
            </a:r>
            <a:r>
              <a:rPr b="0" lang="en-IN" sz="4400" spc="-1" strike="noStrike">
                <a:latin typeface="Arial"/>
              </a:rPr>
              <a:t>title text </a:t>
            </a:r>
            <a:r>
              <a:rPr b="0" lang="en-IN" sz="4400" spc="-1" strike="noStrike">
                <a:latin typeface="Arial"/>
              </a:rPr>
              <a:t>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3473640" cy="5142600"/>
          </a:xfrm>
          <a:prstGeom prst="rect">
            <a:avLst/>
          </a:prstGeom>
          <a:solidFill>
            <a:srgbClr val="0c1526"/>
          </a:solidFill>
          <a:ln w="12700">
            <a:solidFill>
              <a:srgbClr val="0c15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3474720" y="0"/>
            <a:ext cx="5364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457200" y="548640"/>
            <a:ext cx="2376360" cy="237636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457200" y="548640"/>
            <a:ext cx="237636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rgbClr val="000000"/>
                </a:solidFill>
                <a:latin typeface="Calibri"/>
                <a:ea typeface="DejaVu Sans"/>
              </a:rPr>
              <a:t>🐍</a:t>
            </a:r>
            <a:endParaRPr b="0" lang="en-IN" sz="72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274320" y="3108960"/>
            <a:ext cx="29250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392" strike="noStrike">
                <a:solidFill>
                  <a:srgbClr val="38bdf8"/>
                </a:solidFill>
                <a:latin typeface="Calibri"/>
                <a:ea typeface="DejaVu Sans"/>
              </a:rPr>
              <a:t>PYTHON OOP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3749040" y="457200"/>
            <a:ext cx="521100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DejaVu Sans"/>
              </a:rPr>
              <a:t>Object-Oriented</a:t>
            </a:r>
            <a:endParaRPr b="0" lang="en-IN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DejaVu Sans"/>
              </a:rPr>
              <a:t>Programming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3749040" y="1874520"/>
            <a:ext cx="52110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38bdf8"/>
                </a:solidFill>
                <a:latin typeface="Calibri"/>
                <a:ea typeface="DejaVu Sans"/>
              </a:rPr>
              <a:t>Session 8 · Part 2  |  File 2 of 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3749040" y="2377440"/>
            <a:ext cx="5211000" cy="35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3749040" y="2560320"/>
            <a:ext cx="521100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Instance Variables (Quick Review)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Collections of Objects (Lists &amp; Dicts)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Static Variables — Shared Across All Objects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Static Methods — Utility Functions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Complete ATM Class — Everything Together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Instance Variables – Quick Review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Before We Proceed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182880" y="804600"/>
            <a:ext cx="8777160" cy="1279080"/>
          </a:xfrm>
          <a:prstGeom prst="rect">
            <a:avLst/>
          </a:prstGeom>
          <a:solidFill>
            <a:srgbClr val="0a1628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9" name="Shape 6"/>
          <p:cNvSpPr/>
          <p:nvPr/>
        </p:nvSpPr>
        <p:spPr>
          <a:xfrm>
            <a:off x="182880" y="804600"/>
            <a:ext cx="53640" cy="1279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7"/>
          <p:cNvSpPr/>
          <p:nvPr/>
        </p:nvSpPr>
        <p:spPr>
          <a:xfrm>
            <a:off x="365760" y="89604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4" strike="noStrike">
                <a:solidFill>
                  <a:srgbClr val="38bdf8"/>
                </a:solidFill>
                <a:latin typeface="Calibri"/>
                <a:ea typeface="DejaVu Sans"/>
              </a:rPr>
              <a:t>INSTANCE VARIABLE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365760" y="1188720"/>
            <a:ext cx="8319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A variable defined inside __init__ using self. Its value is UNIQUE per object — every object gets its own copy in memory.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182880" y="2212920"/>
            <a:ext cx="5119560" cy="260496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Shape 10"/>
          <p:cNvSpPr/>
          <p:nvPr/>
        </p:nvSpPr>
        <p:spPr>
          <a:xfrm>
            <a:off x="182880" y="2212920"/>
            <a:ext cx="5119560" cy="2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Shape 11"/>
          <p:cNvSpPr/>
          <p:nvPr/>
        </p:nvSpPr>
        <p:spPr>
          <a:xfrm>
            <a:off x="292680" y="2277000"/>
            <a:ext cx="108720" cy="1087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Shape 12"/>
          <p:cNvSpPr/>
          <p:nvPr/>
        </p:nvSpPr>
        <p:spPr>
          <a:xfrm>
            <a:off x="475560" y="2277000"/>
            <a:ext cx="108720" cy="108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Shape 13"/>
          <p:cNvSpPr/>
          <p:nvPr/>
        </p:nvSpPr>
        <p:spPr>
          <a:xfrm>
            <a:off x="658440" y="2277000"/>
            <a:ext cx="108720" cy="108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4"/>
          <p:cNvSpPr/>
          <p:nvPr/>
        </p:nvSpPr>
        <p:spPr>
          <a:xfrm>
            <a:off x="182880" y="2231280"/>
            <a:ext cx="50281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instance_demo.py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292680" y="2487240"/>
            <a:ext cx="4890960" cy="22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Employee: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emp_name, department):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.emp_name = emp_name        # instance variable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.department = department    # instance variable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emp1 = Employee(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'Alex'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'Engineering'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emp2 = Employee(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'Jordan'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'Marketing'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In memory: TWO separate emp_name values exist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emp1.emp_name = 'Alex'        emp2.emp_name = 'Jordan'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emp1.department = 'Engineering'  emp2.department = 'Marketing'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69" name="Shape 16"/>
          <p:cNvSpPr/>
          <p:nvPr/>
        </p:nvSpPr>
        <p:spPr>
          <a:xfrm>
            <a:off x="5486400" y="2212920"/>
            <a:ext cx="3473640" cy="26049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0" name="Text 17"/>
          <p:cNvSpPr/>
          <p:nvPr/>
        </p:nvSpPr>
        <p:spPr>
          <a:xfrm>
            <a:off x="5623560" y="2331720"/>
            <a:ext cx="3199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8bdf8"/>
                </a:solidFill>
                <a:latin typeface="Calibri"/>
                <a:ea typeface="DejaVu Sans"/>
              </a:rPr>
              <a:t>The Key Rule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5623560" y="2788920"/>
            <a:ext cx="319932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  <a:ea typeface="DejaVu Sans"/>
              </a:rPr>
              <a:t>Defined with self. inside __init__</a:t>
            </a:r>
            <a:endParaRPr b="0" lang="en-IN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  <a:ea typeface="DejaVu Sans"/>
              </a:rPr>
              <a:t>Value is DIFFERENT for every object</a:t>
            </a:r>
            <a:endParaRPr b="0" lang="en-IN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  <a:ea typeface="DejaVu Sans"/>
              </a:rPr>
              <a:t>Each object owns its own copy in RAM</a:t>
            </a:r>
            <a:endParaRPr b="0" lang="en-IN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  <a:ea typeface="DejaVu Sans"/>
              </a:rPr>
              <a:t>One variable name → multiple values (one per object)</a:t>
            </a:r>
            <a:endParaRPr b="0" lang="en-IN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  <a:ea typeface="DejaVu Sans"/>
              </a:rPr>
              <a:t>Most class attributes should be instance variables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1"/>
          <p:cNvSpPr/>
          <p:nvPr/>
        </p:nvSpPr>
        <p:spPr>
          <a:xfrm>
            <a:off x="274320" y="457200"/>
            <a:ext cx="22849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  <a:ea typeface="DejaVu Sans"/>
              </a:rPr>
              <a:t>06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74" name="Shape 2"/>
          <p:cNvSpPr/>
          <p:nvPr/>
        </p:nvSpPr>
        <p:spPr>
          <a:xfrm>
            <a:off x="1005840" y="1645920"/>
            <a:ext cx="7131240" cy="53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3"/>
          <p:cNvSpPr/>
          <p:nvPr/>
        </p:nvSpPr>
        <p:spPr>
          <a:xfrm>
            <a:off x="1005840" y="1783080"/>
            <a:ext cx="777132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Collections of Objects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1005840" y="3200400"/>
            <a:ext cx="77713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DejaVu Sans"/>
              </a:rPr>
              <a:t>Objects inside lists and dictionaries — normal Python data structures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Collections – Objects in Lists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182880" y="804600"/>
            <a:ext cx="5216400" cy="459468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3" name="Shape 6"/>
          <p:cNvSpPr/>
          <p:nvPr/>
        </p:nvSpPr>
        <p:spPr>
          <a:xfrm>
            <a:off x="182880" y="804600"/>
            <a:ext cx="5211000" cy="2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Shape 7"/>
          <p:cNvSpPr/>
          <p:nvPr/>
        </p:nvSpPr>
        <p:spPr>
          <a:xfrm>
            <a:off x="292680" y="868680"/>
            <a:ext cx="108720" cy="1087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8"/>
          <p:cNvSpPr/>
          <p:nvPr/>
        </p:nvSpPr>
        <p:spPr>
          <a:xfrm>
            <a:off x="475560" y="868680"/>
            <a:ext cx="108720" cy="108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Shape 9"/>
          <p:cNvSpPr/>
          <p:nvPr/>
        </p:nvSpPr>
        <p:spPr>
          <a:xfrm>
            <a:off x="658440" y="868680"/>
            <a:ext cx="108720" cy="108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10"/>
          <p:cNvSpPr/>
          <p:nvPr/>
        </p:nvSpPr>
        <p:spPr>
          <a:xfrm>
            <a:off x="182880" y="822960"/>
            <a:ext cx="5119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collections_demo.py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292680" y="1078920"/>
            <a:ext cx="4982400" cy="372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Student: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full_name, gpa):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.full_name = full_name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.gpa = gpa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List of Student objects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roster = [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Student(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'Alice'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3.9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Student(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'Bob'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 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3.5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Student(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'Clara'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3.7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Iterating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for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roster: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(s.full_name, '-&gt;', s.gpa)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Output: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Alice -&gt; 3.9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Bob   -&gt; 3.5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Clara -&gt; 3.7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Indexing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print(roster[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].full_name)   # Alice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Filtering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honour_roll = [s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for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roster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s.gpa &gt;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3.6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89" name="Shape 12"/>
          <p:cNvSpPr/>
          <p:nvPr/>
        </p:nvSpPr>
        <p:spPr>
          <a:xfrm>
            <a:off x="5577840" y="804600"/>
            <a:ext cx="3421440" cy="43383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0" name="Text 13"/>
          <p:cNvSpPr/>
          <p:nvPr/>
        </p:nvSpPr>
        <p:spPr>
          <a:xfrm>
            <a:off x="5715000" y="896040"/>
            <a:ext cx="31078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8bdf8"/>
                </a:solidFill>
                <a:latin typeface="Calibri"/>
                <a:ea typeface="DejaVu Sans"/>
              </a:rPr>
              <a:t>Key Facts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5715000" y="1325880"/>
            <a:ext cx="3107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Normal Python 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5715000" y="1581840"/>
            <a:ext cx="3107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Store objects exactly like you'd store integers or strings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5715000" y="2103120"/>
            <a:ext cx="3107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Iteration works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4" name="Text 17"/>
          <p:cNvSpPr/>
          <p:nvPr/>
        </p:nvSpPr>
        <p:spPr>
          <a:xfrm>
            <a:off x="5715000" y="2359080"/>
            <a:ext cx="3107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for s in roster: — access any attribute via dot notation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5" name="Text 18"/>
          <p:cNvSpPr/>
          <p:nvPr/>
        </p:nvSpPr>
        <p:spPr>
          <a:xfrm>
            <a:off x="5715000" y="2880360"/>
            <a:ext cx="3107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Indexing works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Text 19"/>
          <p:cNvSpPr/>
          <p:nvPr/>
        </p:nvSpPr>
        <p:spPr>
          <a:xfrm>
            <a:off x="5715000" y="3136320"/>
            <a:ext cx="3107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roster[0].full_name gets the first object's name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7" name="Text 20"/>
          <p:cNvSpPr/>
          <p:nvPr/>
        </p:nvSpPr>
        <p:spPr>
          <a:xfrm>
            <a:off x="5715000" y="3657600"/>
            <a:ext cx="3107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List comprehension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8" name="Text 21"/>
          <p:cNvSpPr/>
          <p:nvPr/>
        </p:nvSpPr>
        <p:spPr>
          <a:xfrm>
            <a:off x="5715000" y="3913560"/>
            <a:ext cx="3107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Filter, transform, or build new lists of objects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9" name="Text 22"/>
          <p:cNvSpPr/>
          <p:nvPr/>
        </p:nvSpPr>
        <p:spPr>
          <a:xfrm>
            <a:off x="5715000" y="4434840"/>
            <a:ext cx="3107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All list methods apply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0" name="Text 23"/>
          <p:cNvSpPr/>
          <p:nvPr/>
        </p:nvSpPr>
        <p:spPr>
          <a:xfrm>
            <a:off x="5715000" y="4690800"/>
            <a:ext cx="3107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.append(), .sort(), len() all work the same way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Collections – Objects in Dictionaries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182880" y="804600"/>
            <a:ext cx="5302440" cy="406800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7" name="Shape 6"/>
          <p:cNvSpPr/>
          <p:nvPr/>
        </p:nvSpPr>
        <p:spPr>
          <a:xfrm>
            <a:off x="182880" y="804600"/>
            <a:ext cx="5302440" cy="2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Shape 7"/>
          <p:cNvSpPr/>
          <p:nvPr/>
        </p:nvSpPr>
        <p:spPr>
          <a:xfrm>
            <a:off x="292680" y="868680"/>
            <a:ext cx="108720" cy="1087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Shape 8"/>
          <p:cNvSpPr/>
          <p:nvPr/>
        </p:nvSpPr>
        <p:spPr>
          <a:xfrm>
            <a:off x="475560" y="868680"/>
            <a:ext cx="108720" cy="108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Shape 9"/>
          <p:cNvSpPr/>
          <p:nvPr/>
        </p:nvSpPr>
        <p:spPr>
          <a:xfrm>
            <a:off x="658440" y="868680"/>
            <a:ext cx="108720" cy="108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10"/>
          <p:cNvSpPr/>
          <p:nvPr/>
        </p:nvSpPr>
        <p:spPr>
          <a:xfrm>
            <a:off x="182880" y="822960"/>
            <a:ext cx="5211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dict_objects.py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292680" y="1078920"/>
            <a:ext cx="5073840" cy="372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Dict of Student objects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student_db = {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'STU001'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 Student(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'Alice'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3.9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'STU002'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 Student(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'Bob'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 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3.5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'STU003'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 Student(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'Clara'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3.7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}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Key lookup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print(student_db[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'STU001'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].full_name)   # Alice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Iterate with .items()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for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student_id, student_obj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student_db.items():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(f'ID: {student_id} | Name: {student_obj.full_name} | GPA: {student_obj.gpa}')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Output: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ID: STU001 | Name: Alice | GPA: 3.9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ID: STU002 | Name: Bob   | GPA: 3.5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ID: STU003 | Name: Clara | GPA: 3.7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Dynamic addition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student_db[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'STU004'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] = Student(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'Derek'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3.8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3" name="Shape 12"/>
          <p:cNvSpPr/>
          <p:nvPr/>
        </p:nvSpPr>
        <p:spPr>
          <a:xfrm>
            <a:off x="5669280" y="804600"/>
            <a:ext cx="3290760" cy="40680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4" name="Text 13"/>
          <p:cNvSpPr/>
          <p:nvPr/>
        </p:nvSpPr>
        <p:spPr>
          <a:xfrm>
            <a:off x="5806440" y="896040"/>
            <a:ext cx="3016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59e0b"/>
                </a:solidFill>
                <a:latin typeface="Calibri"/>
                <a:ea typeface="DejaVu Sans"/>
              </a:rPr>
              <a:t>Why Use a Dict?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5806440" y="1371600"/>
            <a:ext cx="3016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Named access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5806440" y="1627560"/>
            <a:ext cx="30164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Look up any student by ID — faster than searching a list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5806440" y="2331720"/>
            <a:ext cx="3016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.items() unpacking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5806440" y="2587680"/>
            <a:ext cx="30164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Get both key and object in one step during iteration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9" name="Text 18"/>
          <p:cNvSpPr/>
          <p:nvPr/>
        </p:nvSpPr>
        <p:spPr>
          <a:xfrm>
            <a:off x="5806440" y="3291840"/>
            <a:ext cx="3016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Real-world pattern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5806440" y="3547800"/>
            <a:ext cx="30164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Employee DB, product catalogue, user registry — all use this pattern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5806440" y="4251960"/>
            <a:ext cx="3016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Homework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5806440" y="4507920"/>
            <a:ext cx="30164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Try storing objects in sets — requires implementing __hash__ on the class!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"/>
          <p:cNvSpPr/>
          <p:nvPr/>
        </p:nvSpPr>
        <p:spPr>
          <a:xfrm>
            <a:off x="274320" y="457200"/>
            <a:ext cx="22849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  <a:ea typeface="DejaVu Sans"/>
              </a:rPr>
              <a:t>07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1005840" y="1645920"/>
            <a:ext cx="7131240" cy="53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3"/>
          <p:cNvSpPr/>
          <p:nvPr/>
        </p:nvSpPr>
        <p:spPr>
          <a:xfrm>
            <a:off x="1005840" y="1783080"/>
            <a:ext cx="777132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Static Variables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1005840" y="3200400"/>
            <a:ext cx="77713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DejaVu Sans"/>
              </a:rPr>
              <a:t>Shared across all objects · defined at class level, not in __init__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Static Variables – The Problem &amp; Solution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2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07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3" name="Shape 5"/>
          <p:cNvSpPr/>
          <p:nvPr/>
        </p:nvSpPr>
        <p:spPr>
          <a:xfrm>
            <a:off x="182880" y="804600"/>
            <a:ext cx="4205160" cy="4022280"/>
          </a:xfrm>
          <a:prstGeom prst="rect">
            <a:avLst/>
          </a:prstGeom>
          <a:solidFill>
            <a:srgbClr val="1f0b0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4" name="Shape 6"/>
          <p:cNvSpPr/>
          <p:nvPr/>
        </p:nvSpPr>
        <p:spPr>
          <a:xfrm>
            <a:off x="182880" y="804600"/>
            <a:ext cx="4205160" cy="53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7"/>
          <p:cNvSpPr/>
          <p:nvPr/>
        </p:nvSpPr>
        <p:spPr>
          <a:xfrm>
            <a:off x="320040" y="896040"/>
            <a:ext cx="3930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194" strike="noStrike">
                <a:solidFill>
                  <a:srgbClr val="f87171"/>
                </a:solidFill>
                <a:latin typeface="Calibri"/>
                <a:ea typeface="DejaVu Sans"/>
              </a:rPr>
              <a:t>THE PROBLEM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320040" y="1207080"/>
            <a:ext cx="3930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You want each BankMachine object to have a unique customer ID (1, 2, 3, ...). Using an instance variable fails: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37" name="Shape 9"/>
          <p:cNvSpPr/>
          <p:nvPr/>
        </p:nvSpPr>
        <p:spPr>
          <a:xfrm>
            <a:off x="320040" y="1828800"/>
            <a:ext cx="3930840" cy="260496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10"/>
          <p:cNvSpPr/>
          <p:nvPr/>
        </p:nvSpPr>
        <p:spPr>
          <a:xfrm>
            <a:off x="429840" y="1883520"/>
            <a:ext cx="3747960" cy="249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.cust_id = </a:t>
            </a:r>
            <a:r>
              <a:rPr b="0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1   # EVERY object starts at 1!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m1 = BankMachine()  # cust_id = 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m2 = BankMachine()  # cust_id = 1  ???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Instance variable = unique per object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# No shared counter exists!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39" name="Shape 11"/>
          <p:cNvSpPr/>
          <p:nvPr/>
        </p:nvSpPr>
        <p:spPr>
          <a:xfrm>
            <a:off x="320040" y="1828800"/>
            <a:ext cx="3930840" cy="22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12"/>
          <p:cNvSpPr/>
          <p:nvPr/>
        </p:nvSpPr>
        <p:spPr>
          <a:xfrm>
            <a:off x="429840" y="1874520"/>
            <a:ext cx="99360" cy="993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Shape 13"/>
          <p:cNvSpPr/>
          <p:nvPr/>
        </p:nvSpPr>
        <p:spPr>
          <a:xfrm>
            <a:off x="612720" y="1874520"/>
            <a:ext cx="99360" cy="99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14"/>
          <p:cNvSpPr/>
          <p:nvPr/>
        </p:nvSpPr>
        <p:spPr>
          <a:xfrm>
            <a:off x="795600" y="1874520"/>
            <a:ext cx="99360" cy="99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Shape 15"/>
          <p:cNvSpPr/>
          <p:nvPr/>
        </p:nvSpPr>
        <p:spPr>
          <a:xfrm>
            <a:off x="4572000" y="804600"/>
            <a:ext cx="4388040" cy="4022280"/>
          </a:xfrm>
          <a:prstGeom prst="rect">
            <a:avLst/>
          </a:prstGeom>
          <a:solidFill>
            <a:srgbClr val="0b1f12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4" name="Shape 16"/>
          <p:cNvSpPr/>
          <p:nvPr/>
        </p:nvSpPr>
        <p:spPr>
          <a:xfrm>
            <a:off x="4572000" y="804600"/>
            <a:ext cx="4388040" cy="53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7"/>
          <p:cNvSpPr/>
          <p:nvPr/>
        </p:nvSpPr>
        <p:spPr>
          <a:xfrm>
            <a:off x="4709160" y="8960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92" strike="noStrike">
                <a:solidFill>
                  <a:srgbClr val="34d399"/>
                </a:solidFill>
                <a:latin typeface="Calibri"/>
                <a:ea typeface="DejaVu Sans"/>
              </a:rPr>
              <a:t>THE SOLUTION: Static Variable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6" name="Text 18"/>
          <p:cNvSpPr/>
          <p:nvPr/>
        </p:nvSpPr>
        <p:spPr>
          <a:xfrm>
            <a:off x="4709160" y="1207080"/>
            <a:ext cx="4113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Define the counter at CLASS level — outside any method. It is shared by ALL objects: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47" name="Shape 19"/>
          <p:cNvSpPr/>
          <p:nvPr/>
        </p:nvSpPr>
        <p:spPr>
          <a:xfrm>
            <a:off x="4709160" y="1828800"/>
            <a:ext cx="4113720" cy="260496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Shape 20"/>
          <p:cNvSpPr/>
          <p:nvPr/>
        </p:nvSpPr>
        <p:spPr>
          <a:xfrm>
            <a:off x="4709160" y="1828800"/>
            <a:ext cx="4113720" cy="22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Shape 21"/>
          <p:cNvSpPr/>
          <p:nvPr/>
        </p:nvSpPr>
        <p:spPr>
          <a:xfrm>
            <a:off x="4818960" y="1883520"/>
            <a:ext cx="99360" cy="993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Shape 22"/>
          <p:cNvSpPr/>
          <p:nvPr/>
        </p:nvSpPr>
        <p:spPr>
          <a:xfrm>
            <a:off x="5001840" y="1883520"/>
            <a:ext cx="99360" cy="99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Shape 23"/>
          <p:cNvSpPr/>
          <p:nvPr/>
        </p:nvSpPr>
        <p:spPr>
          <a:xfrm>
            <a:off x="5184720" y="1883520"/>
            <a:ext cx="99360" cy="99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24"/>
          <p:cNvSpPr/>
          <p:nvPr/>
        </p:nvSpPr>
        <p:spPr>
          <a:xfrm>
            <a:off x="4818960" y="2084760"/>
            <a:ext cx="393084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Static variable — OUTSIDE __init__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cust_counter = 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1   # Shared by all instances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Assign current count as this obj's ID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.cust_id = BankMachine.cust_counter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Increment for next object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BankMachine.cust_counter +=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m1 = BankMachine()  # cust_id = 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m2 = BankMachine()  # cust_id = 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m3 = BankMachine()  # cust_id = 3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# Works perfectly!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Instance Variables vs Static Variables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07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158" name="Table 0"/>
          <p:cNvGraphicFramePr/>
          <p:nvPr/>
        </p:nvGraphicFramePr>
        <p:xfrm>
          <a:off x="182880" y="868680"/>
          <a:ext cx="8777880" cy="34740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91840"/>
              </a:tblGrid>
              <a:tr h="578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38bdf8"/>
                          </a:solidFill>
                          <a:latin typeface="Calibri"/>
                        </a:rPr>
                        <a:t>Instance Variable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0c2a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34d399"/>
                          </a:solidFill>
                          <a:latin typeface="Calibri"/>
                        </a:rPr>
                        <a:t>Static Variable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0a1f12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Where defined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Inside __init__ with self.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Inside the class, OUTSIDE any method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Value per object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UNIQUE — each object has its own value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SHARED — same value across all objects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Access syntax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self.variable_name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ClassName.variable_name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When to use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For data unique to each object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For data that belongs to the class itself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79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Example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emp_name, account_balance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cust_counter, bank_code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59" name="Shape 5"/>
          <p:cNvSpPr/>
          <p:nvPr/>
        </p:nvSpPr>
        <p:spPr>
          <a:xfrm>
            <a:off x="182880" y="4462200"/>
            <a:ext cx="4159440" cy="5475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0" name="Text 6"/>
          <p:cNvSpPr/>
          <p:nvPr/>
        </p:nvSpPr>
        <p:spPr>
          <a:xfrm>
            <a:off x="320040" y="452628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STATIC example: BankMachine.ifsc_code = 'HDFC001'  — same for every machine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1" name="Shape 7"/>
          <p:cNvSpPr/>
          <p:nvPr/>
        </p:nvSpPr>
        <p:spPr>
          <a:xfrm>
            <a:off x="4572000" y="4462200"/>
            <a:ext cx="4388040" cy="5475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Text 8"/>
          <p:cNvSpPr/>
          <p:nvPr/>
        </p:nvSpPr>
        <p:spPr>
          <a:xfrm>
            <a:off x="4709160" y="4526280"/>
            <a:ext cx="41137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INSTANCE example: self.account_balance = 0  — unique per account holder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1"/>
          <p:cNvSpPr/>
          <p:nvPr/>
        </p:nvSpPr>
        <p:spPr>
          <a:xfrm>
            <a:off x="274320" y="457200"/>
            <a:ext cx="22849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  <a:ea typeface="DejaVu Sans"/>
              </a:rPr>
              <a:t>08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1005840" y="1645920"/>
            <a:ext cx="7131240" cy="53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3"/>
          <p:cNvSpPr/>
          <p:nvPr/>
        </p:nvSpPr>
        <p:spPr>
          <a:xfrm>
            <a:off x="1005840" y="1783080"/>
            <a:ext cx="777132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Static Methods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1005840" y="3200400"/>
            <a:ext cx="77713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DejaVu Sans"/>
              </a:rPr>
              <a:t>@staticmethod — utility functions that don't need a specific object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Static Methods – @staticmethod Decorator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71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08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182880" y="804600"/>
            <a:ext cx="2833560" cy="10778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4" name="Shape 6"/>
          <p:cNvSpPr/>
          <p:nvPr/>
        </p:nvSpPr>
        <p:spPr>
          <a:xfrm>
            <a:off x="182880" y="804600"/>
            <a:ext cx="2833560" cy="53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7"/>
          <p:cNvSpPr/>
          <p:nvPr/>
        </p:nvSpPr>
        <p:spPr>
          <a:xfrm>
            <a:off x="320040" y="896040"/>
            <a:ext cx="2559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  <a:ea typeface="DejaVu Sans"/>
              </a:rPr>
              <a:t>No self Parameter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6" name="Text 8"/>
          <p:cNvSpPr/>
          <p:nvPr/>
        </p:nvSpPr>
        <p:spPr>
          <a:xfrm>
            <a:off x="320040" y="1261800"/>
            <a:ext cx="25592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Static methods don't receive the current object. They can't access instance variables.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7" name="Shape 9"/>
          <p:cNvSpPr/>
          <p:nvPr/>
        </p:nvSpPr>
        <p:spPr>
          <a:xfrm>
            <a:off x="3154680" y="804600"/>
            <a:ext cx="2833560" cy="10778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8" name="Shape 10"/>
          <p:cNvSpPr/>
          <p:nvPr/>
        </p:nvSpPr>
        <p:spPr>
          <a:xfrm>
            <a:off x="3154680" y="804600"/>
            <a:ext cx="2833560" cy="53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11"/>
          <p:cNvSpPr/>
          <p:nvPr/>
        </p:nvSpPr>
        <p:spPr>
          <a:xfrm>
            <a:off x="3291840" y="896040"/>
            <a:ext cx="2559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  <a:ea typeface="DejaVu Sans"/>
              </a:rPr>
              <a:t>@staticmethod Decorator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3291840" y="1261800"/>
            <a:ext cx="25592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Mark the method with @staticmethod above def. This tells Python it's a utility function.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1" name="Shape 13"/>
          <p:cNvSpPr/>
          <p:nvPr/>
        </p:nvSpPr>
        <p:spPr>
          <a:xfrm>
            <a:off x="6126480" y="804600"/>
            <a:ext cx="2833560" cy="10778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2" name="Shape 14"/>
          <p:cNvSpPr/>
          <p:nvPr/>
        </p:nvSpPr>
        <p:spPr>
          <a:xfrm>
            <a:off x="6126480" y="804600"/>
            <a:ext cx="2833560" cy="53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15"/>
          <p:cNvSpPr/>
          <p:nvPr/>
        </p:nvSpPr>
        <p:spPr>
          <a:xfrm>
            <a:off x="6263640" y="896040"/>
            <a:ext cx="2559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  <a:ea typeface="DejaVu Sans"/>
              </a:rPr>
              <a:t>Call via ClassName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4" name="Text 16"/>
          <p:cNvSpPr/>
          <p:nvPr/>
        </p:nvSpPr>
        <p:spPr>
          <a:xfrm>
            <a:off x="6263640" y="1261800"/>
            <a:ext cx="25592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Call as BankMachine.get_total_customers() — no object needed at all.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5" name="Shape 17"/>
          <p:cNvSpPr/>
          <p:nvPr/>
        </p:nvSpPr>
        <p:spPr>
          <a:xfrm>
            <a:off x="182880" y="1974960"/>
            <a:ext cx="5576400" cy="378432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6" name="Shape 18"/>
          <p:cNvSpPr/>
          <p:nvPr/>
        </p:nvSpPr>
        <p:spPr>
          <a:xfrm>
            <a:off x="182880" y="1974960"/>
            <a:ext cx="5668200" cy="2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Shape 19"/>
          <p:cNvSpPr/>
          <p:nvPr/>
        </p:nvSpPr>
        <p:spPr>
          <a:xfrm>
            <a:off x="292680" y="2039040"/>
            <a:ext cx="108720" cy="1087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Shape 20"/>
          <p:cNvSpPr/>
          <p:nvPr/>
        </p:nvSpPr>
        <p:spPr>
          <a:xfrm>
            <a:off x="475560" y="2039040"/>
            <a:ext cx="108720" cy="108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Shape 21"/>
          <p:cNvSpPr/>
          <p:nvPr/>
        </p:nvSpPr>
        <p:spPr>
          <a:xfrm>
            <a:off x="658440" y="2039040"/>
            <a:ext cx="108720" cy="108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22"/>
          <p:cNvSpPr/>
          <p:nvPr/>
        </p:nvSpPr>
        <p:spPr>
          <a:xfrm>
            <a:off x="182880" y="1993320"/>
            <a:ext cx="5576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static_methods.py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91" name="Text 23"/>
          <p:cNvSpPr/>
          <p:nvPr/>
        </p:nvSpPr>
        <p:spPr>
          <a:xfrm>
            <a:off x="292680" y="2249280"/>
            <a:ext cx="5439600" cy="25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cust_counter = 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1   # Static variable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.cust_id = BankMachine.cust_counter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BankMachine.cust_counter +=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get_total_customers():   # no self!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BankMachine.cust_counter -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validate_pin_format(pin_str):   # utility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pin_str.isdigit()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and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len(pin_str) ==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4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Calling static methods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m1 = BankMachine()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m2 = BankMachine()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Call via class name (recommended)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(BankMachine.get_total_customers())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# Output: 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print(BankMachine.validate_pin_format(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'4523'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))  # True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print(BankMachine.validate_pin_format(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'ab12'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))  # False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92" name="Shape 24"/>
          <p:cNvSpPr/>
          <p:nvPr/>
        </p:nvSpPr>
        <p:spPr>
          <a:xfrm>
            <a:off x="6035040" y="1974960"/>
            <a:ext cx="2925000" cy="28792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3" name="Text 25"/>
          <p:cNvSpPr/>
          <p:nvPr/>
        </p:nvSpPr>
        <p:spPr>
          <a:xfrm>
            <a:off x="6172200" y="2084760"/>
            <a:ext cx="26506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  <a:ea typeface="DejaVu Sans"/>
              </a:rPr>
              <a:t>When to Use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  <a:ea typeface="DejaVu Sans"/>
              </a:rPr>
              <a:t>Static Methods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4" name="Text 26"/>
          <p:cNvSpPr/>
          <p:nvPr/>
        </p:nvSpPr>
        <p:spPr>
          <a:xfrm>
            <a:off x="6172200" y="2743200"/>
            <a:ext cx="265068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Utility/helper functions that belong to the class conceptually but don't need any specific object's data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Accessing or returning static variable values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Validation functions (check PIN format, validate email, etc.)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Factory-style methods that create objects in special ways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Complete BankMachine Class – All Concepts Together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9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07 + 08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182880" y="777240"/>
            <a:ext cx="8777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DejaVu Sans"/>
              </a:rPr>
              <a:t>The final version combining: Private Variables · Getters/Setters · Static Variable · Static 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1" name="Shape 6"/>
          <p:cNvSpPr/>
          <p:nvPr/>
        </p:nvSpPr>
        <p:spPr>
          <a:xfrm>
            <a:off x="182880" y="1207080"/>
            <a:ext cx="5036400" cy="419220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2" name="Shape 7"/>
          <p:cNvSpPr/>
          <p:nvPr/>
        </p:nvSpPr>
        <p:spPr>
          <a:xfrm>
            <a:off x="182880" y="1207080"/>
            <a:ext cx="5028120" cy="2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Shape 8"/>
          <p:cNvSpPr/>
          <p:nvPr/>
        </p:nvSpPr>
        <p:spPr>
          <a:xfrm>
            <a:off x="292680" y="1271160"/>
            <a:ext cx="108720" cy="1087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Shape 9"/>
          <p:cNvSpPr/>
          <p:nvPr/>
        </p:nvSpPr>
        <p:spPr>
          <a:xfrm>
            <a:off x="475560" y="1271160"/>
            <a:ext cx="108720" cy="108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Shape 10"/>
          <p:cNvSpPr/>
          <p:nvPr/>
        </p:nvSpPr>
        <p:spPr>
          <a:xfrm>
            <a:off x="658440" y="1271160"/>
            <a:ext cx="108720" cy="108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1"/>
          <p:cNvSpPr/>
          <p:nvPr/>
        </p:nvSpPr>
        <p:spPr>
          <a:xfrm>
            <a:off x="182880" y="1225440"/>
            <a:ext cx="4936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bank_machine_final.py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7" name="Text 12"/>
          <p:cNvSpPr/>
          <p:nvPr/>
        </p:nvSpPr>
        <p:spPr>
          <a:xfrm>
            <a:off x="292680" y="1481400"/>
            <a:ext cx="4799520" cy="33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Static variable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cust_counter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.__cust_id = BankMachine.cust_counter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BankMachine.cust_counter +=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.__secret_pin =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.__account_balance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Getter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retrieve_balance(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.__account_balance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Setter with validation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assign_balance(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new_amount):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type(new_amount) ==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int: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.__account_balance = new_amount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else: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('Invalid: must be integer')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Static method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get_total_customers():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BankMachine.cust_counter -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8" name="Shape 13"/>
          <p:cNvSpPr/>
          <p:nvPr/>
        </p:nvSpPr>
        <p:spPr>
          <a:xfrm>
            <a:off x="5394960" y="1207080"/>
            <a:ext cx="3565080" cy="6573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9" name="Shape 14"/>
          <p:cNvSpPr/>
          <p:nvPr/>
        </p:nvSpPr>
        <p:spPr>
          <a:xfrm>
            <a:off x="5394960" y="1207080"/>
            <a:ext cx="53640" cy="657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5"/>
          <p:cNvSpPr/>
          <p:nvPr/>
        </p:nvSpPr>
        <p:spPr>
          <a:xfrm>
            <a:off x="5541120" y="1252800"/>
            <a:ext cx="3336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Static Variable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1" name="Text 16"/>
          <p:cNvSpPr/>
          <p:nvPr/>
        </p:nvSpPr>
        <p:spPr>
          <a:xfrm>
            <a:off x="5541120" y="1517760"/>
            <a:ext cx="3336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cust_counter — shared, class-level counter for all machines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2" name="Shape 17"/>
          <p:cNvSpPr/>
          <p:nvPr/>
        </p:nvSpPr>
        <p:spPr>
          <a:xfrm>
            <a:off x="5394960" y="1938600"/>
            <a:ext cx="3565080" cy="6573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3" name="Shape 18"/>
          <p:cNvSpPr/>
          <p:nvPr/>
        </p:nvSpPr>
        <p:spPr>
          <a:xfrm>
            <a:off x="5394960" y="1938600"/>
            <a:ext cx="53640" cy="657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9"/>
          <p:cNvSpPr/>
          <p:nvPr/>
        </p:nvSpPr>
        <p:spPr>
          <a:xfrm>
            <a:off x="5541120" y="1984320"/>
            <a:ext cx="3336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7171"/>
                </a:solidFill>
                <a:latin typeface="Calibri"/>
                <a:ea typeface="DejaVu Sans"/>
              </a:rPr>
              <a:t>Private Variables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5" name="Text 20"/>
          <p:cNvSpPr/>
          <p:nvPr/>
        </p:nvSpPr>
        <p:spPr>
          <a:xfrm>
            <a:off x="5541120" y="2249280"/>
            <a:ext cx="3336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__cust_id, __secret_pin, __account_balance — hidden from outside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6" name="Shape 21"/>
          <p:cNvSpPr/>
          <p:nvPr/>
        </p:nvSpPr>
        <p:spPr>
          <a:xfrm>
            <a:off x="5394960" y="2670120"/>
            <a:ext cx="3565080" cy="6573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7" name="Shape 22"/>
          <p:cNvSpPr/>
          <p:nvPr/>
        </p:nvSpPr>
        <p:spPr>
          <a:xfrm>
            <a:off x="5394960" y="2670120"/>
            <a:ext cx="53640" cy="657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23"/>
          <p:cNvSpPr/>
          <p:nvPr/>
        </p:nvSpPr>
        <p:spPr>
          <a:xfrm>
            <a:off x="5541120" y="2715840"/>
            <a:ext cx="3336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Getter 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9" name="Text 24"/>
          <p:cNvSpPr/>
          <p:nvPr/>
        </p:nvSpPr>
        <p:spPr>
          <a:xfrm>
            <a:off x="5541120" y="2980800"/>
            <a:ext cx="3336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retrieve_balance() — read-only access to private balance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0" name="Shape 25"/>
          <p:cNvSpPr/>
          <p:nvPr/>
        </p:nvSpPr>
        <p:spPr>
          <a:xfrm>
            <a:off x="5394960" y="3401640"/>
            <a:ext cx="3565080" cy="6573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Shape 26"/>
          <p:cNvSpPr/>
          <p:nvPr/>
        </p:nvSpPr>
        <p:spPr>
          <a:xfrm>
            <a:off x="5394960" y="3401640"/>
            <a:ext cx="53640" cy="65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27"/>
          <p:cNvSpPr/>
          <p:nvPr/>
        </p:nvSpPr>
        <p:spPr>
          <a:xfrm>
            <a:off x="5541120" y="3447360"/>
            <a:ext cx="3336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  <a:ea typeface="DejaVu Sans"/>
              </a:rPr>
              <a:t>Setter + Validation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3" name="Text 28"/>
          <p:cNvSpPr/>
          <p:nvPr/>
        </p:nvSpPr>
        <p:spPr>
          <a:xfrm>
            <a:off x="5541120" y="3712320"/>
            <a:ext cx="3336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assign_balance() — only accepts integers, rejects invalid input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4" name="Shape 29"/>
          <p:cNvSpPr/>
          <p:nvPr/>
        </p:nvSpPr>
        <p:spPr>
          <a:xfrm>
            <a:off x="5394960" y="4133160"/>
            <a:ext cx="3565080" cy="6573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5" name="Shape 30"/>
          <p:cNvSpPr/>
          <p:nvPr/>
        </p:nvSpPr>
        <p:spPr>
          <a:xfrm>
            <a:off x="5394960" y="4133160"/>
            <a:ext cx="53640" cy="65736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31"/>
          <p:cNvSpPr/>
          <p:nvPr/>
        </p:nvSpPr>
        <p:spPr>
          <a:xfrm>
            <a:off x="5541120" y="4178880"/>
            <a:ext cx="3336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c084fc"/>
                </a:solidFill>
                <a:latin typeface="Calibri"/>
                <a:ea typeface="DejaVu Sans"/>
              </a:rPr>
              <a:t>Static 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7" name="Text 32"/>
          <p:cNvSpPr/>
          <p:nvPr/>
        </p:nvSpPr>
        <p:spPr>
          <a:xfrm>
            <a:off x="5541120" y="4443840"/>
            <a:ext cx="3336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get_total_customers() — no self, uses class-level data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Shape 1"/>
          <p:cNvSpPr/>
          <p:nvPr/>
        </p:nvSpPr>
        <p:spPr>
          <a:xfrm>
            <a:off x="0" y="0"/>
            <a:ext cx="9142920" cy="7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2"/>
          <p:cNvSpPr/>
          <p:nvPr/>
        </p:nvSpPr>
        <p:spPr>
          <a:xfrm>
            <a:off x="182880" y="0"/>
            <a:ext cx="71312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Instance vs Static – Methods Comparison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31" name="Shape 3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2" name="Text 4"/>
          <p:cNvSpPr/>
          <p:nvPr/>
        </p:nvSpPr>
        <p:spPr>
          <a:xfrm>
            <a:off x="7589520" y="109800"/>
            <a:ext cx="1370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08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233" name="Table 0"/>
          <p:cNvGraphicFramePr/>
          <p:nvPr/>
        </p:nvGraphicFramePr>
        <p:xfrm>
          <a:off x="182880" y="868680"/>
          <a:ext cx="8777880" cy="379404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3108960"/>
              </a:tblGrid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38bdf8"/>
                          </a:solidFill>
                          <a:latin typeface="Calibri"/>
                        </a:rPr>
                        <a:t>Regular Method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0c2a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34d399"/>
                          </a:solidFill>
                          <a:latin typeface="Calibri"/>
                        </a:rPr>
                        <a:t>Static Method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0a1f12"/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First parameter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self (current object)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None (no self)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Can access instance vars?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YES — via self.variable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NO — no object reference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Can access static vars?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YES — via ClassName.var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YES — via ClassName.var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Called via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object.method() or ClassName.method(obj)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ClassName.method()  (no object needed)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Decorator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None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@staticmethod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43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Use case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Act on a specific object's data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Utility/helper, works on class-level data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</a:tbl>
          </a:graphicData>
        </a:graphic>
      </p:graphicFrame>
      <p:sp>
        <p:nvSpPr>
          <p:cNvPr id="234" name="Shape 5"/>
          <p:cNvSpPr/>
          <p:nvPr/>
        </p:nvSpPr>
        <p:spPr>
          <a:xfrm>
            <a:off x="182880" y="4736520"/>
            <a:ext cx="8777160" cy="291600"/>
          </a:xfrm>
          <a:prstGeom prst="rect">
            <a:avLst/>
          </a:prstGeom>
          <a:solidFill>
            <a:srgbClr val="0c2a3a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6"/>
          <p:cNvSpPr/>
          <p:nvPr/>
        </p:nvSpPr>
        <p:spPr>
          <a:xfrm>
            <a:off x="320040" y="4754880"/>
            <a:ext cx="8502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Decorator note: @staticmethod is a function decorator — a special Python annotation that changes how the method is registered. Decorators in-depth are covered in an advanced session.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0"/>
          <p:cNvSpPr/>
          <p:nvPr/>
        </p:nvSpPr>
        <p:spPr>
          <a:xfrm>
            <a:off x="30240" y="-449640"/>
            <a:ext cx="9142920" cy="5142600"/>
          </a:xfrm>
          <a:prstGeom prst="rect">
            <a:avLst/>
          </a:prstGeom>
          <a:solidFill>
            <a:srgbClr val="0c1526"/>
          </a:solidFill>
          <a:ln w="12700">
            <a:solidFill>
              <a:srgbClr val="0c15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Shape 1"/>
          <p:cNvSpPr/>
          <p:nvPr/>
        </p:nvSpPr>
        <p:spPr>
          <a:xfrm>
            <a:off x="0" y="0"/>
            <a:ext cx="63000" cy="51426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2"/>
          <p:cNvSpPr/>
          <p:nvPr/>
        </p:nvSpPr>
        <p:spPr>
          <a:xfrm>
            <a:off x="914400" y="3600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491" strike="noStrike">
                <a:solidFill>
                  <a:srgbClr val="34d399"/>
                </a:solidFill>
                <a:latin typeface="Calibri"/>
                <a:ea typeface="DejaVu Sans"/>
              </a:rPr>
              <a:t>NEXT SESSION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9" name="Text 3"/>
          <p:cNvSpPr/>
          <p:nvPr/>
        </p:nvSpPr>
        <p:spPr>
          <a:xfrm rot="21587400">
            <a:off x="910800" y="780120"/>
            <a:ext cx="73141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  <a:ea typeface="DejaVu Sans"/>
              </a:rPr>
              <a:t>Remaining OOP Principles</a:t>
            </a:r>
            <a:endParaRPr b="0" lang="en-IN" sz="4600" spc="-1" strike="noStrike">
              <a:latin typeface="Arial"/>
            </a:endParaRPr>
          </a:p>
        </p:txBody>
      </p:sp>
      <p:sp>
        <p:nvSpPr>
          <p:cNvPr id="240" name="Shape 4"/>
          <p:cNvSpPr/>
          <p:nvPr/>
        </p:nvSpPr>
        <p:spPr>
          <a:xfrm>
            <a:off x="900000" y="2114640"/>
            <a:ext cx="7314120" cy="44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5"/>
          <p:cNvSpPr/>
          <p:nvPr/>
        </p:nvSpPr>
        <p:spPr>
          <a:xfrm>
            <a:off x="914400" y="2240280"/>
            <a:ext cx="318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8bdf8"/>
                </a:solidFill>
                <a:latin typeface="Calibri"/>
                <a:ea typeface="DejaVu Sans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2" name="Text 6"/>
          <p:cNvSpPr/>
          <p:nvPr/>
        </p:nvSpPr>
        <p:spPr>
          <a:xfrm>
            <a:off x="1298520" y="2240280"/>
            <a:ext cx="20106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DejaVu Sans"/>
              </a:rPr>
              <a:t>Inheritance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43" name="Text 7"/>
          <p:cNvSpPr/>
          <p:nvPr/>
        </p:nvSpPr>
        <p:spPr>
          <a:xfrm>
            <a:off x="3474720" y="2277000"/>
            <a:ext cx="5028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  <a:ea typeface="DejaVu Sans"/>
              </a:rPr>
              <a:t>Derive new classes from existing ones to share code and extend behaviour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4" name="Text 8"/>
          <p:cNvSpPr/>
          <p:nvPr/>
        </p:nvSpPr>
        <p:spPr>
          <a:xfrm>
            <a:off x="914400" y="3108960"/>
            <a:ext cx="318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8bdf8"/>
                </a:solidFill>
                <a:latin typeface="Calibri"/>
                <a:ea typeface="DejaVu Sans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5" name="Text 9"/>
          <p:cNvSpPr/>
          <p:nvPr/>
        </p:nvSpPr>
        <p:spPr>
          <a:xfrm>
            <a:off x="1298520" y="3108960"/>
            <a:ext cx="20106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DejaVu Sans"/>
              </a:rPr>
              <a:t>Polymorphism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46" name="Text 10"/>
          <p:cNvSpPr/>
          <p:nvPr/>
        </p:nvSpPr>
        <p:spPr>
          <a:xfrm>
            <a:off x="3474720" y="3145680"/>
            <a:ext cx="5028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  <a:ea typeface="DejaVu Sans"/>
              </a:rPr>
              <a:t>One interface, many implementations — method overriding and duck typing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7" name="Text 11"/>
          <p:cNvSpPr/>
          <p:nvPr/>
        </p:nvSpPr>
        <p:spPr>
          <a:xfrm>
            <a:off x="914400" y="3977640"/>
            <a:ext cx="318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8bdf8"/>
                </a:solidFill>
                <a:latin typeface="Calibri"/>
                <a:ea typeface="DejaVu Sans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8" name="Text 12"/>
          <p:cNvSpPr/>
          <p:nvPr/>
        </p:nvSpPr>
        <p:spPr>
          <a:xfrm>
            <a:off x="1298520" y="3977640"/>
            <a:ext cx="20106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DejaVu Sans"/>
              </a:rPr>
              <a:t>Abstraction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49" name="Text 13"/>
          <p:cNvSpPr/>
          <p:nvPr/>
        </p:nvSpPr>
        <p:spPr>
          <a:xfrm>
            <a:off x="3474720" y="4014360"/>
            <a:ext cx="5028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  <a:ea typeface="DejaVu Sans"/>
              </a:rPr>
              <a:t>Hide implementation details; expose only what's necessary via abstract classes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0" name="Text 14"/>
          <p:cNvSpPr/>
          <p:nvPr/>
        </p:nvSpPr>
        <p:spPr>
          <a:xfrm>
            <a:off x="914400" y="4709160"/>
            <a:ext cx="7771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Python OOP  ·  Session 8 Part 2  ·  All concepts covered · Variables renamed for copyright compliance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2026-02-21T17:54:13Z</dcterms:created>
  <dc:creator>PptxGenJS</dc:creator>
  <dc:description/>
  <dc:language>en-IN</dc:language>
  <cp:lastModifiedBy/>
  <dcterms:modified xsi:type="dcterms:W3CDTF">2026-03-04T20:42:13Z</dcterms:modified>
  <cp:revision>5</cp:revision>
  <dc:subject>PptxGenJS Presentation</dc:subject>
  <dc:title>Python OOP – Part 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