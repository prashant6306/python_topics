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</a:t>
            </a:r>
            <a:r>
              <a:rPr b="0" lang="en-IN" sz="4400" spc="-1" strike="noStrike">
                <a:latin typeface="Arial"/>
              </a:rPr>
              <a:t>l</a:t>
            </a:r>
            <a:r>
              <a:rPr b="0" lang="en-IN" sz="4400" spc="-1" strike="noStrike">
                <a:latin typeface="Arial"/>
              </a:rPr>
              <a:t>i</a:t>
            </a:r>
            <a:r>
              <a:rPr b="0" lang="en-IN" sz="4400" spc="-1" strike="noStrike">
                <a:latin typeface="Arial"/>
              </a:rPr>
              <a:t>c</a:t>
            </a:r>
            <a:r>
              <a:rPr b="0" lang="en-IN" sz="4400" spc="-1" strike="noStrike">
                <a:latin typeface="Arial"/>
              </a:rPr>
              <a:t>k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o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m</a:t>
            </a:r>
            <a:r>
              <a:rPr b="0" lang="en-IN" sz="4400" spc="-1" strike="noStrike">
                <a:latin typeface="Arial"/>
              </a:rPr>
              <a:t>o</a:t>
            </a:r>
            <a:r>
              <a:rPr b="0" lang="en-IN" sz="4400" spc="-1" strike="noStrike">
                <a:latin typeface="Arial"/>
              </a:rPr>
              <a:t>v</a:t>
            </a:r>
            <a:r>
              <a:rPr b="0" lang="en-IN" sz="4400" spc="-1" strike="noStrike">
                <a:latin typeface="Arial"/>
              </a:rPr>
              <a:t>e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h</a:t>
            </a:r>
            <a:r>
              <a:rPr b="0" lang="en-IN" sz="4400" spc="-1" strike="noStrike">
                <a:latin typeface="Arial"/>
              </a:rPr>
              <a:t>e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s</a:t>
            </a:r>
            <a:r>
              <a:rPr b="0" lang="en-IN" sz="4400" spc="-1" strike="noStrike">
                <a:latin typeface="Arial"/>
              </a:rPr>
              <a:t>l</a:t>
            </a:r>
            <a:r>
              <a:rPr b="0" lang="en-IN" sz="4400" spc="-1" strike="noStrike">
                <a:latin typeface="Arial"/>
              </a:rPr>
              <a:t>i</a:t>
            </a:r>
            <a:r>
              <a:rPr b="0" lang="en-IN" sz="4400" spc="-1" strike="noStrike">
                <a:latin typeface="Arial"/>
              </a:rPr>
              <a:t>d</a:t>
            </a:r>
            <a:r>
              <a:rPr b="0" lang="en-IN" sz="4400" spc="-1" strike="noStrike">
                <a:latin typeface="Arial"/>
              </a:rPr>
              <a:t>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522381A4-DB43-4614-8F96-F25CC9AC736E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15E9470-0495-437F-B985-EA274962263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DFEA6F3-B605-49B7-BA3F-112CE9F3633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E49A99C-8717-42F4-936C-85EAED5D186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82B872A-DFAF-460B-A062-1FFAD649967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6186537-DB49-484C-AA20-D799D88AEE8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3FDD157-E96A-4ADF-AFD4-BE61F0FFA79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B8465B0-66F1-482C-8123-78F9CA6FE8B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451CB36-38A5-4174-B4C4-E137B54BF45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8BADC59-2CE8-4DC0-BAF8-96FFF296B7A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1131EB8-559F-4A0F-A8E5-4BDA6F2BAF2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F5DEA05-698C-4A1F-942E-612EBFA6336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C5FF0CF-1961-4479-B75F-1CCCCD55BD5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2A981EC-45F0-4765-8286-D6BB7B13F18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</a:t>
            </a:r>
            <a:r>
              <a:rPr b="0" lang="en-IN" sz="4400" spc="-1" strike="noStrike">
                <a:latin typeface="Arial"/>
              </a:rPr>
              <a:t>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2560" cy="5142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0" y="4114800"/>
            <a:ext cx="9142560" cy="10274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457200" y="1097280"/>
            <a:ext cx="108360" cy="2741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3"/>
          <p:cNvSpPr/>
          <p:nvPr/>
        </p:nvSpPr>
        <p:spPr>
          <a:xfrm>
            <a:off x="777240" y="1097280"/>
            <a:ext cx="77709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Object-Oriented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777240" y="1828800"/>
            <a:ext cx="77709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0b4d8"/>
                </a:solidFill>
                <a:latin typeface="Calibri"/>
                <a:ea typeface="Calibri"/>
              </a:rPr>
              <a:t>Programming in Python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777240" y="2788920"/>
            <a:ext cx="7313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90e0ef"/>
                </a:solidFill>
                <a:latin typeface="Calibri"/>
                <a:ea typeface="Calibri"/>
              </a:rPr>
              <a:t>Part 1 — Classes &amp; Objects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777240" y="3291840"/>
            <a:ext cx="45705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8da9c4"/>
                </a:solidFill>
                <a:latin typeface="Calibri"/>
                <a:ea typeface="Calibri"/>
              </a:rPr>
              <a:t>Week 3 · Session 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457200" y="4187880"/>
            <a:ext cx="8228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Topics: Why OOP • OOP Fundamentals • 6 Principles • Classes &amp; Objects • ATM App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0"/>
            <a:ext cx="9142560" cy="1004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Shape 1"/>
          <p:cNvSpPr/>
          <p:nvPr/>
        </p:nvSpPr>
        <p:spPr>
          <a:xfrm>
            <a:off x="0" y="0"/>
            <a:ext cx="108360" cy="100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2"/>
          <p:cNvSpPr/>
          <p:nvPr/>
        </p:nvSpPr>
        <p:spPr>
          <a:xfrm>
            <a:off x="255960" y="137160"/>
            <a:ext cx="8502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What We'll Cover Today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255960" y="658440"/>
            <a:ext cx="8502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Complete session roadmap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6" name="Shape 4"/>
          <p:cNvSpPr/>
          <p:nvPr/>
        </p:nvSpPr>
        <p:spPr>
          <a:xfrm>
            <a:off x="365760" y="1188720"/>
            <a:ext cx="8411040" cy="6570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7" name="Shape 5"/>
          <p:cNvSpPr/>
          <p:nvPr/>
        </p:nvSpPr>
        <p:spPr>
          <a:xfrm>
            <a:off x="365760" y="1188720"/>
            <a:ext cx="455760" cy="657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6"/>
          <p:cNvSpPr/>
          <p:nvPr/>
        </p:nvSpPr>
        <p:spPr>
          <a:xfrm>
            <a:off x="365760" y="1188720"/>
            <a:ext cx="45576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01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914400" y="1252800"/>
            <a:ext cx="2924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Why OOP?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914400" y="1527120"/>
            <a:ext cx="74966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The real-world story behind switching to OOP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1" name="Shape 9"/>
          <p:cNvSpPr/>
          <p:nvPr/>
        </p:nvSpPr>
        <p:spPr>
          <a:xfrm>
            <a:off x="365760" y="1947600"/>
            <a:ext cx="8411040" cy="65700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2" name="Shape 10"/>
          <p:cNvSpPr/>
          <p:nvPr/>
        </p:nvSpPr>
        <p:spPr>
          <a:xfrm>
            <a:off x="365760" y="1947600"/>
            <a:ext cx="455760" cy="657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11"/>
          <p:cNvSpPr/>
          <p:nvPr/>
        </p:nvSpPr>
        <p:spPr>
          <a:xfrm>
            <a:off x="365760" y="1947600"/>
            <a:ext cx="45576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02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914400" y="2011680"/>
            <a:ext cx="2924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OOP Fundamentals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5" name="Text 13"/>
          <p:cNvSpPr/>
          <p:nvPr/>
        </p:nvSpPr>
        <p:spPr>
          <a:xfrm>
            <a:off x="914400" y="2286000"/>
            <a:ext cx="74966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"Everything in Python is an object" + core power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6" name="Shape 14"/>
          <p:cNvSpPr/>
          <p:nvPr/>
        </p:nvSpPr>
        <p:spPr>
          <a:xfrm>
            <a:off x="365760" y="2706480"/>
            <a:ext cx="8411040" cy="6570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7" name="Shape 15"/>
          <p:cNvSpPr/>
          <p:nvPr/>
        </p:nvSpPr>
        <p:spPr>
          <a:xfrm>
            <a:off x="365760" y="2706480"/>
            <a:ext cx="455760" cy="657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16"/>
          <p:cNvSpPr/>
          <p:nvPr/>
        </p:nvSpPr>
        <p:spPr>
          <a:xfrm>
            <a:off x="365760" y="2706480"/>
            <a:ext cx="45576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03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9" name="Text 17"/>
          <p:cNvSpPr/>
          <p:nvPr/>
        </p:nvSpPr>
        <p:spPr>
          <a:xfrm>
            <a:off x="914400" y="2770560"/>
            <a:ext cx="2924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6 OOP Principles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0" name="Text 18"/>
          <p:cNvSpPr/>
          <p:nvPr/>
        </p:nvSpPr>
        <p:spPr>
          <a:xfrm>
            <a:off x="914400" y="3044880"/>
            <a:ext cx="74966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Overview of the six pillars you must master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71" name="Shape 19"/>
          <p:cNvSpPr/>
          <p:nvPr/>
        </p:nvSpPr>
        <p:spPr>
          <a:xfrm>
            <a:off x="365760" y="3465720"/>
            <a:ext cx="8411040" cy="65700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2" name="Shape 20"/>
          <p:cNvSpPr/>
          <p:nvPr/>
        </p:nvSpPr>
        <p:spPr>
          <a:xfrm>
            <a:off x="365760" y="3465720"/>
            <a:ext cx="455760" cy="657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21"/>
          <p:cNvSpPr/>
          <p:nvPr/>
        </p:nvSpPr>
        <p:spPr>
          <a:xfrm>
            <a:off x="365760" y="3465720"/>
            <a:ext cx="45576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4" name="Text 22"/>
          <p:cNvSpPr/>
          <p:nvPr/>
        </p:nvSpPr>
        <p:spPr>
          <a:xfrm>
            <a:off x="914400" y="3529440"/>
            <a:ext cx="2924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Classes &amp; Objects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5" name="Text 23"/>
          <p:cNvSpPr/>
          <p:nvPr/>
        </p:nvSpPr>
        <p:spPr>
          <a:xfrm>
            <a:off x="914400" y="3803760"/>
            <a:ext cx="74966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Blueprint vs instance, analogies, syntax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76" name="Shape 24"/>
          <p:cNvSpPr/>
          <p:nvPr/>
        </p:nvSpPr>
        <p:spPr>
          <a:xfrm>
            <a:off x="365760" y="4224600"/>
            <a:ext cx="8411040" cy="6570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7" name="Shape 25"/>
          <p:cNvSpPr/>
          <p:nvPr/>
        </p:nvSpPr>
        <p:spPr>
          <a:xfrm>
            <a:off x="365760" y="4224600"/>
            <a:ext cx="455760" cy="657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26"/>
          <p:cNvSpPr/>
          <p:nvPr/>
        </p:nvSpPr>
        <p:spPr>
          <a:xfrm>
            <a:off x="365760" y="4224600"/>
            <a:ext cx="45576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9" name="Text 27"/>
          <p:cNvSpPr/>
          <p:nvPr/>
        </p:nvSpPr>
        <p:spPr>
          <a:xfrm>
            <a:off x="914400" y="4288680"/>
            <a:ext cx="2924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ATM Application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0" name="Text 28"/>
          <p:cNvSpPr/>
          <p:nvPr/>
        </p:nvSpPr>
        <p:spPr>
          <a:xfrm>
            <a:off x="914400" y="4563000"/>
            <a:ext cx="74966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Full practical project built step by step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0" y="0"/>
            <a:ext cx="9142560" cy="1004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Shape 1"/>
          <p:cNvSpPr/>
          <p:nvPr/>
        </p:nvSpPr>
        <p:spPr>
          <a:xfrm>
            <a:off x="0" y="0"/>
            <a:ext cx="108360" cy="100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 2"/>
          <p:cNvSpPr/>
          <p:nvPr/>
        </p:nvSpPr>
        <p:spPr>
          <a:xfrm>
            <a:off x="255960" y="137160"/>
            <a:ext cx="8502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Why OOP? A Real Developer's Story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255960" y="658440"/>
            <a:ext cx="8502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2 — The motivation behind learning OOP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5" name="Shape 4"/>
          <p:cNvSpPr/>
          <p:nvPr/>
        </p:nvSpPr>
        <p:spPr>
          <a:xfrm>
            <a:off x="320040" y="1143000"/>
            <a:ext cx="4113360" cy="35647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6" name="Text 5"/>
          <p:cNvSpPr/>
          <p:nvPr/>
        </p:nvSpPr>
        <p:spPr>
          <a:xfrm>
            <a:off x="502920" y="1261800"/>
            <a:ext cx="3747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The Startup Company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502920" y="1664280"/>
            <a:ext cx="374760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2013 — Graduated college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2014 — launched solo startup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Goal: LinkedIn for college students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Modules: User Registration, Résumé Builder, Friend Requests, and more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built everything from scratch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8" name="Shape 7"/>
          <p:cNvSpPr/>
          <p:nvPr/>
        </p:nvSpPr>
        <p:spPr>
          <a:xfrm>
            <a:off x="4709160" y="1143000"/>
            <a:ext cx="4113360" cy="166284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9" name="Text 8"/>
          <p:cNvSpPr/>
          <p:nvPr/>
        </p:nvSpPr>
        <p:spPr>
          <a:xfrm>
            <a:off x="4892040" y="1261800"/>
            <a:ext cx="37476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6b6b"/>
                </a:solidFill>
                <a:latin typeface="Calibri"/>
                <a:ea typeface="Calibri"/>
              </a:rPr>
              <a:t>The Problem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0" name="Text 9"/>
          <p:cNvSpPr/>
          <p:nvPr/>
        </p:nvSpPr>
        <p:spPr>
          <a:xfrm>
            <a:off x="4892040" y="1627560"/>
            <a:ext cx="374760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6 months of procedural coding</a:t>
            </a:r>
            <a:endParaRPr b="0" lang="en-IN" sz="10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10,000+ lines — became unmanageable</a:t>
            </a:r>
            <a:endParaRPr b="0" lang="en-IN" sz="10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Adding new features felt impossible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91" name="Shape 10"/>
          <p:cNvSpPr/>
          <p:nvPr/>
        </p:nvSpPr>
        <p:spPr>
          <a:xfrm>
            <a:off x="4709160" y="2926080"/>
            <a:ext cx="4113360" cy="178164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2" name="Text 11"/>
          <p:cNvSpPr/>
          <p:nvPr/>
        </p:nvSpPr>
        <p:spPr>
          <a:xfrm>
            <a:off x="4892040" y="3044880"/>
            <a:ext cx="37476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d6a0"/>
                </a:solidFill>
                <a:latin typeface="Calibri"/>
                <a:ea typeface="Calibri"/>
              </a:rPr>
              <a:t>OOP as the Solution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3" name="Text 12"/>
          <p:cNvSpPr/>
          <p:nvPr/>
        </p:nvSpPr>
        <p:spPr>
          <a:xfrm>
            <a:off x="4892040" y="3401640"/>
            <a:ext cx="3747600" cy="11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Spent 15 days learning OOP</a:t>
            </a:r>
            <a:endParaRPr b="0" lang="en-IN" sz="10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Rebuilt entire app in just 1.5 months</a:t>
            </a:r>
            <a:endParaRPr b="0" lang="en-IN" sz="10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Used HALF the lines of code</a:t>
            </a:r>
            <a:endParaRPr b="0" lang="en-IN" sz="10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Adding features became easy &amp; clean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0" y="0"/>
            <a:ext cx="9142560" cy="1004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Shape 1"/>
          <p:cNvSpPr/>
          <p:nvPr/>
        </p:nvSpPr>
        <p:spPr>
          <a:xfrm>
            <a:off x="0" y="0"/>
            <a:ext cx="108360" cy="100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2"/>
          <p:cNvSpPr/>
          <p:nvPr/>
        </p:nvSpPr>
        <p:spPr>
          <a:xfrm>
            <a:off x="255960" y="137160"/>
            <a:ext cx="8502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Procedural Approach Breaks Down at Scale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255960" y="658440"/>
            <a:ext cx="8502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Why large applications demand OOP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8" name="Shape 4"/>
          <p:cNvSpPr/>
          <p:nvPr/>
        </p:nvSpPr>
        <p:spPr>
          <a:xfrm>
            <a:off x="320040" y="1143000"/>
            <a:ext cx="4113360" cy="36104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9" name="Shape 5"/>
          <p:cNvSpPr/>
          <p:nvPr/>
        </p:nvSpPr>
        <p:spPr>
          <a:xfrm>
            <a:off x="320040" y="1143000"/>
            <a:ext cx="4113360" cy="4100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6"/>
          <p:cNvSpPr/>
          <p:nvPr/>
        </p:nvSpPr>
        <p:spPr>
          <a:xfrm>
            <a:off x="457200" y="1143000"/>
            <a:ext cx="38390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Procedural Approach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457200" y="1627560"/>
            <a:ext cx="3839040" cy="29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Top-to-bottom, line-by-line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Uses only built-in types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Works fine for small scripts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10,000+ lines = chaos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Impossible to maintain &amp; extend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One change can break everything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2" name="Shape 8"/>
          <p:cNvSpPr/>
          <p:nvPr/>
        </p:nvSpPr>
        <p:spPr>
          <a:xfrm>
            <a:off x="4663440" y="1143000"/>
            <a:ext cx="4113360" cy="36104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3" name="Shape 9"/>
          <p:cNvSpPr/>
          <p:nvPr/>
        </p:nvSpPr>
        <p:spPr>
          <a:xfrm>
            <a:off x="4663440" y="1143000"/>
            <a:ext cx="4113360" cy="410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10"/>
          <p:cNvSpPr/>
          <p:nvPr/>
        </p:nvSpPr>
        <p:spPr>
          <a:xfrm>
            <a:off x="4800600" y="1143000"/>
            <a:ext cx="38390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OOP Approach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4800600" y="1627560"/>
            <a:ext cx="3839040" cy="29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Organized into classes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Create your own data types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Scales to any app size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Half the code, same features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Adding features is structured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Changes are isolated &amp; safe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6" name="Shape 12"/>
          <p:cNvSpPr/>
          <p:nvPr/>
        </p:nvSpPr>
        <p:spPr>
          <a:xfrm>
            <a:off x="4224600" y="2560320"/>
            <a:ext cx="693360" cy="6933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13"/>
          <p:cNvSpPr/>
          <p:nvPr/>
        </p:nvSpPr>
        <p:spPr>
          <a:xfrm>
            <a:off x="4224600" y="2560320"/>
            <a:ext cx="69336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VS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8" name="Shape 14"/>
          <p:cNvSpPr/>
          <p:nvPr/>
        </p:nvSpPr>
        <p:spPr>
          <a:xfrm>
            <a:off x="320040" y="4681800"/>
            <a:ext cx="8502480" cy="364320"/>
          </a:xfrm>
          <a:prstGeom prst="rect">
            <a:avLst/>
          </a:prstGeom>
          <a:solidFill>
            <a:srgbClr val="122233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15"/>
          <p:cNvSpPr/>
          <p:nvPr/>
        </p:nvSpPr>
        <p:spPr>
          <a:xfrm>
            <a:off x="457200" y="4690800"/>
            <a:ext cx="82281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0e0ef"/>
                </a:solidFill>
                <a:latin typeface="Calibri"/>
                <a:ea typeface="Calibri"/>
              </a:rPr>
              <a:t>"OOP solves the very real problem of complexity that grows with application size."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0"/>
          <p:cNvSpPr/>
          <p:nvPr/>
        </p:nvSpPr>
        <p:spPr>
          <a:xfrm>
            <a:off x="0" y="0"/>
            <a:ext cx="9142560" cy="1004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Shape 1"/>
          <p:cNvSpPr/>
          <p:nvPr/>
        </p:nvSpPr>
        <p:spPr>
          <a:xfrm>
            <a:off x="0" y="0"/>
            <a:ext cx="108360" cy="100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2"/>
          <p:cNvSpPr/>
          <p:nvPr/>
        </p:nvSpPr>
        <p:spPr>
          <a:xfrm>
            <a:off x="255960" y="137160"/>
            <a:ext cx="8502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Everything in Python is an Object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13" name="Text 3"/>
          <p:cNvSpPr/>
          <p:nvPr/>
        </p:nvSpPr>
        <p:spPr>
          <a:xfrm>
            <a:off x="255960" y="658440"/>
            <a:ext cx="8502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3.1 — Proof through Python's own error messages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4" name="Shape 4"/>
          <p:cNvSpPr/>
          <p:nvPr/>
        </p:nvSpPr>
        <p:spPr>
          <a:xfrm>
            <a:off x="320040" y="1143000"/>
            <a:ext cx="4159080" cy="36104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5" name="Text 5"/>
          <p:cNvSpPr/>
          <p:nvPr/>
        </p:nvSpPr>
        <p:spPr>
          <a:xfrm>
            <a:off x="502920" y="1261800"/>
            <a:ext cx="36561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Live Proof: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6" name="Shape 6"/>
          <p:cNvSpPr/>
          <p:nvPr/>
        </p:nvSpPr>
        <p:spPr>
          <a:xfrm>
            <a:off x="365760" y="1600200"/>
            <a:ext cx="4021920" cy="2467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Shape 7"/>
          <p:cNvSpPr/>
          <p:nvPr/>
        </p:nvSpPr>
        <p:spPr>
          <a:xfrm>
            <a:off x="365760" y="1600200"/>
            <a:ext cx="638640" cy="199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8"/>
          <p:cNvSpPr/>
          <p:nvPr/>
        </p:nvSpPr>
        <p:spPr>
          <a:xfrm>
            <a:off x="365760" y="1600200"/>
            <a:ext cx="638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457200" y="1837800"/>
            <a:ext cx="3839040" cy="21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nums = [10, 20, 30]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nums.upper()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ERROR: 'list' object has no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attribute 'upper'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greeting = 'hello'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greeting.append('!')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ERROR: 'str' object has no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attribute 'append'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0" name="Text 10"/>
          <p:cNvSpPr/>
          <p:nvPr/>
        </p:nvSpPr>
        <p:spPr>
          <a:xfrm>
            <a:off x="365760" y="4133160"/>
            <a:ext cx="411336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ffb703"/>
                </a:solidFill>
                <a:latin typeface="Calibri"/>
                <a:ea typeface="Calibri"/>
              </a:rPr>
              <a:t>Python's own errors say 'object'  — proof that everything is an object!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1" name="Shape 11"/>
          <p:cNvSpPr/>
          <p:nvPr/>
        </p:nvSpPr>
        <p:spPr>
          <a:xfrm>
            <a:off x="4709160" y="1143000"/>
            <a:ext cx="4113360" cy="36104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2" name="Text 12"/>
          <p:cNvSpPr/>
          <p:nvPr/>
        </p:nvSpPr>
        <p:spPr>
          <a:xfrm>
            <a:off x="4892040" y="1261800"/>
            <a:ext cx="37476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All Built-in Types are Objects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3" name="Shape 13"/>
          <p:cNvSpPr/>
          <p:nvPr/>
        </p:nvSpPr>
        <p:spPr>
          <a:xfrm>
            <a:off x="4846320" y="1645920"/>
            <a:ext cx="3473280" cy="345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4" name="Shape 14"/>
          <p:cNvSpPr/>
          <p:nvPr/>
        </p:nvSpPr>
        <p:spPr>
          <a:xfrm>
            <a:off x="4846320" y="1645920"/>
            <a:ext cx="62640" cy="345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15"/>
          <p:cNvSpPr/>
          <p:nvPr/>
        </p:nvSpPr>
        <p:spPr>
          <a:xfrm>
            <a:off x="5029200" y="1645920"/>
            <a:ext cx="1095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0e0ef"/>
                </a:solidFill>
                <a:latin typeface="Consolas"/>
                <a:ea typeface="Consolas"/>
              </a:rPr>
              <a:t>int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6126480" y="1645920"/>
            <a:ext cx="2101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→ </a:t>
            </a: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is an Object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7" name="Shape 17"/>
          <p:cNvSpPr/>
          <p:nvPr/>
        </p:nvSpPr>
        <p:spPr>
          <a:xfrm>
            <a:off x="4846320" y="2084760"/>
            <a:ext cx="3473280" cy="345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8" name="Shape 18"/>
          <p:cNvSpPr/>
          <p:nvPr/>
        </p:nvSpPr>
        <p:spPr>
          <a:xfrm>
            <a:off x="4846320" y="2084760"/>
            <a:ext cx="62640" cy="345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19"/>
          <p:cNvSpPr/>
          <p:nvPr/>
        </p:nvSpPr>
        <p:spPr>
          <a:xfrm>
            <a:off x="5029200" y="2084760"/>
            <a:ext cx="1095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0e0ef"/>
                </a:solidFill>
                <a:latin typeface="Consolas"/>
                <a:ea typeface="Consolas"/>
              </a:rPr>
              <a:t>float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0" name="Text 20"/>
          <p:cNvSpPr/>
          <p:nvPr/>
        </p:nvSpPr>
        <p:spPr>
          <a:xfrm>
            <a:off x="6126480" y="2084760"/>
            <a:ext cx="2101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→ </a:t>
            </a: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is an Object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31" name="Shape 21"/>
          <p:cNvSpPr/>
          <p:nvPr/>
        </p:nvSpPr>
        <p:spPr>
          <a:xfrm>
            <a:off x="4846320" y="2523600"/>
            <a:ext cx="3473280" cy="345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2" name="Shape 22"/>
          <p:cNvSpPr/>
          <p:nvPr/>
        </p:nvSpPr>
        <p:spPr>
          <a:xfrm>
            <a:off x="4846320" y="2523600"/>
            <a:ext cx="62640" cy="345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23"/>
          <p:cNvSpPr/>
          <p:nvPr/>
        </p:nvSpPr>
        <p:spPr>
          <a:xfrm>
            <a:off x="5029200" y="2523600"/>
            <a:ext cx="1095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0e0ef"/>
                </a:solidFill>
                <a:latin typeface="Consolas"/>
                <a:ea typeface="Consolas"/>
              </a:rPr>
              <a:t>str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4" name="Text 24"/>
          <p:cNvSpPr/>
          <p:nvPr/>
        </p:nvSpPr>
        <p:spPr>
          <a:xfrm>
            <a:off x="6126480" y="2523600"/>
            <a:ext cx="2101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→ </a:t>
            </a: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is an Object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35" name="Shape 25"/>
          <p:cNvSpPr/>
          <p:nvPr/>
        </p:nvSpPr>
        <p:spPr>
          <a:xfrm>
            <a:off x="4846320" y="2962800"/>
            <a:ext cx="3473280" cy="345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6" name="Shape 26"/>
          <p:cNvSpPr/>
          <p:nvPr/>
        </p:nvSpPr>
        <p:spPr>
          <a:xfrm>
            <a:off x="4846320" y="2962800"/>
            <a:ext cx="62640" cy="345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27"/>
          <p:cNvSpPr/>
          <p:nvPr/>
        </p:nvSpPr>
        <p:spPr>
          <a:xfrm>
            <a:off x="5029200" y="2962800"/>
            <a:ext cx="1095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0e0ef"/>
                </a:solidFill>
                <a:latin typeface="Consolas"/>
                <a:ea typeface="Consolas"/>
              </a:rPr>
              <a:t>list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8" name="Text 28"/>
          <p:cNvSpPr/>
          <p:nvPr/>
        </p:nvSpPr>
        <p:spPr>
          <a:xfrm>
            <a:off x="6126480" y="2962800"/>
            <a:ext cx="2101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→ </a:t>
            </a: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is an Object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39" name="Shape 29"/>
          <p:cNvSpPr/>
          <p:nvPr/>
        </p:nvSpPr>
        <p:spPr>
          <a:xfrm>
            <a:off x="4846320" y="3401640"/>
            <a:ext cx="3473280" cy="345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0" name="Shape 30"/>
          <p:cNvSpPr/>
          <p:nvPr/>
        </p:nvSpPr>
        <p:spPr>
          <a:xfrm>
            <a:off x="4846320" y="3401640"/>
            <a:ext cx="62640" cy="345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31"/>
          <p:cNvSpPr/>
          <p:nvPr/>
        </p:nvSpPr>
        <p:spPr>
          <a:xfrm>
            <a:off x="5029200" y="3401640"/>
            <a:ext cx="1095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0e0ef"/>
                </a:solidFill>
                <a:latin typeface="Consolas"/>
                <a:ea typeface="Consolas"/>
              </a:rPr>
              <a:t>tuple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2" name="Text 32"/>
          <p:cNvSpPr/>
          <p:nvPr/>
        </p:nvSpPr>
        <p:spPr>
          <a:xfrm>
            <a:off x="6126480" y="3401640"/>
            <a:ext cx="2101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→ </a:t>
            </a: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is an Object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43" name="Shape 33"/>
          <p:cNvSpPr/>
          <p:nvPr/>
        </p:nvSpPr>
        <p:spPr>
          <a:xfrm>
            <a:off x="4846320" y="3840480"/>
            <a:ext cx="3473280" cy="345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4" name="Shape 34"/>
          <p:cNvSpPr/>
          <p:nvPr/>
        </p:nvSpPr>
        <p:spPr>
          <a:xfrm>
            <a:off x="4846320" y="3840480"/>
            <a:ext cx="62640" cy="345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35"/>
          <p:cNvSpPr/>
          <p:nvPr/>
        </p:nvSpPr>
        <p:spPr>
          <a:xfrm>
            <a:off x="5029200" y="3840480"/>
            <a:ext cx="1095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0e0ef"/>
                </a:solidFill>
                <a:latin typeface="Consolas"/>
                <a:ea typeface="Consolas"/>
              </a:rPr>
              <a:t>set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6" name="Text 36"/>
          <p:cNvSpPr/>
          <p:nvPr/>
        </p:nvSpPr>
        <p:spPr>
          <a:xfrm>
            <a:off x="6126480" y="3840480"/>
            <a:ext cx="2101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→ </a:t>
            </a: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is an Object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47" name="Shape 37"/>
          <p:cNvSpPr/>
          <p:nvPr/>
        </p:nvSpPr>
        <p:spPr>
          <a:xfrm>
            <a:off x="4846320" y="4279320"/>
            <a:ext cx="3473280" cy="345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8" name="Shape 38"/>
          <p:cNvSpPr/>
          <p:nvPr/>
        </p:nvSpPr>
        <p:spPr>
          <a:xfrm>
            <a:off x="4846320" y="4279320"/>
            <a:ext cx="62640" cy="345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39"/>
          <p:cNvSpPr/>
          <p:nvPr/>
        </p:nvSpPr>
        <p:spPr>
          <a:xfrm>
            <a:off x="5029200" y="4279320"/>
            <a:ext cx="1095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0e0ef"/>
                </a:solidFill>
                <a:latin typeface="Consolas"/>
                <a:ea typeface="Consolas"/>
              </a:rPr>
              <a:t>dict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0" name="Text 40"/>
          <p:cNvSpPr/>
          <p:nvPr/>
        </p:nvSpPr>
        <p:spPr>
          <a:xfrm>
            <a:off x="6126480" y="4279320"/>
            <a:ext cx="2101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→ </a:t>
            </a: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is an Object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1" name="Shape 41"/>
          <p:cNvSpPr/>
          <p:nvPr/>
        </p:nvSpPr>
        <p:spPr>
          <a:xfrm>
            <a:off x="4846320" y="4773240"/>
            <a:ext cx="3839040" cy="27288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2" name="Text 42"/>
          <p:cNvSpPr/>
          <p:nvPr/>
        </p:nvSpPr>
        <p:spPr>
          <a:xfrm>
            <a:off x="4846320" y="4773240"/>
            <a:ext cx="38390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✦  </a:t>
            </a: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"Everything in Python is an Object"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0" y="0"/>
            <a:ext cx="9142560" cy="1004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Shape 1"/>
          <p:cNvSpPr/>
          <p:nvPr/>
        </p:nvSpPr>
        <p:spPr>
          <a:xfrm>
            <a:off x="0" y="0"/>
            <a:ext cx="108360" cy="100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2"/>
          <p:cNvSpPr/>
          <p:nvPr/>
        </p:nvSpPr>
        <p:spPr>
          <a:xfrm>
            <a:off x="255960" y="137160"/>
            <a:ext cx="8502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The Main Power of OOP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255960" y="658440"/>
            <a:ext cx="8502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3.2–3.3 — What OOP truly gives you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7" name="Shape 4"/>
          <p:cNvSpPr/>
          <p:nvPr/>
        </p:nvSpPr>
        <p:spPr>
          <a:xfrm>
            <a:off x="320040" y="1143000"/>
            <a:ext cx="8502480" cy="1004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8" name="Shape 5"/>
          <p:cNvSpPr/>
          <p:nvPr/>
        </p:nvSpPr>
        <p:spPr>
          <a:xfrm>
            <a:off x="320040" y="1143000"/>
            <a:ext cx="8502480" cy="62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6"/>
          <p:cNvSpPr/>
          <p:nvPr/>
        </p:nvSpPr>
        <p:spPr>
          <a:xfrm>
            <a:off x="457200" y="1234440"/>
            <a:ext cx="82281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OOP gives a developer the ability to create their OWN custom data types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0" name="Shape 7"/>
          <p:cNvSpPr/>
          <p:nvPr/>
        </p:nvSpPr>
        <p:spPr>
          <a:xfrm>
            <a:off x="320040" y="2331720"/>
            <a:ext cx="4067640" cy="2558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1" name="Text 8"/>
          <p:cNvSpPr/>
          <p:nvPr/>
        </p:nvSpPr>
        <p:spPr>
          <a:xfrm>
            <a:off x="457200" y="2450520"/>
            <a:ext cx="3839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6b6b"/>
                </a:solidFill>
                <a:latin typeface="Calibri"/>
                <a:ea typeface="Calibri"/>
              </a:rPr>
              <a:t>Built-in Types (Before OOP)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2" name="Text 9"/>
          <p:cNvSpPr/>
          <p:nvPr/>
        </p:nvSpPr>
        <p:spPr>
          <a:xfrm>
            <a:off x="457200" y="2816280"/>
            <a:ext cx="37476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You're limited to generic types: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3" name="Text 10"/>
          <p:cNvSpPr/>
          <p:nvPr/>
        </p:nvSpPr>
        <p:spPr>
          <a:xfrm>
            <a:off x="457200" y="3108960"/>
            <a:ext cx="37476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90e0ef"/>
                </a:solidFill>
                <a:latin typeface="Consolas"/>
                <a:ea typeface="Consolas"/>
              </a:rPr>
              <a:t>int · float · str · list · tuple · set · dict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64" name="Text 11"/>
          <p:cNvSpPr/>
          <p:nvPr/>
        </p:nvSpPr>
        <p:spPr>
          <a:xfrm>
            <a:off x="457200" y="3520440"/>
            <a:ext cx="37476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These are general-purpose — not built for YOUR app.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5" name="Shape 12"/>
          <p:cNvSpPr/>
          <p:nvPr/>
        </p:nvSpPr>
        <p:spPr>
          <a:xfrm>
            <a:off x="4754880" y="2331720"/>
            <a:ext cx="4067640" cy="2558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6" name="Text 13"/>
          <p:cNvSpPr/>
          <p:nvPr/>
        </p:nvSpPr>
        <p:spPr>
          <a:xfrm>
            <a:off x="4892040" y="2450520"/>
            <a:ext cx="3839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Custom Types (With OOP)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7" name="Text 14"/>
          <p:cNvSpPr/>
          <p:nvPr/>
        </p:nvSpPr>
        <p:spPr>
          <a:xfrm>
            <a:off x="4892040" y="2816280"/>
            <a:ext cx="37476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Build types specific to your app: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8" name="Text 15"/>
          <p:cNvSpPr/>
          <p:nvPr/>
        </p:nvSpPr>
        <p:spPr>
          <a:xfrm>
            <a:off x="4892040" y="3127320"/>
            <a:ext cx="374760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Ride  →  for a cab-booking app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Driver  →  stores driver data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Vehicle  →  tracks fleet info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9" name="Shape 16"/>
          <p:cNvSpPr/>
          <p:nvPr/>
        </p:nvSpPr>
        <p:spPr>
          <a:xfrm>
            <a:off x="4224600" y="3364920"/>
            <a:ext cx="474120" cy="7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Shape 17"/>
          <p:cNvSpPr/>
          <p:nvPr/>
        </p:nvSpPr>
        <p:spPr>
          <a:xfrm>
            <a:off x="4700160" y="3291840"/>
            <a:ext cx="71640" cy="218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Shape 18"/>
          <p:cNvSpPr/>
          <p:nvPr/>
        </p:nvSpPr>
        <p:spPr>
          <a:xfrm>
            <a:off x="320040" y="4709160"/>
            <a:ext cx="8502480" cy="3186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19"/>
          <p:cNvSpPr/>
          <p:nvPr/>
        </p:nvSpPr>
        <p:spPr>
          <a:xfrm>
            <a:off x="457200" y="4709160"/>
            <a:ext cx="8228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Generality  ──────────────────────────────────────────▶  Specificity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0" y="0"/>
            <a:ext cx="9142560" cy="1004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Shape 1"/>
          <p:cNvSpPr/>
          <p:nvPr/>
        </p:nvSpPr>
        <p:spPr>
          <a:xfrm>
            <a:off x="0" y="0"/>
            <a:ext cx="108360" cy="100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2"/>
          <p:cNvSpPr/>
          <p:nvPr/>
        </p:nvSpPr>
        <p:spPr>
          <a:xfrm>
            <a:off x="255960" y="137160"/>
            <a:ext cx="8502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The Right Tool for the Right Job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76" name="Text 3"/>
          <p:cNvSpPr/>
          <p:nvPr/>
        </p:nvSpPr>
        <p:spPr>
          <a:xfrm>
            <a:off x="255960" y="658440"/>
            <a:ext cx="8502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Sections 3.4–3.5 — Analogy and real-world examples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7" name="Shape 4"/>
          <p:cNvSpPr/>
          <p:nvPr/>
        </p:nvSpPr>
        <p:spPr>
          <a:xfrm>
            <a:off x="320040" y="1143000"/>
            <a:ext cx="4753440" cy="27417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8" name="Shape 5"/>
          <p:cNvSpPr/>
          <p:nvPr/>
        </p:nvSpPr>
        <p:spPr>
          <a:xfrm>
            <a:off x="320040" y="1143000"/>
            <a:ext cx="4753440" cy="3826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6"/>
          <p:cNvSpPr/>
          <p:nvPr/>
        </p:nvSpPr>
        <p:spPr>
          <a:xfrm>
            <a:off x="457200" y="1143000"/>
            <a:ext cx="44791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Calibri"/>
              </a:rPr>
              <a:t>🐧  </a:t>
            </a: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Calibri"/>
              </a:rPr>
              <a:t>Kali Linux Analogy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0" name="Text 7"/>
          <p:cNvSpPr/>
          <p:nvPr/>
        </p:nvSpPr>
        <p:spPr>
          <a:xfrm>
            <a:off x="457200" y="1600200"/>
            <a:ext cx="447912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Hackers can use Windows for security work — but Kali Linux gives specialized, purpose-built tools.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Similarly, you can build apps with procedural code — but OOP provides purpose-built, far more powerful tools.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1" name="Text 8"/>
          <p:cNvSpPr/>
          <p:nvPr/>
        </p:nvSpPr>
        <p:spPr>
          <a:xfrm>
            <a:off x="457200" y="2999160"/>
            <a:ext cx="20102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6d6a0"/>
                </a:solidFill>
                <a:latin typeface="Calibri"/>
                <a:ea typeface="Calibri"/>
              </a:rPr>
              <a:t>Kali Linux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2468880" y="2999160"/>
            <a:ext cx="3643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da9c4"/>
                </a:solidFill>
                <a:latin typeface="Calibri"/>
                <a:ea typeface="Calibri"/>
              </a:rPr>
              <a:t>↔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3" name="Text 10"/>
          <p:cNvSpPr/>
          <p:nvPr/>
        </p:nvSpPr>
        <p:spPr>
          <a:xfrm>
            <a:off x="2834640" y="2999160"/>
            <a:ext cx="210168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6d6a0"/>
                </a:solidFill>
                <a:latin typeface="Calibri"/>
                <a:ea typeface="Calibri"/>
              </a:rPr>
              <a:t>OOP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4" name="Text 11"/>
          <p:cNvSpPr/>
          <p:nvPr/>
        </p:nvSpPr>
        <p:spPr>
          <a:xfrm>
            <a:off x="457200" y="3364920"/>
            <a:ext cx="20102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6b6b"/>
                </a:solidFill>
                <a:latin typeface="Calibri"/>
                <a:ea typeface="Calibri"/>
              </a:rPr>
              <a:t>Windows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5" name="Text 12"/>
          <p:cNvSpPr/>
          <p:nvPr/>
        </p:nvSpPr>
        <p:spPr>
          <a:xfrm>
            <a:off x="2468880" y="3364920"/>
            <a:ext cx="3643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da9c4"/>
                </a:solidFill>
                <a:latin typeface="Calibri"/>
                <a:ea typeface="Calibri"/>
              </a:rPr>
              <a:t>↔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6" name="Text 13"/>
          <p:cNvSpPr/>
          <p:nvPr/>
        </p:nvSpPr>
        <p:spPr>
          <a:xfrm>
            <a:off x="2834640" y="3364920"/>
            <a:ext cx="210168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6b6b"/>
                </a:solidFill>
                <a:latin typeface="Calibri"/>
                <a:ea typeface="Calibri"/>
              </a:rPr>
              <a:t>Procedural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7" name="Shape 14"/>
          <p:cNvSpPr/>
          <p:nvPr/>
        </p:nvSpPr>
        <p:spPr>
          <a:xfrm>
            <a:off x="5303520" y="1143000"/>
            <a:ext cx="3519000" cy="27417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8" name="Shape 15"/>
          <p:cNvSpPr/>
          <p:nvPr/>
        </p:nvSpPr>
        <p:spPr>
          <a:xfrm>
            <a:off x="5303520" y="1143000"/>
            <a:ext cx="3519000" cy="3826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16"/>
          <p:cNvSpPr/>
          <p:nvPr/>
        </p:nvSpPr>
        <p:spPr>
          <a:xfrm>
            <a:off x="5440680" y="1143000"/>
            <a:ext cx="32904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Calibri"/>
              </a:rPr>
              <a:t>🌐  </a:t>
            </a: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Calibri"/>
              </a:rPr>
              <a:t>Real Apps Use OOP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0" name="Shape 17"/>
          <p:cNvSpPr/>
          <p:nvPr/>
        </p:nvSpPr>
        <p:spPr>
          <a:xfrm>
            <a:off x="5440680" y="1600200"/>
            <a:ext cx="3198960" cy="291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1" name="Text 18"/>
          <p:cNvSpPr/>
          <p:nvPr/>
        </p:nvSpPr>
        <p:spPr>
          <a:xfrm>
            <a:off x="5577840" y="1600200"/>
            <a:ext cx="29246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✔  </a:t>
            </a: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Swiggy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92" name="Shape 19"/>
          <p:cNvSpPr/>
          <p:nvPr/>
        </p:nvSpPr>
        <p:spPr>
          <a:xfrm>
            <a:off x="5440680" y="1965960"/>
            <a:ext cx="3198960" cy="291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3" name="Text 20"/>
          <p:cNvSpPr/>
          <p:nvPr/>
        </p:nvSpPr>
        <p:spPr>
          <a:xfrm>
            <a:off x="5577840" y="1965960"/>
            <a:ext cx="29246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✔  </a:t>
            </a: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WhatsApp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94" name="Shape 21"/>
          <p:cNvSpPr/>
          <p:nvPr/>
        </p:nvSpPr>
        <p:spPr>
          <a:xfrm>
            <a:off x="5440680" y="2331720"/>
            <a:ext cx="3198960" cy="291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5" name="Text 22"/>
          <p:cNvSpPr/>
          <p:nvPr/>
        </p:nvSpPr>
        <p:spPr>
          <a:xfrm>
            <a:off x="5577840" y="2331720"/>
            <a:ext cx="29246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✔  </a:t>
            </a: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Instagram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96" name="Shape 23"/>
          <p:cNvSpPr/>
          <p:nvPr/>
        </p:nvSpPr>
        <p:spPr>
          <a:xfrm>
            <a:off x="5440680" y="2697480"/>
            <a:ext cx="3198960" cy="291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7" name="Text 24"/>
          <p:cNvSpPr/>
          <p:nvPr/>
        </p:nvSpPr>
        <p:spPr>
          <a:xfrm>
            <a:off x="5577840" y="2697480"/>
            <a:ext cx="29246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✔  </a:t>
            </a: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NumPy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98" name="Shape 25"/>
          <p:cNvSpPr/>
          <p:nvPr/>
        </p:nvSpPr>
        <p:spPr>
          <a:xfrm>
            <a:off x="5440680" y="3063240"/>
            <a:ext cx="3198960" cy="291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9" name="Text 26"/>
          <p:cNvSpPr/>
          <p:nvPr/>
        </p:nvSpPr>
        <p:spPr>
          <a:xfrm>
            <a:off x="5577840" y="3063240"/>
            <a:ext cx="29246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✔  </a:t>
            </a: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Pandas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0" name="Shape 27"/>
          <p:cNvSpPr/>
          <p:nvPr/>
        </p:nvSpPr>
        <p:spPr>
          <a:xfrm>
            <a:off x="5440680" y="3429000"/>
            <a:ext cx="3198960" cy="291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1" name="Text 28"/>
          <p:cNvSpPr/>
          <p:nvPr/>
        </p:nvSpPr>
        <p:spPr>
          <a:xfrm>
            <a:off x="5577840" y="3429000"/>
            <a:ext cx="29246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✔  </a:t>
            </a: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Matplotlib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2" name="Shape 29"/>
          <p:cNvSpPr/>
          <p:nvPr/>
        </p:nvSpPr>
        <p:spPr>
          <a:xfrm>
            <a:off x="320040" y="4005000"/>
            <a:ext cx="8502480" cy="867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3" name="Shape 30"/>
          <p:cNvSpPr/>
          <p:nvPr/>
        </p:nvSpPr>
        <p:spPr>
          <a:xfrm>
            <a:off x="320040" y="4005000"/>
            <a:ext cx="90000" cy="867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31"/>
          <p:cNvSpPr/>
          <p:nvPr/>
        </p:nvSpPr>
        <p:spPr>
          <a:xfrm>
            <a:off x="548640" y="4060080"/>
            <a:ext cx="813672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Key Insight: Purpose-built tools always outperform generic ones. OOP is the purpose-built toolset for application development.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9142560" cy="1004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Shape 1"/>
          <p:cNvSpPr/>
          <p:nvPr/>
        </p:nvSpPr>
        <p:spPr>
          <a:xfrm>
            <a:off x="0" y="0"/>
            <a:ext cx="108360" cy="100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2"/>
          <p:cNvSpPr/>
          <p:nvPr/>
        </p:nvSpPr>
        <p:spPr>
          <a:xfrm>
            <a:off x="255960" y="137160"/>
            <a:ext cx="8502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The 6 Pillars of OOP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255960" y="658440"/>
            <a:ext cx="8502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4 — Master all six to truly understand OOP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9" name="Shape 4"/>
          <p:cNvSpPr/>
          <p:nvPr/>
        </p:nvSpPr>
        <p:spPr>
          <a:xfrm>
            <a:off x="320040" y="1188720"/>
            <a:ext cx="2696040" cy="1662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0" name="Shape 5"/>
          <p:cNvSpPr/>
          <p:nvPr/>
        </p:nvSpPr>
        <p:spPr>
          <a:xfrm>
            <a:off x="320040" y="1188720"/>
            <a:ext cx="2696040" cy="62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Shape 6"/>
          <p:cNvSpPr/>
          <p:nvPr/>
        </p:nvSpPr>
        <p:spPr>
          <a:xfrm>
            <a:off x="484560" y="1353240"/>
            <a:ext cx="437400" cy="4374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7"/>
          <p:cNvSpPr/>
          <p:nvPr/>
        </p:nvSpPr>
        <p:spPr>
          <a:xfrm>
            <a:off x="484560" y="1353240"/>
            <a:ext cx="4374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d1b2a"/>
                </a:solidFill>
                <a:latin typeface="Calibri"/>
                <a:ea typeface="Calibri"/>
              </a:rPr>
              <a:t>1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13" name="Text 8"/>
          <p:cNvSpPr/>
          <p:nvPr/>
        </p:nvSpPr>
        <p:spPr>
          <a:xfrm>
            <a:off x="1005840" y="1353240"/>
            <a:ext cx="19188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Class &amp; Object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4" name="Text 9"/>
          <p:cNvSpPr/>
          <p:nvPr/>
        </p:nvSpPr>
        <p:spPr>
          <a:xfrm>
            <a:off x="484560" y="1874520"/>
            <a:ext cx="237600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Blueprint + instances.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The foundation.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5" name="Shape 12"/>
          <p:cNvSpPr/>
          <p:nvPr/>
        </p:nvSpPr>
        <p:spPr>
          <a:xfrm>
            <a:off x="3200400" y="1188720"/>
            <a:ext cx="2696040" cy="1662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6" name="Shape 13"/>
          <p:cNvSpPr/>
          <p:nvPr/>
        </p:nvSpPr>
        <p:spPr>
          <a:xfrm>
            <a:off x="3200400" y="1188720"/>
            <a:ext cx="2696040" cy="62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Shape 14"/>
          <p:cNvSpPr/>
          <p:nvPr/>
        </p:nvSpPr>
        <p:spPr>
          <a:xfrm>
            <a:off x="3364920" y="1353240"/>
            <a:ext cx="437400" cy="4374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15"/>
          <p:cNvSpPr/>
          <p:nvPr/>
        </p:nvSpPr>
        <p:spPr>
          <a:xfrm>
            <a:off x="3364920" y="1353240"/>
            <a:ext cx="4374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d1b2a"/>
                </a:solidFill>
                <a:latin typeface="Calibri"/>
                <a:ea typeface="Calibri"/>
              </a:rPr>
              <a:t>2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19" name="Text 16"/>
          <p:cNvSpPr/>
          <p:nvPr/>
        </p:nvSpPr>
        <p:spPr>
          <a:xfrm>
            <a:off x="3886200" y="1353240"/>
            <a:ext cx="19188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Encapsulation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0" name="Text 17"/>
          <p:cNvSpPr/>
          <p:nvPr/>
        </p:nvSpPr>
        <p:spPr>
          <a:xfrm>
            <a:off x="3364920" y="1874520"/>
            <a:ext cx="237600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Hiding internal data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from outside.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1" name="Shape 20"/>
          <p:cNvSpPr/>
          <p:nvPr/>
        </p:nvSpPr>
        <p:spPr>
          <a:xfrm>
            <a:off x="6080760" y="1188720"/>
            <a:ext cx="2696040" cy="1662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2" name="Shape 21"/>
          <p:cNvSpPr/>
          <p:nvPr/>
        </p:nvSpPr>
        <p:spPr>
          <a:xfrm>
            <a:off x="6080760" y="1188720"/>
            <a:ext cx="2696040" cy="626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Shape 22"/>
          <p:cNvSpPr/>
          <p:nvPr/>
        </p:nvSpPr>
        <p:spPr>
          <a:xfrm>
            <a:off x="6245280" y="1353240"/>
            <a:ext cx="437400" cy="437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23"/>
          <p:cNvSpPr/>
          <p:nvPr/>
        </p:nvSpPr>
        <p:spPr>
          <a:xfrm>
            <a:off x="6245280" y="1353240"/>
            <a:ext cx="4374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d1b2a"/>
                </a:solidFill>
                <a:latin typeface="Calibri"/>
                <a:ea typeface="Calibri"/>
              </a:rPr>
              <a:t>3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25" name="Text 24"/>
          <p:cNvSpPr/>
          <p:nvPr/>
        </p:nvSpPr>
        <p:spPr>
          <a:xfrm>
            <a:off x="6766560" y="1353240"/>
            <a:ext cx="19188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Polymorphism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6" name="Text 25"/>
          <p:cNvSpPr/>
          <p:nvPr/>
        </p:nvSpPr>
        <p:spPr>
          <a:xfrm>
            <a:off x="6245280" y="1874520"/>
            <a:ext cx="237600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Same op, different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behaviour by context.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7" name="Shape 28"/>
          <p:cNvSpPr/>
          <p:nvPr/>
        </p:nvSpPr>
        <p:spPr>
          <a:xfrm>
            <a:off x="320040" y="3017520"/>
            <a:ext cx="2696040" cy="1662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8" name="Shape 29"/>
          <p:cNvSpPr/>
          <p:nvPr/>
        </p:nvSpPr>
        <p:spPr>
          <a:xfrm>
            <a:off x="320040" y="3017520"/>
            <a:ext cx="2696040" cy="6264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Shape 30"/>
          <p:cNvSpPr/>
          <p:nvPr/>
        </p:nvSpPr>
        <p:spPr>
          <a:xfrm>
            <a:off x="484560" y="3182040"/>
            <a:ext cx="437400" cy="43740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31"/>
          <p:cNvSpPr/>
          <p:nvPr/>
        </p:nvSpPr>
        <p:spPr>
          <a:xfrm>
            <a:off x="484560" y="3182040"/>
            <a:ext cx="4374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d1b2a"/>
                </a:solidFill>
                <a:latin typeface="Calibri"/>
                <a:ea typeface="Calibri"/>
              </a:rPr>
              <a:t>4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31" name="Text 32"/>
          <p:cNvSpPr/>
          <p:nvPr/>
        </p:nvSpPr>
        <p:spPr>
          <a:xfrm>
            <a:off x="1005840" y="3182040"/>
            <a:ext cx="19188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Inheritance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2" name="Text 33"/>
          <p:cNvSpPr/>
          <p:nvPr/>
        </p:nvSpPr>
        <p:spPr>
          <a:xfrm>
            <a:off x="484560" y="3703320"/>
            <a:ext cx="237600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Relate &amp; reuse code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across classes.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3" name="Shape 36"/>
          <p:cNvSpPr/>
          <p:nvPr/>
        </p:nvSpPr>
        <p:spPr>
          <a:xfrm>
            <a:off x="3200400" y="3017520"/>
            <a:ext cx="2696040" cy="1662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4" name="Shape 37"/>
          <p:cNvSpPr/>
          <p:nvPr/>
        </p:nvSpPr>
        <p:spPr>
          <a:xfrm>
            <a:off x="3200400" y="3017520"/>
            <a:ext cx="2696040" cy="626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Shape 38"/>
          <p:cNvSpPr/>
          <p:nvPr/>
        </p:nvSpPr>
        <p:spPr>
          <a:xfrm>
            <a:off x="3364920" y="3182040"/>
            <a:ext cx="437400" cy="4374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39"/>
          <p:cNvSpPr/>
          <p:nvPr/>
        </p:nvSpPr>
        <p:spPr>
          <a:xfrm>
            <a:off x="3364920" y="3182040"/>
            <a:ext cx="4374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d1b2a"/>
                </a:solidFill>
                <a:latin typeface="Calibri"/>
                <a:ea typeface="Calibri"/>
              </a:rPr>
              <a:t>5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37" name="Text 40"/>
          <p:cNvSpPr/>
          <p:nvPr/>
        </p:nvSpPr>
        <p:spPr>
          <a:xfrm>
            <a:off x="3886200" y="3182040"/>
            <a:ext cx="19188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Abstraction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8" name="Text 41"/>
          <p:cNvSpPr/>
          <p:nvPr/>
        </p:nvSpPr>
        <p:spPr>
          <a:xfrm>
            <a:off x="3364920" y="3703320"/>
            <a:ext cx="237600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Show only what's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necessary.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9" name="Shape 44"/>
          <p:cNvSpPr/>
          <p:nvPr/>
        </p:nvSpPr>
        <p:spPr>
          <a:xfrm>
            <a:off x="6080760" y="3017520"/>
            <a:ext cx="2696040" cy="1662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0" name="Shape 45"/>
          <p:cNvSpPr/>
          <p:nvPr/>
        </p:nvSpPr>
        <p:spPr>
          <a:xfrm>
            <a:off x="6080760" y="3017520"/>
            <a:ext cx="2696040" cy="62640"/>
          </a:xfrm>
          <a:prstGeom prst="rect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Shape 46"/>
          <p:cNvSpPr/>
          <p:nvPr/>
        </p:nvSpPr>
        <p:spPr>
          <a:xfrm>
            <a:off x="6245280" y="3182040"/>
            <a:ext cx="437400" cy="437400"/>
          </a:xfrm>
          <a:prstGeom prst="ellipse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Text 47"/>
          <p:cNvSpPr/>
          <p:nvPr/>
        </p:nvSpPr>
        <p:spPr>
          <a:xfrm>
            <a:off x="6245280" y="3182040"/>
            <a:ext cx="4374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d1b2a"/>
                </a:solidFill>
                <a:latin typeface="Calibri"/>
                <a:ea typeface="Calibri"/>
              </a:rPr>
              <a:t>6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43" name="Text 48"/>
          <p:cNvSpPr/>
          <p:nvPr/>
        </p:nvSpPr>
        <p:spPr>
          <a:xfrm>
            <a:off x="6766560" y="3182040"/>
            <a:ext cx="19188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Magic Methods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4" name="Text 49"/>
          <p:cNvSpPr/>
          <p:nvPr/>
        </p:nvSpPr>
        <p:spPr>
          <a:xfrm>
            <a:off x="6245280" y="3703320"/>
            <a:ext cx="237600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Special methods with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unique superpowers.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5" name="Shape 52"/>
          <p:cNvSpPr/>
          <p:nvPr/>
        </p:nvSpPr>
        <p:spPr>
          <a:xfrm>
            <a:off x="320040" y="4800600"/>
            <a:ext cx="8502480" cy="2728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53"/>
          <p:cNvSpPr/>
          <p:nvPr/>
        </p:nvSpPr>
        <p:spPr>
          <a:xfrm>
            <a:off x="457200" y="4800600"/>
            <a:ext cx="8228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ffb703"/>
                </a:solidFill>
                <a:latin typeface="Calibri"/>
                <a:ea typeface="Calibri"/>
              </a:rPr>
              <a:t>⚠  </a:t>
            </a:r>
            <a:r>
              <a:rPr b="0" i="1" lang="en-US" sz="1000" spc="-1" strike="noStrike">
                <a:solidFill>
                  <a:srgbClr val="ffb703"/>
                </a:solidFill>
                <a:latin typeface="Calibri"/>
                <a:ea typeface="Calibri"/>
              </a:rPr>
              <a:t>These principles cannot be memorised — they must be practised by building real applications.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0"/>
          <p:cNvSpPr/>
          <p:nvPr/>
        </p:nvSpPr>
        <p:spPr>
          <a:xfrm>
            <a:off x="0" y="0"/>
            <a:ext cx="9142560" cy="1004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Shape 1"/>
          <p:cNvSpPr/>
          <p:nvPr/>
        </p:nvSpPr>
        <p:spPr>
          <a:xfrm>
            <a:off x="0" y="0"/>
            <a:ext cx="108360" cy="100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2"/>
          <p:cNvSpPr/>
          <p:nvPr/>
        </p:nvSpPr>
        <p:spPr>
          <a:xfrm>
            <a:off x="255960" y="137160"/>
            <a:ext cx="8502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Classes &amp; Objects — The First Principle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50" name="Text 3"/>
          <p:cNvSpPr/>
          <p:nvPr/>
        </p:nvSpPr>
        <p:spPr>
          <a:xfrm>
            <a:off x="255960" y="658440"/>
            <a:ext cx="8502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5 — Blueprint and instances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1" name="Shape 4"/>
          <p:cNvSpPr/>
          <p:nvPr/>
        </p:nvSpPr>
        <p:spPr>
          <a:xfrm>
            <a:off x="320040" y="1143000"/>
            <a:ext cx="8502480" cy="95868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2" name="Shape 5"/>
          <p:cNvSpPr/>
          <p:nvPr/>
        </p:nvSpPr>
        <p:spPr>
          <a:xfrm>
            <a:off x="320040" y="1143000"/>
            <a:ext cx="108360" cy="95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6"/>
          <p:cNvSpPr/>
          <p:nvPr/>
        </p:nvSpPr>
        <p:spPr>
          <a:xfrm>
            <a:off x="548640" y="1261800"/>
            <a:ext cx="8136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A Class is a blueprint — a set of rules that defines how its objects will behave.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54" name="Text 7"/>
          <p:cNvSpPr/>
          <p:nvPr/>
        </p:nvSpPr>
        <p:spPr>
          <a:xfrm>
            <a:off x="548640" y="1664280"/>
            <a:ext cx="8136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0e0ef"/>
                </a:solidFill>
                <a:latin typeface="Calibri"/>
                <a:ea typeface="Calibri"/>
              </a:rPr>
              <a:t>An Object is an instance of a class — an entity that follows the class's rules.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5" name="Shape 8"/>
          <p:cNvSpPr/>
          <p:nvPr/>
        </p:nvSpPr>
        <p:spPr>
          <a:xfrm>
            <a:off x="320040" y="2240280"/>
            <a:ext cx="4067640" cy="2558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6" name="Shape 9"/>
          <p:cNvSpPr/>
          <p:nvPr/>
        </p:nvSpPr>
        <p:spPr>
          <a:xfrm>
            <a:off x="320040" y="2240280"/>
            <a:ext cx="4067640" cy="36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10"/>
          <p:cNvSpPr/>
          <p:nvPr/>
        </p:nvSpPr>
        <p:spPr>
          <a:xfrm>
            <a:off x="457200" y="2240280"/>
            <a:ext cx="3839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Class  (Blueprint)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8" name="Text 11"/>
          <p:cNvSpPr/>
          <p:nvPr/>
        </p:nvSpPr>
        <p:spPr>
          <a:xfrm>
            <a:off x="457200" y="2670120"/>
            <a:ext cx="383904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Set of rules / template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Contains: Attributes + Methods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Does nothing on its own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Defined with the class keyword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9" name="Shape 12"/>
          <p:cNvSpPr/>
          <p:nvPr/>
        </p:nvSpPr>
        <p:spPr>
          <a:xfrm>
            <a:off x="4754880" y="2240280"/>
            <a:ext cx="4067640" cy="2558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0" name="Shape 13"/>
          <p:cNvSpPr/>
          <p:nvPr/>
        </p:nvSpPr>
        <p:spPr>
          <a:xfrm>
            <a:off x="4754880" y="2240280"/>
            <a:ext cx="4067640" cy="36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 14"/>
          <p:cNvSpPr/>
          <p:nvPr/>
        </p:nvSpPr>
        <p:spPr>
          <a:xfrm>
            <a:off x="4892040" y="2240280"/>
            <a:ext cx="3839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Object  (Instance)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2" name="Text 15"/>
          <p:cNvSpPr/>
          <p:nvPr/>
        </p:nvSpPr>
        <p:spPr>
          <a:xfrm>
            <a:off x="4892040" y="2670120"/>
            <a:ext cx="383904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Actual entity created from a class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Follows all rules of its class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Has its own data (attributes)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Can call class methods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3" name="Shape 16"/>
          <p:cNvSpPr/>
          <p:nvPr/>
        </p:nvSpPr>
        <p:spPr>
          <a:xfrm>
            <a:off x="320040" y="4709160"/>
            <a:ext cx="8678880" cy="1229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Shape 17"/>
          <p:cNvSpPr/>
          <p:nvPr/>
        </p:nvSpPr>
        <p:spPr>
          <a:xfrm>
            <a:off x="320040" y="4709160"/>
            <a:ext cx="638640" cy="199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18"/>
          <p:cNvSpPr/>
          <p:nvPr/>
        </p:nvSpPr>
        <p:spPr>
          <a:xfrm>
            <a:off x="320040" y="4709160"/>
            <a:ext cx="638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66" name="Text 19"/>
          <p:cNvSpPr/>
          <p:nvPr/>
        </p:nvSpPr>
        <p:spPr>
          <a:xfrm>
            <a:off x="411480" y="4946760"/>
            <a:ext cx="8319600" cy="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00" bIns="72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nums = [10, 20, 30]    # nums is an OBJECT of the list CLASS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nums.append(40)         # calling a method via the object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machine = ATM()         # machine is an OBJECT of the ATM CLASS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print(type(machine))    # &lt;class '__main__.ATM'&gt;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0"/>
          <p:cNvSpPr/>
          <p:nvPr/>
        </p:nvSpPr>
        <p:spPr>
          <a:xfrm>
            <a:off x="0" y="0"/>
            <a:ext cx="9142560" cy="1004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Shape 1"/>
          <p:cNvSpPr/>
          <p:nvPr/>
        </p:nvSpPr>
        <p:spPr>
          <a:xfrm>
            <a:off x="0" y="0"/>
            <a:ext cx="108360" cy="100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2"/>
          <p:cNvSpPr/>
          <p:nvPr/>
        </p:nvSpPr>
        <p:spPr>
          <a:xfrm>
            <a:off x="255960" y="137160"/>
            <a:ext cx="8502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Class vs Object — Real-World Analogies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70" name="Text 3"/>
          <p:cNvSpPr/>
          <p:nvPr/>
        </p:nvSpPr>
        <p:spPr>
          <a:xfrm>
            <a:off x="255960" y="658440"/>
            <a:ext cx="8502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5.2 — Everyday comparisons to build intuition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1" name="Shape 4"/>
          <p:cNvSpPr/>
          <p:nvPr/>
        </p:nvSpPr>
        <p:spPr>
          <a:xfrm>
            <a:off x="320040" y="1143000"/>
            <a:ext cx="4204800" cy="36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ext 5"/>
          <p:cNvSpPr/>
          <p:nvPr/>
        </p:nvSpPr>
        <p:spPr>
          <a:xfrm>
            <a:off x="320040" y="1143000"/>
            <a:ext cx="42048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CLASS  (Blueprint / Rules)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3" name="Shape 6"/>
          <p:cNvSpPr/>
          <p:nvPr/>
        </p:nvSpPr>
        <p:spPr>
          <a:xfrm>
            <a:off x="4709160" y="1143000"/>
            <a:ext cx="4113360" cy="36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7"/>
          <p:cNvSpPr/>
          <p:nvPr/>
        </p:nvSpPr>
        <p:spPr>
          <a:xfrm>
            <a:off x="4709160" y="1143000"/>
            <a:ext cx="4113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OBJECT  (Instance / Member)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5" name="Text 9"/>
          <p:cNvSpPr/>
          <p:nvPr/>
        </p:nvSpPr>
        <p:spPr>
          <a:xfrm>
            <a:off x="457200" y="1572840"/>
            <a:ext cx="40219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0f4f8"/>
                </a:solidFill>
                <a:latin typeface="Calibri"/>
                <a:ea typeface="Calibri"/>
              </a:rPr>
              <a:t>📋  </a:t>
            </a:r>
            <a:r>
              <a:rPr b="0" lang="en-US" sz="1150" spc="-1" strike="noStrike">
                <a:solidFill>
                  <a:srgbClr val="f0f4f8"/>
                </a:solidFill>
                <a:latin typeface="Calibri"/>
                <a:ea typeface="Calibri"/>
              </a:rPr>
              <a:t>Mentorship Program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76" name="Text 10"/>
          <p:cNvSpPr/>
          <p:nvPr/>
        </p:nvSpPr>
        <p:spPr>
          <a:xfrm>
            <a:off x="4526280" y="1572840"/>
            <a:ext cx="1814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→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77" name="Text 12"/>
          <p:cNvSpPr/>
          <p:nvPr/>
        </p:nvSpPr>
        <p:spPr>
          <a:xfrm>
            <a:off x="4846320" y="1572840"/>
            <a:ext cx="38390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0e0ef"/>
                </a:solidFill>
                <a:latin typeface="Calibri"/>
                <a:ea typeface="Calibri"/>
              </a:rPr>
              <a:t>Each enrolled student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78" name="Shape 13"/>
          <p:cNvSpPr/>
          <p:nvPr/>
        </p:nvSpPr>
        <p:spPr>
          <a:xfrm>
            <a:off x="320040" y="2194560"/>
            <a:ext cx="4204800" cy="501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9" name="Text 14"/>
          <p:cNvSpPr/>
          <p:nvPr/>
        </p:nvSpPr>
        <p:spPr>
          <a:xfrm>
            <a:off x="457200" y="2194560"/>
            <a:ext cx="40219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0f4f8"/>
                </a:solidFill>
                <a:latin typeface="Calibri"/>
                <a:ea typeface="Calibri"/>
              </a:rPr>
              <a:t>🚗  </a:t>
            </a:r>
            <a:r>
              <a:rPr b="0" lang="en-US" sz="1150" spc="-1" strike="noStrike">
                <a:solidFill>
                  <a:srgbClr val="f0f4f8"/>
                </a:solidFill>
                <a:latin typeface="Calibri"/>
                <a:ea typeface="Calibri"/>
              </a:rPr>
              <a:t>Cars (the concept)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80" name="Text 15"/>
          <p:cNvSpPr/>
          <p:nvPr/>
        </p:nvSpPr>
        <p:spPr>
          <a:xfrm>
            <a:off x="4526280" y="2194560"/>
            <a:ext cx="1814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→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1" name="Shape 16"/>
          <p:cNvSpPr/>
          <p:nvPr/>
        </p:nvSpPr>
        <p:spPr>
          <a:xfrm>
            <a:off x="4709160" y="2194560"/>
            <a:ext cx="4113360" cy="501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2" name="Text 17"/>
          <p:cNvSpPr/>
          <p:nvPr/>
        </p:nvSpPr>
        <p:spPr>
          <a:xfrm>
            <a:off x="4846320" y="2194560"/>
            <a:ext cx="38390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0e0ef"/>
                </a:solidFill>
                <a:latin typeface="Calibri"/>
                <a:ea typeface="Calibri"/>
              </a:rPr>
              <a:t>Maruti Suzuki / Honda City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83" name="Shape 18"/>
          <p:cNvSpPr/>
          <p:nvPr/>
        </p:nvSpPr>
        <p:spPr>
          <a:xfrm>
            <a:off x="320040" y="2816280"/>
            <a:ext cx="4204800" cy="501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4" name="Text 19"/>
          <p:cNvSpPr/>
          <p:nvPr/>
        </p:nvSpPr>
        <p:spPr>
          <a:xfrm>
            <a:off x="457200" y="2816280"/>
            <a:ext cx="40219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0f4f8"/>
                </a:solidFill>
                <a:latin typeface="Calibri"/>
                <a:ea typeface="Calibri"/>
              </a:rPr>
              <a:t>📱  </a:t>
            </a:r>
            <a:r>
              <a:rPr b="0" lang="en-US" sz="1150" spc="-1" strike="noStrike">
                <a:solidFill>
                  <a:srgbClr val="f0f4f8"/>
                </a:solidFill>
                <a:latin typeface="Calibri"/>
                <a:ea typeface="Calibri"/>
              </a:rPr>
              <a:t>Mobile Phones (concept)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85" name="Text 20"/>
          <p:cNvSpPr/>
          <p:nvPr/>
        </p:nvSpPr>
        <p:spPr>
          <a:xfrm>
            <a:off x="4526280" y="2816280"/>
            <a:ext cx="1814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→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6" name="Shape 21"/>
          <p:cNvSpPr/>
          <p:nvPr/>
        </p:nvSpPr>
        <p:spPr>
          <a:xfrm>
            <a:off x="4709160" y="2816280"/>
            <a:ext cx="4113360" cy="501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7" name="Text 22"/>
          <p:cNvSpPr/>
          <p:nvPr/>
        </p:nvSpPr>
        <p:spPr>
          <a:xfrm>
            <a:off x="4846320" y="2816280"/>
            <a:ext cx="38390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0e0ef"/>
                </a:solidFill>
                <a:latin typeface="Calibri"/>
                <a:ea typeface="Calibri"/>
              </a:rPr>
              <a:t>Samsung Galaxy S24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88" name="Shape 23"/>
          <p:cNvSpPr/>
          <p:nvPr/>
        </p:nvSpPr>
        <p:spPr>
          <a:xfrm>
            <a:off x="320040" y="3438000"/>
            <a:ext cx="4204800" cy="501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9" name="Text 24"/>
          <p:cNvSpPr/>
          <p:nvPr/>
        </p:nvSpPr>
        <p:spPr>
          <a:xfrm>
            <a:off x="457200" y="3438000"/>
            <a:ext cx="40219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0f4f8"/>
                </a:solidFill>
                <a:latin typeface="Calibri"/>
                <a:ea typeface="Calibri"/>
              </a:rPr>
              <a:t>🏏  </a:t>
            </a:r>
            <a:r>
              <a:rPr b="0" lang="en-US" sz="1150" spc="-1" strike="noStrike">
                <a:solidFill>
                  <a:srgbClr val="f0f4f8"/>
                </a:solidFill>
                <a:latin typeface="Calibri"/>
                <a:ea typeface="Calibri"/>
              </a:rPr>
              <a:t>Sports (the concept)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90" name="Text 25"/>
          <p:cNvSpPr/>
          <p:nvPr/>
        </p:nvSpPr>
        <p:spPr>
          <a:xfrm>
            <a:off x="4526280" y="3438000"/>
            <a:ext cx="1814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→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91" name="Shape 26"/>
          <p:cNvSpPr/>
          <p:nvPr/>
        </p:nvSpPr>
        <p:spPr>
          <a:xfrm>
            <a:off x="4709160" y="3438000"/>
            <a:ext cx="4113360" cy="501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2" name="Text 27"/>
          <p:cNvSpPr/>
          <p:nvPr/>
        </p:nvSpPr>
        <p:spPr>
          <a:xfrm>
            <a:off x="4846320" y="3438000"/>
            <a:ext cx="38390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0e0ef"/>
                </a:solidFill>
                <a:latin typeface="Calibri"/>
                <a:ea typeface="Calibri"/>
              </a:rPr>
              <a:t>Gilli-Danda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93" name="Shape 28"/>
          <p:cNvSpPr/>
          <p:nvPr/>
        </p:nvSpPr>
        <p:spPr>
          <a:xfrm>
            <a:off x="320040" y="4060080"/>
            <a:ext cx="4204800" cy="501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4" name="Text 29"/>
          <p:cNvSpPr/>
          <p:nvPr/>
        </p:nvSpPr>
        <p:spPr>
          <a:xfrm>
            <a:off x="457200" y="4060080"/>
            <a:ext cx="40219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0f4f8"/>
                </a:solidFill>
                <a:latin typeface="Calibri"/>
                <a:ea typeface="Calibri"/>
              </a:rPr>
              <a:t>🐒  </a:t>
            </a:r>
            <a:r>
              <a:rPr b="0" lang="en-US" sz="1150" spc="-1" strike="noStrike">
                <a:solidFill>
                  <a:srgbClr val="f0f4f8"/>
                </a:solidFill>
                <a:latin typeface="Calibri"/>
                <a:ea typeface="Calibri"/>
              </a:rPr>
              <a:t>Animals (the concept)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95" name="Text 30"/>
          <p:cNvSpPr/>
          <p:nvPr/>
        </p:nvSpPr>
        <p:spPr>
          <a:xfrm>
            <a:off x="4526280" y="4060080"/>
            <a:ext cx="1814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→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96" name="Shape 31"/>
          <p:cNvSpPr/>
          <p:nvPr/>
        </p:nvSpPr>
        <p:spPr>
          <a:xfrm>
            <a:off x="4709160" y="4060080"/>
            <a:ext cx="4113360" cy="501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7" name="Text 32"/>
          <p:cNvSpPr/>
          <p:nvPr/>
        </p:nvSpPr>
        <p:spPr>
          <a:xfrm>
            <a:off x="4846320" y="4060080"/>
            <a:ext cx="38390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0e0ef"/>
                </a:solidFill>
                <a:latin typeface="Calibri"/>
                <a:ea typeface="Calibri"/>
              </a:rPr>
              <a:t>Langur (Monkey)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98" name="Shape 33"/>
          <p:cNvSpPr/>
          <p:nvPr/>
        </p:nvSpPr>
        <p:spPr>
          <a:xfrm>
            <a:off x="320040" y="4773240"/>
            <a:ext cx="8502480" cy="27288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9" name="Shape 34"/>
          <p:cNvSpPr/>
          <p:nvPr/>
        </p:nvSpPr>
        <p:spPr>
          <a:xfrm>
            <a:off x="320040" y="4773240"/>
            <a:ext cx="90000" cy="2728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 35"/>
          <p:cNvSpPr/>
          <p:nvPr/>
        </p:nvSpPr>
        <p:spPr>
          <a:xfrm>
            <a:off x="502920" y="4773240"/>
            <a:ext cx="8228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b703"/>
                </a:solidFill>
                <a:latin typeface="Calibri"/>
                <a:ea typeface="Calibri"/>
              </a:rPr>
              <a:t>Memorise this: "Object is an INSTANCE of a class."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0"/>
          <p:cNvSpPr/>
          <p:nvPr/>
        </p:nvSpPr>
        <p:spPr>
          <a:xfrm>
            <a:off x="0" y="0"/>
            <a:ext cx="9142560" cy="1004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Shape 1"/>
          <p:cNvSpPr/>
          <p:nvPr/>
        </p:nvSpPr>
        <p:spPr>
          <a:xfrm>
            <a:off x="0" y="0"/>
            <a:ext cx="108360" cy="100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2"/>
          <p:cNvSpPr/>
          <p:nvPr/>
        </p:nvSpPr>
        <p:spPr>
          <a:xfrm>
            <a:off x="255960" y="137160"/>
            <a:ext cx="8502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What Goes Inside a Class?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04" name="Text 3"/>
          <p:cNvSpPr/>
          <p:nvPr/>
        </p:nvSpPr>
        <p:spPr>
          <a:xfrm>
            <a:off x="255960" y="658440"/>
            <a:ext cx="8502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5.3–5.4 — The two components every class has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5" name="Shape 4"/>
          <p:cNvSpPr/>
          <p:nvPr/>
        </p:nvSpPr>
        <p:spPr>
          <a:xfrm>
            <a:off x="320040" y="1143000"/>
            <a:ext cx="4095000" cy="35647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6" name="Shape 5"/>
          <p:cNvSpPr/>
          <p:nvPr/>
        </p:nvSpPr>
        <p:spPr>
          <a:xfrm>
            <a:off x="320040" y="1143000"/>
            <a:ext cx="4095000" cy="382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Text 6"/>
          <p:cNvSpPr/>
          <p:nvPr/>
        </p:nvSpPr>
        <p:spPr>
          <a:xfrm>
            <a:off x="457200" y="1143000"/>
            <a:ext cx="383904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Attributes  (Data / Properties)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8" name="Text 7"/>
          <p:cNvSpPr/>
          <p:nvPr/>
        </p:nvSpPr>
        <p:spPr>
          <a:xfrm>
            <a:off x="457200" y="1581840"/>
            <a:ext cx="38390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What the object KNOWS or STORES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9" name="Text 8"/>
          <p:cNvSpPr/>
          <p:nvPr/>
        </p:nvSpPr>
        <p:spPr>
          <a:xfrm>
            <a:off x="457200" y="1901880"/>
            <a:ext cx="38390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Car → colour, top_speed, mileage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ATM → secret_code, account_balance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Student → name, roll_no, grade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0" name="Shape 9"/>
          <p:cNvSpPr/>
          <p:nvPr/>
        </p:nvSpPr>
        <p:spPr>
          <a:xfrm>
            <a:off x="365760" y="2944440"/>
            <a:ext cx="3930480" cy="1644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Shape 10"/>
          <p:cNvSpPr/>
          <p:nvPr/>
        </p:nvSpPr>
        <p:spPr>
          <a:xfrm>
            <a:off x="365760" y="2944440"/>
            <a:ext cx="638640" cy="199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Text 11"/>
          <p:cNvSpPr/>
          <p:nvPr/>
        </p:nvSpPr>
        <p:spPr>
          <a:xfrm>
            <a:off x="365760" y="2944440"/>
            <a:ext cx="638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13" name="Text 12"/>
          <p:cNvSpPr/>
          <p:nvPr/>
        </p:nvSpPr>
        <p:spPr>
          <a:xfrm>
            <a:off x="457200" y="3182040"/>
            <a:ext cx="374760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class Vehicle: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def __init__(self):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self.colour = ''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self.top_speed = 0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self.mileage = 0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4" name="Shape 13"/>
          <p:cNvSpPr/>
          <p:nvPr/>
        </p:nvSpPr>
        <p:spPr>
          <a:xfrm>
            <a:off x="4727520" y="1143000"/>
            <a:ext cx="4095000" cy="35647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5" name="Shape 14"/>
          <p:cNvSpPr/>
          <p:nvPr/>
        </p:nvSpPr>
        <p:spPr>
          <a:xfrm>
            <a:off x="4727520" y="1143000"/>
            <a:ext cx="4095000" cy="382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Text 15"/>
          <p:cNvSpPr/>
          <p:nvPr/>
        </p:nvSpPr>
        <p:spPr>
          <a:xfrm>
            <a:off x="4864680" y="1143000"/>
            <a:ext cx="383904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Methods  (Behaviour / Functions)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7" name="Text 16"/>
          <p:cNvSpPr/>
          <p:nvPr/>
        </p:nvSpPr>
        <p:spPr>
          <a:xfrm>
            <a:off x="4864680" y="1581840"/>
            <a:ext cx="38390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What the object can DO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8" name="Text 17"/>
          <p:cNvSpPr/>
          <p:nvPr/>
        </p:nvSpPr>
        <p:spPr>
          <a:xfrm>
            <a:off x="4864680" y="1901880"/>
            <a:ext cx="38390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Car → compute_avg_speed(dist, time)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ATM → show_menu(), do_withdraw()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Student → display_report_card()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9" name="Shape 18"/>
          <p:cNvSpPr/>
          <p:nvPr/>
        </p:nvSpPr>
        <p:spPr>
          <a:xfrm>
            <a:off x="4773240" y="2944440"/>
            <a:ext cx="3930480" cy="1644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Shape 19"/>
          <p:cNvSpPr/>
          <p:nvPr/>
        </p:nvSpPr>
        <p:spPr>
          <a:xfrm>
            <a:off x="4773240" y="2944440"/>
            <a:ext cx="638640" cy="199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Text 20"/>
          <p:cNvSpPr/>
          <p:nvPr/>
        </p:nvSpPr>
        <p:spPr>
          <a:xfrm>
            <a:off x="4773240" y="2944440"/>
            <a:ext cx="638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22" name="Text 21"/>
          <p:cNvSpPr/>
          <p:nvPr/>
        </p:nvSpPr>
        <p:spPr>
          <a:xfrm>
            <a:off x="4864680" y="3182040"/>
            <a:ext cx="374760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class Vehicle: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def compute_avg_speed(self,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              </a:t>
            </a: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dist, time):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return dist / time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3" name="Shape 22"/>
          <p:cNvSpPr/>
          <p:nvPr/>
        </p:nvSpPr>
        <p:spPr>
          <a:xfrm>
            <a:off x="320040" y="4773240"/>
            <a:ext cx="8502480" cy="27288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4" name="Text 23"/>
          <p:cNvSpPr/>
          <p:nvPr/>
        </p:nvSpPr>
        <p:spPr>
          <a:xfrm>
            <a:off x="457200" y="4773240"/>
            <a:ext cx="8228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Built-in Classes: list, str, int, dict  ·  User-Defined Classes: ATM, Vehicle, Student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0"/>
          <p:cNvSpPr/>
          <p:nvPr/>
        </p:nvSpPr>
        <p:spPr>
          <a:xfrm>
            <a:off x="0" y="0"/>
            <a:ext cx="9142560" cy="1004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Shape 1"/>
          <p:cNvSpPr/>
          <p:nvPr/>
        </p:nvSpPr>
        <p:spPr>
          <a:xfrm>
            <a:off x="0" y="0"/>
            <a:ext cx="108360" cy="100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Text 2"/>
          <p:cNvSpPr/>
          <p:nvPr/>
        </p:nvSpPr>
        <p:spPr>
          <a:xfrm>
            <a:off x="255960" y="137160"/>
            <a:ext cx="8502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Class Syntax &amp; Naming Convention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28" name="Text 3"/>
          <p:cNvSpPr/>
          <p:nvPr/>
        </p:nvSpPr>
        <p:spPr>
          <a:xfrm>
            <a:off x="255960" y="658440"/>
            <a:ext cx="8502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5.5 — How to define classes and create objects correctly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9" name="Shape 4"/>
          <p:cNvSpPr/>
          <p:nvPr/>
        </p:nvSpPr>
        <p:spPr>
          <a:xfrm>
            <a:off x="320040" y="1143000"/>
            <a:ext cx="4113360" cy="36561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0" name="Text 5"/>
          <p:cNvSpPr/>
          <p:nvPr/>
        </p:nvSpPr>
        <p:spPr>
          <a:xfrm>
            <a:off x="457200" y="1261800"/>
            <a:ext cx="3839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Class Definition Syntax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1" name="Shape 6"/>
          <p:cNvSpPr/>
          <p:nvPr/>
        </p:nvSpPr>
        <p:spPr>
          <a:xfrm>
            <a:off x="365760" y="1609200"/>
            <a:ext cx="3976200" cy="1114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Shape 7"/>
          <p:cNvSpPr/>
          <p:nvPr/>
        </p:nvSpPr>
        <p:spPr>
          <a:xfrm>
            <a:off x="365760" y="1609200"/>
            <a:ext cx="638640" cy="199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Text 8"/>
          <p:cNvSpPr/>
          <p:nvPr/>
        </p:nvSpPr>
        <p:spPr>
          <a:xfrm>
            <a:off x="365760" y="1609200"/>
            <a:ext cx="638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34" name="Text 9"/>
          <p:cNvSpPr/>
          <p:nvPr/>
        </p:nvSpPr>
        <p:spPr>
          <a:xfrm>
            <a:off x="457200" y="1847160"/>
            <a:ext cx="3793320" cy="8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class ClassName: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# attributes go here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# methods go here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35" name="Text 10"/>
          <p:cNvSpPr/>
          <p:nvPr/>
        </p:nvSpPr>
        <p:spPr>
          <a:xfrm>
            <a:off x="457200" y="2788920"/>
            <a:ext cx="37476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b703"/>
                </a:solidFill>
                <a:latin typeface="Calibri"/>
                <a:ea typeface="Calibri"/>
              </a:rPr>
              <a:t>Pascal Case convention: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6" name="Shape 11"/>
          <p:cNvSpPr/>
          <p:nvPr/>
        </p:nvSpPr>
        <p:spPr>
          <a:xfrm>
            <a:off x="365760" y="3090600"/>
            <a:ext cx="3976200" cy="1479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Shape 12"/>
          <p:cNvSpPr/>
          <p:nvPr/>
        </p:nvSpPr>
        <p:spPr>
          <a:xfrm>
            <a:off x="365760" y="3090600"/>
            <a:ext cx="638640" cy="199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Text 13"/>
          <p:cNvSpPr/>
          <p:nvPr/>
        </p:nvSpPr>
        <p:spPr>
          <a:xfrm>
            <a:off x="365760" y="3090600"/>
            <a:ext cx="638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39" name="Text 14"/>
          <p:cNvSpPr/>
          <p:nvPr/>
        </p:nvSpPr>
        <p:spPr>
          <a:xfrm>
            <a:off x="457200" y="3328560"/>
            <a:ext cx="3793320" cy="12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class HelloWorld:   # 2 words, both capitals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      # single merged name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class CabBooking:   # 2 words → PascalCase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40" name="Shape 15"/>
          <p:cNvSpPr/>
          <p:nvPr/>
        </p:nvSpPr>
        <p:spPr>
          <a:xfrm>
            <a:off x="4709160" y="1143000"/>
            <a:ext cx="4113360" cy="36561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1" name="Text 16"/>
          <p:cNvSpPr/>
          <p:nvPr/>
        </p:nvSpPr>
        <p:spPr>
          <a:xfrm>
            <a:off x="4846320" y="1261800"/>
            <a:ext cx="3839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Creating Objects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2" name="Shape 17"/>
          <p:cNvSpPr/>
          <p:nvPr/>
        </p:nvSpPr>
        <p:spPr>
          <a:xfrm>
            <a:off x="4754880" y="1609200"/>
            <a:ext cx="3976200" cy="3107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Shape 18"/>
          <p:cNvSpPr/>
          <p:nvPr/>
        </p:nvSpPr>
        <p:spPr>
          <a:xfrm>
            <a:off x="4754880" y="1609200"/>
            <a:ext cx="638640" cy="199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Text 19"/>
          <p:cNvSpPr/>
          <p:nvPr/>
        </p:nvSpPr>
        <p:spPr>
          <a:xfrm>
            <a:off x="4754880" y="1609200"/>
            <a:ext cx="638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45" name="Text 20"/>
          <p:cNvSpPr/>
          <p:nvPr/>
        </p:nvSpPr>
        <p:spPr>
          <a:xfrm>
            <a:off x="4846320" y="1847160"/>
            <a:ext cx="3793320" cy="283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Full syntax (always works)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item = ClassName()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Built-ins also support literals: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data = [10, 20, 30]          # shorthand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data = list([10, 20, 30])    # full form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msg = 'hello'                # shorthand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msg = str('hello')           # full form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46" name="Shape 21"/>
          <p:cNvSpPr/>
          <p:nvPr/>
        </p:nvSpPr>
        <p:spPr>
          <a:xfrm>
            <a:off x="320040" y="4773240"/>
            <a:ext cx="8502480" cy="27288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7" name="Shape 22"/>
          <p:cNvSpPr/>
          <p:nvPr/>
        </p:nvSpPr>
        <p:spPr>
          <a:xfrm>
            <a:off x="320040" y="4773240"/>
            <a:ext cx="90000" cy="27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Text 23"/>
          <p:cNvSpPr/>
          <p:nvPr/>
        </p:nvSpPr>
        <p:spPr>
          <a:xfrm>
            <a:off x="457200" y="4773240"/>
            <a:ext cx="8228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Object literals ([1,2,3]) are Python's convenience shortcuts for built-ins only. Your custom classes always use ClassName() syntax.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0"/>
          <p:cNvSpPr/>
          <p:nvPr/>
        </p:nvSpPr>
        <p:spPr>
          <a:xfrm>
            <a:off x="0" y="0"/>
            <a:ext cx="9142560" cy="1004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Shape 1"/>
          <p:cNvSpPr/>
          <p:nvPr/>
        </p:nvSpPr>
        <p:spPr>
          <a:xfrm>
            <a:off x="0" y="0"/>
            <a:ext cx="108360" cy="100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1" name="Text 2"/>
          <p:cNvSpPr/>
          <p:nvPr/>
        </p:nvSpPr>
        <p:spPr>
          <a:xfrm>
            <a:off x="255960" y="137160"/>
            <a:ext cx="8502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 Class Alone Does Nothing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52" name="Text 3"/>
          <p:cNvSpPr/>
          <p:nvPr/>
        </p:nvSpPr>
        <p:spPr>
          <a:xfrm>
            <a:off x="255960" y="658440"/>
            <a:ext cx="8502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5.6 — Code only runs when an object is created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53" name="Shape 4"/>
          <p:cNvSpPr/>
          <p:nvPr/>
        </p:nvSpPr>
        <p:spPr>
          <a:xfrm>
            <a:off x="320040" y="1143000"/>
            <a:ext cx="8502480" cy="21931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4" name="Text 5"/>
          <p:cNvSpPr/>
          <p:nvPr/>
        </p:nvSpPr>
        <p:spPr>
          <a:xfrm>
            <a:off x="457200" y="1261800"/>
            <a:ext cx="80452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Calibri"/>
              </a:rPr>
              <a:t>The Blueprint Analogy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55" name="Shape 6"/>
          <p:cNvSpPr/>
          <p:nvPr/>
        </p:nvSpPr>
        <p:spPr>
          <a:xfrm>
            <a:off x="548640" y="1664280"/>
            <a:ext cx="2558880" cy="1443240"/>
          </a:xfrm>
          <a:prstGeom prst="rect">
            <a:avLst/>
          </a:prstGeom>
          <a:solidFill>
            <a:srgbClr val="122233"/>
          </a:solidFill>
          <a:ln w="1905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Text 7"/>
          <p:cNvSpPr/>
          <p:nvPr/>
        </p:nvSpPr>
        <p:spPr>
          <a:xfrm>
            <a:off x="548640" y="1719000"/>
            <a:ext cx="2558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da9c4"/>
                </a:solidFill>
                <a:latin typeface="Calibri"/>
                <a:ea typeface="Calibri"/>
              </a:rPr>
              <a:t>Class Defined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7" name="Text 8"/>
          <p:cNvSpPr/>
          <p:nvPr/>
        </p:nvSpPr>
        <p:spPr>
          <a:xfrm>
            <a:off x="548640" y="2103120"/>
            <a:ext cx="255888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Rules written.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No students yet.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8" name="Text 9"/>
          <p:cNvSpPr/>
          <p:nvPr/>
        </p:nvSpPr>
        <p:spPr>
          <a:xfrm>
            <a:off x="3127320" y="2084760"/>
            <a:ext cx="2545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b4d8"/>
                </a:solidFill>
                <a:latin typeface="Calibri"/>
                <a:ea typeface="Calibri"/>
              </a:rPr>
              <a:t>→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9" name="Shape 10"/>
          <p:cNvSpPr/>
          <p:nvPr/>
        </p:nvSpPr>
        <p:spPr>
          <a:xfrm>
            <a:off x="3383280" y="1664280"/>
            <a:ext cx="2558880" cy="1443240"/>
          </a:xfrm>
          <a:prstGeom prst="rect">
            <a:avLst/>
          </a:prstGeom>
          <a:solidFill>
            <a:srgbClr val="122233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Text 11"/>
          <p:cNvSpPr/>
          <p:nvPr/>
        </p:nvSpPr>
        <p:spPr>
          <a:xfrm>
            <a:off x="3383280" y="1719000"/>
            <a:ext cx="2558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Object Created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1" name="Text 12"/>
          <p:cNvSpPr/>
          <p:nvPr/>
        </p:nvSpPr>
        <p:spPr>
          <a:xfrm>
            <a:off x="3383280" y="2103120"/>
            <a:ext cx="255888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Student enrolls.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Class 'runs' for them.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62" name="Text 13"/>
          <p:cNvSpPr/>
          <p:nvPr/>
        </p:nvSpPr>
        <p:spPr>
          <a:xfrm>
            <a:off x="5961960" y="2084760"/>
            <a:ext cx="2545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b4d8"/>
                </a:solidFill>
                <a:latin typeface="Calibri"/>
                <a:ea typeface="Calibri"/>
              </a:rPr>
              <a:t>→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3" name="Shape 14"/>
          <p:cNvSpPr/>
          <p:nvPr/>
        </p:nvSpPr>
        <p:spPr>
          <a:xfrm>
            <a:off x="6217920" y="1664280"/>
            <a:ext cx="2558880" cy="1443240"/>
          </a:xfrm>
          <a:prstGeom prst="rect">
            <a:avLst/>
          </a:prstGeom>
          <a:solidFill>
            <a:srgbClr val="122233"/>
          </a:solidFill>
          <a:ln w="1905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Text 15"/>
          <p:cNvSpPr/>
          <p:nvPr/>
        </p:nvSpPr>
        <p:spPr>
          <a:xfrm>
            <a:off x="6217920" y="1719000"/>
            <a:ext cx="2558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Methods Called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5" name="Text 16"/>
          <p:cNvSpPr/>
          <p:nvPr/>
        </p:nvSpPr>
        <p:spPr>
          <a:xfrm>
            <a:off x="6217920" y="2103120"/>
            <a:ext cx="255888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Student (object)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attends live sessions.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66" name="Shape 17"/>
          <p:cNvSpPr/>
          <p:nvPr/>
        </p:nvSpPr>
        <p:spPr>
          <a:xfrm>
            <a:off x="320040" y="3456360"/>
            <a:ext cx="8678880" cy="1942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Shape 18"/>
          <p:cNvSpPr/>
          <p:nvPr/>
        </p:nvSpPr>
        <p:spPr>
          <a:xfrm>
            <a:off x="320040" y="3456360"/>
            <a:ext cx="638640" cy="199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Text 19"/>
          <p:cNvSpPr/>
          <p:nvPr/>
        </p:nvSpPr>
        <p:spPr>
          <a:xfrm>
            <a:off x="320040" y="3456360"/>
            <a:ext cx="638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69" name="Text 20"/>
          <p:cNvSpPr/>
          <p:nvPr/>
        </p:nvSpPr>
        <p:spPr>
          <a:xfrm>
            <a:off x="411480" y="3694320"/>
            <a:ext cx="8319600" cy="12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def __init__(self):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''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 = 0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NOTHING has run yet. Class is just a blueprint.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machine = BankATM()     # NOW the constructor runs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print(type(machine))    # &lt;class '__main__.BankATM'&gt;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print(machine.account_bal)  # 0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2026-02-20T10:16:04Z</dcterms:created>
  <dc:creator>PptxGenJS</dc:creator>
  <dc:description/>
  <dc:language>en-IN</dc:language>
  <cp:lastModifiedBy/>
  <dcterms:modified xsi:type="dcterms:W3CDTF">2026-02-21T07:31:37Z</dcterms:modified>
  <cp:revision>13</cp:revision>
  <dc:subject>PptxGenJS Presentation</dc:subject>
  <dc:title>OOP in Python – Part 1: Classes &amp; Objects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