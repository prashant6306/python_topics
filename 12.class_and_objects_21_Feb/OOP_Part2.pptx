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C6CAFAA-A952-4561-BAD7-448893919FDD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932D6FE-D2ED-4505-A7ED-504D509D2DB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7EFD73-F205-4D1A-ADE9-9817C1D6460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09F6CE-0616-435B-9621-7B710A08B9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67F7E6-3C65-428C-AB47-D8ACC96734C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FA533F-F8B1-4DC8-BD01-3AA1A514359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B595C9-9D50-4F1B-8834-A609DA4D128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BCD4E0-6972-43E3-9045-AA02624ECBB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D70E2C-2073-491F-8A9A-F7D778F5D2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036BD68-8E7B-4CFB-84DB-28B9D416E7A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3B9EE1-498E-48D8-82C3-5D5A2F1D82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4114800"/>
            <a:ext cx="9142920" cy="10278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457200" y="1097280"/>
            <a:ext cx="108720" cy="2742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777240" y="1097280"/>
            <a:ext cx="77713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OOP in Python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77240" y="1874520"/>
            <a:ext cx="77713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6d6a0"/>
                </a:solidFill>
                <a:latin typeface="Calibri"/>
                <a:ea typeface="Calibri"/>
              </a:rPr>
              <a:t>Part 2 — Building the ATM Application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777240" y="2743200"/>
            <a:ext cx="7314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90e0ef"/>
                </a:solidFill>
                <a:latin typeface="Calibri"/>
                <a:ea typeface="Calibri"/>
              </a:rPr>
              <a:t>From design thinking → complete working class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77240" y="324612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8da9c4"/>
                </a:solidFill>
                <a:latin typeface="Calibri"/>
                <a:ea typeface="Calibri"/>
              </a:rPr>
              <a:t>Week 3 · Session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418788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Topics: Design Phase • Constructor • All 5 Methods • Complete Flow • Code Walkthrough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6858000" y="274320"/>
            <a:ext cx="2559240" cy="255924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7498080" y="1371600"/>
            <a:ext cx="1370520" cy="13705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255960" y="137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ATM Application — Design Phase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6.1 — Think before you code: what data and features does an ATM need?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320040" y="1143000"/>
            <a:ext cx="4095360" cy="3610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Shape 5"/>
          <p:cNvSpPr/>
          <p:nvPr/>
        </p:nvSpPr>
        <p:spPr>
          <a:xfrm>
            <a:off x="320040" y="1143000"/>
            <a:ext cx="4095360" cy="38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6"/>
          <p:cNvSpPr/>
          <p:nvPr/>
        </p:nvSpPr>
        <p:spPr>
          <a:xfrm>
            <a:off x="457200" y="114300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Data  (Attributes)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457200" y="1581840"/>
            <a:ext cx="3839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What the ATM object needs to REMEMBER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457200" y="1920240"/>
            <a:ext cx="3821040" cy="529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Shape 9"/>
          <p:cNvSpPr/>
          <p:nvPr/>
        </p:nvSpPr>
        <p:spPr>
          <a:xfrm>
            <a:off x="457200" y="1920240"/>
            <a:ext cx="72000" cy="529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0"/>
          <p:cNvSpPr/>
          <p:nvPr/>
        </p:nvSpPr>
        <p:spPr>
          <a:xfrm>
            <a:off x="621720" y="1920240"/>
            <a:ext cx="16448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90e0ef"/>
                </a:solidFill>
                <a:latin typeface="Consolas"/>
                <a:ea typeface="Consolas"/>
              </a:rPr>
              <a:t>secret_code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2286000" y="1920240"/>
            <a:ext cx="1919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The customer's PIN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457200" y="2578680"/>
            <a:ext cx="3821040" cy="529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Shape 13"/>
          <p:cNvSpPr/>
          <p:nvPr/>
        </p:nvSpPr>
        <p:spPr>
          <a:xfrm>
            <a:off x="457200" y="2578680"/>
            <a:ext cx="72000" cy="529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4"/>
          <p:cNvSpPr/>
          <p:nvPr/>
        </p:nvSpPr>
        <p:spPr>
          <a:xfrm>
            <a:off x="621720" y="2578680"/>
            <a:ext cx="164484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90e0ef"/>
                </a:solidFill>
                <a:latin typeface="Consolas"/>
                <a:ea typeface="Consolas"/>
              </a:rPr>
              <a:t>account_bal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2286000" y="2578680"/>
            <a:ext cx="1919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Current account balance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457200" y="3310200"/>
            <a:ext cx="3821040" cy="126072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" name="Text 17"/>
          <p:cNvSpPr/>
          <p:nvPr/>
        </p:nvSpPr>
        <p:spPr>
          <a:xfrm>
            <a:off x="621720" y="3401640"/>
            <a:ext cx="34736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Note: An ATM does NOT need: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621720" y="3675960"/>
            <a:ext cx="34736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name, phone number, email — those belong to a Bank Account class, not an ATM.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2" name="Shape 19"/>
          <p:cNvSpPr/>
          <p:nvPr/>
        </p:nvSpPr>
        <p:spPr>
          <a:xfrm>
            <a:off x="4727520" y="1143000"/>
            <a:ext cx="4095360" cy="3610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Shape 20"/>
          <p:cNvSpPr/>
          <p:nvPr/>
        </p:nvSpPr>
        <p:spPr>
          <a:xfrm>
            <a:off x="4727520" y="1143000"/>
            <a:ext cx="4095360" cy="383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21"/>
          <p:cNvSpPr/>
          <p:nvPr/>
        </p:nvSpPr>
        <p:spPr>
          <a:xfrm>
            <a:off x="4864680" y="114300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Methods  (Functionality)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4864680" y="1581840"/>
            <a:ext cx="3839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What the ATM object can DO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6" name="Shape 23"/>
          <p:cNvSpPr/>
          <p:nvPr/>
        </p:nvSpPr>
        <p:spPr>
          <a:xfrm>
            <a:off x="4864680" y="1920240"/>
            <a:ext cx="3821040" cy="419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Shape 24"/>
          <p:cNvSpPr/>
          <p:nvPr/>
        </p:nvSpPr>
        <p:spPr>
          <a:xfrm>
            <a:off x="4864680" y="1920240"/>
            <a:ext cx="72000" cy="419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5"/>
          <p:cNvSpPr/>
          <p:nvPr/>
        </p:nvSpPr>
        <p:spPr>
          <a:xfrm>
            <a:off x="5029200" y="1920240"/>
            <a:ext cx="18277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show_menu()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9" name="Text 26"/>
          <p:cNvSpPr/>
          <p:nvPr/>
        </p:nvSpPr>
        <p:spPr>
          <a:xfrm>
            <a:off x="6876360" y="1920240"/>
            <a:ext cx="173628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Display all options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Shape 27"/>
          <p:cNvSpPr/>
          <p:nvPr/>
        </p:nvSpPr>
        <p:spPr>
          <a:xfrm>
            <a:off x="4864680" y="2450520"/>
            <a:ext cx="3821040" cy="41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Shape 28"/>
          <p:cNvSpPr/>
          <p:nvPr/>
        </p:nvSpPr>
        <p:spPr>
          <a:xfrm>
            <a:off x="4864680" y="2450520"/>
            <a:ext cx="72000" cy="419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9"/>
          <p:cNvSpPr/>
          <p:nvPr/>
        </p:nvSpPr>
        <p:spPr>
          <a:xfrm>
            <a:off x="5029200" y="2450520"/>
            <a:ext cx="18277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set_pin()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3" name="Text 30"/>
          <p:cNvSpPr/>
          <p:nvPr/>
        </p:nvSpPr>
        <p:spPr>
          <a:xfrm>
            <a:off x="6876360" y="2450520"/>
            <a:ext cx="173628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Create PIN + initial balance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4" name="Shape 31"/>
          <p:cNvSpPr/>
          <p:nvPr/>
        </p:nvSpPr>
        <p:spPr>
          <a:xfrm>
            <a:off x="4864680" y="2980800"/>
            <a:ext cx="3821040" cy="419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Shape 32"/>
          <p:cNvSpPr/>
          <p:nvPr/>
        </p:nvSpPr>
        <p:spPr>
          <a:xfrm>
            <a:off x="4864680" y="2980800"/>
            <a:ext cx="72000" cy="419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33"/>
          <p:cNvSpPr/>
          <p:nvPr/>
        </p:nvSpPr>
        <p:spPr>
          <a:xfrm>
            <a:off x="5029200" y="2980800"/>
            <a:ext cx="18277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update_pin()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7" name="Text 34"/>
          <p:cNvSpPr/>
          <p:nvPr/>
        </p:nvSpPr>
        <p:spPr>
          <a:xfrm>
            <a:off x="6876360" y="2980800"/>
            <a:ext cx="173628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Change existing PIN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8" name="Shape 35"/>
          <p:cNvSpPr/>
          <p:nvPr/>
        </p:nvSpPr>
        <p:spPr>
          <a:xfrm>
            <a:off x="4864680" y="3511440"/>
            <a:ext cx="3821040" cy="419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36"/>
          <p:cNvSpPr/>
          <p:nvPr/>
        </p:nvSpPr>
        <p:spPr>
          <a:xfrm>
            <a:off x="4864680" y="3511440"/>
            <a:ext cx="72000" cy="419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37"/>
          <p:cNvSpPr/>
          <p:nvPr/>
        </p:nvSpPr>
        <p:spPr>
          <a:xfrm>
            <a:off x="5029200" y="3511440"/>
            <a:ext cx="18277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check_balance()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1" name="Text 38"/>
          <p:cNvSpPr/>
          <p:nvPr/>
        </p:nvSpPr>
        <p:spPr>
          <a:xfrm>
            <a:off x="6876360" y="3511440"/>
            <a:ext cx="173628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View balance (PIN required)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2" name="Shape 39"/>
          <p:cNvSpPr/>
          <p:nvPr/>
        </p:nvSpPr>
        <p:spPr>
          <a:xfrm>
            <a:off x="4864680" y="4041720"/>
            <a:ext cx="3821040" cy="419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" name="Shape 40"/>
          <p:cNvSpPr/>
          <p:nvPr/>
        </p:nvSpPr>
        <p:spPr>
          <a:xfrm>
            <a:off x="4864680" y="4041720"/>
            <a:ext cx="72000" cy="419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41"/>
          <p:cNvSpPr/>
          <p:nvPr/>
        </p:nvSpPr>
        <p:spPr>
          <a:xfrm>
            <a:off x="5029200" y="4041720"/>
            <a:ext cx="18277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do_withdraw()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5" name="Text 42"/>
          <p:cNvSpPr/>
          <p:nvPr/>
        </p:nvSpPr>
        <p:spPr>
          <a:xfrm>
            <a:off x="6876360" y="4041720"/>
            <a:ext cx="173628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Withdraw money (PIN + check)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2"/>
          <p:cNvSpPr/>
          <p:nvPr/>
        </p:nvSpPr>
        <p:spPr>
          <a:xfrm>
            <a:off x="255960" y="137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Constructor — __init__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6.2 — The special method that runs automatically on object creation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320040" y="1143000"/>
            <a:ext cx="8502840" cy="986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5"/>
          <p:cNvSpPr/>
          <p:nvPr/>
        </p:nvSpPr>
        <p:spPr>
          <a:xfrm>
            <a:off x="320040" y="1143000"/>
            <a:ext cx="8502840" cy="630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6"/>
          <p:cNvSpPr/>
          <p:nvPr/>
        </p:nvSpPr>
        <p:spPr>
          <a:xfrm>
            <a:off x="457200" y="1252800"/>
            <a:ext cx="8228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Superpower: The constructor's code runs AUTOMATICALLY when an object is created — you never have to call it.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457200" y="17190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Unlike all other methods, __init__ needs no explicit call.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320040" y="2240280"/>
            <a:ext cx="4095360" cy="2604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Text 9"/>
          <p:cNvSpPr/>
          <p:nvPr/>
        </p:nvSpPr>
        <p:spPr>
          <a:xfrm>
            <a:off x="457200" y="2359080"/>
            <a:ext cx="3839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Proof: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365760" y="2688480"/>
            <a:ext cx="3976560" cy="2083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11"/>
          <p:cNvSpPr/>
          <p:nvPr/>
        </p:nvSpPr>
        <p:spPr>
          <a:xfrm>
            <a:off x="365760" y="2688480"/>
            <a:ext cx="63900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12"/>
          <p:cNvSpPr/>
          <p:nvPr/>
        </p:nvSpPr>
        <p:spPr>
          <a:xfrm>
            <a:off x="365760" y="268848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457200" y="2926080"/>
            <a:ext cx="3793680" cy="18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print('ATM ready!')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m1 = BankATM()  # prints 'ATM ready!'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m2 = BankATM()  # prints 'ATM ready!' again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4727520" y="2240280"/>
            <a:ext cx="4095360" cy="2604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Text 15"/>
          <p:cNvSpPr/>
          <p:nvPr/>
        </p:nvSpPr>
        <p:spPr>
          <a:xfrm>
            <a:off x="4864680" y="2359080"/>
            <a:ext cx="3839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Two Rules for Attributes: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" name="Text 16"/>
          <p:cNvSpPr/>
          <p:nvPr/>
        </p:nvSpPr>
        <p:spPr>
          <a:xfrm>
            <a:off x="4864680" y="2688480"/>
            <a:ext cx="383940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Rule 1: Variables must be defined inside __init__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Rule 2: Every variable name must begin with self.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" name="Shape 17"/>
          <p:cNvSpPr/>
          <p:nvPr/>
        </p:nvSpPr>
        <p:spPr>
          <a:xfrm>
            <a:off x="4773240" y="3547800"/>
            <a:ext cx="3976560" cy="1169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18"/>
          <p:cNvSpPr/>
          <p:nvPr/>
        </p:nvSpPr>
        <p:spPr>
          <a:xfrm>
            <a:off x="4773240" y="3547800"/>
            <a:ext cx="63900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9"/>
          <p:cNvSpPr/>
          <p:nvPr/>
        </p:nvSpPr>
        <p:spPr>
          <a:xfrm>
            <a:off x="4773240" y="354780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6" name="Text 20"/>
          <p:cNvSpPr/>
          <p:nvPr/>
        </p:nvSpPr>
        <p:spPr>
          <a:xfrm>
            <a:off x="4864680" y="3785760"/>
            <a:ext cx="379368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# ✔ correct — uses self.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7" name="Shape 21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22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23"/>
          <p:cNvSpPr/>
          <p:nvPr/>
        </p:nvSpPr>
        <p:spPr>
          <a:xfrm>
            <a:off x="45720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Each new object creation triggers __init__ independently — m1 and m2 each get their own separate secret_code and account_bal.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"/>
          <p:cNvSpPr/>
          <p:nvPr/>
        </p:nvSpPr>
        <p:spPr>
          <a:xfrm>
            <a:off x="255960" y="137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 1 &amp; 2 — Constructor + Menu Method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6.3 — First two components of the ATM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320040" y="1143000"/>
            <a:ext cx="402228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Text 5"/>
          <p:cNvSpPr/>
          <p:nvPr/>
        </p:nvSpPr>
        <p:spPr>
          <a:xfrm>
            <a:off x="457200" y="1261800"/>
            <a:ext cx="37479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Constructor Design Trick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457200" y="1609200"/>
            <a:ext cx="3747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By calling self.show_menu() at the end of __init__, the menu appears automatically the moment an ATM object is created — exactly like a real ATM immediately shows options when activated.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457200" y="263340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Menu Method Logic: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457200" y="2926080"/>
            <a:ext cx="37479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Displays numbered options to user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Reads user's choice via input()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Routes to correct method (if/elif chain)</a:t>
            </a:r>
            <a:endParaRPr b="0" lang="en-IN" sz="10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Option 5 exits the program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4572000" y="1143000"/>
            <a:ext cx="425088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Text 10"/>
          <p:cNvSpPr/>
          <p:nvPr/>
        </p:nvSpPr>
        <p:spPr>
          <a:xfrm>
            <a:off x="4709160" y="126180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Code: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4617720" y="1554480"/>
            <a:ext cx="4381560" cy="420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12"/>
          <p:cNvSpPr/>
          <p:nvPr/>
        </p:nvSpPr>
        <p:spPr>
          <a:xfrm>
            <a:off x="4617720" y="1554480"/>
            <a:ext cx="63900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3"/>
          <p:cNvSpPr/>
          <p:nvPr/>
        </p:nvSpPr>
        <p:spPr>
          <a:xfrm>
            <a:off x="4617720" y="155448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4709160" y="1792080"/>
            <a:ext cx="3976560" cy="29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 = 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  # auto-call!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show_menu(self):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choice = input('''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Welcome! Choose an option: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1. Create PIN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2. Change PIN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3. Check Balance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4. Withdraw Cash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5. Exit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Your choice: ''')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if choice == '1':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self.set_pin()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elif choice == '2':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self.update_pin()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elif choice == '3':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self.check_balance()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elif choice == '4':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self.do_withdraw()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elif choice == '5':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exit()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457200" y="4773240"/>
            <a:ext cx="404208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self.show_menu() — routing through self is mandatory. Methods cannot call each other directly (explained in Part 3 — the Golden Rule of OOP).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46680" y="4140000"/>
            <a:ext cx="379260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self.show_menu() — routing through self is mandatory. Methods cannot call each other directly (explained in Part 3 — the Golden Rule of OOP).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2"/>
          <p:cNvSpPr/>
          <p:nvPr/>
        </p:nvSpPr>
        <p:spPr>
          <a:xfrm>
            <a:off x="255960" y="137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Steps 3 &amp; 4 — set_pin() and update_pin()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6.3 — Creating and changing the PIN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320040" y="1143000"/>
            <a:ext cx="415944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Text 5"/>
          <p:cNvSpPr/>
          <p:nvPr/>
        </p:nvSpPr>
        <p:spPr>
          <a:xfrm>
            <a:off x="457200" y="1261800"/>
            <a:ext cx="3839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Step 3 — set_pin()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457200" y="1609200"/>
            <a:ext cx="38394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Sets a new PIN and the opening balance.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In a real system the balance comes from the bank server — here we simulate it.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365760" y="2231280"/>
            <a:ext cx="4068000" cy="248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8"/>
          <p:cNvSpPr/>
          <p:nvPr/>
        </p:nvSpPr>
        <p:spPr>
          <a:xfrm>
            <a:off x="365760" y="2231280"/>
            <a:ext cx="63900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9"/>
          <p:cNvSpPr/>
          <p:nvPr/>
        </p:nvSpPr>
        <p:spPr>
          <a:xfrm>
            <a:off x="365760" y="223128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457200" y="2468880"/>
            <a:ext cx="3885120" cy="22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set_pin(self):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new_code = input(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'Enter new 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new_code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opening = input(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'Opening balance: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int(opening)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print('PIN created!')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4663440" y="1143000"/>
            <a:ext cx="415944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Text 12"/>
          <p:cNvSpPr/>
          <p:nvPr/>
        </p:nvSpPr>
        <p:spPr>
          <a:xfrm>
            <a:off x="4800600" y="1261800"/>
            <a:ext cx="3839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Step 4 — update_pin()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4800600" y="160920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Verify old PIN first, then allow change — if old PIN is wrong, deny access.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1" name="Shape 14"/>
          <p:cNvSpPr/>
          <p:nvPr/>
        </p:nvSpPr>
        <p:spPr>
          <a:xfrm>
            <a:off x="4709160" y="2048400"/>
            <a:ext cx="4068000" cy="2669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15"/>
          <p:cNvSpPr/>
          <p:nvPr/>
        </p:nvSpPr>
        <p:spPr>
          <a:xfrm>
            <a:off x="4709160" y="2048400"/>
            <a:ext cx="63900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6"/>
          <p:cNvSpPr/>
          <p:nvPr/>
        </p:nvSpPr>
        <p:spPr>
          <a:xfrm>
            <a:off x="4709160" y="204840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4800600" y="2286000"/>
            <a:ext cx="3885120" cy="23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update_pin(self):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current = input(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'Current 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if current == self.secret_code: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fresh = input(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'New 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fresh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print('PIN updated!')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print('Wrong PIN!')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5" name="Shape 18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6" name="Shape 19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0"/>
          <p:cNvSpPr/>
          <p:nvPr/>
        </p:nvSpPr>
        <p:spPr>
          <a:xfrm>
            <a:off x="45720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Pattern: every method calls self.show_menu() at the end — the ATM loops back to options automatically after each action.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"/>
          <p:cNvSpPr/>
          <p:nvPr/>
        </p:nvSpPr>
        <p:spPr>
          <a:xfrm>
            <a:off x="255960" y="137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Steps 5 &amp; 6 — check_balance() and do_withdraw()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6.3 — The two most important operations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320040" y="1143000"/>
            <a:ext cx="415944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Text 5"/>
          <p:cNvSpPr/>
          <p:nvPr/>
        </p:nvSpPr>
        <p:spPr>
          <a:xfrm>
            <a:off x="457200" y="1261800"/>
            <a:ext cx="3839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Step 5 — check_balance()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457200" y="1609200"/>
            <a:ext cx="3839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Always ask for PIN before showing sensitive information.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365760" y="2139120"/>
            <a:ext cx="4068000" cy="2815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8"/>
          <p:cNvSpPr/>
          <p:nvPr/>
        </p:nvSpPr>
        <p:spPr>
          <a:xfrm>
            <a:off x="365760" y="1956960"/>
            <a:ext cx="63900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9"/>
          <p:cNvSpPr/>
          <p:nvPr/>
        </p:nvSpPr>
        <p:spPr>
          <a:xfrm>
            <a:off x="365760" y="195696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720000" y="2139120"/>
            <a:ext cx="3885120" cy="254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check_balance(self):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entered = input('PIN: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if entered == self.secret_code: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print('Balance:',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print('Wrong PIN!')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4663440" y="1143000"/>
            <a:ext cx="415944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0" name="Text 12"/>
          <p:cNvSpPr/>
          <p:nvPr/>
        </p:nvSpPr>
        <p:spPr>
          <a:xfrm>
            <a:off x="4800600" y="1261800"/>
            <a:ext cx="3839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Step 6 — do_withdraw()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4800600" y="1609200"/>
            <a:ext cx="3839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PIN check + balance check — both required.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4709160" y="1956960"/>
            <a:ext cx="4068000" cy="2815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15"/>
          <p:cNvSpPr/>
          <p:nvPr/>
        </p:nvSpPr>
        <p:spPr>
          <a:xfrm>
            <a:off x="4709160" y="1956960"/>
            <a:ext cx="63900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6"/>
          <p:cNvSpPr/>
          <p:nvPr/>
        </p:nvSpPr>
        <p:spPr>
          <a:xfrm>
            <a:off x="4709160" y="195696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4800600" y="2194560"/>
            <a:ext cx="3885120" cy="254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def do_withdraw(self):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entered = input('PIN: 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if entered == self.secret_code: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amt = int(input(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'Amount: '))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if amt &lt;= self.account_bal: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-= amt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print('Done! New bal:',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print('Insufficient!')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            </a:t>
            </a: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print('Wrong PIN!')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Shape 19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20"/>
          <p:cNvSpPr/>
          <p:nvPr/>
        </p:nvSpPr>
        <p:spPr>
          <a:xfrm>
            <a:off x="45720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Balance Guard: if amt &lt;= self.account_bal — without this check a user could withdraw more than available, creating a negative balance!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2"/>
          <p:cNvSpPr/>
          <p:nvPr/>
        </p:nvSpPr>
        <p:spPr>
          <a:xfrm>
            <a:off x="255960" y="137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 7 — Creating the Object + Complete Program Flow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6.4 — One line launches the entire application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320040" y="1143000"/>
            <a:ext cx="411372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Text 5"/>
          <p:cNvSpPr/>
          <p:nvPr/>
        </p:nvSpPr>
        <p:spPr>
          <a:xfrm>
            <a:off x="457200" y="1261800"/>
            <a:ext cx="3839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Launching the ATM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365760" y="1609200"/>
            <a:ext cx="4003920" cy="3089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7"/>
          <p:cNvSpPr/>
          <p:nvPr/>
        </p:nvSpPr>
        <p:spPr>
          <a:xfrm>
            <a:off x="365760" y="1609200"/>
            <a:ext cx="63900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8"/>
          <p:cNvSpPr/>
          <p:nvPr/>
        </p:nvSpPr>
        <p:spPr>
          <a:xfrm>
            <a:off x="365760" y="160920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457200" y="1847160"/>
            <a:ext cx="3821040" cy="28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One line starts everything: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kiosk = BankATM()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Execution chain: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BankATM() →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  __init__() runs auto →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    sets secret_code = 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    sets account_bal = 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    calls self.show_menu() →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      waits for user input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9" name="Shape 10"/>
          <p:cNvSpPr/>
          <p:nvPr/>
        </p:nvSpPr>
        <p:spPr>
          <a:xfrm>
            <a:off x="4663440" y="1143000"/>
            <a:ext cx="4159440" cy="36565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0" name="Text 11"/>
          <p:cNvSpPr/>
          <p:nvPr/>
        </p:nvSpPr>
        <p:spPr>
          <a:xfrm>
            <a:off x="4800600" y="1261800"/>
            <a:ext cx="3839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Complete Program Flow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1" name="Shape 12"/>
          <p:cNvSpPr/>
          <p:nvPr/>
        </p:nvSpPr>
        <p:spPr>
          <a:xfrm>
            <a:off x="4800600" y="1627560"/>
            <a:ext cx="3885120" cy="410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Shape 13"/>
          <p:cNvSpPr/>
          <p:nvPr/>
        </p:nvSpPr>
        <p:spPr>
          <a:xfrm>
            <a:off x="4827960" y="1673280"/>
            <a:ext cx="327960" cy="327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4"/>
          <p:cNvSpPr/>
          <p:nvPr/>
        </p:nvSpPr>
        <p:spPr>
          <a:xfrm>
            <a:off x="4827960" y="167328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5230440" y="162756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kiosk = BankATM()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4827960" y="2011680"/>
            <a:ext cx="3279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da9c4"/>
                </a:solidFill>
                <a:latin typeface="Calibri"/>
                <a:ea typeface="Calibri"/>
              </a:rPr>
              <a:t>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6" name="Shape 17"/>
          <p:cNvSpPr/>
          <p:nvPr/>
        </p:nvSpPr>
        <p:spPr>
          <a:xfrm>
            <a:off x="4800600" y="2130480"/>
            <a:ext cx="3885120" cy="410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18"/>
          <p:cNvSpPr/>
          <p:nvPr/>
        </p:nvSpPr>
        <p:spPr>
          <a:xfrm>
            <a:off x="4827960" y="2176200"/>
            <a:ext cx="327960" cy="32796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9"/>
          <p:cNvSpPr/>
          <p:nvPr/>
        </p:nvSpPr>
        <p:spPr>
          <a:xfrm>
            <a:off x="4827960" y="217620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5230440" y="213048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__init__ runs automatically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0" name="Text 21"/>
          <p:cNvSpPr/>
          <p:nvPr/>
        </p:nvSpPr>
        <p:spPr>
          <a:xfrm>
            <a:off x="4827960" y="2514600"/>
            <a:ext cx="3279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da9c4"/>
                </a:solidFill>
                <a:latin typeface="Calibri"/>
                <a:ea typeface="Calibri"/>
              </a:rPr>
              <a:t>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1" name="Shape 22"/>
          <p:cNvSpPr/>
          <p:nvPr/>
        </p:nvSpPr>
        <p:spPr>
          <a:xfrm>
            <a:off x="4800600" y="2633400"/>
            <a:ext cx="3885120" cy="410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23"/>
          <p:cNvSpPr/>
          <p:nvPr/>
        </p:nvSpPr>
        <p:spPr>
          <a:xfrm>
            <a:off x="4827960" y="2679120"/>
            <a:ext cx="327960" cy="3279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24"/>
          <p:cNvSpPr/>
          <p:nvPr/>
        </p:nvSpPr>
        <p:spPr>
          <a:xfrm>
            <a:off x="4827960" y="267912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4" name="Text 25"/>
          <p:cNvSpPr/>
          <p:nvPr/>
        </p:nvSpPr>
        <p:spPr>
          <a:xfrm>
            <a:off x="5230440" y="263340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show_menu() called via self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5" name="Text 26"/>
          <p:cNvSpPr/>
          <p:nvPr/>
        </p:nvSpPr>
        <p:spPr>
          <a:xfrm>
            <a:off x="4827960" y="3017520"/>
            <a:ext cx="3279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da9c4"/>
                </a:solidFill>
                <a:latin typeface="Calibri"/>
                <a:ea typeface="Calibri"/>
              </a:rPr>
              <a:t>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6" name="Shape 27"/>
          <p:cNvSpPr/>
          <p:nvPr/>
        </p:nvSpPr>
        <p:spPr>
          <a:xfrm>
            <a:off x="4800600" y="3136320"/>
            <a:ext cx="3885120" cy="410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8"/>
          <p:cNvSpPr/>
          <p:nvPr/>
        </p:nvSpPr>
        <p:spPr>
          <a:xfrm>
            <a:off x="4827960" y="3182040"/>
            <a:ext cx="327960" cy="32796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9"/>
          <p:cNvSpPr/>
          <p:nvPr/>
        </p:nvSpPr>
        <p:spPr>
          <a:xfrm>
            <a:off x="4827960" y="318204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Text 30"/>
          <p:cNvSpPr/>
          <p:nvPr/>
        </p:nvSpPr>
        <p:spPr>
          <a:xfrm>
            <a:off x="5230440" y="313632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User picks option 1-4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0" name="Text 31"/>
          <p:cNvSpPr/>
          <p:nvPr/>
        </p:nvSpPr>
        <p:spPr>
          <a:xfrm>
            <a:off x="4827960" y="3520440"/>
            <a:ext cx="3279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da9c4"/>
                </a:solidFill>
                <a:latin typeface="Calibri"/>
                <a:ea typeface="Calibri"/>
              </a:rPr>
              <a:t>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1" name="Shape 32"/>
          <p:cNvSpPr/>
          <p:nvPr/>
        </p:nvSpPr>
        <p:spPr>
          <a:xfrm>
            <a:off x="4800600" y="3639240"/>
            <a:ext cx="3885120" cy="410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Shape 33"/>
          <p:cNvSpPr/>
          <p:nvPr/>
        </p:nvSpPr>
        <p:spPr>
          <a:xfrm>
            <a:off x="4827960" y="3684960"/>
            <a:ext cx="327960" cy="3279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34"/>
          <p:cNvSpPr/>
          <p:nvPr/>
        </p:nvSpPr>
        <p:spPr>
          <a:xfrm>
            <a:off x="4827960" y="368496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Text 35"/>
          <p:cNvSpPr/>
          <p:nvPr/>
        </p:nvSpPr>
        <p:spPr>
          <a:xfrm>
            <a:off x="5230440" y="363924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Matching method runs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5" name="Text 36"/>
          <p:cNvSpPr/>
          <p:nvPr/>
        </p:nvSpPr>
        <p:spPr>
          <a:xfrm>
            <a:off x="4827960" y="4023360"/>
            <a:ext cx="3279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da9c4"/>
                </a:solidFill>
                <a:latin typeface="Calibri"/>
                <a:ea typeface="Calibri"/>
              </a:rPr>
              <a:t>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6" name="Shape 37"/>
          <p:cNvSpPr/>
          <p:nvPr/>
        </p:nvSpPr>
        <p:spPr>
          <a:xfrm>
            <a:off x="4800600" y="4142160"/>
            <a:ext cx="3885120" cy="410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Shape 38"/>
          <p:cNvSpPr/>
          <p:nvPr/>
        </p:nvSpPr>
        <p:spPr>
          <a:xfrm>
            <a:off x="4827960" y="4187880"/>
            <a:ext cx="327960" cy="3279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39"/>
          <p:cNvSpPr/>
          <p:nvPr/>
        </p:nvSpPr>
        <p:spPr>
          <a:xfrm>
            <a:off x="4827960" y="418788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Text 40"/>
          <p:cNvSpPr/>
          <p:nvPr/>
        </p:nvSpPr>
        <p:spPr>
          <a:xfrm>
            <a:off x="5230440" y="414216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Method calls show_menu() again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0" name="Shape 41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42"/>
          <p:cNvSpPr/>
          <p:nvPr/>
        </p:nvSpPr>
        <p:spPr>
          <a:xfrm>
            <a:off x="320040" y="4773240"/>
            <a:ext cx="90360" cy="273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43"/>
          <p:cNvSpPr/>
          <p:nvPr/>
        </p:nvSpPr>
        <p:spPr>
          <a:xfrm>
            <a:off x="45720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The ATM keeps running (looping back to menu) until the user chooses option 5 (Exit).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2"/>
          <p:cNvSpPr/>
          <p:nvPr/>
        </p:nvSpPr>
        <p:spPr>
          <a:xfrm>
            <a:off x="255960" y="137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ATM App — Live Demo Results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6.5 — What the program produced when run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320040" y="1170360"/>
            <a:ext cx="4205160" cy="1077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Shape 5"/>
          <p:cNvSpPr/>
          <p:nvPr/>
        </p:nvSpPr>
        <p:spPr>
          <a:xfrm>
            <a:off x="320040" y="1170360"/>
            <a:ext cx="4205160" cy="72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6"/>
          <p:cNvSpPr/>
          <p:nvPr/>
        </p:nvSpPr>
        <p:spPr>
          <a:xfrm>
            <a:off x="457200" y="128016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Create PIN (Option 1)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457200" y="15728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PIN: 9876 · Opening balance: 15000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457200" y="185616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PIN created successfully!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4800600" y="1170360"/>
            <a:ext cx="4205160" cy="1077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3" name="Shape 10"/>
          <p:cNvSpPr/>
          <p:nvPr/>
        </p:nvSpPr>
        <p:spPr>
          <a:xfrm>
            <a:off x="4800600" y="1170360"/>
            <a:ext cx="4205160" cy="72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1"/>
          <p:cNvSpPr/>
          <p:nvPr/>
        </p:nvSpPr>
        <p:spPr>
          <a:xfrm>
            <a:off x="4937760" y="128016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Change PIN (Option 2)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4937760" y="15728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Old PIN: 9876 · New PIN: 4321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4937760" y="185616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PIN updated!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320040" y="2359080"/>
            <a:ext cx="4205160" cy="1077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15"/>
          <p:cNvSpPr/>
          <p:nvPr/>
        </p:nvSpPr>
        <p:spPr>
          <a:xfrm>
            <a:off x="320040" y="2359080"/>
            <a:ext cx="4205160" cy="72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6"/>
          <p:cNvSpPr/>
          <p:nvPr/>
        </p:nvSpPr>
        <p:spPr>
          <a:xfrm>
            <a:off x="457200" y="246888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Wrong PIN Attempt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457200" y="276156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Old PIN: 1111 (incorrect)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457200" y="304488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Wrong PIN! Access denied.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2" name="Shape 19"/>
          <p:cNvSpPr/>
          <p:nvPr/>
        </p:nvSpPr>
        <p:spPr>
          <a:xfrm>
            <a:off x="4800600" y="2359080"/>
            <a:ext cx="4205160" cy="1077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Shape 20"/>
          <p:cNvSpPr/>
          <p:nvPr/>
        </p:nvSpPr>
        <p:spPr>
          <a:xfrm>
            <a:off x="4800600" y="2359080"/>
            <a:ext cx="4205160" cy="720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1"/>
          <p:cNvSpPr/>
          <p:nvPr/>
        </p:nvSpPr>
        <p:spPr>
          <a:xfrm>
            <a:off x="4937760" y="246888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Check Balance (Option 3)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5" name="Text 22"/>
          <p:cNvSpPr/>
          <p:nvPr/>
        </p:nvSpPr>
        <p:spPr>
          <a:xfrm>
            <a:off x="4937760" y="276156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PIN: 4321 (correct)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4937760" y="304488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Balance: 15000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Shape 24"/>
          <p:cNvSpPr/>
          <p:nvPr/>
        </p:nvSpPr>
        <p:spPr>
          <a:xfrm>
            <a:off x="320040" y="3547800"/>
            <a:ext cx="4205160" cy="1077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Shape 25"/>
          <p:cNvSpPr/>
          <p:nvPr/>
        </p:nvSpPr>
        <p:spPr>
          <a:xfrm>
            <a:off x="320040" y="3547800"/>
            <a:ext cx="4205160" cy="72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6"/>
          <p:cNvSpPr/>
          <p:nvPr/>
        </p:nvSpPr>
        <p:spPr>
          <a:xfrm>
            <a:off x="457200" y="365760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Withdraw ₹6000 (Option 4)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Text 27"/>
          <p:cNvSpPr/>
          <p:nvPr/>
        </p:nvSpPr>
        <p:spPr>
          <a:xfrm>
            <a:off x="457200" y="395028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PIN: 4321 · Amount: 6000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1" name="Text 28"/>
          <p:cNvSpPr/>
          <p:nvPr/>
        </p:nvSpPr>
        <p:spPr>
          <a:xfrm>
            <a:off x="457200" y="423360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Done! New balance: 9000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Shape 29"/>
          <p:cNvSpPr/>
          <p:nvPr/>
        </p:nvSpPr>
        <p:spPr>
          <a:xfrm>
            <a:off x="4800600" y="3547800"/>
            <a:ext cx="4205160" cy="1077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Shape 30"/>
          <p:cNvSpPr/>
          <p:nvPr/>
        </p:nvSpPr>
        <p:spPr>
          <a:xfrm>
            <a:off x="4800600" y="3547800"/>
            <a:ext cx="4205160" cy="72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31"/>
          <p:cNvSpPr/>
          <p:nvPr/>
        </p:nvSpPr>
        <p:spPr>
          <a:xfrm>
            <a:off x="4937760" y="365760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Overdraw Attempt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5" name="Text 32"/>
          <p:cNvSpPr/>
          <p:nvPr/>
        </p:nvSpPr>
        <p:spPr>
          <a:xfrm>
            <a:off x="4937760" y="395028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Input: PIN: 4321 · Amount: 20000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6" name="Text 33"/>
          <p:cNvSpPr/>
          <p:nvPr/>
        </p:nvSpPr>
        <p:spPr>
          <a:xfrm>
            <a:off x="4937760" y="423360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→ </a:t>
            </a:r>
            <a:r>
              <a:rPr b="1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Insufficient balance!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Shape 34"/>
          <p:cNvSpPr/>
          <p:nvPr/>
        </p:nvSpPr>
        <p:spPr>
          <a:xfrm>
            <a:off x="320040" y="4736520"/>
            <a:ext cx="8502840" cy="34632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Shape 35"/>
          <p:cNvSpPr/>
          <p:nvPr/>
        </p:nvSpPr>
        <p:spPr>
          <a:xfrm>
            <a:off x="320040" y="4736520"/>
            <a:ext cx="90360" cy="3463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36"/>
          <p:cNvSpPr/>
          <p:nvPr/>
        </p:nvSpPr>
        <p:spPr>
          <a:xfrm>
            <a:off x="457200" y="473652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Note: This is a simplified simulation (no persistent storage, balance entered manually). Purpose: demonstrate OOP power. 10 experienced developers could extend this to a full banking system.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2"/>
          <p:cNvSpPr/>
          <p:nvPr/>
        </p:nvSpPr>
        <p:spPr>
          <a:xfrm>
            <a:off x="255960" y="137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Complete BankATM Class — Full Code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All 5 methods assembled into the final working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4" name="Shape 4"/>
          <p:cNvSpPr/>
          <p:nvPr/>
        </p:nvSpPr>
        <p:spPr>
          <a:xfrm>
            <a:off x="320040" y="1143000"/>
            <a:ext cx="4159440" cy="3930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Shape 5"/>
          <p:cNvSpPr/>
          <p:nvPr/>
        </p:nvSpPr>
        <p:spPr>
          <a:xfrm>
            <a:off x="365760" y="1188720"/>
            <a:ext cx="4133520" cy="4750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Shape 6"/>
          <p:cNvSpPr/>
          <p:nvPr/>
        </p:nvSpPr>
        <p:spPr>
          <a:xfrm>
            <a:off x="365760" y="1188720"/>
            <a:ext cx="63900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7"/>
          <p:cNvSpPr/>
          <p:nvPr/>
        </p:nvSpPr>
        <p:spPr>
          <a:xfrm>
            <a:off x="365760" y="118872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8" name="Text 8"/>
          <p:cNvSpPr/>
          <p:nvPr/>
        </p:nvSpPr>
        <p:spPr>
          <a:xfrm>
            <a:off x="457200" y="1426320"/>
            <a:ext cx="3885120" cy="35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0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show_menu(self):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ch = input('1-Create 2-Change'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'3-Bal 4-Withdraw 5-Exit: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if ch=='1': self.set_pin()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elif ch=='2': self.update_pin()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elif ch=='3': self.check_balance()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elif ch=='4': self.do_withdraw()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elif ch=='5': exit()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set_pin(self):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c = input('New PIN: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c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b = input('Opening bal: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int(b)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print('PIN created!')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9" name="Shape 9"/>
          <p:cNvSpPr/>
          <p:nvPr/>
        </p:nvSpPr>
        <p:spPr>
          <a:xfrm>
            <a:off x="4663440" y="1143000"/>
            <a:ext cx="4159440" cy="3930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0" name="Shape 10"/>
          <p:cNvSpPr/>
          <p:nvPr/>
        </p:nvSpPr>
        <p:spPr>
          <a:xfrm>
            <a:off x="4709160" y="1188720"/>
            <a:ext cx="4110120" cy="4750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Shape 11"/>
          <p:cNvSpPr/>
          <p:nvPr/>
        </p:nvSpPr>
        <p:spPr>
          <a:xfrm>
            <a:off x="4709160" y="1188720"/>
            <a:ext cx="639000" cy="20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12"/>
          <p:cNvSpPr/>
          <p:nvPr/>
        </p:nvSpPr>
        <p:spPr>
          <a:xfrm>
            <a:off x="4709160" y="118872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4800600" y="1426320"/>
            <a:ext cx="3885120" cy="35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update_pin(self):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cur = input('Current PIN: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if cur == self.secret_code: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nw = input('New PIN: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nw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print('PIN updated!')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print('Wrong PIN!')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check_balance(self):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 = input('PIN: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if p == self.secret_code: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print('Bal:',self.account_bal)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else: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print('Wrong PIN!')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00b4d8"/>
                </a:solidFill>
                <a:latin typeface="Consolas"/>
                <a:ea typeface="Consolas"/>
              </a:rPr>
              <a:t>def do_withdraw(self):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p = input('PIN: 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if p == self.secret_code: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a = int(input('Amount: '))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if a &lt;= self.account_bal: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-= a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print('Done! Bal:',self.account_bal)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else: print('Insufficient!')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b703"/>
                </a:solidFill>
                <a:latin typeface="Consolas"/>
                <a:ea typeface="Consolas"/>
              </a:rPr>
              <a:t>else: print('Wrong PIN!')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0e0ef"/>
                </a:solidFill>
                <a:latin typeface="Consolas"/>
                <a:ea typeface="Consolas"/>
              </a:rPr>
              <a:t>self.show_menu()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0f4f8"/>
                </a:solidFill>
                <a:latin typeface="Consolas"/>
                <a:ea typeface="Consolas"/>
              </a:rPr>
              <a:t>kiosk = BankATM()  # launch!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1"/>
          <p:cNvSpPr/>
          <p:nvPr/>
        </p:nvSpPr>
        <p:spPr>
          <a:xfrm>
            <a:off x="0" y="0"/>
            <a:ext cx="108720" cy="1004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2"/>
          <p:cNvSpPr/>
          <p:nvPr/>
        </p:nvSpPr>
        <p:spPr>
          <a:xfrm>
            <a:off x="255960" y="137160"/>
            <a:ext cx="8502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Key Takeaways — Session 1 Summary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77" name="Text 3"/>
          <p:cNvSpPr/>
          <p:nvPr/>
        </p:nvSpPr>
        <p:spPr>
          <a:xfrm>
            <a:off x="255960" y="658440"/>
            <a:ext cx="8502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Everything covered today at a glance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8" name="Shape 4"/>
          <p:cNvSpPr/>
          <p:nvPr/>
        </p:nvSpPr>
        <p:spPr>
          <a:xfrm>
            <a:off x="320040" y="1170360"/>
            <a:ext cx="4205160" cy="1114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9" name="Shape 5"/>
          <p:cNvSpPr/>
          <p:nvPr/>
        </p:nvSpPr>
        <p:spPr>
          <a:xfrm>
            <a:off x="320040" y="1170360"/>
            <a:ext cx="72000" cy="111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Shape 6"/>
          <p:cNvSpPr/>
          <p:nvPr/>
        </p:nvSpPr>
        <p:spPr>
          <a:xfrm>
            <a:off x="484560" y="1243440"/>
            <a:ext cx="410400" cy="4104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7"/>
          <p:cNvSpPr/>
          <p:nvPr/>
        </p:nvSpPr>
        <p:spPr>
          <a:xfrm>
            <a:off x="484560" y="124344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①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2" name="Text 8"/>
          <p:cNvSpPr/>
          <p:nvPr/>
        </p:nvSpPr>
        <p:spPr>
          <a:xfrm>
            <a:off x="978480" y="1261800"/>
            <a:ext cx="3427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OOP's Core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3" name="Text 9"/>
          <p:cNvSpPr/>
          <p:nvPr/>
        </p:nvSpPr>
        <p:spPr>
          <a:xfrm>
            <a:off x="978480" y="1645920"/>
            <a:ext cx="3427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Create your own data types — move from generic built-in types to application-specific ones.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4" name="Shape 10"/>
          <p:cNvSpPr/>
          <p:nvPr/>
        </p:nvSpPr>
        <p:spPr>
          <a:xfrm>
            <a:off x="4800600" y="1170360"/>
            <a:ext cx="4205160" cy="1114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5" name="Shape 11"/>
          <p:cNvSpPr/>
          <p:nvPr/>
        </p:nvSpPr>
        <p:spPr>
          <a:xfrm>
            <a:off x="4800600" y="1170360"/>
            <a:ext cx="72000" cy="11145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Shape 12"/>
          <p:cNvSpPr/>
          <p:nvPr/>
        </p:nvSpPr>
        <p:spPr>
          <a:xfrm>
            <a:off x="4965120" y="1243440"/>
            <a:ext cx="410400" cy="4104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13"/>
          <p:cNvSpPr/>
          <p:nvPr/>
        </p:nvSpPr>
        <p:spPr>
          <a:xfrm>
            <a:off x="4965120" y="124344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②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8" name="Text 14"/>
          <p:cNvSpPr/>
          <p:nvPr/>
        </p:nvSpPr>
        <p:spPr>
          <a:xfrm>
            <a:off x="5459040" y="1261800"/>
            <a:ext cx="3427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Class = Blueprint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9" name="Text 15"/>
          <p:cNvSpPr/>
          <p:nvPr/>
        </p:nvSpPr>
        <p:spPr>
          <a:xfrm>
            <a:off x="5459040" y="1645920"/>
            <a:ext cx="3427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Defines attributes (data) + methods (behaviour). No code runs until an object is created.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0" name="Shape 16"/>
          <p:cNvSpPr/>
          <p:nvPr/>
        </p:nvSpPr>
        <p:spPr>
          <a:xfrm>
            <a:off x="320040" y="2432160"/>
            <a:ext cx="4205160" cy="1114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1" name="Shape 17"/>
          <p:cNvSpPr/>
          <p:nvPr/>
        </p:nvSpPr>
        <p:spPr>
          <a:xfrm>
            <a:off x="320040" y="2432160"/>
            <a:ext cx="72000" cy="111456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Shape 18"/>
          <p:cNvSpPr/>
          <p:nvPr/>
        </p:nvSpPr>
        <p:spPr>
          <a:xfrm>
            <a:off x="484560" y="2505600"/>
            <a:ext cx="410400" cy="41040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19"/>
          <p:cNvSpPr/>
          <p:nvPr/>
        </p:nvSpPr>
        <p:spPr>
          <a:xfrm>
            <a:off x="484560" y="250560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③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4" name="Text 20"/>
          <p:cNvSpPr/>
          <p:nvPr/>
        </p:nvSpPr>
        <p:spPr>
          <a:xfrm>
            <a:off x="978480" y="2523600"/>
            <a:ext cx="3427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Object = Instance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5" name="Text 21"/>
          <p:cNvSpPr/>
          <p:nvPr/>
        </p:nvSpPr>
        <p:spPr>
          <a:xfrm>
            <a:off x="978480" y="2907720"/>
            <a:ext cx="3427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Every object has its own copy of the attributes and can call all methods of its class.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6" name="Shape 22"/>
          <p:cNvSpPr/>
          <p:nvPr/>
        </p:nvSpPr>
        <p:spPr>
          <a:xfrm>
            <a:off x="4800600" y="2432160"/>
            <a:ext cx="4205160" cy="1114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7" name="Shape 23"/>
          <p:cNvSpPr/>
          <p:nvPr/>
        </p:nvSpPr>
        <p:spPr>
          <a:xfrm>
            <a:off x="4800600" y="2432160"/>
            <a:ext cx="72000" cy="11145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24"/>
          <p:cNvSpPr/>
          <p:nvPr/>
        </p:nvSpPr>
        <p:spPr>
          <a:xfrm>
            <a:off x="4965120" y="2505600"/>
            <a:ext cx="410400" cy="410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25"/>
          <p:cNvSpPr/>
          <p:nvPr/>
        </p:nvSpPr>
        <p:spPr>
          <a:xfrm>
            <a:off x="4965120" y="250560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④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0" name="Text 26"/>
          <p:cNvSpPr/>
          <p:nvPr/>
        </p:nvSpPr>
        <p:spPr>
          <a:xfrm>
            <a:off x="5459040" y="2523600"/>
            <a:ext cx="3427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Constructor Magic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1" name="Text 27"/>
          <p:cNvSpPr/>
          <p:nvPr/>
        </p:nvSpPr>
        <p:spPr>
          <a:xfrm>
            <a:off x="5459040" y="2907720"/>
            <a:ext cx="3427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__init__ runs automatically on creation. Use it for setup code users should never have to trigger manually.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2" name="Shape 28"/>
          <p:cNvSpPr/>
          <p:nvPr/>
        </p:nvSpPr>
        <p:spPr>
          <a:xfrm>
            <a:off x="320040" y="3694320"/>
            <a:ext cx="4205160" cy="1114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Shape 29"/>
          <p:cNvSpPr/>
          <p:nvPr/>
        </p:nvSpPr>
        <p:spPr>
          <a:xfrm>
            <a:off x="320040" y="3694320"/>
            <a:ext cx="72000" cy="1114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Shape 30"/>
          <p:cNvSpPr/>
          <p:nvPr/>
        </p:nvSpPr>
        <p:spPr>
          <a:xfrm>
            <a:off x="484560" y="3767400"/>
            <a:ext cx="410400" cy="4104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31"/>
          <p:cNvSpPr/>
          <p:nvPr/>
        </p:nvSpPr>
        <p:spPr>
          <a:xfrm>
            <a:off x="484560" y="376740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⑤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6" name="Text 32"/>
          <p:cNvSpPr/>
          <p:nvPr/>
        </p:nvSpPr>
        <p:spPr>
          <a:xfrm>
            <a:off x="978480" y="3785760"/>
            <a:ext cx="3427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self is the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7" name="Text 33"/>
          <p:cNvSpPr/>
          <p:nvPr/>
        </p:nvSpPr>
        <p:spPr>
          <a:xfrm>
            <a:off x="978480" y="4169520"/>
            <a:ext cx="3427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self passes the current object into every method — enabling methods to access class data and call each other.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8" name="Shape 34"/>
          <p:cNvSpPr/>
          <p:nvPr/>
        </p:nvSpPr>
        <p:spPr>
          <a:xfrm>
            <a:off x="4800600" y="3694320"/>
            <a:ext cx="4205160" cy="1114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9" name="Shape 35"/>
          <p:cNvSpPr/>
          <p:nvPr/>
        </p:nvSpPr>
        <p:spPr>
          <a:xfrm>
            <a:off x="4800600" y="3694320"/>
            <a:ext cx="72000" cy="111456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Shape 36"/>
          <p:cNvSpPr/>
          <p:nvPr/>
        </p:nvSpPr>
        <p:spPr>
          <a:xfrm>
            <a:off x="4965120" y="3767400"/>
            <a:ext cx="410400" cy="41040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37"/>
          <p:cNvSpPr/>
          <p:nvPr/>
        </p:nvSpPr>
        <p:spPr>
          <a:xfrm>
            <a:off x="4965120" y="3767400"/>
            <a:ext cx="410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⑥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2" name="Text 38"/>
          <p:cNvSpPr/>
          <p:nvPr/>
        </p:nvSpPr>
        <p:spPr>
          <a:xfrm>
            <a:off x="5459040" y="3785760"/>
            <a:ext cx="3427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Practice &gt; Theory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3" name="Text 39"/>
          <p:cNvSpPr/>
          <p:nvPr/>
        </p:nvSpPr>
        <p:spPr>
          <a:xfrm>
            <a:off x="5459040" y="4169520"/>
            <a:ext cx="3427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OOP cannot be memorised — it must be built. The ATM app today is your foundation.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4" name="Shape 40"/>
          <p:cNvSpPr/>
          <p:nvPr/>
        </p:nvSpPr>
        <p:spPr>
          <a:xfrm>
            <a:off x="320040" y="4773240"/>
            <a:ext cx="8502840" cy="273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Text 41"/>
          <p:cNvSpPr/>
          <p:nvPr/>
        </p:nvSpPr>
        <p:spPr>
          <a:xfrm>
            <a:off x="457200" y="4773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b4d8"/>
                </a:solidFill>
                <a:latin typeface="Calibri"/>
                <a:ea typeface="Calibri"/>
              </a:rPr>
              <a:t>Next Up → Part 3: self &amp; Golden Rule · Constructor deep-dive · Magic Methods · Fraction Custom Data Type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2026-02-20T10:21:28Z</dcterms:created>
  <dc:creator>PptxGenJS</dc:creator>
  <dc:description/>
  <dc:language>en-IN</dc:language>
  <cp:lastModifiedBy/>
  <dcterms:modified xsi:type="dcterms:W3CDTF">2026-02-21T22:55:35Z</dcterms:modified>
  <cp:revision>4</cp:revision>
  <dc:subject>PptxGenJS Presentation</dc:subject>
  <dc:title>OOP in Python – Part 2: ATM Application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