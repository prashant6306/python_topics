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2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7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IN" sz="4400" spc="-1" strike="noStrike">
                <a:latin typeface="Arial"/>
              </a:rPr>
              <a:t>Click to </a:t>
            </a:r>
            <a:r>
              <a:rPr b="0" lang="en-IN" sz="4400" spc="-1" strike="noStrike">
                <a:latin typeface="Arial"/>
              </a:rPr>
              <a:t>move </a:t>
            </a:r>
            <a:r>
              <a:rPr b="0" lang="en-IN" sz="4400" spc="-1" strike="noStrike">
                <a:latin typeface="Arial"/>
              </a:rPr>
              <a:t>the </a:t>
            </a:r>
            <a:r>
              <a:rPr b="0" lang="en-IN" sz="4400" spc="-1" strike="noStrike">
                <a:latin typeface="Arial"/>
              </a:rPr>
              <a:t>slide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2000" spc="-1" strike="noStrike">
                <a:latin typeface="Arial"/>
              </a:rPr>
              <a:t>Click to edit the notes </a:t>
            </a:r>
            <a:r>
              <a:rPr b="0" lang="en-IN" sz="2000" spc="-1" strike="noStrike">
                <a:latin typeface="Arial"/>
              </a:rPr>
              <a:t>format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1400" spc="-1" strike="noStrike">
                <a:latin typeface="Times New Roman"/>
              </a:rPr>
              <a:t>&lt;header&gt;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IN" sz="1400" spc="-1" strike="noStrike">
                <a:latin typeface="Times New Roman"/>
              </a:rPr>
              <a:t>&lt;date/time&gt;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IN" sz="1400" spc="-1" strike="noStrike">
                <a:latin typeface="Times New Roman"/>
              </a:defRPr>
            </a:lvl1pPr>
          </a:lstStyle>
          <a:p>
            <a:r>
              <a:rPr b="0" lang="en-IN" sz="1400" spc="-1" strike="noStrike">
                <a:latin typeface="Times New Roman"/>
              </a:rPr>
              <a:t>&lt;footer&gt;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DD7D6B46-E3EE-4C82-B76E-29F77297C651}" type="slidenum">
              <a:rPr b="0" lang="en-IN" sz="1400" spc="-1" strike="noStrike">
                <a:latin typeface="Times New Roman"/>
              </a:rPr>
              <a:t>&lt;number&gt;</a:t>
            </a:fld>
            <a:endParaRPr b="0" lang="en-IN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E150F09-273A-44B6-9860-61D504B83F63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6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0C2CC48-4703-4F56-B0C1-673EF254C91E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7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4811B43-3B3B-4390-9B5E-9559FE8FFF6E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7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C205B0B-6B05-4C34-9005-C4C2555A8F05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7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6C858B0-46F4-4254-A273-1B0CE85E30DB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7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F126505-C850-45E2-B225-668953169CAC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8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5CADC19-823D-45AB-937E-39C03A7B080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8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D7432E7-D116-45B7-BCAD-11D3F6C28EDC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8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57A695B-0BC5-4A45-A400-6E9D7202B9A5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9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B6961C1-0B44-4B3A-8A6F-A309F99E27C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9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8B9417D-9134-46A3-8865-E7175A560E7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9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467F9BE-B123-451E-8697-08596693070E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600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83C97E7-A3A0-41DA-819F-4AD8374AA878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603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CB8EBE6-48FB-483D-8E20-D50CECA2504C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606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E346826-3593-4E2D-A498-A68775C72C5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609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3DCC239-68C5-4F5E-A30F-EA3F2D44FE80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612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A8C638F-EFB0-4E9C-B0D9-3DE1D6C1310A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IN" sz="4400" spc="-1" strike="noStrike">
                <a:latin typeface="Arial"/>
              </a:rPr>
              <a:t>Click to </a:t>
            </a:r>
            <a:r>
              <a:rPr b="0" lang="en-IN" sz="4400" spc="-1" strike="noStrike">
                <a:latin typeface="Arial"/>
              </a:rPr>
              <a:t>edit the </a:t>
            </a:r>
            <a:r>
              <a:rPr b="0" lang="en-IN" sz="4400" spc="-1" strike="noStrike">
                <a:latin typeface="Arial"/>
              </a:rPr>
              <a:t>title text </a:t>
            </a:r>
            <a:r>
              <a:rPr b="0" lang="en-IN" sz="4400" spc="-1" strike="noStrike">
                <a:latin typeface="Arial"/>
              </a:rPr>
              <a:t>format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Click to edit the outline text format</a:t>
            </a:r>
            <a:endParaRPr b="0" lang="en-IN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800" spc="-1" strike="noStrike">
                <a:latin typeface="Arial"/>
              </a:rPr>
              <a:t>Second Outline Level</a:t>
            </a:r>
            <a:endParaRPr b="0" lang="en-IN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400" spc="-1" strike="noStrike">
                <a:latin typeface="Arial"/>
              </a:rPr>
              <a:t>Third Outline Level</a:t>
            </a:r>
            <a:endParaRPr b="0" lang="en-IN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latin typeface="Arial"/>
              </a:rPr>
              <a:t>Fourth Outline Level</a:t>
            </a:r>
            <a:endParaRPr b="0" lang="en-IN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Fifth Outline Level</a:t>
            </a:r>
            <a:endParaRPr b="0" lang="en-IN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Sixth Outline Level</a:t>
            </a:r>
            <a:endParaRPr b="0" lang="en-IN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Seventh Outline Level</a:t>
            </a:r>
            <a:endParaRPr b="0" lang="en-IN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0" y="4114800"/>
            <a:ext cx="9142560" cy="102744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1"/>
          <p:cNvSpPr/>
          <p:nvPr/>
        </p:nvSpPr>
        <p:spPr>
          <a:xfrm>
            <a:off x="457200" y="1097280"/>
            <a:ext cx="108360" cy="278748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Text 2"/>
          <p:cNvSpPr/>
          <p:nvPr/>
        </p:nvSpPr>
        <p:spPr>
          <a:xfrm>
            <a:off x="777240" y="1097280"/>
            <a:ext cx="777096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Calibri"/>
                <a:ea typeface="Calibri"/>
              </a:rPr>
              <a:t>OOP in Python</a:t>
            </a:r>
            <a:endParaRPr b="0" lang="en-IN" sz="3600" spc="-1" strike="noStrike">
              <a:latin typeface="Arial"/>
            </a:endParaRPr>
          </a:p>
        </p:txBody>
      </p:sp>
      <p:sp>
        <p:nvSpPr>
          <p:cNvPr id="47" name="Text 3"/>
          <p:cNvSpPr/>
          <p:nvPr/>
        </p:nvSpPr>
        <p:spPr>
          <a:xfrm>
            <a:off x="777240" y="1874520"/>
            <a:ext cx="7770960" cy="74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b5de5"/>
                </a:solidFill>
                <a:latin typeface="Calibri"/>
                <a:ea typeface="Calibri"/>
              </a:rPr>
              <a:t>Part 4 — Magic Methods &amp; Fraction Class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48" name="Text 4"/>
          <p:cNvSpPr/>
          <p:nvPr/>
        </p:nvSpPr>
        <p:spPr>
          <a:xfrm>
            <a:off x="777240" y="2724840"/>
            <a:ext cx="731376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90e0ef"/>
                </a:solidFill>
                <a:latin typeface="Calibri"/>
                <a:ea typeface="Calibri"/>
              </a:rPr>
              <a:t>Week 3 · Session 1  |  File 3 of 3</a:t>
            </a:r>
            <a:endParaRPr b="0" lang="en-IN" sz="1600" spc="-1" strike="noStrike">
              <a:latin typeface="Arial"/>
            </a:endParaRPr>
          </a:p>
        </p:txBody>
      </p:sp>
      <p:sp>
        <p:nvSpPr>
          <p:cNvPr id="49" name="Text 5"/>
          <p:cNvSpPr/>
          <p:nvPr/>
        </p:nvSpPr>
        <p:spPr>
          <a:xfrm>
            <a:off x="457200" y="4206240"/>
            <a:ext cx="82281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8da9c4"/>
                </a:solidFill>
                <a:latin typeface="Calibri"/>
                <a:ea typeface="Calibri"/>
              </a:rPr>
              <a:t>Topics: Magic Methods • Fraction Class Build • Big Picture • Operator Overloading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50" name="Shape 6"/>
          <p:cNvSpPr/>
          <p:nvPr/>
        </p:nvSpPr>
        <p:spPr>
          <a:xfrm>
            <a:off x="6949440" y="228600"/>
            <a:ext cx="2558880" cy="2558880"/>
          </a:xfrm>
          <a:prstGeom prst="ellipse">
            <a:avLst/>
          </a:prstGeom>
          <a:solidFill>
            <a:srgbClr val="9b5de5">
              <a:alpha val="10000"/>
            </a:srgbClr>
          </a:solidFill>
          <a:ln w="12700">
            <a:solidFill>
              <a:srgbClr val="9b5de5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" name="Shape 7"/>
          <p:cNvSpPr/>
          <p:nvPr/>
        </p:nvSpPr>
        <p:spPr>
          <a:xfrm>
            <a:off x="7589520" y="1325880"/>
            <a:ext cx="1370160" cy="1370160"/>
          </a:xfrm>
          <a:prstGeom prst="ellipse">
            <a:avLst/>
          </a:prstGeom>
          <a:solidFill>
            <a:srgbClr val="00b4d8">
              <a:alpha val="13000"/>
            </a:srgbClr>
          </a:solidFill>
          <a:ln w="12700">
            <a:solidFill>
              <a:srgbClr val="00b4d8">
                <a:alpha val="3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0"/>
          <p:cNvSpPr/>
          <p:nvPr/>
        </p:nvSpPr>
        <p:spPr>
          <a:xfrm>
            <a:off x="0" y="0"/>
            <a:ext cx="9142560" cy="100440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" name="Shape 1"/>
          <p:cNvSpPr/>
          <p:nvPr/>
        </p:nvSpPr>
        <p:spPr>
          <a:xfrm>
            <a:off x="0" y="0"/>
            <a:ext cx="108360" cy="100440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" name="Text 2"/>
          <p:cNvSpPr/>
          <p:nvPr/>
        </p:nvSpPr>
        <p:spPr>
          <a:xfrm>
            <a:off x="255960" y="12816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Session Roadmap — Part 4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55" name="Text 3"/>
          <p:cNvSpPr/>
          <p:nvPr/>
        </p:nvSpPr>
        <p:spPr>
          <a:xfrm>
            <a:off x="255960" y="658440"/>
            <a:ext cx="8502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0e0ef"/>
                </a:solidFill>
                <a:latin typeface="Calibri"/>
                <a:ea typeface="Calibri"/>
              </a:rPr>
              <a:t>What this file covers, in transcript order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56" name="Shape 4"/>
          <p:cNvSpPr/>
          <p:nvPr/>
        </p:nvSpPr>
        <p:spPr>
          <a:xfrm>
            <a:off x="365760" y="1170360"/>
            <a:ext cx="8411040" cy="56556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7" name="Shape 5"/>
          <p:cNvSpPr/>
          <p:nvPr/>
        </p:nvSpPr>
        <p:spPr>
          <a:xfrm>
            <a:off x="365760" y="1170360"/>
            <a:ext cx="474120" cy="56556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Text 6"/>
          <p:cNvSpPr/>
          <p:nvPr/>
        </p:nvSpPr>
        <p:spPr>
          <a:xfrm>
            <a:off x="365760" y="1170360"/>
            <a:ext cx="47412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01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59" name="Text 7"/>
          <p:cNvSpPr/>
          <p:nvPr/>
        </p:nvSpPr>
        <p:spPr>
          <a:xfrm>
            <a:off x="951120" y="1225440"/>
            <a:ext cx="29246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Magic Methods — What &amp; Why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60" name="Text 8"/>
          <p:cNvSpPr/>
          <p:nvPr/>
        </p:nvSpPr>
        <p:spPr>
          <a:xfrm>
            <a:off x="951120" y="1499760"/>
            <a:ext cx="758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8da9c4"/>
                </a:solidFill>
                <a:latin typeface="Calibri"/>
                <a:ea typeface="Calibri"/>
              </a:rPr>
              <a:t>Double underscore pattern · 500+ available · Auto-triggered · Dunder methods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61" name="Shape 9"/>
          <p:cNvSpPr/>
          <p:nvPr/>
        </p:nvSpPr>
        <p:spPr>
          <a:xfrm>
            <a:off x="365760" y="1828800"/>
            <a:ext cx="8411040" cy="56556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2" name="Shape 10"/>
          <p:cNvSpPr/>
          <p:nvPr/>
        </p:nvSpPr>
        <p:spPr>
          <a:xfrm>
            <a:off x="365760" y="1828800"/>
            <a:ext cx="474120" cy="56556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" name="Text 11"/>
          <p:cNvSpPr/>
          <p:nvPr/>
        </p:nvSpPr>
        <p:spPr>
          <a:xfrm>
            <a:off x="365760" y="1828800"/>
            <a:ext cx="47412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02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64" name="Text 12"/>
          <p:cNvSpPr/>
          <p:nvPr/>
        </p:nvSpPr>
        <p:spPr>
          <a:xfrm>
            <a:off x="951120" y="1883520"/>
            <a:ext cx="29246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The Problem: No Fraction Type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65" name="Text 13"/>
          <p:cNvSpPr/>
          <p:nvPr/>
        </p:nvSpPr>
        <p:spPr>
          <a:xfrm>
            <a:off x="951120" y="2157840"/>
            <a:ext cx="758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8da9c4"/>
                </a:solidFill>
                <a:latin typeface="Calibri"/>
                <a:ea typeface="Calibri"/>
              </a:rPr>
              <a:t>Python has no fraction type · 3/4 * 1/2 = 0.375, not 3/8 · We must build it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66" name="Shape 14"/>
          <p:cNvSpPr/>
          <p:nvPr/>
        </p:nvSpPr>
        <p:spPr>
          <a:xfrm>
            <a:off x="365760" y="2487240"/>
            <a:ext cx="8411040" cy="56556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7" name="Shape 15"/>
          <p:cNvSpPr/>
          <p:nvPr/>
        </p:nvSpPr>
        <p:spPr>
          <a:xfrm>
            <a:off x="365760" y="2487240"/>
            <a:ext cx="474120" cy="56556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" name="Text 16"/>
          <p:cNvSpPr/>
          <p:nvPr/>
        </p:nvSpPr>
        <p:spPr>
          <a:xfrm>
            <a:off x="365760" y="2487240"/>
            <a:ext cx="47412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03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69" name="Text 17"/>
          <p:cNvSpPr/>
          <p:nvPr/>
        </p:nvSpPr>
        <p:spPr>
          <a:xfrm>
            <a:off x="951120" y="2541960"/>
            <a:ext cx="29246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Constructor Types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70" name="Text 18"/>
          <p:cNvSpPr/>
          <p:nvPr/>
        </p:nvSpPr>
        <p:spPr>
          <a:xfrm>
            <a:off x="951120" y="2816280"/>
            <a:ext cx="758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8da9c4"/>
                </a:solidFill>
                <a:latin typeface="Calibri"/>
                <a:ea typeface="Calibri"/>
              </a:rPr>
              <a:t>Non-Parameterized (ATM) vs Parameterized (Fraction) with error proof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71" name="Shape 19"/>
          <p:cNvSpPr/>
          <p:nvPr/>
        </p:nvSpPr>
        <p:spPr>
          <a:xfrm>
            <a:off x="365760" y="3145680"/>
            <a:ext cx="8411040" cy="56556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2" name="Shape 20"/>
          <p:cNvSpPr/>
          <p:nvPr/>
        </p:nvSpPr>
        <p:spPr>
          <a:xfrm>
            <a:off x="365760" y="3145680"/>
            <a:ext cx="474120" cy="56556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" name="Text 21"/>
          <p:cNvSpPr/>
          <p:nvPr/>
        </p:nvSpPr>
        <p:spPr>
          <a:xfrm>
            <a:off x="365760" y="3145680"/>
            <a:ext cx="47412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04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74" name="Text 22"/>
          <p:cNvSpPr/>
          <p:nvPr/>
        </p:nvSpPr>
        <p:spPr>
          <a:xfrm>
            <a:off x="951120" y="3200400"/>
            <a:ext cx="29246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Building Fraction — Step by Step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75" name="Text 23"/>
          <p:cNvSpPr/>
          <p:nvPr/>
        </p:nvSpPr>
        <p:spPr>
          <a:xfrm>
            <a:off x="951120" y="3474720"/>
            <a:ext cx="758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8da9c4"/>
                </a:solidFill>
                <a:latin typeface="Calibri"/>
                <a:ea typeface="Calibri"/>
              </a:rPr>
              <a:t>__str__, __add__, __sub__, __mul__, __truediv__ + convert_to_decimal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76" name="Shape 24"/>
          <p:cNvSpPr/>
          <p:nvPr/>
        </p:nvSpPr>
        <p:spPr>
          <a:xfrm>
            <a:off x="365760" y="3803760"/>
            <a:ext cx="8411040" cy="56556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7" name="Shape 25"/>
          <p:cNvSpPr/>
          <p:nvPr/>
        </p:nvSpPr>
        <p:spPr>
          <a:xfrm>
            <a:off x="365760" y="3803760"/>
            <a:ext cx="474120" cy="56556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" name="Text 26"/>
          <p:cNvSpPr/>
          <p:nvPr/>
        </p:nvSpPr>
        <p:spPr>
          <a:xfrm>
            <a:off x="365760" y="3803760"/>
            <a:ext cx="47412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05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79" name="Text 27"/>
          <p:cNvSpPr/>
          <p:nvPr/>
        </p:nvSpPr>
        <p:spPr>
          <a:xfrm>
            <a:off x="951120" y="3858840"/>
            <a:ext cx="29246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Complete Fraction Class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80" name="Text 28"/>
          <p:cNvSpPr/>
          <p:nvPr/>
        </p:nvSpPr>
        <p:spPr>
          <a:xfrm>
            <a:off x="951120" y="4133160"/>
            <a:ext cx="758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8da9c4"/>
                </a:solidFill>
                <a:latin typeface="Calibri"/>
                <a:ea typeface="Calibri"/>
              </a:rPr>
              <a:t>All 7 methods assembled, all test outputs verified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81" name="Shape 29"/>
          <p:cNvSpPr/>
          <p:nvPr/>
        </p:nvSpPr>
        <p:spPr>
          <a:xfrm>
            <a:off x="365760" y="4462200"/>
            <a:ext cx="8411040" cy="56556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2" name="Shape 30"/>
          <p:cNvSpPr/>
          <p:nvPr/>
        </p:nvSpPr>
        <p:spPr>
          <a:xfrm>
            <a:off x="365760" y="4462200"/>
            <a:ext cx="474120" cy="56556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" name="Text 31"/>
          <p:cNvSpPr/>
          <p:nvPr/>
        </p:nvSpPr>
        <p:spPr>
          <a:xfrm>
            <a:off x="365760" y="4462200"/>
            <a:ext cx="47412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06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84" name="Text 32"/>
          <p:cNvSpPr/>
          <p:nvPr/>
        </p:nvSpPr>
        <p:spPr>
          <a:xfrm>
            <a:off x="951120" y="4517280"/>
            <a:ext cx="29246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The Big Picture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85" name="Text 33"/>
          <p:cNvSpPr/>
          <p:nvPr/>
        </p:nvSpPr>
        <p:spPr>
          <a:xfrm>
            <a:off x="951120" y="4791600"/>
            <a:ext cx="758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8da9c4"/>
                </a:solidFill>
                <a:latin typeface="Calibri"/>
                <a:ea typeface="Calibri"/>
              </a:rPr>
              <a:t>Libraries are just classes · NumPy, Pandas, Matplotlib · You can build them too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0"/>
          <p:cNvSpPr/>
          <p:nvPr/>
        </p:nvSpPr>
        <p:spPr>
          <a:xfrm>
            <a:off x="0" y="0"/>
            <a:ext cx="9142560" cy="100440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Shape 1"/>
          <p:cNvSpPr/>
          <p:nvPr/>
        </p:nvSpPr>
        <p:spPr>
          <a:xfrm>
            <a:off x="0" y="0"/>
            <a:ext cx="108360" cy="100440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" name="Text 2"/>
          <p:cNvSpPr/>
          <p:nvPr/>
        </p:nvSpPr>
        <p:spPr>
          <a:xfrm>
            <a:off x="255960" y="12816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Magic Methods — What Are They?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89" name="Text 3"/>
          <p:cNvSpPr/>
          <p:nvPr/>
        </p:nvSpPr>
        <p:spPr>
          <a:xfrm>
            <a:off x="255960" y="658440"/>
            <a:ext cx="8502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0e0ef"/>
                </a:solidFill>
                <a:latin typeface="Calibri"/>
                <a:ea typeface="Calibri"/>
              </a:rPr>
              <a:t>Section 11 — Special methods with unique auto-trigger superpowers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90" name="Shape 4"/>
          <p:cNvSpPr/>
          <p:nvPr/>
        </p:nvSpPr>
        <p:spPr>
          <a:xfrm>
            <a:off x="320040" y="1143000"/>
            <a:ext cx="8502480" cy="91296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1" name="Shape 5"/>
          <p:cNvSpPr/>
          <p:nvPr/>
        </p:nvSpPr>
        <p:spPr>
          <a:xfrm>
            <a:off x="320040" y="1143000"/>
            <a:ext cx="8502480" cy="7164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Text 6"/>
          <p:cNvSpPr/>
          <p:nvPr/>
        </p:nvSpPr>
        <p:spPr>
          <a:xfrm>
            <a:off x="457200" y="1261800"/>
            <a:ext cx="169020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9b5de5"/>
                </a:solidFill>
                <a:latin typeface="Calibri"/>
                <a:ea typeface="Calibri"/>
              </a:rPr>
              <a:t>⚡ </a:t>
            </a:r>
            <a:r>
              <a:rPr b="1" lang="en-US" sz="1300" spc="-1" strike="noStrike">
                <a:solidFill>
                  <a:srgbClr val="9b5de5"/>
                </a:solidFill>
                <a:latin typeface="Calibri"/>
                <a:ea typeface="Calibri"/>
              </a:rPr>
              <a:t>Definition: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93" name="Text 7"/>
          <p:cNvSpPr/>
          <p:nvPr/>
        </p:nvSpPr>
        <p:spPr>
          <a:xfrm>
            <a:off x="2148840" y="1261800"/>
            <a:ext cx="649080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Magic Methods are special methods that are AUTOMATICALLY triggered in specific situations — you never call them directly; Python calls them for you.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94" name="Text 8"/>
          <p:cNvSpPr/>
          <p:nvPr/>
        </p:nvSpPr>
        <p:spPr>
          <a:xfrm>
            <a:off x="457200" y="1901880"/>
            <a:ext cx="8228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8da9c4"/>
                </a:solidFill>
                <a:latin typeface="Calibri"/>
                <a:ea typeface="Calibri"/>
              </a:rPr>
              <a:t>Also known as 'Dunder Methods' — Double UNDERscore before AND after the name. Both names are valid in interviews.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95" name="Shape 9"/>
          <p:cNvSpPr/>
          <p:nvPr/>
        </p:nvSpPr>
        <p:spPr>
          <a:xfrm>
            <a:off x="320040" y="2267640"/>
            <a:ext cx="4095000" cy="274176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6" name="Text 10"/>
          <p:cNvSpPr/>
          <p:nvPr/>
        </p:nvSpPr>
        <p:spPr>
          <a:xfrm>
            <a:off x="457200" y="2377440"/>
            <a:ext cx="3747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9b5de5"/>
                </a:solidFill>
                <a:latin typeface="Calibri"/>
                <a:ea typeface="Calibri"/>
              </a:rPr>
              <a:t>How to Identify a Magic Method: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97" name="Shape 11"/>
          <p:cNvSpPr/>
          <p:nvPr/>
        </p:nvSpPr>
        <p:spPr>
          <a:xfrm>
            <a:off x="365760" y="2706480"/>
            <a:ext cx="4003560" cy="2174760"/>
          </a:xfrm>
          <a:prstGeom prst="rect">
            <a:avLst/>
          </a:prstGeom>
          <a:solidFill>
            <a:srgbClr val="0a1628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" name="Shape 12"/>
          <p:cNvSpPr/>
          <p:nvPr/>
        </p:nvSpPr>
        <p:spPr>
          <a:xfrm>
            <a:off x="365760" y="2706480"/>
            <a:ext cx="565560" cy="19980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Text 13"/>
          <p:cNvSpPr/>
          <p:nvPr/>
        </p:nvSpPr>
        <p:spPr>
          <a:xfrm>
            <a:off x="365760" y="2706480"/>
            <a:ext cx="565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-1" strike="noStrike">
                <a:solidFill>
                  <a:srgbClr val="0d1b2a"/>
                </a:solidFill>
                <a:latin typeface="Consolas"/>
                <a:ea typeface="Consolas"/>
              </a:rPr>
              <a:t>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100" name="Text 14"/>
          <p:cNvSpPr/>
          <p:nvPr/>
        </p:nvSpPr>
        <p:spPr>
          <a:xfrm>
            <a:off x="457200" y="2962800"/>
            <a:ext cx="3820680" cy="187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9b5de5"/>
                </a:solidFill>
                <a:latin typeface="Consolas"/>
                <a:ea typeface="Consolas"/>
              </a:rPr>
              <a:t>__name__   # double underscore BOTH sides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8da9c4"/>
                </a:solidFill>
                <a:latin typeface="Consolas"/>
                <a:ea typeface="Consolas"/>
              </a:rPr>
              <a:t># Examples: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9b5de5"/>
                </a:solidFill>
                <a:latin typeface="Consolas"/>
                <a:ea typeface="Consolas"/>
              </a:rPr>
              <a:t>__init__   # constructor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9b5de5"/>
                </a:solidFill>
                <a:latin typeface="Consolas"/>
                <a:ea typeface="Consolas"/>
              </a:rPr>
              <a:t>__str__    # print representation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9b5de5"/>
                </a:solidFill>
                <a:latin typeface="Consolas"/>
                <a:ea typeface="Consolas"/>
              </a:rPr>
              <a:t>__add__    # + operator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9b5de5"/>
                </a:solidFill>
                <a:latin typeface="Consolas"/>
                <a:ea typeface="Consolas"/>
              </a:rPr>
              <a:t>__mul__    # * operator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01" name="Shape 15"/>
          <p:cNvSpPr/>
          <p:nvPr/>
        </p:nvSpPr>
        <p:spPr>
          <a:xfrm>
            <a:off x="4727520" y="2267640"/>
            <a:ext cx="4095000" cy="274176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2" name="Text 16"/>
          <p:cNvSpPr/>
          <p:nvPr/>
        </p:nvSpPr>
        <p:spPr>
          <a:xfrm>
            <a:off x="4864680" y="2377440"/>
            <a:ext cx="3747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b703"/>
                </a:solidFill>
                <a:latin typeface="Calibri"/>
                <a:ea typeface="Calibri"/>
              </a:rPr>
              <a:t>Key Facts: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03" name="Text 17"/>
          <p:cNvSpPr/>
          <p:nvPr/>
        </p:nvSpPr>
        <p:spPr>
          <a:xfrm>
            <a:off x="4864680" y="2706480"/>
            <a:ext cx="3747600" cy="217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>
              <a:lnSpc>
                <a:spcPct val="100000"/>
              </a:lnSpc>
              <a:buClr>
                <a:srgbClr val="f0f4f8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Python has 500+ magic methods total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f0f4f8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Each has a unique auto-trigger condition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f0f4f8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You've already used one: __init__ IS a magic method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f0f4f8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Its superpower: runs on object creation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f0f4f8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Called 'Dunder' = Double UNDERscore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f0f4f8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Operator Overloading is implemented using them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04" name="Shape 18"/>
          <p:cNvSpPr/>
          <p:nvPr/>
        </p:nvSpPr>
        <p:spPr>
          <a:xfrm>
            <a:off x="320040" y="4773240"/>
            <a:ext cx="8502480" cy="27288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5" name="Shape 19"/>
          <p:cNvSpPr/>
          <p:nvPr/>
        </p:nvSpPr>
        <p:spPr>
          <a:xfrm>
            <a:off x="320040" y="4773240"/>
            <a:ext cx="90000" cy="27288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Text 20"/>
          <p:cNvSpPr/>
          <p:nvPr/>
        </p:nvSpPr>
        <p:spPr>
          <a:xfrm>
            <a:off x="502920" y="477324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50" spc="-1" strike="noStrike">
                <a:solidFill>
                  <a:srgbClr val="ffb703"/>
                </a:solidFill>
                <a:latin typeface="Calibri"/>
                <a:ea typeface="Calibri"/>
              </a:rPr>
              <a:t>Interview Tip: </a:t>
            </a:r>
            <a:r>
              <a:rPr b="0" i="1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'Magic method' and 'Dunder method' mean the same thing — use either term confidently. Interviewers may ask about both.</a:t>
            </a:r>
            <a:endParaRPr b="0" lang="en-IN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0"/>
          <p:cNvSpPr/>
          <p:nvPr/>
        </p:nvSpPr>
        <p:spPr>
          <a:xfrm>
            <a:off x="0" y="0"/>
            <a:ext cx="9142560" cy="100440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Shape 1"/>
          <p:cNvSpPr/>
          <p:nvPr/>
        </p:nvSpPr>
        <p:spPr>
          <a:xfrm>
            <a:off x="0" y="0"/>
            <a:ext cx="108360" cy="100440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Text 2"/>
          <p:cNvSpPr/>
          <p:nvPr/>
        </p:nvSpPr>
        <p:spPr>
          <a:xfrm>
            <a:off x="255960" y="12816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6 Magic Methods Covered in This Session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10" name="Text 3"/>
          <p:cNvSpPr/>
          <p:nvPr/>
        </p:nvSpPr>
        <p:spPr>
          <a:xfrm>
            <a:off x="255960" y="658440"/>
            <a:ext cx="8502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0e0ef"/>
                </a:solidFill>
                <a:latin typeface="Calibri"/>
                <a:ea typeface="Calibri"/>
              </a:rPr>
              <a:t>Section 11.2 — What each one does and when Python triggers it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11" name="Shape 4"/>
          <p:cNvSpPr/>
          <p:nvPr/>
        </p:nvSpPr>
        <p:spPr>
          <a:xfrm>
            <a:off x="320040" y="1143000"/>
            <a:ext cx="8502480" cy="38268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Text 5"/>
          <p:cNvSpPr/>
          <p:nvPr/>
        </p:nvSpPr>
        <p:spPr>
          <a:xfrm>
            <a:off x="457200" y="1143000"/>
            <a:ext cx="20102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9b5de5"/>
                </a:solidFill>
                <a:latin typeface="Calibri"/>
                <a:ea typeface="Calibri"/>
              </a:rPr>
              <a:t>Magic Method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13" name="Text 6"/>
          <p:cNvSpPr/>
          <p:nvPr/>
        </p:nvSpPr>
        <p:spPr>
          <a:xfrm>
            <a:off x="2468880" y="1143000"/>
            <a:ext cx="274176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9b5de5"/>
                </a:solidFill>
                <a:latin typeface="Calibri"/>
                <a:ea typeface="Calibri"/>
              </a:rPr>
              <a:t>Triggered When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14" name="Text 7"/>
          <p:cNvSpPr/>
          <p:nvPr/>
        </p:nvSpPr>
        <p:spPr>
          <a:xfrm>
            <a:off x="5212080" y="1143000"/>
            <a:ext cx="34732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9b5de5"/>
                </a:solidFill>
                <a:latin typeface="Calibri"/>
                <a:ea typeface="Calibri"/>
              </a:rPr>
              <a:t>Superpower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15" name="Shape 8"/>
          <p:cNvSpPr/>
          <p:nvPr/>
        </p:nvSpPr>
        <p:spPr>
          <a:xfrm>
            <a:off x="320040" y="1572840"/>
            <a:ext cx="8502480" cy="5104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6" name="Shape 9"/>
          <p:cNvSpPr/>
          <p:nvPr/>
        </p:nvSpPr>
        <p:spPr>
          <a:xfrm>
            <a:off x="320040" y="1572840"/>
            <a:ext cx="71640" cy="510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Text 10"/>
          <p:cNvSpPr/>
          <p:nvPr/>
        </p:nvSpPr>
        <p:spPr>
          <a:xfrm>
            <a:off x="457200" y="1572840"/>
            <a:ext cx="196452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0b4d8"/>
                </a:solidFill>
                <a:latin typeface="Consolas"/>
                <a:ea typeface="Consolas"/>
              </a:rPr>
              <a:t>__init__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18" name="Text 11"/>
          <p:cNvSpPr/>
          <p:nvPr/>
        </p:nvSpPr>
        <p:spPr>
          <a:xfrm>
            <a:off x="2468880" y="1572840"/>
            <a:ext cx="269604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Object is created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19" name="Text 12"/>
          <p:cNvSpPr/>
          <p:nvPr/>
        </p:nvSpPr>
        <p:spPr>
          <a:xfrm>
            <a:off x="5212080" y="1572840"/>
            <a:ext cx="347328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8da9c4"/>
                </a:solidFill>
                <a:latin typeface="Calibri"/>
                <a:ea typeface="Calibri"/>
              </a:rPr>
              <a:t>Auto-initialises the object (Constructor)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20" name="Shape 13"/>
          <p:cNvSpPr/>
          <p:nvPr/>
        </p:nvSpPr>
        <p:spPr>
          <a:xfrm>
            <a:off x="320040" y="2139840"/>
            <a:ext cx="8502480" cy="51048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21" name="Shape 14"/>
          <p:cNvSpPr/>
          <p:nvPr/>
        </p:nvSpPr>
        <p:spPr>
          <a:xfrm>
            <a:off x="320040" y="2139840"/>
            <a:ext cx="71640" cy="51048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2" name="Text 15"/>
          <p:cNvSpPr/>
          <p:nvPr/>
        </p:nvSpPr>
        <p:spPr>
          <a:xfrm>
            <a:off x="457200" y="2139840"/>
            <a:ext cx="196452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6d6a0"/>
                </a:solidFill>
                <a:latin typeface="Consolas"/>
                <a:ea typeface="Consolas"/>
              </a:rPr>
              <a:t>__str__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23" name="Text 16"/>
          <p:cNvSpPr/>
          <p:nvPr/>
        </p:nvSpPr>
        <p:spPr>
          <a:xfrm>
            <a:off x="2468880" y="2139840"/>
            <a:ext cx="269604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print(object) is called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24" name="Text 17"/>
          <p:cNvSpPr/>
          <p:nvPr/>
        </p:nvSpPr>
        <p:spPr>
          <a:xfrm>
            <a:off x="5212080" y="2139840"/>
            <a:ext cx="347328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8da9c4"/>
                </a:solidFill>
                <a:latin typeface="Calibri"/>
                <a:ea typeface="Calibri"/>
              </a:rPr>
              <a:t>Defines how the object looks when printed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25" name="Shape 18"/>
          <p:cNvSpPr/>
          <p:nvPr/>
        </p:nvSpPr>
        <p:spPr>
          <a:xfrm>
            <a:off x="320040" y="2706480"/>
            <a:ext cx="8502480" cy="5104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26" name="Shape 19"/>
          <p:cNvSpPr/>
          <p:nvPr/>
        </p:nvSpPr>
        <p:spPr>
          <a:xfrm>
            <a:off x="320040" y="2706480"/>
            <a:ext cx="71640" cy="51048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Text 20"/>
          <p:cNvSpPr/>
          <p:nvPr/>
        </p:nvSpPr>
        <p:spPr>
          <a:xfrm>
            <a:off x="457200" y="2706480"/>
            <a:ext cx="196452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9b5de5"/>
                </a:solidFill>
                <a:latin typeface="Consolas"/>
                <a:ea typeface="Consolas"/>
              </a:rPr>
              <a:t>__add__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28" name="Text 21"/>
          <p:cNvSpPr/>
          <p:nvPr/>
        </p:nvSpPr>
        <p:spPr>
          <a:xfrm>
            <a:off x="2468880" y="2706480"/>
            <a:ext cx="269604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obj1 + obj2 is used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29" name="Text 22"/>
          <p:cNvSpPr/>
          <p:nvPr/>
        </p:nvSpPr>
        <p:spPr>
          <a:xfrm>
            <a:off x="5212080" y="2706480"/>
            <a:ext cx="347328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8da9c4"/>
                </a:solidFill>
                <a:latin typeface="Calibri"/>
                <a:ea typeface="Calibri"/>
              </a:rPr>
              <a:t>Defines behavior of the + operator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30" name="Shape 23"/>
          <p:cNvSpPr/>
          <p:nvPr/>
        </p:nvSpPr>
        <p:spPr>
          <a:xfrm>
            <a:off x="320040" y="3273480"/>
            <a:ext cx="8502480" cy="51048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1" name="Shape 24"/>
          <p:cNvSpPr/>
          <p:nvPr/>
        </p:nvSpPr>
        <p:spPr>
          <a:xfrm>
            <a:off x="320040" y="3273480"/>
            <a:ext cx="71640" cy="51048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Text 25"/>
          <p:cNvSpPr/>
          <p:nvPr/>
        </p:nvSpPr>
        <p:spPr>
          <a:xfrm>
            <a:off x="457200" y="3273480"/>
            <a:ext cx="196452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b703"/>
                </a:solidFill>
                <a:latin typeface="Consolas"/>
                <a:ea typeface="Consolas"/>
              </a:rPr>
              <a:t>__sub__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33" name="Text 26"/>
          <p:cNvSpPr/>
          <p:nvPr/>
        </p:nvSpPr>
        <p:spPr>
          <a:xfrm>
            <a:off x="2468880" y="3273480"/>
            <a:ext cx="269604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obj1 - obj2 is used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34" name="Text 27"/>
          <p:cNvSpPr/>
          <p:nvPr/>
        </p:nvSpPr>
        <p:spPr>
          <a:xfrm>
            <a:off x="5212080" y="3273480"/>
            <a:ext cx="347328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8da9c4"/>
                </a:solidFill>
                <a:latin typeface="Calibri"/>
                <a:ea typeface="Calibri"/>
              </a:rPr>
              <a:t>Defines behavior of the − operator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35" name="Shape 28"/>
          <p:cNvSpPr/>
          <p:nvPr/>
        </p:nvSpPr>
        <p:spPr>
          <a:xfrm>
            <a:off x="320040" y="3840480"/>
            <a:ext cx="8502480" cy="5104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6" name="Shape 29"/>
          <p:cNvSpPr/>
          <p:nvPr/>
        </p:nvSpPr>
        <p:spPr>
          <a:xfrm>
            <a:off x="320040" y="3840480"/>
            <a:ext cx="71640" cy="51048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7" name="Text 30"/>
          <p:cNvSpPr/>
          <p:nvPr/>
        </p:nvSpPr>
        <p:spPr>
          <a:xfrm>
            <a:off x="457200" y="3840480"/>
            <a:ext cx="196452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6b6b"/>
                </a:solidFill>
                <a:latin typeface="Consolas"/>
                <a:ea typeface="Consolas"/>
              </a:rPr>
              <a:t>__mul__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38" name="Text 31"/>
          <p:cNvSpPr/>
          <p:nvPr/>
        </p:nvSpPr>
        <p:spPr>
          <a:xfrm>
            <a:off x="2468880" y="3840480"/>
            <a:ext cx="269604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obj1 * obj2 is used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39" name="Text 32"/>
          <p:cNvSpPr/>
          <p:nvPr/>
        </p:nvSpPr>
        <p:spPr>
          <a:xfrm>
            <a:off x="5212080" y="3840480"/>
            <a:ext cx="347328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8da9c4"/>
                </a:solidFill>
                <a:latin typeface="Calibri"/>
                <a:ea typeface="Calibri"/>
              </a:rPr>
              <a:t>Defines behavior of the × operator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40" name="Shape 33"/>
          <p:cNvSpPr/>
          <p:nvPr/>
        </p:nvSpPr>
        <p:spPr>
          <a:xfrm>
            <a:off x="320040" y="4407480"/>
            <a:ext cx="8502480" cy="51048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1" name="Shape 34"/>
          <p:cNvSpPr/>
          <p:nvPr/>
        </p:nvSpPr>
        <p:spPr>
          <a:xfrm>
            <a:off x="320040" y="4407480"/>
            <a:ext cx="71640" cy="510480"/>
          </a:xfrm>
          <a:prstGeom prst="rect">
            <a:avLst/>
          </a:prstGeom>
          <a:solidFill>
            <a:srgbClr val="90e0ef"/>
          </a:solidFill>
          <a:ln w="12700">
            <a:solidFill>
              <a:srgbClr val="90e0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2" name="Text 35"/>
          <p:cNvSpPr/>
          <p:nvPr/>
        </p:nvSpPr>
        <p:spPr>
          <a:xfrm>
            <a:off x="457200" y="4407480"/>
            <a:ext cx="196452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90e0ef"/>
                </a:solidFill>
                <a:latin typeface="Consolas"/>
                <a:ea typeface="Consolas"/>
              </a:rPr>
              <a:t>__truediv__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43" name="Text 36"/>
          <p:cNvSpPr/>
          <p:nvPr/>
        </p:nvSpPr>
        <p:spPr>
          <a:xfrm>
            <a:off x="2468880" y="4407480"/>
            <a:ext cx="269604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obj1 / obj2 is used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44" name="Text 37"/>
          <p:cNvSpPr/>
          <p:nvPr/>
        </p:nvSpPr>
        <p:spPr>
          <a:xfrm>
            <a:off x="5212080" y="4407480"/>
            <a:ext cx="347328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8da9c4"/>
                </a:solidFill>
                <a:latin typeface="Calibri"/>
                <a:ea typeface="Calibri"/>
              </a:rPr>
              <a:t>Defines behavior of the ÷ operator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45" name="Shape 38"/>
          <p:cNvSpPr/>
          <p:nvPr/>
        </p:nvSpPr>
        <p:spPr>
          <a:xfrm>
            <a:off x="320040" y="4773240"/>
            <a:ext cx="8502480" cy="27288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6" name="Shape 39"/>
          <p:cNvSpPr/>
          <p:nvPr/>
        </p:nvSpPr>
        <p:spPr>
          <a:xfrm>
            <a:off x="320040" y="4773240"/>
            <a:ext cx="90000" cy="27288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40"/>
          <p:cNvSpPr/>
          <p:nvPr/>
        </p:nvSpPr>
        <p:spPr>
          <a:xfrm>
            <a:off x="360000" y="514368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50" spc="-1" strike="noStrike">
                <a:solidFill>
                  <a:srgbClr val="ffb703"/>
                </a:solidFill>
                <a:latin typeface="Calibri"/>
                <a:ea typeface="Calibri"/>
              </a:rPr>
              <a:t>Operator Overloading: </a:t>
            </a:r>
            <a:r>
              <a:rPr b="0" i="1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Student Sunil correctly noted that using magic methods to redefine operators is called 'Operator Overloading' — a form of Polymorphism (Day 2 topic).</a:t>
            </a:r>
            <a:endParaRPr b="0" lang="en-IN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0"/>
          <p:cNvSpPr/>
          <p:nvPr/>
        </p:nvSpPr>
        <p:spPr>
          <a:xfrm>
            <a:off x="0" y="0"/>
            <a:ext cx="9142560" cy="100440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9" name="Shape 1"/>
          <p:cNvSpPr/>
          <p:nvPr/>
        </p:nvSpPr>
        <p:spPr>
          <a:xfrm>
            <a:off x="0" y="0"/>
            <a:ext cx="108360" cy="100440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0" name="Text 2"/>
          <p:cNvSpPr/>
          <p:nvPr/>
        </p:nvSpPr>
        <p:spPr>
          <a:xfrm>
            <a:off x="255960" y="12816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Why Do Some Operations Give Errors?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51" name="Text 3"/>
          <p:cNvSpPr/>
          <p:nvPr/>
        </p:nvSpPr>
        <p:spPr>
          <a:xfrm>
            <a:off x="255960" y="658440"/>
            <a:ext cx="8502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0e0ef"/>
                </a:solidFill>
                <a:latin typeface="Calibri"/>
                <a:ea typeface="Calibri"/>
              </a:rPr>
              <a:t>Section 11.3 — No magic method = operation not supported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52" name="Shape 4"/>
          <p:cNvSpPr/>
          <p:nvPr/>
        </p:nvSpPr>
        <p:spPr>
          <a:xfrm>
            <a:off x="320040" y="1143000"/>
            <a:ext cx="8502480" cy="159876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3" name="Text 5"/>
          <p:cNvSpPr/>
          <p:nvPr/>
        </p:nvSpPr>
        <p:spPr>
          <a:xfrm>
            <a:off x="457200" y="1234440"/>
            <a:ext cx="8045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6b6b"/>
                </a:solidFill>
                <a:latin typeface="Calibri"/>
                <a:ea typeface="Calibri"/>
              </a:rPr>
              <a:t>Proof: Set + Set gives an error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54" name="Shape 6"/>
          <p:cNvSpPr/>
          <p:nvPr/>
        </p:nvSpPr>
        <p:spPr>
          <a:xfrm>
            <a:off x="365760" y="1536120"/>
            <a:ext cx="8456760" cy="1205640"/>
          </a:xfrm>
          <a:prstGeom prst="rect">
            <a:avLst/>
          </a:prstGeom>
          <a:solidFill>
            <a:srgbClr val="0a1628"/>
          </a:solidFill>
          <a:ln w="127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5" name="Shape 7"/>
          <p:cNvSpPr/>
          <p:nvPr/>
        </p:nvSpPr>
        <p:spPr>
          <a:xfrm>
            <a:off x="365760" y="1536120"/>
            <a:ext cx="565560" cy="19980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6" name="Text 8"/>
          <p:cNvSpPr/>
          <p:nvPr/>
        </p:nvSpPr>
        <p:spPr>
          <a:xfrm>
            <a:off x="365760" y="1536120"/>
            <a:ext cx="565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-1" strike="noStrike">
                <a:solidFill>
                  <a:srgbClr val="0d1b2a"/>
                </a:solidFill>
                <a:latin typeface="Consolas"/>
                <a:ea typeface="Consolas"/>
              </a:rPr>
              <a:t>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157" name="Text 9"/>
          <p:cNvSpPr/>
          <p:nvPr/>
        </p:nvSpPr>
        <p:spPr>
          <a:xfrm>
            <a:off x="457200" y="1792080"/>
            <a:ext cx="8228160" cy="81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f0f4f8"/>
                </a:solidFill>
                <a:latin typeface="Consolas"/>
                <a:ea typeface="Consolas"/>
              </a:rPr>
              <a:t>basket1 = {1, 2, 3}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f0f4f8"/>
                </a:solidFill>
                <a:latin typeface="Consolas"/>
                <a:ea typeface="Consolas"/>
              </a:rPr>
              <a:t>basket2 = {3, 4, 5}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f0f4f8"/>
                </a:solidFill>
                <a:latin typeface="Consolas"/>
                <a:ea typeface="Consolas"/>
              </a:rPr>
              <a:t>basket1 + basket2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8da9c4"/>
                </a:solidFill>
                <a:latin typeface="Consolas"/>
                <a:ea typeface="Consolas"/>
              </a:rPr>
              <a:t># ERROR: unsupported operand type(s) for +: 'set' and 'set'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8da9c4"/>
                </a:solidFill>
                <a:latin typeface="Consolas"/>
                <a:ea typeface="Consolas"/>
              </a:rPr>
              <a:t># Reason: whoever built the 'set' class never wrote __add__ inside it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158" name="Shape 10"/>
          <p:cNvSpPr/>
          <p:nvPr/>
        </p:nvSpPr>
        <p:spPr>
          <a:xfrm>
            <a:off x="320040" y="2853000"/>
            <a:ext cx="2028600" cy="105012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9" name="Shape 11"/>
          <p:cNvSpPr/>
          <p:nvPr/>
        </p:nvSpPr>
        <p:spPr>
          <a:xfrm>
            <a:off x="320040" y="2853000"/>
            <a:ext cx="2028600" cy="532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0" name="Shape 12"/>
          <p:cNvSpPr/>
          <p:nvPr/>
        </p:nvSpPr>
        <p:spPr>
          <a:xfrm>
            <a:off x="548640" y="2962800"/>
            <a:ext cx="345960" cy="34596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1" name="Text 13"/>
          <p:cNvSpPr/>
          <p:nvPr/>
        </p:nvSpPr>
        <p:spPr>
          <a:xfrm>
            <a:off x="548640" y="2962800"/>
            <a:ext cx="345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d1b2a"/>
                </a:solidFill>
                <a:latin typeface="Calibri"/>
                <a:ea typeface="Calibri"/>
              </a:rPr>
              <a:t>1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62" name="Text 14"/>
          <p:cNvSpPr/>
          <p:nvPr/>
        </p:nvSpPr>
        <p:spPr>
          <a:xfrm>
            <a:off x="969120" y="2907720"/>
            <a:ext cx="1260360" cy="93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f0f4f8"/>
                </a:solidFill>
                <a:latin typeface="Calibri"/>
                <a:ea typeface="Calibri"/>
              </a:rPr>
              <a:t>You write:  basket1 + basket2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63" name="Text 15"/>
          <p:cNvSpPr/>
          <p:nvPr/>
        </p:nvSpPr>
        <p:spPr>
          <a:xfrm>
            <a:off x="2350080" y="3246120"/>
            <a:ext cx="144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8da9c4"/>
                </a:solidFill>
                <a:latin typeface="Calibri"/>
                <a:ea typeface="Calibri"/>
              </a:rPr>
              <a:t>→</a:t>
            </a:r>
            <a:endParaRPr b="0" lang="en-IN" sz="1600" spc="-1" strike="noStrike">
              <a:latin typeface="Arial"/>
            </a:endParaRPr>
          </a:p>
        </p:txBody>
      </p:sp>
      <p:sp>
        <p:nvSpPr>
          <p:cNvPr id="164" name="Shape 16"/>
          <p:cNvSpPr/>
          <p:nvPr/>
        </p:nvSpPr>
        <p:spPr>
          <a:xfrm>
            <a:off x="2514600" y="2853000"/>
            <a:ext cx="2028600" cy="105012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5" name="Shape 17"/>
          <p:cNvSpPr/>
          <p:nvPr/>
        </p:nvSpPr>
        <p:spPr>
          <a:xfrm>
            <a:off x="2514600" y="2853000"/>
            <a:ext cx="2028600" cy="532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6" name="Shape 18"/>
          <p:cNvSpPr/>
          <p:nvPr/>
        </p:nvSpPr>
        <p:spPr>
          <a:xfrm>
            <a:off x="2743200" y="2962800"/>
            <a:ext cx="345960" cy="34596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Text 19"/>
          <p:cNvSpPr/>
          <p:nvPr/>
        </p:nvSpPr>
        <p:spPr>
          <a:xfrm>
            <a:off x="2743200" y="2962800"/>
            <a:ext cx="345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d1b2a"/>
                </a:solidFill>
                <a:latin typeface="Calibri"/>
                <a:ea typeface="Calibri"/>
              </a:rPr>
              <a:t>2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68" name="Text 20"/>
          <p:cNvSpPr/>
          <p:nvPr/>
        </p:nvSpPr>
        <p:spPr>
          <a:xfrm>
            <a:off x="3163680" y="2907720"/>
            <a:ext cx="1260360" cy="93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ffb703"/>
                </a:solidFill>
                <a:latin typeface="Calibri"/>
                <a:ea typeface="Calibri"/>
              </a:rPr>
              <a:t>Python looks for __add__ inside the set class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69" name="Text 21"/>
          <p:cNvSpPr/>
          <p:nvPr/>
        </p:nvSpPr>
        <p:spPr>
          <a:xfrm>
            <a:off x="4544640" y="3246120"/>
            <a:ext cx="144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8da9c4"/>
                </a:solidFill>
                <a:latin typeface="Calibri"/>
                <a:ea typeface="Calibri"/>
              </a:rPr>
              <a:t>→</a:t>
            </a:r>
            <a:endParaRPr b="0" lang="en-IN" sz="1600" spc="-1" strike="noStrike">
              <a:latin typeface="Arial"/>
            </a:endParaRPr>
          </a:p>
        </p:txBody>
      </p:sp>
      <p:sp>
        <p:nvSpPr>
          <p:cNvPr id="170" name="Shape 22"/>
          <p:cNvSpPr/>
          <p:nvPr/>
        </p:nvSpPr>
        <p:spPr>
          <a:xfrm>
            <a:off x="4709160" y="2853000"/>
            <a:ext cx="2028600" cy="105012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71" name="Shape 23"/>
          <p:cNvSpPr/>
          <p:nvPr/>
        </p:nvSpPr>
        <p:spPr>
          <a:xfrm>
            <a:off x="4709160" y="2853000"/>
            <a:ext cx="2028600" cy="5328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2" name="Shape 24"/>
          <p:cNvSpPr/>
          <p:nvPr/>
        </p:nvSpPr>
        <p:spPr>
          <a:xfrm>
            <a:off x="4937760" y="2962800"/>
            <a:ext cx="345960" cy="34596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3" name="Text 25"/>
          <p:cNvSpPr/>
          <p:nvPr/>
        </p:nvSpPr>
        <p:spPr>
          <a:xfrm>
            <a:off x="4937760" y="2962800"/>
            <a:ext cx="345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d1b2a"/>
                </a:solidFill>
                <a:latin typeface="Calibri"/>
                <a:ea typeface="Calibri"/>
              </a:rPr>
              <a:t>3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74" name="Text 26"/>
          <p:cNvSpPr/>
          <p:nvPr/>
        </p:nvSpPr>
        <p:spPr>
          <a:xfrm>
            <a:off x="5358240" y="2907720"/>
            <a:ext cx="1260360" cy="93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ff6b6b"/>
                </a:solidFill>
                <a:latin typeface="Calibri"/>
                <a:ea typeface="Calibri"/>
              </a:rPr>
              <a:t>__add__ not found — it was never written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75" name="Text 27"/>
          <p:cNvSpPr/>
          <p:nvPr/>
        </p:nvSpPr>
        <p:spPr>
          <a:xfrm>
            <a:off x="6739200" y="3246120"/>
            <a:ext cx="144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8da9c4"/>
                </a:solidFill>
                <a:latin typeface="Calibri"/>
                <a:ea typeface="Calibri"/>
              </a:rPr>
              <a:t>→</a:t>
            </a:r>
            <a:endParaRPr b="0" lang="en-IN" sz="1600" spc="-1" strike="noStrike">
              <a:latin typeface="Arial"/>
            </a:endParaRPr>
          </a:p>
        </p:txBody>
      </p:sp>
      <p:sp>
        <p:nvSpPr>
          <p:cNvPr id="176" name="Shape 28"/>
          <p:cNvSpPr/>
          <p:nvPr/>
        </p:nvSpPr>
        <p:spPr>
          <a:xfrm>
            <a:off x="6903720" y="2853000"/>
            <a:ext cx="2028600" cy="105012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77" name="Shape 29"/>
          <p:cNvSpPr/>
          <p:nvPr/>
        </p:nvSpPr>
        <p:spPr>
          <a:xfrm>
            <a:off x="6903720" y="2853000"/>
            <a:ext cx="2028600" cy="5328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Shape 30"/>
          <p:cNvSpPr/>
          <p:nvPr/>
        </p:nvSpPr>
        <p:spPr>
          <a:xfrm>
            <a:off x="7132320" y="2962800"/>
            <a:ext cx="345960" cy="34596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Text 31"/>
          <p:cNvSpPr/>
          <p:nvPr/>
        </p:nvSpPr>
        <p:spPr>
          <a:xfrm>
            <a:off x="7132320" y="2962800"/>
            <a:ext cx="345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d1b2a"/>
                </a:solidFill>
                <a:latin typeface="Calibri"/>
                <a:ea typeface="Calibri"/>
              </a:rPr>
              <a:t>4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80" name="Text 32"/>
          <p:cNvSpPr/>
          <p:nvPr/>
        </p:nvSpPr>
        <p:spPr>
          <a:xfrm>
            <a:off x="7552800" y="2907720"/>
            <a:ext cx="1260360" cy="93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ff6b6b"/>
                </a:solidFill>
                <a:latin typeface="Calibri"/>
                <a:ea typeface="Calibri"/>
              </a:rPr>
              <a:t>Python throws: unsupported operand type error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81" name="Shape 33"/>
          <p:cNvSpPr/>
          <p:nvPr/>
        </p:nvSpPr>
        <p:spPr>
          <a:xfrm>
            <a:off x="320040" y="4005000"/>
            <a:ext cx="8502480" cy="68436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2" name="Shape 34"/>
          <p:cNvSpPr/>
          <p:nvPr/>
        </p:nvSpPr>
        <p:spPr>
          <a:xfrm>
            <a:off x="320040" y="4005000"/>
            <a:ext cx="8502480" cy="6264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3" name="Text 35"/>
          <p:cNvSpPr/>
          <p:nvPr/>
        </p:nvSpPr>
        <p:spPr>
          <a:xfrm>
            <a:off x="457200" y="4096440"/>
            <a:ext cx="3198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6d6a0"/>
                </a:solidFill>
                <a:latin typeface="Calibri"/>
                <a:ea typeface="Calibri"/>
              </a:rPr>
              <a:t>The Fix: Add __add__ to the class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84" name="Shape 36"/>
          <p:cNvSpPr/>
          <p:nvPr/>
        </p:nvSpPr>
        <p:spPr>
          <a:xfrm>
            <a:off x="365760" y="4370760"/>
            <a:ext cx="8411040" cy="254520"/>
          </a:xfrm>
          <a:prstGeom prst="rect">
            <a:avLst/>
          </a:prstGeom>
          <a:solidFill>
            <a:srgbClr val="0a1628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Shape 37"/>
          <p:cNvSpPr/>
          <p:nvPr/>
        </p:nvSpPr>
        <p:spPr>
          <a:xfrm>
            <a:off x="365760" y="4370760"/>
            <a:ext cx="565560" cy="1998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6" name="Text 38"/>
          <p:cNvSpPr/>
          <p:nvPr/>
        </p:nvSpPr>
        <p:spPr>
          <a:xfrm>
            <a:off x="365760" y="4370760"/>
            <a:ext cx="565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-1" strike="noStrike">
                <a:solidFill>
                  <a:srgbClr val="0d1b2a"/>
                </a:solidFill>
                <a:latin typeface="Consolas"/>
                <a:ea typeface="Consolas"/>
              </a:rPr>
              <a:t>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187" name="Text 39"/>
          <p:cNvSpPr/>
          <p:nvPr/>
        </p:nvSpPr>
        <p:spPr>
          <a:xfrm>
            <a:off x="457200" y="4581360"/>
            <a:ext cx="8228160" cy="4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4640" bIns="446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8da9c4"/>
                </a:solidFill>
                <a:latin typeface="Consolas"/>
                <a:ea typeface="Consolas"/>
              </a:rPr>
              <a:t># Before __add__:  fr1 + fr2  →  ERROR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8da9c4"/>
                </a:solidFill>
                <a:latin typeface="Consolas"/>
                <a:ea typeface="Consolas"/>
              </a:rPr>
              <a:t># After __add__:   fr1 + fr2  →  25/22  ✔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88" name="Shape 40"/>
          <p:cNvSpPr/>
          <p:nvPr/>
        </p:nvSpPr>
        <p:spPr>
          <a:xfrm>
            <a:off x="180000" y="5760000"/>
            <a:ext cx="8502480" cy="27288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50" spc="-1" strike="noStrike">
                <a:solidFill>
                  <a:srgbClr val="ffb703"/>
                </a:solidFill>
                <a:latin typeface="Calibri"/>
                <a:ea typeface="Calibri"/>
              </a:rPr>
              <a:t>Rule: </a:t>
            </a:r>
            <a:r>
              <a:rPr b="0" i="1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No __add__ method in a class = the + operator is not supported for objects of that class. The same applies to −, ×, ÷ and every other operator.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189" name="Shape 41"/>
          <p:cNvSpPr/>
          <p:nvPr/>
        </p:nvSpPr>
        <p:spPr>
          <a:xfrm>
            <a:off x="320040" y="4773240"/>
            <a:ext cx="90000" cy="27288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0" name="Text 42"/>
          <p:cNvSpPr/>
          <p:nvPr/>
        </p:nvSpPr>
        <p:spPr>
          <a:xfrm>
            <a:off x="231120" y="530640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50" spc="-1" strike="noStrike">
                <a:solidFill>
                  <a:srgbClr val="ffb703"/>
                </a:solidFill>
                <a:latin typeface="Calibri"/>
                <a:ea typeface="Calibri"/>
              </a:rPr>
              <a:t>Rule: </a:t>
            </a:r>
            <a:r>
              <a:rPr b="0" i="1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No __add__ method in a class = the + operator is not supported for objects of that class. The same applies to −, ×, ÷ and every other operator.</a:t>
            </a:r>
            <a:endParaRPr b="0" lang="en-IN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0"/>
          <p:cNvSpPr/>
          <p:nvPr/>
        </p:nvSpPr>
        <p:spPr>
          <a:xfrm>
            <a:off x="0" y="0"/>
            <a:ext cx="9142560" cy="100440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2" name="Shape 1"/>
          <p:cNvSpPr/>
          <p:nvPr/>
        </p:nvSpPr>
        <p:spPr>
          <a:xfrm>
            <a:off x="0" y="0"/>
            <a:ext cx="108360" cy="100440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3" name="Text 2"/>
          <p:cNvSpPr/>
          <p:nvPr/>
        </p:nvSpPr>
        <p:spPr>
          <a:xfrm>
            <a:off x="255960" y="12816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The Problem — Python Has No Fraction Type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94" name="Text 3"/>
          <p:cNvSpPr/>
          <p:nvPr/>
        </p:nvSpPr>
        <p:spPr>
          <a:xfrm>
            <a:off x="255960" y="658440"/>
            <a:ext cx="8502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0e0ef"/>
                </a:solidFill>
                <a:latin typeface="Calibri"/>
                <a:ea typeface="Calibri"/>
              </a:rPr>
              <a:t>Section 12.1 — The motivation for building our own data type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95" name="Shape 4"/>
          <p:cNvSpPr/>
          <p:nvPr/>
        </p:nvSpPr>
        <p:spPr>
          <a:xfrm>
            <a:off x="320040" y="1143000"/>
            <a:ext cx="8502480" cy="147996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96" name="Text 5"/>
          <p:cNvSpPr/>
          <p:nvPr/>
        </p:nvSpPr>
        <p:spPr>
          <a:xfrm>
            <a:off x="457200" y="1234440"/>
            <a:ext cx="8045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6b6b"/>
                </a:solidFill>
                <a:latin typeface="Calibri"/>
                <a:ea typeface="Calibri"/>
              </a:rPr>
              <a:t>What Python gives us (without our class):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97" name="Shape 6"/>
          <p:cNvSpPr/>
          <p:nvPr/>
        </p:nvSpPr>
        <p:spPr>
          <a:xfrm>
            <a:off x="365760" y="1536120"/>
            <a:ext cx="8411040" cy="1004400"/>
          </a:xfrm>
          <a:prstGeom prst="rect">
            <a:avLst/>
          </a:prstGeom>
          <a:solidFill>
            <a:srgbClr val="0a1628"/>
          </a:solidFill>
          <a:ln w="127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8" name="Shape 7"/>
          <p:cNvSpPr/>
          <p:nvPr/>
        </p:nvSpPr>
        <p:spPr>
          <a:xfrm>
            <a:off x="365760" y="1536120"/>
            <a:ext cx="565560" cy="19980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9" name="Text 8"/>
          <p:cNvSpPr/>
          <p:nvPr/>
        </p:nvSpPr>
        <p:spPr>
          <a:xfrm>
            <a:off x="365760" y="1536120"/>
            <a:ext cx="565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-1" strike="noStrike">
                <a:solidFill>
                  <a:srgbClr val="0d1b2a"/>
                </a:solidFill>
                <a:latin typeface="Consolas"/>
                <a:ea typeface="Consolas"/>
              </a:rPr>
              <a:t>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200" name="Text 9"/>
          <p:cNvSpPr/>
          <p:nvPr/>
        </p:nvSpPr>
        <p:spPr>
          <a:xfrm>
            <a:off x="457200" y="1792080"/>
            <a:ext cx="8228160" cy="70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0f4f8"/>
                </a:solidFill>
                <a:latin typeface="Consolas"/>
                <a:ea typeface="Consolas"/>
              </a:rPr>
              <a:t>answer = 3/4 * 1/2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b703"/>
                </a:solidFill>
                <a:latin typeface="Consolas"/>
                <a:ea typeface="Consolas"/>
              </a:rPr>
              <a:t>print(answer)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8da9c4"/>
                </a:solidFill>
                <a:latin typeface="Consolas"/>
                <a:ea typeface="Consolas"/>
              </a:rPr>
              <a:t># Output: 0.375   ← decimal! Not 3/8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8da9c4"/>
                </a:solidFill>
                <a:latin typeface="Consolas"/>
                <a:ea typeface="Consolas"/>
              </a:rPr>
              <a:t># We want 3/8 — Python cannot do this without our class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01" name="Shape 10"/>
          <p:cNvSpPr/>
          <p:nvPr/>
        </p:nvSpPr>
        <p:spPr>
          <a:xfrm>
            <a:off x="320040" y="2724840"/>
            <a:ext cx="8502480" cy="86724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02" name="Shape 11"/>
          <p:cNvSpPr/>
          <p:nvPr/>
        </p:nvSpPr>
        <p:spPr>
          <a:xfrm>
            <a:off x="320040" y="2724840"/>
            <a:ext cx="8502480" cy="7164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3" name="Text 12"/>
          <p:cNvSpPr/>
          <p:nvPr/>
        </p:nvSpPr>
        <p:spPr>
          <a:xfrm>
            <a:off x="457200" y="2834640"/>
            <a:ext cx="9129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6d6a0"/>
                </a:solidFill>
                <a:latin typeface="Calibri"/>
                <a:ea typeface="Calibri"/>
              </a:rPr>
              <a:t>Goal: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04" name="Text 13"/>
          <p:cNvSpPr/>
          <p:nvPr/>
        </p:nvSpPr>
        <p:spPr>
          <a:xfrm>
            <a:off x="1371600" y="2834640"/>
            <a:ext cx="726804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Build a Fraction class — our own custom data type — that can: display as 3/4, add, subtract, multiply, divide fractions, and convert to decimal.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05" name="Shape 14"/>
          <p:cNvSpPr/>
          <p:nvPr/>
        </p:nvSpPr>
        <p:spPr>
          <a:xfrm>
            <a:off x="320040" y="3703320"/>
            <a:ext cx="4095000" cy="12970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06" name="Text 15"/>
          <p:cNvSpPr/>
          <p:nvPr/>
        </p:nvSpPr>
        <p:spPr>
          <a:xfrm>
            <a:off x="457200" y="3794760"/>
            <a:ext cx="3747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Attributes needed: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07" name="Text 16"/>
          <p:cNvSpPr/>
          <p:nvPr/>
        </p:nvSpPr>
        <p:spPr>
          <a:xfrm>
            <a:off x="457200" y="4096440"/>
            <a:ext cx="374760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>
              <a:lnSpc>
                <a:spcPct val="100000"/>
              </a:lnSpc>
              <a:buClr>
                <a:srgbClr val="f0f4f8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numerator  — top number of the fraction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f0f4f8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denominator  — bottom number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08" name="Shape 17"/>
          <p:cNvSpPr/>
          <p:nvPr/>
        </p:nvSpPr>
        <p:spPr>
          <a:xfrm>
            <a:off x="4727520" y="3703320"/>
            <a:ext cx="4095000" cy="12970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09" name="Text 18"/>
          <p:cNvSpPr/>
          <p:nvPr/>
        </p:nvSpPr>
        <p:spPr>
          <a:xfrm>
            <a:off x="4864680" y="3794760"/>
            <a:ext cx="3747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fb703"/>
                </a:solidFill>
                <a:latin typeface="Calibri"/>
                <a:ea typeface="Calibri"/>
              </a:rPr>
              <a:t>Methods needed: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10" name="Text 19"/>
          <p:cNvSpPr/>
          <p:nvPr/>
        </p:nvSpPr>
        <p:spPr>
          <a:xfrm>
            <a:off x="4864680" y="4096440"/>
            <a:ext cx="374760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>
              <a:lnSpc>
                <a:spcPct val="100000"/>
              </a:lnSpc>
              <a:buClr>
                <a:srgbClr val="f0f4f8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__init__  · __str__  · __add__  · __sub__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f0f4f8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__mul__  · __truediv__  · convert_to_decimal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11" name="Shape 20"/>
          <p:cNvSpPr/>
          <p:nvPr/>
        </p:nvSpPr>
        <p:spPr>
          <a:xfrm>
            <a:off x="320040" y="4773240"/>
            <a:ext cx="8502480" cy="27288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12" name="Shape 21"/>
          <p:cNvSpPr/>
          <p:nvPr/>
        </p:nvSpPr>
        <p:spPr>
          <a:xfrm>
            <a:off x="320040" y="4773240"/>
            <a:ext cx="90000" cy="27288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3" name="Text 22"/>
          <p:cNvSpPr/>
          <p:nvPr/>
        </p:nvSpPr>
        <p:spPr>
          <a:xfrm>
            <a:off x="502920" y="477324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50" spc="-1" strike="noStrike">
                <a:solidFill>
                  <a:srgbClr val="ffb703"/>
                </a:solidFill>
                <a:latin typeface="Calibri"/>
                <a:ea typeface="Calibri"/>
              </a:rPr>
              <a:t>This demonstrates: </a:t>
            </a:r>
            <a:r>
              <a:rPr b="0" i="1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The MAIN POWER of OOP — creating your own data types. After today you will have added a brand-new type to Python itself.</a:t>
            </a:r>
            <a:endParaRPr b="0" lang="en-IN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Shape 0"/>
          <p:cNvSpPr/>
          <p:nvPr/>
        </p:nvSpPr>
        <p:spPr>
          <a:xfrm>
            <a:off x="0" y="0"/>
            <a:ext cx="9142560" cy="100440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5" name="Shape 1"/>
          <p:cNvSpPr/>
          <p:nvPr/>
        </p:nvSpPr>
        <p:spPr>
          <a:xfrm>
            <a:off x="0" y="0"/>
            <a:ext cx="108360" cy="100440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6" name="Text 2"/>
          <p:cNvSpPr/>
          <p:nvPr/>
        </p:nvSpPr>
        <p:spPr>
          <a:xfrm>
            <a:off x="255960" y="12816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Two Types of Constructors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217" name="Text 3"/>
          <p:cNvSpPr/>
          <p:nvPr/>
        </p:nvSpPr>
        <p:spPr>
          <a:xfrm>
            <a:off x="255960" y="658440"/>
            <a:ext cx="8502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0e0ef"/>
                </a:solidFill>
                <a:latin typeface="Calibri"/>
                <a:ea typeface="Calibri"/>
              </a:rPr>
              <a:t>Section 12.3 — Non-Parameterized vs Parameterized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18" name="Shape 4"/>
          <p:cNvSpPr/>
          <p:nvPr/>
        </p:nvSpPr>
        <p:spPr>
          <a:xfrm>
            <a:off x="320040" y="1143000"/>
            <a:ext cx="4113360" cy="365616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19" name="Shape 5"/>
          <p:cNvSpPr/>
          <p:nvPr/>
        </p:nvSpPr>
        <p:spPr>
          <a:xfrm>
            <a:off x="320040" y="1143000"/>
            <a:ext cx="4113360" cy="382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0" name="Text 6"/>
          <p:cNvSpPr/>
          <p:nvPr/>
        </p:nvSpPr>
        <p:spPr>
          <a:xfrm>
            <a:off x="457200" y="1143000"/>
            <a:ext cx="38390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d1b2a"/>
                </a:solidFill>
                <a:latin typeface="Calibri"/>
                <a:ea typeface="Calibri"/>
              </a:rPr>
              <a:t>Type 1 — Non-Parameterized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21" name="Text 7"/>
          <p:cNvSpPr/>
          <p:nvPr/>
        </p:nvSpPr>
        <p:spPr>
          <a:xfrm>
            <a:off x="457200" y="158184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8da9c4"/>
                </a:solidFill>
                <a:latin typeface="Calibri"/>
                <a:ea typeface="Calibri"/>
              </a:rPr>
              <a:t>Takes NO extra arguments.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8da9c4"/>
                </a:solidFill>
                <a:latin typeface="Calibri"/>
                <a:ea typeface="Calibri"/>
              </a:rPr>
              <a:t>The ATM class used this type.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22" name="Shape 8"/>
          <p:cNvSpPr/>
          <p:nvPr/>
        </p:nvSpPr>
        <p:spPr>
          <a:xfrm>
            <a:off x="365760" y="2103120"/>
            <a:ext cx="4003560" cy="2577240"/>
          </a:xfrm>
          <a:prstGeom prst="rect">
            <a:avLst/>
          </a:prstGeom>
          <a:solidFill>
            <a:srgbClr val="0a162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Shape 9"/>
          <p:cNvSpPr/>
          <p:nvPr/>
        </p:nvSpPr>
        <p:spPr>
          <a:xfrm>
            <a:off x="365760" y="2103120"/>
            <a:ext cx="565560" cy="1998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4" name="Text 10"/>
          <p:cNvSpPr/>
          <p:nvPr/>
        </p:nvSpPr>
        <p:spPr>
          <a:xfrm>
            <a:off x="365760" y="2103120"/>
            <a:ext cx="565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-1" strike="noStrike">
                <a:solidFill>
                  <a:srgbClr val="0d1b2a"/>
                </a:solidFill>
                <a:latin typeface="Consolas"/>
                <a:ea typeface="Consolas"/>
              </a:rPr>
              <a:t>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225" name="Text 11"/>
          <p:cNvSpPr/>
          <p:nvPr/>
        </p:nvSpPr>
        <p:spPr>
          <a:xfrm>
            <a:off x="457200" y="2359080"/>
            <a:ext cx="3820680" cy="22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00b4d8"/>
                </a:solidFill>
                <a:latin typeface="Consolas"/>
                <a:ea typeface="Consolas"/>
              </a:rPr>
              <a:t>class BankATM: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00b4d8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00b4d8"/>
                </a:solidFill>
                <a:latin typeface="Consolas"/>
                <a:ea typeface="Consolas"/>
              </a:rPr>
              <a:t>def __init__(self):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8da9c4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8da9c4"/>
                </a:solidFill>
                <a:latin typeface="Consolas"/>
                <a:ea typeface="Consolas"/>
              </a:rPr>
              <a:t># only 'self' — nothing else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0e0ef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90e0ef"/>
                </a:solidFill>
                <a:latin typeface="Consolas"/>
                <a:ea typeface="Consolas"/>
              </a:rPr>
              <a:t>self.secret_code = ''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0e0ef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90e0ef"/>
                </a:solidFill>
                <a:latin typeface="Consolas"/>
                <a:ea typeface="Consolas"/>
              </a:rPr>
              <a:t>self.account_bal = 0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8da9c4"/>
                </a:solidFill>
                <a:latin typeface="Consolas"/>
                <a:ea typeface="Consolas"/>
              </a:rPr>
              <a:t># No arguments needed: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f0f4f8"/>
                </a:solidFill>
                <a:latin typeface="Consolas"/>
                <a:ea typeface="Consolas"/>
              </a:rPr>
              <a:t>machine = BankATM()   # ✔ works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26" name="Shape 12"/>
          <p:cNvSpPr/>
          <p:nvPr/>
        </p:nvSpPr>
        <p:spPr>
          <a:xfrm>
            <a:off x="4709160" y="1143000"/>
            <a:ext cx="4113360" cy="365616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27" name="Shape 13"/>
          <p:cNvSpPr/>
          <p:nvPr/>
        </p:nvSpPr>
        <p:spPr>
          <a:xfrm>
            <a:off x="4709160" y="1143000"/>
            <a:ext cx="4113360" cy="38268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8" name="Text 14"/>
          <p:cNvSpPr/>
          <p:nvPr/>
        </p:nvSpPr>
        <p:spPr>
          <a:xfrm>
            <a:off x="4846320" y="1143000"/>
            <a:ext cx="38390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d1b2a"/>
                </a:solidFill>
                <a:latin typeface="Calibri"/>
                <a:ea typeface="Calibri"/>
              </a:rPr>
              <a:t>Type 2 — Parameterized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29" name="Text 15"/>
          <p:cNvSpPr/>
          <p:nvPr/>
        </p:nvSpPr>
        <p:spPr>
          <a:xfrm>
            <a:off x="4846320" y="158184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8da9c4"/>
                </a:solidFill>
                <a:latin typeface="Calibri"/>
                <a:ea typeface="Calibri"/>
              </a:rPr>
              <a:t>REQUIRES arguments at creation.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8da9c4"/>
                </a:solidFill>
                <a:latin typeface="Calibri"/>
                <a:ea typeface="Calibri"/>
              </a:rPr>
              <a:t>The Fraction class uses this type.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30" name="Shape 16"/>
          <p:cNvSpPr/>
          <p:nvPr/>
        </p:nvSpPr>
        <p:spPr>
          <a:xfrm>
            <a:off x="4754880" y="2103120"/>
            <a:ext cx="4003560" cy="2577240"/>
          </a:xfrm>
          <a:prstGeom prst="rect">
            <a:avLst/>
          </a:prstGeom>
          <a:solidFill>
            <a:srgbClr val="0a1628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1" name="Shape 17"/>
          <p:cNvSpPr/>
          <p:nvPr/>
        </p:nvSpPr>
        <p:spPr>
          <a:xfrm>
            <a:off x="4754880" y="2103120"/>
            <a:ext cx="565560" cy="19980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2" name="Text 18"/>
          <p:cNvSpPr/>
          <p:nvPr/>
        </p:nvSpPr>
        <p:spPr>
          <a:xfrm>
            <a:off x="4754880" y="2103120"/>
            <a:ext cx="565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-1" strike="noStrike">
                <a:solidFill>
                  <a:srgbClr val="0d1b2a"/>
                </a:solidFill>
                <a:latin typeface="Consolas"/>
                <a:ea typeface="Consolas"/>
              </a:rPr>
              <a:t>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233" name="Text 19"/>
          <p:cNvSpPr/>
          <p:nvPr/>
        </p:nvSpPr>
        <p:spPr>
          <a:xfrm>
            <a:off x="4846320" y="2359080"/>
            <a:ext cx="3820680" cy="22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00b4d8"/>
                </a:solidFill>
                <a:latin typeface="Consolas"/>
                <a:ea typeface="Consolas"/>
              </a:rPr>
              <a:t>class Fraction: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00b4d8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00b4d8"/>
                </a:solidFill>
                <a:latin typeface="Consolas"/>
                <a:ea typeface="Consolas"/>
              </a:rPr>
              <a:t>def __init__(self, x, y):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8da9c4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8da9c4"/>
                </a:solidFill>
                <a:latin typeface="Consolas"/>
                <a:ea typeface="Consolas"/>
              </a:rPr>
              <a:t># needs two extra params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0e0ef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90e0ef"/>
                </a:solidFill>
                <a:latin typeface="Consolas"/>
                <a:ea typeface="Consolas"/>
              </a:rPr>
              <a:t>self.numerator = x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0e0ef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90e0ef"/>
                </a:solidFill>
                <a:latin typeface="Consolas"/>
                <a:ea typeface="Consolas"/>
              </a:rPr>
              <a:t>self.denominator = y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8da9c4"/>
                </a:solidFill>
                <a:latin typeface="Consolas"/>
                <a:ea typeface="Consolas"/>
              </a:rPr>
              <a:t># Must provide arguments: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f0f4f8"/>
                </a:solidFill>
                <a:latin typeface="Consolas"/>
                <a:ea typeface="Consolas"/>
              </a:rPr>
              <a:t>fr = Fraction(3, 4)   # ✔ works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06d6a0"/>
                </a:solidFill>
                <a:latin typeface="Consolas"/>
                <a:ea typeface="Consolas"/>
              </a:rPr>
              <a:t>fr = Fraction()       # ✘ ERROR!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34" name="Shape 20"/>
          <p:cNvSpPr/>
          <p:nvPr/>
        </p:nvSpPr>
        <p:spPr>
          <a:xfrm>
            <a:off x="320040" y="4773240"/>
            <a:ext cx="8502480" cy="27288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35" name="Shape 21"/>
          <p:cNvSpPr/>
          <p:nvPr/>
        </p:nvSpPr>
        <p:spPr>
          <a:xfrm>
            <a:off x="320040" y="4773240"/>
            <a:ext cx="90000" cy="27288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6" name="Text 22"/>
          <p:cNvSpPr/>
          <p:nvPr/>
        </p:nvSpPr>
        <p:spPr>
          <a:xfrm>
            <a:off x="502920" y="477324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50" spc="-1" strike="noStrike">
                <a:solidFill>
                  <a:srgbClr val="ffb703"/>
                </a:solidFill>
                <a:latin typeface="Calibri"/>
                <a:ea typeface="Calibri"/>
              </a:rPr>
              <a:t>Error message when args missing: </a:t>
            </a:r>
            <a:r>
              <a:rPr b="0" i="1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__init__() missing 2 required positional arguments: 'x' and 'y' — Python enforces this strictly.</a:t>
            </a:r>
            <a:endParaRPr b="0" lang="en-IN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0"/>
          <p:cNvSpPr/>
          <p:nvPr/>
        </p:nvSpPr>
        <p:spPr>
          <a:xfrm>
            <a:off x="0" y="0"/>
            <a:ext cx="9142560" cy="100440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8" name="Shape 1"/>
          <p:cNvSpPr/>
          <p:nvPr/>
        </p:nvSpPr>
        <p:spPr>
          <a:xfrm>
            <a:off x="0" y="0"/>
            <a:ext cx="108360" cy="100440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9" name="Text 2"/>
          <p:cNvSpPr/>
          <p:nvPr/>
        </p:nvSpPr>
        <p:spPr>
          <a:xfrm>
            <a:off x="255960" y="12816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Fraction Class — Steps 1 &amp; 2: Constructor + __str__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240" name="Text 3"/>
          <p:cNvSpPr/>
          <p:nvPr/>
        </p:nvSpPr>
        <p:spPr>
          <a:xfrm>
            <a:off x="255960" y="658440"/>
            <a:ext cx="8502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0e0ef"/>
                </a:solidFill>
                <a:latin typeface="Calibri"/>
                <a:ea typeface="Calibri"/>
              </a:rPr>
              <a:t>Section 12.3 — Building the foundation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41" name="Shape 4"/>
          <p:cNvSpPr/>
          <p:nvPr/>
        </p:nvSpPr>
        <p:spPr>
          <a:xfrm>
            <a:off x="320040" y="1143000"/>
            <a:ext cx="4113360" cy="365616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42" name="Text 5"/>
          <p:cNvSpPr/>
          <p:nvPr/>
        </p:nvSpPr>
        <p:spPr>
          <a:xfrm>
            <a:off x="457200" y="1261800"/>
            <a:ext cx="3747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0b4d8"/>
                </a:solidFill>
                <a:latin typeface="Calibri"/>
                <a:ea typeface="Calibri"/>
              </a:rPr>
              <a:t>Step 1 — Parameterized Constructor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43" name="Text 6"/>
          <p:cNvSpPr/>
          <p:nvPr/>
        </p:nvSpPr>
        <p:spPr>
          <a:xfrm>
            <a:off x="457200" y="1572840"/>
            <a:ext cx="3747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8da9c4"/>
                </a:solidFill>
                <a:latin typeface="Calibri"/>
                <a:ea typeface="Calibri"/>
              </a:rPr>
              <a:t>Stores numerator and denominator on creation.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44" name="Shape 7"/>
          <p:cNvSpPr/>
          <p:nvPr/>
        </p:nvSpPr>
        <p:spPr>
          <a:xfrm>
            <a:off x="365760" y="1883520"/>
            <a:ext cx="4003560" cy="1827360"/>
          </a:xfrm>
          <a:prstGeom prst="rect">
            <a:avLst/>
          </a:prstGeom>
          <a:solidFill>
            <a:srgbClr val="0a162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5" name="Shape 8"/>
          <p:cNvSpPr/>
          <p:nvPr/>
        </p:nvSpPr>
        <p:spPr>
          <a:xfrm>
            <a:off x="365760" y="1883520"/>
            <a:ext cx="565560" cy="1998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6" name="Text 9"/>
          <p:cNvSpPr/>
          <p:nvPr/>
        </p:nvSpPr>
        <p:spPr>
          <a:xfrm>
            <a:off x="365760" y="1883520"/>
            <a:ext cx="565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-1" strike="noStrike">
                <a:solidFill>
                  <a:srgbClr val="0d1b2a"/>
                </a:solidFill>
                <a:latin typeface="Consolas"/>
                <a:ea typeface="Consolas"/>
              </a:rPr>
              <a:t>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247" name="Text 10"/>
          <p:cNvSpPr/>
          <p:nvPr/>
        </p:nvSpPr>
        <p:spPr>
          <a:xfrm>
            <a:off x="457200" y="2139840"/>
            <a:ext cx="3820680" cy="152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00b4d8"/>
                </a:solidFill>
                <a:latin typeface="Consolas"/>
                <a:ea typeface="Consolas"/>
              </a:rPr>
              <a:t>class Fraction: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00b4d8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00b4d8"/>
                </a:solidFill>
                <a:latin typeface="Consolas"/>
                <a:ea typeface="Consolas"/>
              </a:rPr>
              <a:t>def __init__(self, x, y):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90e0ef"/>
                </a:solidFill>
                <a:latin typeface="Consolas"/>
                <a:ea typeface="Consolas"/>
              </a:rPr>
              <a:t>        </a:t>
            </a:r>
            <a:r>
              <a:rPr b="0" lang="en-US" sz="1100" spc="-1" strike="noStrike">
                <a:solidFill>
                  <a:srgbClr val="90e0ef"/>
                </a:solidFill>
                <a:latin typeface="Consolas"/>
                <a:ea typeface="Consolas"/>
              </a:rPr>
              <a:t>self.numerator = x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90e0ef"/>
                </a:solidFill>
                <a:latin typeface="Consolas"/>
                <a:ea typeface="Consolas"/>
              </a:rPr>
              <a:t>        </a:t>
            </a:r>
            <a:r>
              <a:rPr b="0" lang="en-US" sz="1100" spc="-1" strike="noStrike">
                <a:solidFill>
                  <a:srgbClr val="90e0ef"/>
                </a:solidFill>
                <a:latin typeface="Consolas"/>
                <a:ea typeface="Consolas"/>
              </a:rPr>
              <a:t>self.denominator = y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f0f4f8"/>
                </a:solidFill>
                <a:latin typeface="Consolas"/>
                <a:ea typeface="Consolas"/>
              </a:rPr>
              <a:t>fr1 = Fraction(1, 2)   # 1/2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f0f4f8"/>
                </a:solidFill>
                <a:latin typeface="Consolas"/>
                <a:ea typeface="Consolas"/>
              </a:rPr>
              <a:t>fr2 = Fraction(7, 11)  # 7/11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48" name="Text 11"/>
          <p:cNvSpPr/>
          <p:nvPr/>
        </p:nvSpPr>
        <p:spPr>
          <a:xfrm>
            <a:off x="457200" y="3749040"/>
            <a:ext cx="3747600" cy="98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>
              <a:lnSpc>
                <a:spcPct val="100000"/>
              </a:lnSpc>
              <a:buClr>
                <a:srgbClr val="f0f4f8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x maps to self.numerator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f0f4f8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y maps to self.denominator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f0f4f8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Each fraction object stores its own pair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49" name="Shape 12"/>
          <p:cNvSpPr/>
          <p:nvPr/>
        </p:nvSpPr>
        <p:spPr>
          <a:xfrm>
            <a:off x="4709160" y="1143000"/>
            <a:ext cx="4113360" cy="365616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50" name="Text 13"/>
          <p:cNvSpPr/>
          <p:nvPr/>
        </p:nvSpPr>
        <p:spPr>
          <a:xfrm>
            <a:off x="4846320" y="1261800"/>
            <a:ext cx="3747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9b5de5"/>
                </a:solidFill>
                <a:latin typeface="Calibri"/>
                <a:ea typeface="Calibri"/>
              </a:rPr>
              <a:t>Step 2 — __str__ Magic Method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51" name="Text 14"/>
          <p:cNvSpPr/>
          <p:nvPr/>
        </p:nvSpPr>
        <p:spPr>
          <a:xfrm>
            <a:off x="4846320" y="1572840"/>
            <a:ext cx="3747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8da9c4"/>
                </a:solidFill>
                <a:latin typeface="Calibri"/>
                <a:ea typeface="Calibri"/>
              </a:rPr>
              <a:t>Without __str__, print() shows a useless memory address.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52" name="Shape 15"/>
          <p:cNvSpPr/>
          <p:nvPr/>
        </p:nvSpPr>
        <p:spPr>
          <a:xfrm>
            <a:off x="4846320" y="1883520"/>
            <a:ext cx="3820680" cy="86724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53" name="Shape 16"/>
          <p:cNvSpPr/>
          <p:nvPr/>
        </p:nvSpPr>
        <p:spPr>
          <a:xfrm>
            <a:off x="4846320" y="1883520"/>
            <a:ext cx="3820680" cy="6264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4" name="Text 17"/>
          <p:cNvSpPr/>
          <p:nvPr/>
        </p:nvSpPr>
        <p:spPr>
          <a:xfrm>
            <a:off x="4983480" y="1947600"/>
            <a:ext cx="35647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ff6b6b"/>
                </a:solidFill>
                <a:latin typeface="Calibri"/>
                <a:ea typeface="Calibri"/>
              </a:rPr>
              <a:t>Without __str__: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55" name="Text 18"/>
          <p:cNvSpPr/>
          <p:nvPr/>
        </p:nvSpPr>
        <p:spPr>
          <a:xfrm>
            <a:off x="4983480" y="2212920"/>
            <a:ext cx="35647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8da9c4"/>
                </a:solidFill>
                <a:latin typeface="Consolas"/>
                <a:ea typeface="Consolas"/>
              </a:rPr>
              <a:t>print(fr1)  →  &lt;__main__.Fraction object at 0x7f8b...&gt;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256" name="Shape 19"/>
          <p:cNvSpPr/>
          <p:nvPr/>
        </p:nvSpPr>
        <p:spPr>
          <a:xfrm>
            <a:off x="4754880" y="2788920"/>
            <a:ext cx="4003560" cy="1900440"/>
          </a:xfrm>
          <a:prstGeom prst="rect">
            <a:avLst/>
          </a:prstGeom>
          <a:solidFill>
            <a:srgbClr val="0a1628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7" name="Shape 20"/>
          <p:cNvSpPr/>
          <p:nvPr/>
        </p:nvSpPr>
        <p:spPr>
          <a:xfrm>
            <a:off x="4754880" y="2788920"/>
            <a:ext cx="565560" cy="19980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8" name="Text 21"/>
          <p:cNvSpPr/>
          <p:nvPr/>
        </p:nvSpPr>
        <p:spPr>
          <a:xfrm>
            <a:off x="4754880" y="2788920"/>
            <a:ext cx="565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-1" strike="noStrike">
                <a:solidFill>
                  <a:srgbClr val="0d1b2a"/>
                </a:solidFill>
                <a:latin typeface="Consolas"/>
                <a:ea typeface="Consolas"/>
              </a:rPr>
              <a:t>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259" name="Text 22"/>
          <p:cNvSpPr/>
          <p:nvPr/>
        </p:nvSpPr>
        <p:spPr>
          <a:xfrm>
            <a:off x="4846320" y="3044880"/>
            <a:ext cx="3820680" cy="15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00b4d8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00b4d8"/>
                </a:solidFill>
                <a:latin typeface="Consolas"/>
                <a:ea typeface="Consolas"/>
              </a:rPr>
              <a:t>def __str__(self):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f0f4f8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f0f4f8"/>
                </a:solidFill>
                <a:latin typeface="Consolas"/>
                <a:ea typeface="Consolas"/>
              </a:rPr>
              <a:t>return '{}/{}'.format(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0e0ef"/>
                </a:solidFill>
                <a:latin typeface="Consolas"/>
                <a:ea typeface="Consolas"/>
              </a:rPr>
              <a:t>            </a:t>
            </a:r>
            <a:r>
              <a:rPr b="0" lang="en-US" sz="1050" spc="-1" strike="noStrike">
                <a:solidFill>
                  <a:srgbClr val="90e0ef"/>
                </a:solidFill>
                <a:latin typeface="Consolas"/>
                <a:ea typeface="Consolas"/>
              </a:rPr>
              <a:t>self.numerator,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0e0ef"/>
                </a:solidFill>
                <a:latin typeface="Consolas"/>
                <a:ea typeface="Consolas"/>
              </a:rPr>
              <a:t>            </a:t>
            </a:r>
            <a:r>
              <a:rPr b="0" lang="en-US" sz="1050" spc="-1" strike="noStrike">
                <a:solidFill>
                  <a:srgbClr val="90e0ef"/>
                </a:solidFill>
                <a:latin typeface="Consolas"/>
                <a:ea typeface="Consolas"/>
              </a:rPr>
              <a:t>self.denominator)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ffb703"/>
                </a:solidFill>
                <a:latin typeface="Consolas"/>
                <a:ea typeface="Consolas"/>
              </a:rPr>
              <a:t>print(fr1)  # Output: 1/2  ✔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ffb703"/>
                </a:solidFill>
                <a:latin typeface="Consolas"/>
                <a:ea typeface="Consolas"/>
              </a:rPr>
              <a:t>print(fr2)  # Output: 7/11 ✔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60" name="Shape 23"/>
          <p:cNvSpPr/>
          <p:nvPr/>
        </p:nvSpPr>
        <p:spPr>
          <a:xfrm>
            <a:off x="320040" y="4773240"/>
            <a:ext cx="8502480" cy="27288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1" name="Shape 24"/>
          <p:cNvSpPr/>
          <p:nvPr/>
        </p:nvSpPr>
        <p:spPr>
          <a:xfrm>
            <a:off x="320040" y="4773240"/>
            <a:ext cx="90000" cy="27288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2" name="Text 25"/>
          <p:cNvSpPr/>
          <p:nvPr/>
        </p:nvSpPr>
        <p:spPr>
          <a:xfrm>
            <a:off x="502920" y="477324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50" spc="-1" strike="noStrike">
                <a:solidFill>
                  <a:srgbClr val="ffb703"/>
                </a:solidFill>
                <a:latin typeface="Calibri"/>
                <a:ea typeface="Calibri"/>
              </a:rPr>
              <a:t>Proof from lecture: </a:t>
            </a:r>
            <a:r>
              <a:rPr b="0" i="1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Instructor added print('I am inside __str__') — when print(fr1) was called, that message appeared, proving Python auto-triggered __str__.</a:t>
            </a:r>
            <a:endParaRPr b="0" lang="en-IN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Shape 0"/>
          <p:cNvSpPr/>
          <p:nvPr/>
        </p:nvSpPr>
        <p:spPr>
          <a:xfrm>
            <a:off x="0" y="0"/>
            <a:ext cx="9142560" cy="100440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4" name="Shape 1"/>
          <p:cNvSpPr/>
          <p:nvPr/>
        </p:nvSpPr>
        <p:spPr>
          <a:xfrm>
            <a:off x="0" y="0"/>
            <a:ext cx="108360" cy="100440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5" name="Text 2"/>
          <p:cNvSpPr/>
          <p:nvPr/>
        </p:nvSpPr>
        <p:spPr>
          <a:xfrm>
            <a:off x="255960" y="12816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Step 3 — __add__ Magic Method (Addition)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266" name="Text 3"/>
          <p:cNvSpPr/>
          <p:nvPr/>
        </p:nvSpPr>
        <p:spPr>
          <a:xfrm>
            <a:off x="255960" y="658440"/>
            <a:ext cx="8502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0e0ef"/>
                </a:solidFill>
                <a:latin typeface="Calibri"/>
                <a:ea typeface="Calibri"/>
              </a:rPr>
              <a:t>Section 12.3 — Teaching Python how to add two fractions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67" name="Shape 4"/>
          <p:cNvSpPr/>
          <p:nvPr/>
        </p:nvSpPr>
        <p:spPr>
          <a:xfrm>
            <a:off x="320040" y="1143000"/>
            <a:ext cx="8502480" cy="127872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8" name="Shape 5"/>
          <p:cNvSpPr/>
          <p:nvPr/>
        </p:nvSpPr>
        <p:spPr>
          <a:xfrm>
            <a:off x="320040" y="1143000"/>
            <a:ext cx="8502480" cy="7164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9" name="Text 6"/>
          <p:cNvSpPr/>
          <p:nvPr/>
        </p:nvSpPr>
        <p:spPr>
          <a:xfrm>
            <a:off x="457200" y="1261800"/>
            <a:ext cx="1370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9b5de5"/>
                </a:solidFill>
                <a:latin typeface="Calibri"/>
                <a:ea typeface="Calibri"/>
              </a:rPr>
              <a:t>The Maths: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70" name="Text 7"/>
          <p:cNvSpPr/>
          <p:nvPr/>
        </p:nvSpPr>
        <p:spPr>
          <a:xfrm>
            <a:off x="1828800" y="1261800"/>
            <a:ext cx="69480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(a/b) + (c/d)  =  (a×d + c×b) / (b×d)</a:t>
            </a:r>
            <a:endParaRPr b="0" lang="en-IN" sz="1600" spc="-1" strike="noStrike">
              <a:latin typeface="Arial"/>
            </a:endParaRPr>
          </a:p>
        </p:txBody>
      </p:sp>
      <p:sp>
        <p:nvSpPr>
          <p:cNvPr id="271" name="Text 8"/>
          <p:cNvSpPr/>
          <p:nvPr/>
        </p:nvSpPr>
        <p:spPr>
          <a:xfrm>
            <a:off x="457200" y="1664280"/>
            <a:ext cx="822816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90e0ef"/>
                </a:solidFill>
                <a:latin typeface="Calibri"/>
                <a:ea typeface="Calibri"/>
              </a:rPr>
              <a:t>Example:  1/2 + 7/11  →  New numerator = 1×11 + 7×2 = 25     New denominator = 2×11 = 22     Result = 25/22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272" name="Shape 9"/>
          <p:cNvSpPr/>
          <p:nvPr/>
        </p:nvSpPr>
        <p:spPr>
          <a:xfrm>
            <a:off x="320040" y="2541960"/>
            <a:ext cx="5073480" cy="24858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73" name="Text 10"/>
          <p:cNvSpPr/>
          <p:nvPr/>
        </p:nvSpPr>
        <p:spPr>
          <a:xfrm>
            <a:off x="457200" y="2651760"/>
            <a:ext cx="46620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9b5de5"/>
                </a:solidFill>
                <a:latin typeface="Calibri"/>
                <a:ea typeface="Calibri"/>
              </a:rPr>
              <a:t>Implementation: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74" name="Shape 11"/>
          <p:cNvSpPr/>
          <p:nvPr/>
        </p:nvSpPr>
        <p:spPr>
          <a:xfrm>
            <a:off x="365760" y="2944440"/>
            <a:ext cx="4954680" cy="1937160"/>
          </a:xfrm>
          <a:prstGeom prst="rect">
            <a:avLst/>
          </a:prstGeom>
          <a:solidFill>
            <a:srgbClr val="0a1628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5" name="Shape 12"/>
          <p:cNvSpPr/>
          <p:nvPr/>
        </p:nvSpPr>
        <p:spPr>
          <a:xfrm>
            <a:off x="365760" y="2944440"/>
            <a:ext cx="565560" cy="19980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6" name="Text 13"/>
          <p:cNvSpPr/>
          <p:nvPr/>
        </p:nvSpPr>
        <p:spPr>
          <a:xfrm>
            <a:off x="365760" y="2944440"/>
            <a:ext cx="565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-1" strike="noStrike">
                <a:solidFill>
                  <a:srgbClr val="0d1b2a"/>
                </a:solidFill>
                <a:latin typeface="Consolas"/>
                <a:ea typeface="Consolas"/>
              </a:rPr>
              <a:t>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277" name="Text 14"/>
          <p:cNvSpPr/>
          <p:nvPr/>
        </p:nvSpPr>
        <p:spPr>
          <a:xfrm>
            <a:off x="457200" y="3200400"/>
            <a:ext cx="4771800" cy="163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00b4d8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00b4d8"/>
                </a:solidFill>
                <a:latin typeface="Consolas"/>
                <a:ea typeface="Consolas"/>
              </a:rPr>
              <a:t>def __add__(self, other):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8da9c4"/>
                </a:solidFill>
                <a:latin typeface="Consolas"/>
                <a:ea typeface="Consolas"/>
              </a:rPr>
              <a:t>        </a:t>
            </a:r>
            <a:r>
              <a:rPr b="0" lang="en-US" sz="1000" spc="-1" strike="noStrike">
                <a:solidFill>
                  <a:srgbClr val="8da9c4"/>
                </a:solidFill>
                <a:latin typeface="Consolas"/>
                <a:ea typeface="Consolas"/>
              </a:rPr>
              <a:t># self=left(fr1)  other=right(fr2)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90e0ef"/>
                </a:solidFill>
                <a:latin typeface="Consolas"/>
                <a:ea typeface="Consolas"/>
              </a:rPr>
              <a:t>        </a:t>
            </a:r>
            <a:r>
              <a:rPr b="0" lang="en-US" sz="1000" spc="-1" strike="noStrike">
                <a:solidFill>
                  <a:srgbClr val="90e0ef"/>
                </a:solidFill>
                <a:latin typeface="Consolas"/>
                <a:ea typeface="Consolas"/>
              </a:rPr>
              <a:t>new_num = (self.numerator *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f0f4f8"/>
                </a:solidFill>
                <a:latin typeface="Consolas"/>
                <a:ea typeface="Consolas"/>
              </a:rPr>
              <a:t>                   </a:t>
            </a:r>
            <a:r>
              <a:rPr b="0" lang="en-US" sz="1000" spc="-1" strike="noStrike">
                <a:solidFill>
                  <a:srgbClr val="f0f4f8"/>
                </a:solidFill>
                <a:latin typeface="Consolas"/>
                <a:ea typeface="Consolas"/>
              </a:rPr>
              <a:t>other.denominator +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f0f4f8"/>
                </a:solidFill>
                <a:latin typeface="Consolas"/>
                <a:ea typeface="Consolas"/>
              </a:rPr>
              <a:t>                   </a:t>
            </a:r>
            <a:r>
              <a:rPr b="0" lang="en-US" sz="1000" spc="-1" strike="noStrike">
                <a:solidFill>
                  <a:srgbClr val="f0f4f8"/>
                </a:solidFill>
                <a:latin typeface="Consolas"/>
                <a:ea typeface="Consolas"/>
              </a:rPr>
              <a:t>other.numerator *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90e0ef"/>
                </a:solidFill>
                <a:latin typeface="Consolas"/>
                <a:ea typeface="Consolas"/>
              </a:rPr>
              <a:t>                   </a:t>
            </a:r>
            <a:r>
              <a:rPr b="0" lang="en-US" sz="1000" spc="-1" strike="noStrike">
                <a:solidFill>
                  <a:srgbClr val="90e0ef"/>
                </a:solidFill>
                <a:latin typeface="Consolas"/>
                <a:ea typeface="Consolas"/>
              </a:rPr>
              <a:t>self.denominator)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90e0ef"/>
                </a:solidFill>
                <a:latin typeface="Consolas"/>
                <a:ea typeface="Consolas"/>
              </a:rPr>
              <a:t>        </a:t>
            </a:r>
            <a:r>
              <a:rPr b="0" lang="en-US" sz="1000" spc="-1" strike="noStrike">
                <a:solidFill>
                  <a:srgbClr val="90e0ef"/>
                </a:solidFill>
                <a:latin typeface="Consolas"/>
                <a:ea typeface="Consolas"/>
              </a:rPr>
              <a:t>new_den = (self.denominator *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f0f4f8"/>
                </a:solidFill>
                <a:latin typeface="Consolas"/>
                <a:ea typeface="Consolas"/>
              </a:rPr>
              <a:t>                   </a:t>
            </a:r>
            <a:r>
              <a:rPr b="0" lang="en-US" sz="1000" spc="-1" strike="noStrike">
                <a:solidFill>
                  <a:srgbClr val="f0f4f8"/>
                </a:solidFill>
                <a:latin typeface="Consolas"/>
                <a:ea typeface="Consolas"/>
              </a:rPr>
              <a:t>other.denominator)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f0f4f8"/>
                </a:solidFill>
                <a:latin typeface="Consolas"/>
                <a:ea typeface="Consolas"/>
              </a:rPr>
              <a:t>        </a:t>
            </a:r>
            <a:r>
              <a:rPr b="0" lang="en-US" sz="1000" spc="-1" strike="noStrike">
                <a:solidFill>
                  <a:srgbClr val="f0f4f8"/>
                </a:solidFill>
                <a:latin typeface="Consolas"/>
                <a:ea typeface="Consolas"/>
              </a:rPr>
              <a:t>return Fraction(new_num, new_den)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ffb703"/>
                </a:solidFill>
                <a:latin typeface="Consolas"/>
                <a:ea typeface="Consolas"/>
              </a:rPr>
              <a:t>print(fr1 + fr2)  # Output: 25/22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78" name="Shape 15"/>
          <p:cNvSpPr/>
          <p:nvPr/>
        </p:nvSpPr>
        <p:spPr>
          <a:xfrm>
            <a:off x="5577840" y="2541960"/>
            <a:ext cx="3244680" cy="24858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79" name="Text 16"/>
          <p:cNvSpPr/>
          <p:nvPr/>
        </p:nvSpPr>
        <p:spPr>
          <a:xfrm>
            <a:off x="5715000" y="2651760"/>
            <a:ext cx="29246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b703"/>
                </a:solidFill>
                <a:latin typeface="Calibri"/>
                <a:ea typeface="Calibri"/>
              </a:rPr>
              <a:t>Key Points: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80" name="Text 17"/>
          <p:cNvSpPr/>
          <p:nvPr/>
        </p:nvSpPr>
        <p:spPr>
          <a:xfrm>
            <a:off x="5715000" y="2980800"/>
            <a:ext cx="2970360" cy="19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>
              <a:lnSpc>
                <a:spcPct val="100000"/>
              </a:lnSpc>
              <a:buClr>
                <a:srgbClr val="f0f4f8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Takes two params: self (left) and other (right)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f0f4f8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'other' follows same self convention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f0f4f8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Could technically name them anything — but 'self' and 'other' is the universal convention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f0f4f8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Returns a NEW Fraction object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f0f4f8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f0f4f8"/>
                </a:solidFill>
                <a:latin typeface="Calibri"/>
                <a:ea typeface="Calibri"/>
              </a:rPr>
              <a:t>When fr1 + fr2 is written, Python auto-calls __add__(fr1, fr2)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81" name="Shape 18"/>
          <p:cNvSpPr/>
          <p:nvPr/>
        </p:nvSpPr>
        <p:spPr>
          <a:xfrm>
            <a:off x="180000" y="5126400"/>
            <a:ext cx="8502480" cy="27288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82" name="Shape 19"/>
          <p:cNvSpPr/>
          <p:nvPr/>
        </p:nvSpPr>
        <p:spPr>
          <a:xfrm>
            <a:off x="320040" y="4773240"/>
            <a:ext cx="90000" cy="27288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3" name="Text 20"/>
          <p:cNvSpPr/>
          <p:nvPr/>
        </p:nvSpPr>
        <p:spPr>
          <a:xfrm>
            <a:off x="411120" y="512640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 </a:t>
            </a:r>
            <a:r>
              <a:rPr b="0" i="1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Always use 'self' and 'other'.</a:t>
            </a:r>
            <a:endParaRPr b="0" lang="en-IN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Shape 0"/>
          <p:cNvSpPr/>
          <p:nvPr/>
        </p:nvSpPr>
        <p:spPr>
          <a:xfrm>
            <a:off x="0" y="0"/>
            <a:ext cx="9142560" cy="100440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5" name="Shape 1"/>
          <p:cNvSpPr/>
          <p:nvPr/>
        </p:nvSpPr>
        <p:spPr>
          <a:xfrm>
            <a:off x="0" y="0"/>
            <a:ext cx="108360" cy="100440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6" name="Text 2"/>
          <p:cNvSpPr/>
          <p:nvPr/>
        </p:nvSpPr>
        <p:spPr>
          <a:xfrm>
            <a:off x="255960" y="12816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Steps 4, 5, 6 — __sub__, __mul__, __truediv__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287" name="Text 3"/>
          <p:cNvSpPr/>
          <p:nvPr/>
        </p:nvSpPr>
        <p:spPr>
          <a:xfrm>
            <a:off x="255960" y="658440"/>
            <a:ext cx="8502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0e0ef"/>
                </a:solidFill>
                <a:latin typeface="Calibri"/>
                <a:ea typeface="Calibri"/>
              </a:rPr>
              <a:t>Section 12.3 — The remaining arithmetic operations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88" name="Shape 4"/>
          <p:cNvSpPr/>
          <p:nvPr/>
        </p:nvSpPr>
        <p:spPr>
          <a:xfrm>
            <a:off x="320040" y="1143000"/>
            <a:ext cx="2741760" cy="391212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89" name="Shape 5"/>
          <p:cNvSpPr/>
          <p:nvPr/>
        </p:nvSpPr>
        <p:spPr>
          <a:xfrm>
            <a:off x="320040" y="1143000"/>
            <a:ext cx="2741760" cy="34596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0" name="Text 6"/>
          <p:cNvSpPr/>
          <p:nvPr/>
        </p:nvSpPr>
        <p:spPr>
          <a:xfrm>
            <a:off x="429840" y="1143000"/>
            <a:ext cx="2513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50" spc="-1" strike="noStrike">
                <a:solidFill>
                  <a:srgbClr val="0d1b2a"/>
                </a:solidFill>
                <a:latin typeface="Calibri"/>
                <a:ea typeface="Calibri"/>
              </a:rPr>
              <a:t>Step 4 — __sub__ (−)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291" name="Shape 7"/>
          <p:cNvSpPr/>
          <p:nvPr/>
        </p:nvSpPr>
        <p:spPr>
          <a:xfrm>
            <a:off x="411480" y="1536120"/>
            <a:ext cx="2558880" cy="38268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2" name="Text 8"/>
          <p:cNvSpPr/>
          <p:nvPr/>
        </p:nvSpPr>
        <p:spPr>
          <a:xfrm>
            <a:off x="411480" y="1536120"/>
            <a:ext cx="25588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b703"/>
                </a:solidFill>
                <a:latin typeface="Calibri"/>
                <a:ea typeface="Calibri"/>
              </a:rPr>
              <a:t>(a/b) − (c/d) = (a×d − c×b) / (b×d)</a:t>
            </a:r>
            <a:endParaRPr b="0" lang="en-IN" sz="850" spc="-1" strike="noStrike">
              <a:latin typeface="Arial"/>
            </a:endParaRPr>
          </a:p>
        </p:txBody>
      </p:sp>
      <p:sp>
        <p:nvSpPr>
          <p:cNvPr id="293" name="Shape 9"/>
          <p:cNvSpPr/>
          <p:nvPr/>
        </p:nvSpPr>
        <p:spPr>
          <a:xfrm>
            <a:off x="393120" y="1956960"/>
            <a:ext cx="2604600" cy="2577240"/>
          </a:xfrm>
          <a:prstGeom prst="rect">
            <a:avLst/>
          </a:prstGeom>
          <a:solidFill>
            <a:srgbClr val="0a1628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4" name="Shape 10"/>
          <p:cNvSpPr/>
          <p:nvPr/>
        </p:nvSpPr>
        <p:spPr>
          <a:xfrm>
            <a:off x="393120" y="1956960"/>
            <a:ext cx="565560" cy="19980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5" name="Text 11"/>
          <p:cNvSpPr/>
          <p:nvPr/>
        </p:nvSpPr>
        <p:spPr>
          <a:xfrm>
            <a:off x="393120" y="1956960"/>
            <a:ext cx="565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-1" strike="noStrike">
                <a:solidFill>
                  <a:srgbClr val="0d1b2a"/>
                </a:solidFill>
                <a:latin typeface="Consolas"/>
                <a:ea typeface="Consolas"/>
              </a:rPr>
              <a:t>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296" name="Text 12"/>
          <p:cNvSpPr/>
          <p:nvPr/>
        </p:nvSpPr>
        <p:spPr>
          <a:xfrm>
            <a:off x="484560" y="2212920"/>
            <a:ext cx="2421720" cy="22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00b4d8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00b4d8"/>
                </a:solidFill>
                <a:latin typeface="Consolas"/>
                <a:ea typeface="Consolas"/>
              </a:rPr>
              <a:t>def __sub__(self, other):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        </a:t>
            </a: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new_num = (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90e0ef"/>
                </a:solidFill>
                <a:latin typeface="Consolas"/>
                <a:ea typeface="Consolas"/>
              </a:rPr>
              <a:t>            </a:t>
            </a:r>
            <a:r>
              <a:rPr b="0" lang="en-US" sz="850" spc="-1" strike="noStrike">
                <a:solidFill>
                  <a:srgbClr val="90e0ef"/>
                </a:solidFill>
                <a:latin typeface="Consolas"/>
                <a:ea typeface="Consolas"/>
              </a:rPr>
              <a:t>self.numerator *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            </a:t>
            </a: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other.denominator -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            </a:t>
            </a: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other.numerator *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90e0ef"/>
                </a:solidFill>
                <a:latin typeface="Consolas"/>
                <a:ea typeface="Consolas"/>
              </a:rPr>
              <a:t>            </a:t>
            </a:r>
            <a:r>
              <a:rPr b="0" lang="en-US" sz="850" spc="-1" strike="noStrike">
                <a:solidFill>
                  <a:srgbClr val="90e0ef"/>
                </a:solidFill>
                <a:latin typeface="Consolas"/>
                <a:ea typeface="Consolas"/>
              </a:rPr>
              <a:t>self.denominator)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        </a:t>
            </a: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new_den = (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90e0ef"/>
                </a:solidFill>
                <a:latin typeface="Consolas"/>
                <a:ea typeface="Consolas"/>
              </a:rPr>
              <a:t>            </a:t>
            </a:r>
            <a:r>
              <a:rPr b="0" lang="en-US" sz="850" spc="-1" strike="noStrike">
                <a:solidFill>
                  <a:srgbClr val="90e0ef"/>
                </a:solidFill>
                <a:latin typeface="Consolas"/>
                <a:ea typeface="Consolas"/>
              </a:rPr>
              <a:t>self.denominator *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            </a:t>
            </a: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other.denominator)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        </a:t>
            </a: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return Fraction(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            </a:t>
            </a: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new_num, new_den)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b703"/>
                </a:solidFill>
                <a:latin typeface="Consolas"/>
                <a:ea typeface="Consolas"/>
              </a:rPr>
              <a:t>print(fr1 - fr2)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8da9c4"/>
                </a:solidFill>
                <a:latin typeface="Consolas"/>
                <a:ea typeface="Consolas"/>
              </a:rPr>
              <a:t># Output: -3/22</a:t>
            </a:r>
            <a:endParaRPr b="0" lang="en-IN" sz="850" spc="-1" strike="noStrike">
              <a:latin typeface="Arial"/>
            </a:endParaRPr>
          </a:p>
        </p:txBody>
      </p:sp>
      <p:sp>
        <p:nvSpPr>
          <p:cNvPr id="297" name="Shape 13"/>
          <p:cNvSpPr/>
          <p:nvPr/>
        </p:nvSpPr>
        <p:spPr>
          <a:xfrm>
            <a:off x="411480" y="4572000"/>
            <a:ext cx="2558880" cy="38268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8" name="Text 14"/>
          <p:cNvSpPr/>
          <p:nvPr/>
        </p:nvSpPr>
        <p:spPr>
          <a:xfrm>
            <a:off x="411480" y="4572000"/>
            <a:ext cx="25588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ffb703"/>
                </a:solidFill>
                <a:latin typeface="Calibri"/>
                <a:ea typeface="Calibri"/>
              </a:rPr>
              <a:t>Same as __add__ but − in numerator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299" name="Shape 15"/>
          <p:cNvSpPr/>
          <p:nvPr/>
        </p:nvSpPr>
        <p:spPr>
          <a:xfrm>
            <a:off x="3218760" y="1143000"/>
            <a:ext cx="2741760" cy="391212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0" name="Shape 16"/>
          <p:cNvSpPr/>
          <p:nvPr/>
        </p:nvSpPr>
        <p:spPr>
          <a:xfrm>
            <a:off x="3218760" y="1143000"/>
            <a:ext cx="2741760" cy="34596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1" name="Text 17"/>
          <p:cNvSpPr/>
          <p:nvPr/>
        </p:nvSpPr>
        <p:spPr>
          <a:xfrm>
            <a:off x="3328560" y="1143000"/>
            <a:ext cx="2513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50" spc="-1" strike="noStrike">
                <a:solidFill>
                  <a:srgbClr val="0d1b2a"/>
                </a:solidFill>
                <a:latin typeface="Calibri"/>
                <a:ea typeface="Calibri"/>
              </a:rPr>
              <a:t>Step 5 — __mul__ (×)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302" name="Shape 18"/>
          <p:cNvSpPr/>
          <p:nvPr/>
        </p:nvSpPr>
        <p:spPr>
          <a:xfrm>
            <a:off x="3310200" y="1536120"/>
            <a:ext cx="2558880" cy="38268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3" name="Text 19"/>
          <p:cNvSpPr/>
          <p:nvPr/>
        </p:nvSpPr>
        <p:spPr>
          <a:xfrm>
            <a:off x="3310200" y="1536120"/>
            <a:ext cx="25588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06d6a0"/>
                </a:solidFill>
                <a:latin typeface="Calibri"/>
                <a:ea typeface="Calibri"/>
              </a:rPr>
              <a:t>(a/b) × (c/d) = (a×c) / (b×d)</a:t>
            </a:r>
            <a:endParaRPr b="0" lang="en-IN" sz="850" spc="-1" strike="noStrike">
              <a:latin typeface="Arial"/>
            </a:endParaRPr>
          </a:p>
        </p:txBody>
      </p:sp>
      <p:sp>
        <p:nvSpPr>
          <p:cNvPr id="304" name="Shape 20"/>
          <p:cNvSpPr/>
          <p:nvPr/>
        </p:nvSpPr>
        <p:spPr>
          <a:xfrm>
            <a:off x="3291840" y="1956960"/>
            <a:ext cx="2604600" cy="2577240"/>
          </a:xfrm>
          <a:prstGeom prst="rect">
            <a:avLst/>
          </a:prstGeom>
          <a:solidFill>
            <a:srgbClr val="0a1628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5" name="Shape 21"/>
          <p:cNvSpPr/>
          <p:nvPr/>
        </p:nvSpPr>
        <p:spPr>
          <a:xfrm>
            <a:off x="3291840" y="1956960"/>
            <a:ext cx="565560" cy="1998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6" name="Text 22"/>
          <p:cNvSpPr/>
          <p:nvPr/>
        </p:nvSpPr>
        <p:spPr>
          <a:xfrm>
            <a:off x="3291840" y="1956960"/>
            <a:ext cx="565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-1" strike="noStrike">
                <a:solidFill>
                  <a:srgbClr val="0d1b2a"/>
                </a:solidFill>
                <a:latin typeface="Consolas"/>
                <a:ea typeface="Consolas"/>
              </a:rPr>
              <a:t>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307" name="Text 23"/>
          <p:cNvSpPr/>
          <p:nvPr/>
        </p:nvSpPr>
        <p:spPr>
          <a:xfrm>
            <a:off x="3383280" y="2212920"/>
            <a:ext cx="2421720" cy="22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00b4d8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00b4d8"/>
                </a:solidFill>
                <a:latin typeface="Consolas"/>
                <a:ea typeface="Consolas"/>
              </a:rPr>
              <a:t>def __mul__(self, other):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        </a:t>
            </a: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new_num = (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90e0ef"/>
                </a:solidFill>
                <a:latin typeface="Consolas"/>
                <a:ea typeface="Consolas"/>
              </a:rPr>
              <a:t>            </a:t>
            </a:r>
            <a:r>
              <a:rPr b="0" lang="en-US" sz="850" spc="-1" strike="noStrike">
                <a:solidFill>
                  <a:srgbClr val="90e0ef"/>
                </a:solidFill>
                <a:latin typeface="Consolas"/>
                <a:ea typeface="Consolas"/>
              </a:rPr>
              <a:t>self.numerator *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            </a:t>
            </a: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other.numerator)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        </a:t>
            </a: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new_den = (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90e0ef"/>
                </a:solidFill>
                <a:latin typeface="Consolas"/>
                <a:ea typeface="Consolas"/>
              </a:rPr>
              <a:t>            </a:t>
            </a:r>
            <a:r>
              <a:rPr b="0" lang="en-US" sz="850" spc="-1" strike="noStrike">
                <a:solidFill>
                  <a:srgbClr val="90e0ef"/>
                </a:solidFill>
                <a:latin typeface="Consolas"/>
                <a:ea typeface="Consolas"/>
              </a:rPr>
              <a:t>self.denominator *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            </a:t>
            </a: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other.denominator)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        </a:t>
            </a: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return Fraction(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            </a:t>
            </a: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new_num, new_den)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b703"/>
                </a:solidFill>
                <a:latin typeface="Consolas"/>
                <a:ea typeface="Consolas"/>
              </a:rPr>
              <a:t>print(fr1 * fr2)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8da9c4"/>
                </a:solidFill>
                <a:latin typeface="Consolas"/>
                <a:ea typeface="Consolas"/>
              </a:rPr>
              <a:t># Output: 7/22</a:t>
            </a:r>
            <a:endParaRPr b="0" lang="en-IN" sz="850" spc="-1" strike="noStrike">
              <a:latin typeface="Arial"/>
            </a:endParaRPr>
          </a:p>
        </p:txBody>
      </p:sp>
      <p:sp>
        <p:nvSpPr>
          <p:cNvPr id="308" name="Shape 24"/>
          <p:cNvSpPr/>
          <p:nvPr/>
        </p:nvSpPr>
        <p:spPr>
          <a:xfrm>
            <a:off x="3310200" y="4572000"/>
            <a:ext cx="2558880" cy="38268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9" name="Text 25"/>
          <p:cNvSpPr/>
          <p:nvPr/>
        </p:nvSpPr>
        <p:spPr>
          <a:xfrm>
            <a:off x="3310200" y="4572000"/>
            <a:ext cx="25588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06d6a0"/>
                </a:solidFill>
                <a:latin typeface="Calibri"/>
                <a:ea typeface="Calibri"/>
              </a:rPr>
              <a:t>Numerators × together, denoms × together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310" name="Shape 26"/>
          <p:cNvSpPr/>
          <p:nvPr/>
        </p:nvSpPr>
        <p:spPr>
          <a:xfrm>
            <a:off x="6108120" y="1143000"/>
            <a:ext cx="2741760" cy="391212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1" name="Shape 27"/>
          <p:cNvSpPr/>
          <p:nvPr/>
        </p:nvSpPr>
        <p:spPr>
          <a:xfrm>
            <a:off x="6108120" y="1143000"/>
            <a:ext cx="2741760" cy="345960"/>
          </a:xfrm>
          <a:prstGeom prst="rect">
            <a:avLst/>
          </a:prstGeom>
          <a:solidFill>
            <a:srgbClr val="90e0ef"/>
          </a:solidFill>
          <a:ln w="12700">
            <a:solidFill>
              <a:srgbClr val="90e0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2" name="Text 28"/>
          <p:cNvSpPr/>
          <p:nvPr/>
        </p:nvSpPr>
        <p:spPr>
          <a:xfrm>
            <a:off x="6217920" y="1143000"/>
            <a:ext cx="2513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50" spc="-1" strike="noStrike">
                <a:solidFill>
                  <a:srgbClr val="0d1b2a"/>
                </a:solidFill>
                <a:latin typeface="Calibri"/>
                <a:ea typeface="Calibri"/>
              </a:rPr>
              <a:t>Step 6 — __truediv__ (÷)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313" name="Shape 29"/>
          <p:cNvSpPr/>
          <p:nvPr/>
        </p:nvSpPr>
        <p:spPr>
          <a:xfrm>
            <a:off x="6199560" y="1536120"/>
            <a:ext cx="2558880" cy="38268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4" name="Text 30"/>
          <p:cNvSpPr/>
          <p:nvPr/>
        </p:nvSpPr>
        <p:spPr>
          <a:xfrm>
            <a:off x="6199560" y="1536120"/>
            <a:ext cx="25588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90e0ef"/>
                </a:solidFill>
                <a:latin typeface="Calibri"/>
                <a:ea typeface="Calibri"/>
              </a:rPr>
              <a:t>(a/b) ÷ (c/d) = (a×d) / (b×c) — flip!</a:t>
            </a:r>
            <a:endParaRPr b="0" lang="en-IN" sz="850" spc="-1" strike="noStrike">
              <a:latin typeface="Arial"/>
            </a:endParaRPr>
          </a:p>
        </p:txBody>
      </p:sp>
      <p:sp>
        <p:nvSpPr>
          <p:cNvPr id="315" name="Shape 31"/>
          <p:cNvSpPr/>
          <p:nvPr/>
        </p:nvSpPr>
        <p:spPr>
          <a:xfrm>
            <a:off x="6181200" y="1956960"/>
            <a:ext cx="2604600" cy="2577240"/>
          </a:xfrm>
          <a:prstGeom prst="rect">
            <a:avLst/>
          </a:prstGeom>
          <a:solidFill>
            <a:srgbClr val="0a1628"/>
          </a:solidFill>
          <a:ln w="12700">
            <a:solidFill>
              <a:srgbClr val="90e0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6" name="Shape 32"/>
          <p:cNvSpPr/>
          <p:nvPr/>
        </p:nvSpPr>
        <p:spPr>
          <a:xfrm>
            <a:off x="6181200" y="1956960"/>
            <a:ext cx="565560" cy="199800"/>
          </a:xfrm>
          <a:prstGeom prst="rect">
            <a:avLst/>
          </a:prstGeom>
          <a:solidFill>
            <a:srgbClr val="90e0ef"/>
          </a:solidFill>
          <a:ln w="12700">
            <a:solidFill>
              <a:srgbClr val="90e0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7" name="Text 33"/>
          <p:cNvSpPr/>
          <p:nvPr/>
        </p:nvSpPr>
        <p:spPr>
          <a:xfrm>
            <a:off x="6181200" y="1956960"/>
            <a:ext cx="565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-1" strike="noStrike">
                <a:solidFill>
                  <a:srgbClr val="0d1b2a"/>
                </a:solidFill>
                <a:latin typeface="Consolas"/>
                <a:ea typeface="Consolas"/>
              </a:rPr>
              <a:t>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318" name="Text 34"/>
          <p:cNvSpPr/>
          <p:nvPr/>
        </p:nvSpPr>
        <p:spPr>
          <a:xfrm>
            <a:off x="6272640" y="2212920"/>
            <a:ext cx="2421720" cy="22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00b4d8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00b4d8"/>
                </a:solidFill>
                <a:latin typeface="Consolas"/>
                <a:ea typeface="Consolas"/>
              </a:rPr>
              <a:t>def __truediv__(self, other):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8da9c4"/>
                </a:solidFill>
                <a:latin typeface="Consolas"/>
                <a:ea typeface="Consolas"/>
              </a:rPr>
              <a:t>        </a:t>
            </a:r>
            <a:r>
              <a:rPr b="0" lang="en-US" sz="850" spc="-1" strike="noStrike">
                <a:solidFill>
                  <a:srgbClr val="8da9c4"/>
                </a:solidFill>
                <a:latin typeface="Consolas"/>
                <a:ea typeface="Consolas"/>
              </a:rPr>
              <a:t># flip 2nd fraction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        </a:t>
            </a: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new_num = (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90e0ef"/>
                </a:solidFill>
                <a:latin typeface="Consolas"/>
                <a:ea typeface="Consolas"/>
              </a:rPr>
              <a:t>            </a:t>
            </a:r>
            <a:r>
              <a:rPr b="0" lang="en-US" sz="850" spc="-1" strike="noStrike">
                <a:solidFill>
                  <a:srgbClr val="90e0ef"/>
                </a:solidFill>
                <a:latin typeface="Consolas"/>
                <a:ea typeface="Consolas"/>
              </a:rPr>
              <a:t>self.numerator *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            </a:t>
            </a: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other.denominator)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        </a:t>
            </a: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new_den = (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90e0ef"/>
                </a:solidFill>
                <a:latin typeface="Consolas"/>
                <a:ea typeface="Consolas"/>
              </a:rPr>
              <a:t>            </a:t>
            </a:r>
            <a:r>
              <a:rPr b="0" lang="en-US" sz="850" spc="-1" strike="noStrike">
                <a:solidFill>
                  <a:srgbClr val="90e0ef"/>
                </a:solidFill>
                <a:latin typeface="Consolas"/>
                <a:ea typeface="Consolas"/>
              </a:rPr>
              <a:t>self.denominator *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            </a:t>
            </a: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other.numerator)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        </a:t>
            </a: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return Fraction(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            </a:t>
            </a:r>
            <a:r>
              <a:rPr b="0" lang="en-US" sz="850" spc="-1" strike="noStrike">
                <a:solidFill>
                  <a:srgbClr val="f0f4f8"/>
                </a:solidFill>
                <a:latin typeface="Consolas"/>
                <a:ea typeface="Consolas"/>
              </a:rPr>
              <a:t>new_num, new_den)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b703"/>
                </a:solidFill>
                <a:latin typeface="Consolas"/>
                <a:ea typeface="Consolas"/>
              </a:rPr>
              <a:t>print(fr1 / fr2)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8da9c4"/>
                </a:solidFill>
                <a:latin typeface="Consolas"/>
                <a:ea typeface="Consolas"/>
              </a:rPr>
              <a:t># Output: 11/14</a:t>
            </a:r>
            <a:endParaRPr b="0" lang="en-IN" sz="850" spc="-1" strike="noStrike">
              <a:latin typeface="Arial"/>
            </a:endParaRPr>
          </a:p>
        </p:txBody>
      </p:sp>
      <p:sp>
        <p:nvSpPr>
          <p:cNvPr id="319" name="Shape 35"/>
          <p:cNvSpPr/>
          <p:nvPr/>
        </p:nvSpPr>
        <p:spPr>
          <a:xfrm>
            <a:off x="6199560" y="4572000"/>
            <a:ext cx="2558880" cy="38268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20" name="Text 36"/>
          <p:cNvSpPr/>
          <p:nvPr/>
        </p:nvSpPr>
        <p:spPr>
          <a:xfrm>
            <a:off x="6199560" y="4572000"/>
            <a:ext cx="25588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90e0ef"/>
                </a:solidFill>
                <a:latin typeface="Calibri"/>
                <a:ea typeface="Calibri"/>
              </a:rPr>
              <a:t>Flip 2nd fraction then multiply</a:t>
            </a:r>
            <a:endParaRPr b="0" lang="en-IN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Shape 0"/>
          <p:cNvSpPr/>
          <p:nvPr/>
        </p:nvSpPr>
        <p:spPr>
          <a:xfrm>
            <a:off x="0" y="0"/>
            <a:ext cx="9142560" cy="100440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2" name="Shape 1"/>
          <p:cNvSpPr/>
          <p:nvPr/>
        </p:nvSpPr>
        <p:spPr>
          <a:xfrm>
            <a:off x="0" y="0"/>
            <a:ext cx="108360" cy="100440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3" name="Text 2"/>
          <p:cNvSpPr/>
          <p:nvPr/>
        </p:nvSpPr>
        <p:spPr>
          <a:xfrm>
            <a:off x="255960" y="12816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Step 7 — convert_to_decimal( ) + Observations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324" name="Text 3"/>
          <p:cNvSpPr/>
          <p:nvPr/>
        </p:nvSpPr>
        <p:spPr>
          <a:xfrm>
            <a:off x="255960" y="658440"/>
            <a:ext cx="8502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0e0ef"/>
                </a:solidFill>
                <a:latin typeface="Calibri"/>
                <a:ea typeface="Calibri"/>
              </a:rPr>
              <a:t>Section 12.3 &amp; 12.5 — The only regular method + important design notes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325" name="Shape 4"/>
          <p:cNvSpPr/>
          <p:nvPr/>
        </p:nvSpPr>
        <p:spPr>
          <a:xfrm>
            <a:off x="320040" y="1143000"/>
            <a:ext cx="4113360" cy="219312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26" name="Text 5"/>
          <p:cNvSpPr/>
          <p:nvPr/>
        </p:nvSpPr>
        <p:spPr>
          <a:xfrm>
            <a:off x="457200" y="1261800"/>
            <a:ext cx="3747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0b4d8"/>
                </a:solidFill>
                <a:latin typeface="Calibri"/>
                <a:ea typeface="Calibri"/>
              </a:rPr>
              <a:t>Step 7 — convert_to_decimal( )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27" name="Text 6"/>
          <p:cNvSpPr/>
          <p:nvPr/>
        </p:nvSpPr>
        <p:spPr>
          <a:xfrm>
            <a:off x="457200" y="1572840"/>
            <a:ext cx="3747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8da9c4"/>
                </a:solidFill>
                <a:latin typeface="Calibri"/>
                <a:ea typeface="Calibri"/>
              </a:rPr>
              <a:t>This is a REGULAR method — not magic. You must call it explicitly.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328" name="Shape 7"/>
          <p:cNvSpPr/>
          <p:nvPr/>
        </p:nvSpPr>
        <p:spPr>
          <a:xfrm>
            <a:off x="365760" y="1956960"/>
            <a:ext cx="4003560" cy="1260360"/>
          </a:xfrm>
          <a:prstGeom prst="rect">
            <a:avLst/>
          </a:prstGeom>
          <a:solidFill>
            <a:srgbClr val="0a162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9" name="Shape 8"/>
          <p:cNvSpPr/>
          <p:nvPr/>
        </p:nvSpPr>
        <p:spPr>
          <a:xfrm>
            <a:off x="365760" y="1956960"/>
            <a:ext cx="565560" cy="1998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0" name="Text 9"/>
          <p:cNvSpPr/>
          <p:nvPr/>
        </p:nvSpPr>
        <p:spPr>
          <a:xfrm>
            <a:off x="365760" y="1956960"/>
            <a:ext cx="565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-1" strike="noStrike">
                <a:solidFill>
                  <a:srgbClr val="0d1b2a"/>
                </a:solidFill>
                <a:latin typeface="Consolas"/>
                <a:ea typeface="Consolas"/>
              </a:rPr>
              <a:t>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331" name="Text 10"/>
          <p:cNvSpPr/>
          <p:nvPr/>
        </p:nvSpPr>
        <p:spPr>
          <a:xfrm>
            <a:off x="457200" y="2212920"/>
            <a:ext cx="382068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00b4d8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00b4d8"/>
                </a:solidFill>
                <a:latin typeface="Consolas"/>
                <a:ea typeface="Consolas"/>
              </a:rPr>
              <a:t>def convert_to_decimal(self):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90e0ef"/>
                </a:solidFill>
                <a:latin typeface="Consolas"/>
                <a:ea typeface="Consolas"/>
              </a:rPr>
              <a:t>        </a:t>
            </a:r>
            <a:r>
              <a:rPr b="0" lang="en-US" sz="1100" spc="-1" strike="noStrike">
                <a:solidFill>
                  <a:srgbClr val="90e0ef"/>
                </a:solidFill>
                <a:latin typeface="Consolas"/>
                <a:ea typeface="Consolas"/>
              </a:rPr>
              <a:t>return (self.numerator /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90e0ef"/>
                </a:solidFill>
                <a:latin typeface="Consolas"/>
                <a:ea typeface="Consolas"/>
              </a:rPr>
              <a:t>                </a:t>
            </a:r>
            <a:r>
              <a:rPr b="0" lang="en-US" sz="1100" spc="-1" strike="noStrike">
                <a:solidFill>
                  <a:srgbClr val="90e0ef"/>
                </a:solidFill>
                <a:latin typeface="Consolas"/>
                <a:ea typeface="Consolas"/>
              </a:rPr>
              <a:t>self.denominator)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ffb703"/>
                </a:solidFill>
                <a:latin typeface="Consolas"/>
                <a:ea typeface="Consolas"/>
              </a:rPr>
              <a:t>print(fr1.convert_to_decimal())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8da9c4"/>
                </a:solidFill>
                <a:latin typeface="Consolas"/>
                <a:ea typeface="Consolas"/>
              </a:rPr>
              <a:t># Output: 0.5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332" name="Shape 11"/>
          <p:cNvSpPr/>
          <p:nvPr/>
        </p:nvSpPr>
        <p:spPr>
          <a:xfrm>
            <a:off x="4709160" y="1143000"/>
            <a:ext cx="4113360" cy="219312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33" name="Text 12"/>
          <p:cNvSpPr/>
          <p:nvPr/>
        </p:nvSpPr>
        <p:spPr>
          <a:xfrm>
            <a:off x="4846320" y="1261800"/>
            <a:ext cx="3747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b703"/>
                </a:solidFill>
                <a:latin typeface="Calibri"/>
                <a:ea typeface="Calibri"/>
              </a:rPr>
              <a:t>Magic vs Regular Methods: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34" name="Shape 13"/>
          <p:cNvSpPr/>
          <p:nvPr/>
        </p:nvSpPr>
        <p:spPr>
          <a:xfrm>
            <a:off x="4846320" y="1627560"/>
            <a:ext cx="3820680" cy="80316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35" name="Shape 14"/>
          <p:cNvSpPr/>
          <p:nvPr/>
        </p:nvSpPr>
        <p:spPr>
          <a:xfrm>
            <a:off x="4846320" y="1627560"/>
            <a:ext cx="71640" cy="80316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6" name="Text 15"/>
          <p:cNvSpPr/>
          <p:nvPr/>
        </p:nvSpPr>
        <p:spPr>
          <a:xfrm>
            <a:off x="5010840" y="1627560"/>
            <a:ext cx="1507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9b5de5"/>
                </a:solidFill>
                <a:latin typeface="Calibri"/>
                <a:ea typeface="Calibri"/>
              </a:rPr>
              <a:t>Magic Methods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337" name="Text 16"/>
          <p:cNvSpPr/>
          <p:nvPr/>
        </p:nvSpPr>
        <p:spPr>
          <a:xfrm>
            <a:off x="5010840" y="1974960"/>
            <a:ext cx="3656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Auto-triggered by Python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338" name="Text 17"/>
          <p:cNvSpPr/>
          <p:nvPr/>
        </p:nvSpPr>
        <p:spPr>
          <a:xfrm>
            <a:off x="5010840" y="2231280"/>
            <a:ext cx="36561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90e0ef"/>
                </a:solidFill>
                <a:latin typeface="Consolas"/>
                <a:ea typeface="Consolas"/>
              </a:rPr>
              <a:t>You use them by writing fr1 + fr2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339" name="Shape 18"/>
          <p:cNvSpPr/>
          <p:nvPr/>
        </p:nvSpPr>
        <p:spPr>
          <a:xfrm>
            <a:off x="4846320" y="2541960"/>
            <a:ext cx="3820680" cy="80316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40" name="Shape 19"/>
          <p:cNvSpPr/>
          <p:nvPr/>
        </p:nvSpPr>
        <p:spPr>
          <a:xfrm>
            <a:off x="4846320" y="2541960"/>
            <a:ext cx="71640" cy="8031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1" name="Text 20"/>
          <p:cNvSpPr/>
          <p:nvPr/>
        </p:nvSpPr>
        <p:spPr>
          <a:xfrm>
            <a:off x="5010840" y="2541960"/>
            <a:ext cx="1507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Regular Methods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342" name="Text 21"/>
          <p:cNvSpPr/>
          <p:nvPr/>
        </p:nvSpPr>
        <p:spPr>
          <a:xfrm>
            <a:off x="5010840" y="2889360"/>
            <a:ext cx="3656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You call them explicitly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343" name="Text 22"/>
          <p:cNvSpPr/>
          <p:nvPr/>
        </p:nvSpPr>
        <p:spPr>
          <a:xfrm>
            <a:off x="5010840" y="3145680"/>
            <a:ext cx="36561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90e0ef"/>
                </a:solidFill>
                <a:latin typeface="Consolas"/>
                <a:ea typeface="Consolas"/>
              </a:rPr>
              <a:t>You write fr1.convert_to_decimal()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344" name="Shape 23"/>
          <p:cNvSpPr/>
          <p:nvPr/>
        </p:nvSpPr>
        <p:spPr>
          <a:xfrm>
            <a:off x="320040" y="3429000"/>
            <a:ext cx="8502480" cy="15346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45" name="Shape 24"/>
          <p:cNvSpPr/>
          <p:nvPr/>
        </p:nvSpPr>
        <p:spPr>
          <a:xfrm>
            <a:off x="320040" y="3429000"/>
            <a:ext cx="8502480" cy="34596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6" name="Text 25"/>
          <p:cNvSpPr/>
          <p:nvPr/>
        </p:nvSpPr>
        <p:spPr>
          <a:xfrm>
            <a:off x="457200" y="3429000"/>
            <a:ext cx="8045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9b5de5"/>
                </a:solidFill>
                <a:latin typeface="Calibri"/>
                <a:ea typeface="Calibri"/>
              </a:rPr>
              <a:t>Important Observations from the Lecture: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47" name="Text 26"/>
          <p:cNvSpPr/>
          <p:nvPr/>
        </p:nvSpPr>
        <p:spPr>
          <a:xfrm>
            <a:off x="457200" y="3822120"/>
            <a:ext cx="2604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>
                <a:solidFill>
                  <a:srgbClr val="ffb703"/>
                </a:solidFill>
                <a:latin typeface="Calibri"/>
                <a:ea typeface="Calibri"/>
              </a:rPr>
              <a:t>No simplification implemented: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348" name="Text 27"/>
          <p:cNvSpPr/>
          <p:nvPr/>
        </p:nvSpPr>
        <p:spPr>
          <a:xfrm>
            <a:off x="457200" y="4096440"/>
            <a:ext cx="2604600" cy="80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1/2 + 7/11 = 25/22 (not simplified). The programmer must add that logic. Python won't do it automatically.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349" name="Text 28"/>
          <p:cNvSpPr/>
          <p:nvPr/>
        </p:nvSpPr>
        <p:spPr>
          <a:xfrm>
            <a:off x="3291840" y="3822120"/>
            <a:ext cx="2604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>
                <a:solidFill>
                  <a:srgbClr val="00b4d8"/>
                </a:solidFill>
                <a:latin typeface="Calibri"/>
                <a:ea typeface="Calibri"/>
              </a:rPr>
              <a:t>A class can mix both types: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350" name="Text 29"/>
          <p:cNvSpPr/>
          <p:nvPr/>
        </p:nvSpPr>
        <p:spPr>
          <a:xfrm>
            <a:off x="3291840" y="4096440"/>
            <a:ext cx="2604600" cy="80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Our Fraction class has magic methods (__str__, __add__…) AND a regular method (convert_to_decimal). Both coexist fine.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351" name="Text 30"/>
          <p:cNvSpPr/>
          <p:nvPr/>
        </p:nvSpPr>
        <p:spPr>
          <a:xfrm>
            <a:off x="6126480" y="3822120"/>
            <a:ext cx="2604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>
                <a:solidFill>
                  <a:srgbClr val="06d6a0"/>
                </a:solidFill>
                <a:latin typeface="Calibri"/>
                <a:ea typeface="Calibri"/>
              </a:rPr>
              <a:t>Extensibility: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352" name="Text 31"/>
          <p:cNvSpPr/>
          <p:nvPr/>
        </p:nvSpPr>
        <p:spPr>
          <a:xfrm>
            <a:off x="6126480" y="4096440"/>
            <a:ext cx="2604600" cy="80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Want simplification? Add simplify(). Want modulo? Add __mod__. 500+ magic methods exist — the class can grow indefinitely.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353" name="Shape 32"/>
          <p:cNvSpPr/>
          <p:nvPr/>
        </p:nvSpPr>
        <p:spPr>
          <a:xfrm>
            <a:off x="320040" y="4773240"/>
            <a:ext cx="8502480" cy="27288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54" name="Shape 33"/>
          <p:cNvSpPr/>
          <p:nvPr/>
        </p:nvSpPr>
        <p:spPr>
          <a:xfrm>
            <a:off x="320040" y="4773240"/>
            <a:ext cx="90000" cy="27288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5" name="Text 34"/>
          <p:cNvSpPr/>
          <p:nvPr/>
        </p:nvSpPr>
        <p:spPr>
          <a:xfrm>
            <a:off x="502920" y="477324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50" spc="-1" strike="noStrike">
                <a:solidFill>
                  <a:srgbClr val="ffb703"/>
                </a:solidFill>
                <a:latin typeface="Calibri"/>
                <a:ea typeface="Calibri"/>
              </a:rPr>
              <a:t>Reminder: </a:t>
            </a:r>
            <a:r>
              <a:rPr b="0" i="1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convert_to_decimal uses a regular def — you MUST type fr1.convert_to_decimal() to use it. It will never trigger on its own.</a:t>
            </a:r>
            <a:endParaRPr b="0" lang="en-IN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Shape 0"/>
          <p:cNvSpPr/>
          <p:nvPr/>
        </p:nvSpPr>
        <p:spPr>
          <a:xfrm>
            <a:off x="0" y="0"/>
            <a:ext cx="9142560" cy="100440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7" name="Shape 1"/>
          <p:cNvSpPr/>
          <p:nvPr/>
        </p:nvSpPr>
        <p:spPr>
          <a:xfrm>
            <a:off x="0" y="0"/>
            <a:ext cx="108360" cy="100440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8" name="Text 2"/>
          <p:cNvSpPr/>
          <p:nvPr/>
        </p:nvSpPr>
        <p:spPr>
          <a:xfrm>
            <a:off x="255960" y="12816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Complete Fraction Class — Full Code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359" name="Text 3"/>
          <p:cNvSpPr/>
          <p:nvPr/>
        </p:nvSpPr>
        <p:spPr>
          <a:xfrm>
            <a:off x="255960" y="658440"/>
            <a:ext cx="8502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0e0ef"/>
                </a:solidFill>
                <a:latin typeface="Calibri"/>
                <a:ea typeface="Calibri"/>
              </a:rPr>
              <a:t>Section 12.4 — All 7 methods assembled, all outputs verified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360" name="Shape 4"/>
          <p:cNvSpPr/>
          <p:nvPr/>
        </p:nvSpPr>
        <p:spPr>
          <a:xfrm>
            <a:off x="320040" y="1143000"/>
            <a:ext cx="4204800" cy="39304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61" name="Shape 5"/>
          <p:cNvSpPr/>
          <p:nvPr/>
        </p:nvSpPr>
        <p:spPr>
          <a:xfrm>
            <a:off x="365760" y="1188720"/>
            <a:ext cx="4113360" cy="3857400"/>
          </a:xfrm>
          <a:prstGeom prst="rect">
            <a:avLst/>
          </a:prstGeom>
          <a:solidFill>
            <a:srgbClr val="0a1628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2" name="Shape 6"/>
          <p:cNvSpPr/>
          <p:nvPr/>
        </p:nvSpPr>
        <p:spPr>
          <a:xfrm>
            <a:off x="365760" y="1188720"/>
            <a:ext cx="565560" cy="19980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3" name="Text 7"/>
          <p:cNvSpPr/>
          <p:nvPr/>
        </p:nvSpPr>
        <p:spPr>
          <a:xfrm>
            <a:off x="365760" y="1188720"/>
            <a:ext cx="565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-1" strike="noStrike">
                <a:solidFill>
                  <a:srgbClr val="0d1b2a"/>
                </a:solidFill>
                <a:latin typeface="Consolas"/>
                <a:ea typeface="Consolas"/>
              </a:rPr>
              <a:t>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364" name="Text 8"/>
          <p:cNvSpPr/>
          <p:nvPr/>
        </p:nvSpPr>
        <p:spPr>
          <a:xfrm>
            <a:off x="457200" y="1426320"/>
            <a:ext cx="3930480" cy="35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00b4d8"/>
                </a:solidFill>
                <a:latin typeface="Consolas"/>
                <a:ea typeface="Consolas"/>
              </a:rPr>
              <a:t>class Fraction: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00b4d8"/>
                </a:solidFill>
                <a:latin typeface="Consolas"/>
                <a:ea typeface="Consolas"/>
              </a:rPr>
              <a:t>  </a:t>
            </a:r>
            <a:r>
              <a:rPr b="0" lang="en-US" sz="880" spc="-1" strike="noStrike">
                <a:solidFill>
                  <a:srgbClr val="00b4d8"/>
                </a:solidFill>
                <a:latin typeface="Consolas"/>
                <a:ea typeface="Consolas"/>
              </a:rPr>
              <a:t>def __init__(self, x, y):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    </a:t>
            </a: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self.numerator = x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    </a:t>
            </a: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self.denominator = y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00b4d8"/>
                </a:solidFill>
                <a:latin typeface="Consolas"/>
                <a:ea typeface="Consolas"/>
              </a:rPr>
              <a:t>  </a:t>
            </a:r>
            <a:r>
              <a:rPr b="0" lang="en-US" sz="880" spc="-1" strike="noStrike">
                <a:solidFill>
                  <a:srgbClr val="00b4d8"/>
                </a:solidFill>
                <a:latin typeface="Consolas"/>
                <a:ea typeface="Consolas"/>
              </a:rPr>
              <a:t>def __str__(self):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    </a:t>
            </a: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return '{}/{}'.format(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      </a:t>
            </a: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self.numerator,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      </a:t>
            </a: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self.denominator)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00b4d8"/>
                </a:solidFill>
                <a:latin typeface="Consolas"/>
                <a:ea typeface="Consolas"/>
              </a:rPr>
              <a:t>  </a:t>
            </a:r>
            <a:r>
              <a:rPr b="0" lang="en-US" sz="880" spc="-1" strike="noStrike">
                <a:solidFill>
                  <a:srgbClr val="00b4d8"/>
                </a:solidFill>
                <a:latin typeface="Consolas"/>
                <a:ea typeface="Consolas"/>
              </a:rPr>
              <a:t>def __add__(self, other):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    </a:t>
            </a: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n = (self.numerator *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         </a:t>
            </a: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other.denominator +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         </a:t>
            </a: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other.numerator *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         </a:t>
            </a: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self.denominator)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    </a:t>
            </a: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d = (self.denominator *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         </a:t>
            </a: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other.denominator)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    </a:t>
            </a: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return Fraction(n, d)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00b4d8"/>
                </a:solidFill>
                <a:latin typeface="Consolas"/>
                <a:ea typeface="Consolas"/>
              </a:rPr>
              <a:t>  </a:t>
            </a:r>
            <a:r>
              <a:rPr b="0" lang="en-US" sz="880" spc="-1" strike="noStrike">
                <a:solidFill>
                  <a:srgbClr val="00b4d8"/>
                </a:solidFill>
                <a:latin typeface="Consolas"/>
                <a:ea typeface="Consolas"/>
              </a:rPr>
              <a:t>def __sub__(self, other):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    </a:t>
            </a: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n = (self.numerator *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         </a:t>
            </a: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other.denominator -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         </a:t>
            </a: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other.numerator *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         </a:t>
            </a: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self.denominator)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    </a:t>
            </a: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d = self.denominator * other.denominator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    </a:t>
            </a: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return Fraction(n, d)</a:t>
            </a:r>
            <a:endParaRPr b="0" lang="en-IN" sz="880" spc="-1" strike="noStrike">
              <a:latin typeface="Arial"/>
            </a:endParaRPr>
          </a:p>
        </p:txBody>
      </p:sp>
      <p:sp>
        <p:nvSpPr>
          <p:cNvPr id="365" name="Shape 9"/>
          <p:cNvSpPr/>
          <p:nvPr/>
        </p:nvSpPr>
        <p:spPr>
          <a:xfrm>
            <a:off x="4709160" y="1143000"/>
            <a:ext cx="4113360" cy="39304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66" name="Shape 10"/>
          <p:cNvSpPr/>
          <p:nvPr/>
        </p:nvSpPr>
        <p:spPr>
          <a:xfrm>
            <a:off x="4754880" y="1188720"/>
            <a:ext cx="4113360" cy="3857400"/>
          </a:xfrm>
          <a:prstGeom prst="rect">
            <a:avLst/>
          </a:prstGeom>
          <a:solidFill>
            <a:srgbClr val="0a1628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7" name="Shape 11"/>
          <p:cNvSpPr/>
          <p:nvPr/>
        </p:nvSpPr>
        <p:spPr>
          <a:xfrm>
            <a:off x="4754880" y="1188720"/>
            <a:ext cx="565560" cy="19980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8" name="Text 12"/>
          <p:cNvSpPr/>
          <p:nvPr/>
        </p:nvSpPr>
        <p:spPr>
          <a:xfrm>
            <a:off x="4754880" y="1188720"/>
            <a:ext cx="565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-1" strike="noStrike">
                <a:solidFill>
                  <a:srgbClr val="0d1b2a"/>
                </a:solidFill>
                <a:latin typeface="Consolas"/>
                <a:ea typeface="Consolas"/>
              </a:rPr>
              <a:t>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369" name="Text 13"/>
          <p:cNvSpPr/>
          <p:nvPr/>
        </p:nvSpPr>
        <p:spPr>
          <a:xfrm>
            <a:off x="4846320" y="1426320"/>
            <a:ext cx="3930480" cy="35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00b4d8"/>
                </a:solidFill>
                <a:latin typeface="Consolas"/>
                <a:ea typeface="Consolas"/>
              </a:rPr>
              <a:t>  </a:t>
            </a:r>
            <a:r>
              <a:rPr b="0" lang="en-US" sz="880" spc="-1" strike="noStrike">
                <a:solidFill>
                  <a:srgbClr val="00b4d8"/>
                </a:solidFill>
                <a:latin typeface="Consolas"/>
                <a:ea typeface="Consolas"/>
              </a:rPr>
              <a:t>def __mul__(self, other):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    </a:t>
            </a: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n = (self.numerator *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         </a:t>
            </a: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other.numerator)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    </a:t>
            </a: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d = (self.denominator *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         </a:t>
            </a: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other.denominator)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    </a:t>
            </a: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return Fraction(n, d)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00b4d8"/>
                </a:solidFill>
                <a:latin typeface="Consolas"/>
                <a:ea typeface="Consolas"/>
              </a:rPr>
              <a:t>  </a:t>
            </a:r>
            <a:r>
              <a:rPr b="0" lang="en-US" sz="880" spc="-1" strike="noStrike">
                <a:solidFill>
                  <a:srgbClr val="00b4d8"/>
                </a:solidFill>
                <a:latin typeface="Consolas"/>
                <a:ea typeface="Consolas"/>
              </a:rPr>
              <a:t>def __truediv__(self, other):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    </a:t>
            </a: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n = (self.numerator *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         </a:t>
            </a: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other.denominator)  # flip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    </a:t>
            </a: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d = (self.denominator *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         </a:t>
            </a: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other.numerator)    # flip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    </a:t>
            </a: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return Fraction(n, d)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00b4d8"/>
                </a:solidFill>
                <a:latin typeface="Consolas"/>
                <a:ea typeface="Consolas"/>
              </a:rPr>
              <a:t>  </a:t>
            </a:r>
            <a:r>
              <a:rPr b="0" lang="en-US" sz="880" spc="-1" strike="noStrike">
                <a:solidFill>
                  <a:srgbClr val="00b4d8"/>
                </a:solidFill>
                <a:latin typeface="Consolas"/>
                <a:ea typeface="Consolas"/>
              </a:rPr>
              <a:t>def convert_to_decimal(self):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    </a:t>
            </a: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return (self.numerator /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            </a:t>
            </a:r>
            <a:r>
              <a:rPr b="0" lang="en-US" sz="880" spc="-1" strike="noStrike">
                <a:solidFill>
                  <a:srgbClr val="90e0ef"/>
                </a:solidFill>
                <a:latin typeface="Consolas"/>
                <a:ea typeface="Consolas"/>
              </a:rPr>
              <a:t>self.denominator)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8da9c4"/>
                </a:solidFill>
                <a:latin typeface="Consolas"/>
                <a:ea typeface="Consolas"/>
              </a:rPr>
              <a:t># ── Test ──────────────────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fr1 = Fraction(1, 2)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f0f4f8"/>
                </a:solidFill>
                <a:latin typeface="Consolas"/>
                <a:ea typeface="Consolas"/>
              </a:rPr>
              <a:t>fr2 = Fraction(7, 11)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ffb703"/>
                </a:solidFill>
                <a:latin typeface="Consolas"/>
                <a:ea typeface="Consolas"/>
              </a:rPr>
              <a:t>print(fr1)                 # 1/2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ffb703"/>
                </a:solidFill>
                <a:latin typeface="Consolas"/>
                <a:ea typeface="Consolas"/>
              </a:rPr>
              <a:t>print(fr1 + fr2)           # 25/22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ffb703"/>
                </a:solidFill>
                <a:latin typeface="Consolas"/>
                <a:ea typeface="Consolas"/>
              </a:rPr>
              <a:t>print(fr1 - fr2)           # -3/22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ffb703"/>
                </a:solidFill>
                <a:latin typeface="Consolas"/>
                <a:ea typeface="Consolas"/>
              </a:rPr>
              <a:t>print(fr1 * fr2)           # 7/22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ffb703"/>
                </a:solidFill>
                <a:latin typeface="Consolas"/>
                <a:ea typeface="Consolas"/>
              </a:rPr>
              <a:t>print(fr1 / fr2)           # 11/14</a:t>
            </a:r>
            <a:endParaRPr b="0" lang="en-IN" sz="8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80" spc="-1" strike="noStrike">
                <a:solidFill>
                  <a:srgbClr val="ffb703"/>
                </a:solidFill>
                <a:latin typeface="Consolas"/>
                <a:ea typeface="Consolas"/>
              </a:rPr>
              <a:t>print(fr1.convert_to_decimal()) # 0.5</a:t>
            </a:r>
            <a:endParaRPr b="0" lang="en-IN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Shape 0"/>
          <p:cNvSpPr/>
          <p:nvPr/>
        </p:nvSpPr>
        <p:spPr>
          <a:xfrm>
            <a:off x="0" y="0"/>
            <a:ext cx="9142560" cy="100440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1" name="Shape 1"/>
          <p:cNvSpPr/>
          <p:nvPr/>
        </p:nvSpPr>
        <p:spPr>
          <a:xfrm>
            <a:off x="0" y="0"/>
            <a:ext cx="108360" cy="100440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2" name="Text 2"/>
          <p:cNvSpPr/>
          <p:nvPr/>
        </p:nvSpPr>
        <p:spPr>
          <a:xfrm>
            <a:off x="255960" y="12816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All Outputs Verified — Test Results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373" name="Text 3"/>
          <p:cNvSpPr/>
          <p:nvPr/>
        </p:nvSpPr>
        <p:spPr>
          <a:xfrm>
            <a:off x="255960" y="658440"/>
            <a:ext cx="8502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0e0ef"/>
                </a:solidFill>
                <a:latin typeface="Calibri"/>
                <a:ea typeface="Calibri"/>
              </a:rPr>
              <a:t>Section 12.4 — Running the complete class produces expected outputs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374" name="Shape 4"/>
          <p:cNvSpPr/>
          <p:nvPr/>
        </p:nvSpPr>
        <p:spPr>
          <a:xfrm>
            <a:off x="320040" y="1143000"/>
            <a:ext cx="8502480" cy="36432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5" name="Text 5"/>
          <p:cNvSpPr/>
          <p:nvPr/>
        </p:nvSpPr>
        <p:spPr>
          <a:xfrm>
            <a:off x="457200" y="114300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9b5de5"/>
                </a:solidFill>
                <a:latin typeface="Calibri"/>
                <a:ea typeface="Calibri"/>
              </a:rPr>
              <a:t>Operation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376" name="Text 6"/>
          <p:cNvSpPr/>
          <p:nvPr/>
        </p:nvSpPr>
        <p:spPr>
          <a:xfrm>
            <a:off x="3749040" y="1143000"/>
            <a:ext cx="10958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9b5de5"/>
                </a:solidFill>
                <a:latin typeface="Calibri"/>
                <a:ea typeface="Calibri"/>
              </a:rPr>
              <a:t>Output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377" name="Text 7"/>
          <p:cNvSpPr/>
          <p:nvPr/>
        </p:nvSpPr>
        <p:spPr>
          <a:xfrm>
            <a:off x="4846320" y="1143000"/>
            <a:ext cx="3930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9b5de5"/>
                </a:solidFill>
                <a:latin typeface="Calibri"/>
                <a:ea typeface="Calibri"/>
              </a:rPr>
              <a:t>What Happened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378" name="Shape 8"/>
          <p:cNvSpPr/>
          <p:nvPr/>
        </p:nvSpPr>
        <p:spPr>
          <a:xfrm>
            <a:off x="320040" y="1554480"/>
            <a:ext cx="8502480" cy="4284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79" name="Shape 9"/>
          <p:cNvSpPr/>
          <p:nvPr/>
        </p:nvSpPr>
        <p:spPr>
          <a:xfrm>
            <a:off x="320040" y="1554480"/>
            <a:ext cx="71640" cy="4557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0" name="Text 10"/>
          <p:cNvSpPr/>
          <p:nvPr/>
        </p:nvSpPr>
        <p:spPr>
          <a:xfrm>
            <a:off x="457200" y="1554480"/>
            <a:ext cx="32446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0e0ef"/>
                </a:solidFill>
                <a:latin typeface="Consolas"/>
                <a:ea typeface="Consolas"/>
              </a:rPr>
              <a:t>print(fr1)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381" name="Text 11"/>
          <p:cNvSpPr/>
          <p:nvPr/>
        </p:nvSpPr>
        <p:spPr>
          <a:xfrm>
            <a:off x="3749040" y="1554480"/>
            <a:ext cx="10501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0b4d8"/>
                </a:solidFill>
                <a:latin typeface="Consolas"/>
                <a:ea typeface="Consolas"/>
              </a:rPr>
              <a:t>1/2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82" name="Text 12"/>
          <p:cNvSpPr/>
          <p:nvPr/>
        </p:nvSpPr>
        <p:spPr>
          <a:xfrm>
            <a:off x="4846320" y="1554480"/>
            <a:ext cx="3884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8da9c4"/>
                </a:solidFill>
                <a:latin typeface="Calibri"/>
                <a:ea typeface="Calibri"/>
              </a:rPr>
              <a:t>__str__ called — displays numerator/denominator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83" name="Shape 13"/>
          <p:cNvSpPr/>
          <p:nvPr/>
        </p:nvSpPr>
        <p:spPr>
          <a:xfrm>
            <a:off x="320040" y="2030040"/>
            <a:ext cx="8502480" cy="42840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84" name="Shape 14"/>
          <p:cNvSpPr/>
          <p:nvPr/>
        </p:nvSpPr>
        <p:spPr>
          <a:xfrm>
            <a:off x="320040" y="2030040"/>
            <a:ext cx="71640" cy="4557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5" name="Text 15"/>
          <p:cNvSpPr/>
          <p:nvPr/>
        </p:nvSpPr>
        <p:spPr>
          <a:xfrm>
            <a:off x="457200" y="2030040"/>
            <a:ext cx="32446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0e0ef"/>
                </a:solidFill>
                <a:latin typeface="Consolas"/>
                <a:ea typeface="Consolas"/>
              </a:rPr>
              <a:t>print(fr2)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386" name="Text 16"/>
          <p:cNvSpPr/>
          <p:nvPr/>
        </p:nvSpPr>
        <p:spPr>
          <a:xfrm>
            <a:off x="3749040" y="2030040"/>
            <a:ext cx="10501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0b4d8"/>
                </a:solidFill>
                <a:latin typeface="Consolas"/>
                <a:ea typeface="Consolas"/>
              </a:rPr>
              <a:t>7/11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87" name="Text 17"/>
          <p:cNvSpPr/>
          <p:nvPr/>
        </p:nvSpPr>
        <p:spPr>
          <a:xfrm>
            <a:off x="4846320" y="2030040"/>
            <a:ext cx="3884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8da9c4"/>
                </a:solidFill>
                <a:latin typeface="Calibri"/>
                <a:ea typeface="Calibri"/>
              </a:rPr>
              <a:t>__str__ called for second object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88" name="Shape 18"/>
          <p:cNvSpPr/>
          <p:nvPr/>
        </p:nvSpPr>
        <p:spPr>
          <a:xfrm>
            <a:off x="320040" y="2505600"/>
            <a:ext cx="8502480" cy="4284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89" name="Shape 19"/>
          <p:cNvSpPr/>
          <p:nvPr/>
        </p:nvSpPr>
        <p:spPr>
          <a:xfrm>
            <a:off x="320040" y="2505600"/>
            <a:ext cx="71640" cy="45576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0" name="Text 20"/>
          <p:cNvSpPr/>
          <p:nvPr/>
        </p:nvSpPr>
        <p:spPr>
          <a:xfrm>
            <a:off x="457200" y="2505600"/>
            <a:ext cx="32446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0e0ef"/>
                </a:solidFill>
                <a:latin typeface="Consolas"/>
                <a:ea typeface="Consolas"/>
              </a:rPr>
              <a:t>print(fr1 + fr2)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391" name="Text 21"/>
          <p:cNvSpPr/>
          <p:nvPr/>
        </p:nvSpPr>
        <p:spPr>
          <a:xfrm>
            <a:off x="3749040" y="2505600"/>
            <a:ext cx="10501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9b5de5"/>
                </a:solidFill>
                <a:latin typeface="Consolas"/>
                <a:ea typeface="Consolas"/>
              </a:rPr>
              <a:t>25/22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92" name="Text 22"/>
          <p:cNvSpPr/>
          <p:nvPr/>
        </p:nvSpPr>
        <p:spPr>
          <a:xfrm>
            <a:off x="4846320" y="2505600"/>
            <a:ext cx="3884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8da9c4"/>
                </a:solidFill>
                <a:latin typeface="Calibri"/>
                <a:ea typeface="Calibri"/>
              </a:rPr>
              <a:t>__add__: (1×11 + 7×2)/(2×11) = 25/22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93" name="Shape 23"/>
          <p:cNvSpPr/>
          <p:nvPr/>
        </p:nvSpPr>
        <p:spPr>
          <a:xfrm>
            <a:off x="320040" y="2980800"/>
            <a:ext cx="8502480" cy="42840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94" name="Shape 24"/>
          <p:cNvSpPr/>
          <p:nvPr/>
        </p:nvSpPr>
        <p:spPr>
          <a:xfrm>
            <a:off x="320040" y="2980800"/>
            <a:ext cx="71640" cy="45576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5" name="Text 25"/>
          <p:cNvSpPr/>
          <p:nvPr/>
        </p:nvSpPr>
        <p:spPr>
          <a:xfrm>
            <a:off x="457200" y="2980800"/>
            <a:ext cx="32446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0e0ef"/>
                </a:solidFill>
                <a:latin typeface="Consolas"/>
                <a:ea typeface="Consolas"/>
              </a:rPr>
              <a:t>print(fr1 - fr2)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396" name="Text 26"/>
          <p:cNvSpPr/>
          <p:nvPr/>
        </p:nvSpPr>
        <p:spPr>
          <a:xfrm>
            <a:off x="3749040" y="2980800"/>
            <a:ext cx="10501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b703"/>
                </a:solidFill>
                <a:latin typeface="Consolas"/>
                <a:ea typeface="Consolas"/>
              </a:rPr>
              <a:t>−</a:t>
            </a:r>
            <a:r>
              <a:rPr b="1" lang="en-US" sz="1200" spc="-1" strike="noStrike">
                <a:solidFill>
                  <a:srgbClr val="ffb703"/>
                </a:solidFill>
                <a:latin typeface="Consolas"/>
                <a:ea typeface="Consolas"/>
              </a:rPr>
              <a:t>3/22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97" name="Text 27"/>
          <p:cNvSpPr/>
          <p:nvPr/>
        </p:nvSpPr>
        <p:spPr>
          <a:xfrm>
            <a:off x="4846320" y="2980800"/>
            <a:ext cx="3884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8da9c4"/>
                </a:solidFill>
                <a:latin typeface="Calibri"/>
                <a:ea typeface="Calibri"/>
              </a:rPr>
              <a:t>__sub__: (1×11 − 7×2)/(2×11) = −3/22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98" name="Shape 28"/>
          <p:cNvSpPr/>
          <p:nvPr/>
        </p:nvSpPr>
        <p:spPr>
          <a:xfrm>
            <a:off x="320040" y="3456360"/>
            <a:ext cx="8502480" cy="4284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99" name="Shape 29"/>
          <p:cNvSpPr/>
          <p:nvPr/>
        </p:nvSpPr>
        <p:spPr>
          <a:xfrm>
            <a:off x="320040" y="3456360"/>
            <a:ext cx="71640" cy="45576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0" name="Text 30"/>
          <p:cNvSpPr/>
          <p:nvPr/>
        </p:nvSpPr>
        <p:spPr>
          <a:xfrm>
            <a:off x="457200" y="3456360"/>
            <a:ext cx="32446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0e0ef"/>
                </a:solidFill>
                <a:latin typeface="Consolas"/>
                <a:ea typeface="Consolas"/>
              </a:rPr>
              <a:t>print(fr1 * fr2)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401" name="Text 31"/>
          <p:cNvSpPr/>
          <p:nvPr/>
        </p:nvSpPr>
        <p:spPr>
          <a:xfrm>
            <a:off x="3749040" y="3456360"/>
            <a:ext cx="10501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6d6a0"/>
                </a:solidFill>
                <a:latin typeface="Consolas"/>
                <a:ea typeface="Consolas"/>
              </a:rPr>
              <a:t>7/22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402" name="Text 32"/>
          <p:cNvSpPr/>
          <p:nvPr/>
        </p:nvSpPr>
        <p:spPr>
          <a:xfrm>
            <a:off x="4846320" y="3456360"/>
            <a:ext cx="3884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8da9c4"/>
                </a:solidFill>
                <a:latin typeface="Calibri"/>
                <a:ea typeface="Calibri"/>
              </a:rPr>
              <a:t>__mul__: (1×7)/(2×11) = 7/22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403" name="Shape 33"/>
          <p:cNvSpPr/>
          <p:nvPr/>
        </p:nvSpPr>
        <p:spPr>
          <a:xfrm>
            <a:off x="320040" y="3931920"/>
            <a:ext cx="8502480" cy="42840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04" name="Shape 34"/>
          <p:cNvSpPr/>
          <p:nvPr/>
        </p:nvSpPr>
        <p:spPr>
          <a:xfrm>
            <a:off x="320040" y="3931920"/>
            <a:ext cx="71640" cy="455760"/>
          </a:xfrm>
          <a:prstGeom prst="rect">
            <a:avLst/>
          </a:prstGeom>
          <a:solidFill>
            <a:srgbClr val="90e0ef"/>
          </a:solidFill>
          <a:ln w="12700">
            <a:solidFill>
              <a:srgbClr val="90e0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5" name="Text 35"/>
          <p:cNvSpPr/>
          <p:nvPr/>
        </p:nvSpPr>
        <p:spPr>
          <a:xfrm>
            <a:off x="457200" y="3931920"/>
            <a:ext cx="32446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0e0ef"/>
                </a:solidFill>
                <a:latin typeface="Consolas"/>
                <a:ea typeface="Consolas"/>
              </a:rPr>
              <a:t>print(fr1 / fr2)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406" name="Text 36"/>
          <p:cNvSpPr/>
          <p:nvPr/>
        </p:nvSpPr>
        <p:spPr>
          <a:xfrm>
            <a:off x="3749040" y="3931920"/>
            <a:ext cx="10501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90e0ef"/>
                </a:solidFill>
                <a:latin typeface="Consolas"/>
                <a:ea typeface="Consolas"/>
              </a:rPr>
              <a:t>11/14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407" name="Text 37"/>
          <p:cNvSpPr/>
          <p:nvPr/>
        </p:nvSpPr>
        <p:spPr>
          <a:xfrm>
            <a:off x="4846320" y="3931920"/>
            <a:ext cx="3884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8da9c4"/>
                </a:solidFill>
                <a:latin typeface="Calibri"/>
                <a:ea typeface="Calibri"/>
              </a:rPr>
              <a:t>__truediv__: (1×11)/(2×7) = 11/14 (flipped)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408" name="Shape 38"/>
          <p:cNvSpPr/>
          <p:nvPr/>
        </p:nvSpPr>
        <p:spPr>
          <a:xfrm>
            <a:off x="320040" y="4407480"/>
            <a:ext cx="8502480" cy="4284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09" name="Shape 39"/>
          <p:cNvSpPr/>
          <p:nvPr/>
        </p:nvSpPr>
        <p:spPr>
          <a:xfrm>
            <a:off x="320040" y="4407480"/>
            <a:ext cx="71640" cy="455760"/>
          </a:xfrm>
          <a:prstGeom prst="rect">
            <a:avLst/>
          </a:prstGeom>
          <a:solidFill>
            <a:srgbClr val="8da9c4"/>
          </a:solidFill>
          <a:ln w="12700">
            <a:solidFill>
              <a:srgbClr val="8da9c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0" name="Text 40"/>
          <p:cNvSpPr/>
          <p:nvPr/>
        </p:nvSpPr>
        <p:spPr>
          <a:xfrm>
            <a:off x="457200" y="4407480"/>
            <a:ext cx="32446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0e0ef"/>
                </a:solidFill>
                <a:latin typeface="Consolas"/>
                <a:ea typeface="Consolas"/>
              </a:rPr>
              <a:t>print(fr1.convert_to_decimal())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411" name="Text 41"/>
          <p:cNvSpPr/>
          <p:nvPr/>
        </p:nvSpPr>
        <p:spPr>
          <a:xfrm>
            <a:off x="3749040" y="4407480"/>
            <a:ext cx="10501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8da9c4"/>
                </a:solidFill>
                <a:latin typeface="Consolas"/>
                <a:ea typeface="Consolas"/>
              </a:rPr>
              <a:t>0.5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412" name="Text 42"/>
          <p:cNvSpPr/>
          <p:nvPr/>
        </p:nvSpPr>
        <p:spPr>
          <a:xfrm>
            <a:off x="4846320" y="4407480"/>
            <a:ext cx="3884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8da9c4"/>
                </a:solidFill>
                <a:latin typeface="Calibri"/>
                <a:ea typeface="Calibri"/>
              </a:rPr>
              <a:t>Regular method: 1÷2 = 0.5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413" name="Shape 43"/>
          <p:cNvSpPr/>
          <p:nvPr/>
        </p:nvSpPr>
        <p:spPr>
          <a:xfrm>
            <a:off x="320040" y="4773240"/>
            <a:ext cx="8502480" cy="27288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14" name="Shape 44"/>
          <p:cNvSpPr/>
          <p:nvPr/>
        </p:nvSpPr>
        <p:spPr>
          <a:xfrm>
            <a:off x="320040" y="4773240"/>
            <a:ext cx="90000" cy="27288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5" name="Text 45"/>
          <p:cNvSpPr/>
          <p:nvPr/>
        </p:nvSpPr>
        <p:spPr>
          <a:xfrm>
            <a:off x="502920" y="477324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50" spc="-1" strike="noStrike">
                <a:solidFill>
                  <a:srgbClr val="ffb703"/>
                </a:solidFill>
                <a:latin typeface="Calibri"/>
                <a:ea typeface="Calibri"/>
              </a:rPr>
              <a:t>Note: </a:t>
            </a:r>
            <a:r>
              <a:rPr b="0" i="1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Simplification not implemented — 25/22 stays as-is. Adding a simplify() method using GCD would be a natural extension of this class.</a:t>
            </a:r>
            <a:endParaRPr b="0" lang="en-IN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Shape 0"/>
          <p:cNvSpPr/>
          <p:nvPr/>
        </p:nvSpPr>
        <p:spPr>
          <a:xfrm>
            <a:off x="0" y="0"/>
            <a:ext cx="9142560" cy="100440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7" name="Shape 1"/>
          <p:cNvSpPr/>
          <p:nvPr/>
        </p:nvSpPr>
        <p:spPr>
          <a:xfrm>
            <a:off x="0" y="0"/>
            <a:ext cx="108360" cy="100440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8" name="Text 2"/>
          <p:cNvSpPr/>
          <p:nvPr/>
        </p:nvSpPr>
        <p:spPr>
          <a:xfrm>
            <a:off x="255960" y="12816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Multiple Objects — self is Always Dynamic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419" name="Text 3"/>
          <p:cNvSpPr/>
          <p:nvPr/>
        </p:nvSpPr>
        <p:spPr>
          <a:xfrm>
            <a:off x="255960" y="658440"/>
            <a:ext cx="8502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0e0ef"/>
                </a:solidFill>
                <a:latin typeface="Calibri"/>
                <a:ea typeface="Calibri"/>
              </a:rPr>
              <a:t>Section 12.6 — Each object has its own memory, self shifts accordingly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420" name="Shape 4"/>
          <p:cNvSpPr/>
          <p:nvPr/>
        </p:nvSpPr>
        <p:spPr>
          <a:xfrm>
            <a:off x="320040" y="1143000"/>
            <a:ext cx="8502480" cy="15346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21" name="Text 5"/>
          <p:cNvSpPr/>
          <p:nvPr/>
        </p:nvSpPr>
        <p:spPr>
          <a:xfrm>
            <a:off x="457200" y="1234440"/>
            <a:ext cx="80452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0b4d8"/>
                </a:solidFill>
                <a:latin typeface="Calibri"/>
                <a:ea typeface="Calibri"/>
              </a:rPr>
              <a:t>Proof with two ATM objects: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422" name="Shape 6"/>
          <p:cNvSpPr/>
          <p:nvPr/>
        </p:nvSpPr>
        <p:spPr>
          <a:xfrm>
            <a:off x="365760" y="1517760"/>
            <a:ext cx="8453520" cy="11815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3" name="Shape 7"/>
          <p:cNvSpPr/>
          <p:nvPr/>
        </p:nvSpPr>
        <p:spPr>
          <a:xfrm>
            <a:off x="365760" y="1517760"/>
            <a:ext cx="565560" cy="1998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4" name="Text 8"/>
          <p:cNvSpPr/>
          <p:nvPr/>
        </p:nvSpPr>
        <p:spPr>
          <a:xfrm>
            <a:off x="365760" y="1517760"/>
            <a:ext cx="565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-1" strike="noStrike">
                <a:solidFill>
                  <a:srgbClr val="0d1b2a"/>
                </a:solidFill>
                <a:latin typeface="Consolas"/>
                <a:ea typeface="Consolas"/>
              </a:rPr>
              <a:t>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425" name="Text 9"/>
          <p:cNvSpPr/>
          <p:nvPr/>
        </p:nvSpPr>
        <p:spPr>
          <a:xfrm>
            <a:off x="457200" y="1774080"/>
            <a:ext cx="8362080" cy="92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f0f4f8"/>
                </a:solidFill>
                <a:latin typeface="Consolas"/>
                <a:ea typeface="Consolas"/>
              </a:rPr>
              <a:t>kiosk1 = BankATM()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ffb703"/>
                </a:solidFill>
                <a:latin typeface="Consolas"/>
                <a:ea typeface="Consolas"/>
              </a:rPr>
              <a:t>print(id(kiosk1))  # e.g. 140234567890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f0f4f8"/>
                </a:solidFill>
                <a:latin typeface="Consolas"/>
                <a:ea typeface="Consolas"/>
              </a:rPr>
              <a:t>kiosk2 = BankATM()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ffb703"/>
                </a:solidFill>
                <a:latin typeface="Consolas"/>
                <a:ea typeface="Consolas"/>
              </a:rPr>
              <a:t>print(id(kiosk2))  # e.g. 140234567920  ← DIFFERENT address!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8da9c4"/>
                </a:solidFill>
                <a:latin typeface="Consolas"/>
                <a:ea typeface="Consolas"/>
              </a:rPr>
              <a:t># Each object gets its own separate memory space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426" name="Shape 10"/>
          <p:cNvSpPr/>
          <p:nvPr/>
        </p:nvSpPr>
        <p:spPr>
          <a:xfrm>
            <a:off x="320040" y="2788920"/>
            <a:ext cx="2741760" cy="19918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27" name="Shape 11"/>
          <p:cNvSpPr/>
          <p:nvPr/>
        </p:nvSpPr>
        <p:spPr>
          <a:xfrm>
            <a:off x="320040" y="2788920"/>
            <a:ext cx="2741760" cy="345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8" name="Text 12"/>
          <p:cNvSpPr/>
          <p:nvPr/>
        </p:nvSpPr>
        <p:spPr>
          <a:xfrm>
            <a:off x="457200" y="2788920"/>
            <a:ext cx="24674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50" spc="-1" strike="noStrike">
                <a:solidFill>
                  <a:srgbClr val="0d1b2a"/>
                </a:solidFill>
                <a:latin typeface="Calibri"/>
                <a:ea typeface="Calibri"/>
              </a:rPr>
              <a:t>When kiosk1 is created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429" name="Text 13"/>
          <p:cNvSpPr/>
          <p:nvPr/>
        </p:nvSpPr>
        <p:spPr>
          <a:xfrm>
            <a:off x="457200" y="3200400"/>
            <a:ext cx="2485800" cy="147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f0f4f8"/>
                </a:solidFill>
                <a:latin typeface="Calibri"/>
                <a:ea typeface="Calibri"/>
              </a:rPr>
              <a:t>self inside __init__ points to kiosk1's memory address. kiosk1.secret_code and kiosk1.account_bal are stored in kiosk1's space.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430" name="Shape 14"/>
          <p:cNvSpPr/>
          <p:nvPr/>
        </p:nvSpPr>
        <p:spPr>
          <a:xfrm>
            <a:off x="3227760" y="2788920"/>
            <a:ext cx="2741760" cy="19918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31" name="Shape 15"/>
          <p:cNvSpPr/>
          <p:nvPr/>
        </p:nvSpPr>
        <p:spPr>
          <a:xfrm>
            <a:off x="3227760" y="2788920"/>
            <a:ext cx="2741760" cy="34596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2" name="Text 16"/>
          <p:cNvSpPr/>
          <p:nvPr/>
        </p:nvSpPr>
        <p:spPr>
          <a:xfrm>
            <a:off x="3364920" y="2788920"/>
            <a:ext cx="24674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50" spc="-1" strike="noStrike">
                <a:solidFill>
                  <a:srgbClr val="0d1b2a"/>
                </a:solidFill>
                <a:latin typeface="Calibri"/>
                <a:ea typeface="Calibri"/>
              </a:rPr>
              <a:t>When kiosk2 is created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433" name="Text 17"/>
          <p:cNvSpPr/>
          <p:nvPr/>
        </p:nvSpPr>
        <p:spPr>
          <a:xfrm>
            <a:off x="3364920" y="3200400"/>
            <a:ext cx="2485800" cy="147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f0f4f8"/>
                </a:solidFill>
                <a:latin typeface="Calibri"/>
                <a:ea typeface="Calibri"/>
              </a:rPr>
              <a:t>self SHIFTS to point to kiosk2's memory address. kiosk2 gets its own fresh copy of secret_code and account_bal.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434" name="Shape 18"/>
          <p:cNvSpPr/>
          <p:nvPr/>
        </p:nvSpPr>
        <p:spPr>
          <a:xfrm>
            <a:off x="6135480" y="2788920"/>
            <a:ext cx="2741760" cy="19918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35" name="Shape 19"/>
          <p:cNvSpPr/>
          <p:nvPr/>
        </p:nvSpPr>
        <p:spPr>
          <a:xfrm>
            <a:off x="6135480" y="2788920"/>
            <a:ext cx="2741760" cy="34596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6" name="Text 20"/>
          <p:cNvSpPr/>
          <p:nvPr/>
        </p:nvSpPr>
        <p:spPr>
          <a:xfrm>
            <a:off x="6272640" y="2788920"/>
            <a:ext cx="24674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50" spc="-1" strike="noStrike">
                <a:solidFill>
                  <a:srgbClr val="0d1b2a"/>
                </a:solidFill>
                <a:latin typeface="Calibri"/>
                <a:ea typeface="Calibri"/>
              </a:rPr>
              <a:t>They are fully independent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437" name="Text 21"/>
          <p:cNvSpPr/>
          <p:nvPr/>
        </p:nvSpPr>
        <p:spPr>
          <a:xfrm>
            <a:off x="6272640" y="3200400"/>
            <a:ext cx="2485800" cy="147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f0f4f8"/>
                </a:solidFill>
                <a:latin typeface="Calibri"/>
                <a:ea typeface="Calibri"/>
              </a:rPr>
              <a:t>Changing kiosk1.secret_code has zero effect on kiosk2. self dynamically refers to whichever object is currently in use.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438" name="Shape 22"/>
          <p:cNvSpPr/>
          <p:nvPr/>
        </p:nvSpPr>
        <p:spPr>
          <a:xfrm>
            <a:off x="320040" y="4864680"/>
            <a:ext cx="8502480" cy="22716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39" name="Text 23"/>
          <p:cNvSpPr/>
          <p:nvPr/>
        </p:nvSpPr>
        <p:spPr>
          <a:xfrm>
            <a:off x="457200" y="4864680"/>
            <a:ext cx="82281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Same applies to Fraction: fr1 and fr2 each have their own numerator/denominator — self always points to the one currently being operated on.</a:t>
            </a:r>
            <a:endParaRPr b="0" lang="en-IN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Shape 0"/>
          <p:cNvSpPr/>
          <p:nvPr/>
        </p:nvSpPr>
        <p:spPr>
          <a:xfrm>
            <a:off x="0" y="0"/>
            <a:ext cx="9142560" cy="100440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1" name="Shape 1"/>
          <p:cNvSpPr/>
          <p:nvPr/>
        </p:nvSpPr>
        <p:spPr>
          <a:xfrm>
            <a:off x="0" y="0"/>
            <a:ext cx="108360" cy="100440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2" name="Text 2"/>
          <p:cNvSpPr/>
          <p:nvPr/>
        </p:nvSpPr>
        <p:spPr>
          <a:xfrm>
            <a:off x="255960" y="12816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The Big Picture — You Just Built a Data Type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443" name="Text 3"/>
          <p:cNvSpPr/>
          <p:nvPr/>
        </p:nvSpPr>
        <p:spPr>
          <a:xfrm>
            <a:off x="255960" y="658440"/>
            <a:ext cx="8502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0e0ef"/>
                </a:solidFill>
                <a:latin typeface="Calibri"/>
                <a:ea typeface="Calibri"/>
              </a:rPr>
              <a:t>Section 13 — What the Fraction class reveals about all of Python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444" name="Shape 4"/>
          <p:cNvSpPr/>
          <p:nvPr/>
        </p:nvSpPr>
        <p:spPr>
          <a:xfrm>
            <a:off x="320040" y="1143000"/>
            <a:ext cx="8502480" cy="83988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45" name="Shape 5"/>
          <p:cNvSpPr/>
          <p:nvPr/>
        </p:nvSpPr>
        <p:spPr>
          <a:xfrm>
            <a:off x="320040" y="1143000"/>
            <a:ext cx="8502480" cy="7164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6" name="Text 6"/>
          <p:cNvSpPr/>
          <p:nvPr/>
        </p:nvSpPr>
        <p:spPr>
          <a:xfrm>
            <a:off x="457200" y="1261800"/>
            <a:ext cx="822816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f0f4f8"/>
                </a:solidFill>
                <a:latin typeface="Calibri"/>
                <a:ea typeface="Calibri"/>
              </a:rPr>
              <a:t>"We can create our own data types using OOP, It is very powerful! We can add new data types to Python itself."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447" name="Shape 7"/>
          <p:cNvSpPr/>
          <p:nvPr/>
        </p:nvSpPr>
        <p:spPr>
          <a:xfrm>
            <a:off x="320040" y="2084760"/>
            <a:ext cx="8502480" cy="80316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48" name="Shape 8"/>
          <p:cNvSpPr/>
          <p:nvPr/>
        </p:nvSpPr>
        <p:spPr>
          <a:xfrm>
            <a:off x="320040" y="1980000"/>
            <a:ext cx="8499240" cy="53928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9" name="Text 9"/>
          <p:cNvSpPr/>
          <p:nvPr/>
        </p:nvSpPr>
        <p:spPr>
          <a:xfrm>
            <a:off x="457200" y="2084760"/>
            <a:ext cx="25588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d1b2a"/>
                </a:solidFill>
                <a:latin typeface="Calibri"/>
                <a:ea typeface="Calibri"/>
              </a:rPr>
              <a:t>What You Just Did: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450" name="Text 10"/>
          <p:cNvSpPr/>
          <p:nvPr/>
        </p:nvSpPr>
        <p:spPr>
          <a:xfrm>
            <a:off x="3017520" y="2084760"/>
            <a:ext cx="58017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Created a brand-new data type called 'Fraction' that Python didn't have before — supporting 4 arithmetic ops, beautiful display, and decimal conversion.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451" name="Text 11"/>
          <p:cNvSpPr/>
          <p:nvPr/>
        </p:nvSpPr>
        <p:spPr>
          <a:xfrm>
            <a:off x="457200" y="2450520"/>
            <a:ext cx="822816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8da9c4"/>
                </a:solidFill>
                <a:latin typeface="Calibri"/>
                <a:ea typeface="Calibri"/>
              </a:rPr>
              <a:t>This is the MAIN POWER of OOP demonstrated in practice.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452" name="Shape 12"/>
          <p:cNvSpPr/>
          <p:nvPr/>
        </p:nvSpPr>
        <p:spPr>
          <a:xfrm>
            <a:off x="320040" y="2999160"/>
            <a:ext cx="8502480" cy="173592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53" name="Shape 13"/>
          <p:cNvSpPr/>
          <p:nvPr/>
        </p:nvSpPr>
        <p:spPr>
          <a:xfrm>
            <a:off x="320040" y="2999160"/>
            <a:ext cx="8502480" cy="34596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4" name="Text 14"/>
          <p:cNvSpPr/>
          <p:nvPr/>
        </p:nvSpPr>
        <p:spPr>
          <a:xfrm>
            <a:off x="457200" y="2999160"/>
            <a:ext cx="8045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0b4d8"/>
                </a:solidFill>
                <a:latin typeface="Calibri"/>
                <a:ea typeface="Calibri"/>
              </a:rPr>
              <a:t>ALL Python Libraries Are Just Classes — Made by Developers Like You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455" name="Shape 15"/>
          <p:cNvSpPr/>
          <p:nvPr/>
        </p:nvSpPr>
        <p:spPr>
          <a:xfrm>
            <a:off x="438840" y="3401640"/>
            <a:ext cx="2028600" cy="126036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56" name="Shape 16"/>
          <p:cNvSpPr/>
          <p:nvPr/>
        </p:nvSpPr>
        <p:spPr>
          <a:xfrm>
            <a:off x="438840" y="3401640"/>
            <a:ext cx="2028600" cy="626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7" name="Text 17"/>
          <p:cNvSpPr/>
          <p:nvPr/>
        </p:nvSpPr>
        <p:spPr>
          <a:xfrm>
            <a:off x="530280" y="3493080"/>
            <a:ext cx="1845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0b4d8"/>
                </a:solidFill>
                <a:latin typeface="Calibri"/>
                <a:ea typeface="Calibri"/>
              </a:rPr>
              <a:t>NumPy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458" name="Text 18"/>
          <p:cNvSpPr/>
          <p:nvPr/>
        </p:nvSpPr>
        <p:spPr>
          <a:xfrm>
            <a:off x="530280" y="3858840"/>
            <a:ext cx="184572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Built using OOP — just like your Fraction class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459" name="Shape 19"/>
          <p:cNvSpPr/>
          <p:nvPr/>
        </p:nvSpPr>
        <p:spPr>
          <a:xfrm>
            <a:off x="2615040" y="3401640"/>
            <a:ext cx="2028600" cy="126036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60" name="Shape 20"/>
          <p:cNvSpPr/>
          <p:nvPr/>
        </p:nvSpPr>
        <p:spPr>
          <a:xfrm>
            <a:off x="2615040" y="3401640"/>
            <a:ext cx="2028600" cy="6264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1" name="Text 21"/>
          <p:cNvSpPr/>
          <p:nvPr/>
        </p:nvSpPr>
        <p:spPr>
          <a:xfrm>
            <a:off x="2706480" y="3493080"/>
            <a:ext cx="1845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6d6a0"/>
                </a:solidFill>
                <a:latin typeface="Calibri"/>
                <a:ea typeface="Calibri"/>
              </a:rPr>
              <a:t>Pandas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462" name="Text 22"/>
          <p:cNvSpPr/>
          <p:nvPr/>
        </p:nvSpPr>
        <p:spPr>
          <a:xfrm>
            <a:off x="2706480" y="3858840"/>
            <a:ext cx="184572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Built using OOP — just like your Fraction class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463" name="Shape 23"/>
          <p:cNvSpPr/>
          <p:nvPr/>
        </p:nvSpPr>
        <p:spPr>
          <a:xfrm>
            <a:off x="4791600" y="3401640"/>
            <a:ext cx="2028600" cy="126036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64" name="Shape 24"/>
          <p:cNvSpPr/>
          <p:nvPr/>
        </p:nvSpPr>
        <p:spPr>
          <a:xfrm>
            <a:off x="4791600" y="3401640"/>
            <a:ext cx="2028600" cy="6264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5" name="Text 25"/>
          <p:cNvSpPr/>
          <p:nvPr/>
        </p:nvSpPr>
        <p:spPr>
          <a:xfrm>
            <a:off x="4883040" y="3493080"/>
            <a:ext cx="1845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b703"/>
                </a:solidFill>
                <a:latin typeface="Calibri"/>
                <a:ea typeface="Calibri"/>
              </a:rPr>
              <a:t>Matplotlib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466" name="Text 26"/>
          <p:cNvSpPr/>
          <p:nvPr/>
        </p:nvSpPr>
        <p:spPr>
          <a:xfrm>
            <a:off x="4883040" y="3858840"/>
            <a:ext cx="184572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Built using OOP — just like your Fraction class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467" name="Shape 27"/>
          <p:cNvSpPr/>
          <p:nvPr/>
        </p:nvSpPr>
        <p:spPr>
          <a:xfrm>
            <a:off x="6967800" y="3401640"/>
            <a:ext cx="2028600" cy="126036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68" name="Shape 28"/>
          <p:cNvSpPr/>
          <p:nvPr/>
        </p:nvSpPr>
        <p:spPr>
          <a:xfrm>
            <a:off x="6967800" y="3401640"/>
            <a:ext cx="2028600" cy="6264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9" name="Text 29"/>
          <p:cNvSpPr/>
          <p:nvPr/>
        </p:nvSpPr>
        <p:spPr>
          <a:xfrm>
            <a:off x="7059240" y="3493080"/>
            <a:ext cx="1845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9b5de5"/>
                </a:solidFill>
                <a:latin typeface="Calibri"/>
                <a:ea typeface="Calibri"/>
              </a:rPr>
              <a:t>Every library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470" name="Text 30"/>
          <p:cNvSpPr/>
          <p:nvPr/>
        </p:nvSpPr>
        <p:spPr>
          <a:xfrm>
            <a:off x="7059240" y="3858840"/>
            <a:ext cx="184572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Collections of classes written by programmers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471" name="Shape 31"/>
          <p:cNvSpPr/>
          <p:nvPr/>
        </p:nvSpPr>
        <p:spPr>
          <a:xfrm>
            <a:off x="320040" y="4773240"/>
            <a:ext cx="8502480" cy="27288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72" name="Shape 32"/>
          <p:cNvSpPr/>
          <p:nvPr/>
        </p:nvSpPr>
        <p:spPr>
          <a:xfrm>
            <a:off x="320040" y="4773240"/>
            <a:ext cx="90000" cy="27288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3" name="Text 33"/>
          <p:cNvSpPr/>
          <p:nvPr/>
        </p:nvSpPr>
        <p:spPr>
          <a:xfrm>
            <a:off x="502920" y="477324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50" spc="-1" strike="noStrike">
                <a:solidFill>
                  <a:srgbClr val="ffb703"/>
                </a:solidFill>
                <a:latin typeface="Calibri"/>
                <a:ea typeface="Calibri"/>
              </a:rPr>
              <a:t>Python version updates: </a:t>
            </a:r>
            <a:r>
              <a:rPr b="0" i="1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Each new version (3.10, 3.11, 3.12…) = new classes contributed by the community. You could contribute your own class to Python itself.</a:t>
            </a:r>
            <a:endParaRPr b="0" lang="en-IN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Shape 0"/>
          <p:cNvSpPr/>
          <p:nvPr/>
        </p:nvSpPr>
        <p:spPr>
          <a:xfrm>
            <a:off x="0" y="0"/>
            <a:ext cx="9142560" cy="100440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5" name="Shape 1"/>
          <p:cNvSpPr/>
          <p:nvPr/>
        </p:nvSpPr>
        <p:spPr>
          <a:xfrm>
            <a:off x="0" y="0"/>
            <a:ext cx="108360" cy="100440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6" name="Text 2"/>
          <p:cNvSpPr/>
          <p:nvPr/>
        </p:nvSpPr>
        <p:spPr>
          <a:xfrm>
            <a:off x="255960" y="12816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What You Can Build — The Sky Is the Limit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477" name="Text 3"/>
          <p:cNvSpPr/>
          <p:nvPr/>
        </p:nvSpPr>
        <p:spPr>
          <a:xfrm>
            <a:off x="255960" y="658440"/>
            <a:ext cx="8502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0e0ef"/>
                </a:solidFill>
                <a:latin typeface="Calibri"/>
                <a:ea typeface="Calibri"/>
              </a:rPr>
              <a:t>Section 13.2 — How open-source libraries are born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478" name="Shape 4"/>
          <p:cNvSpPr/>
          <p:nvPr/>
        </p:nvSpPr>
        <p:spPr>
          <a:xfrm>
            <a:off x="320040" y="1143000"/>
            <a:ext cx="8502480" cy="80316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79" name="Shape 5"/>
          <p:cNvSpPr/>
          <p:nvPr/>
        </p:nvSpPr>
        <p:spPr>
          <a:xfrm>
            <a:off x="320040" y="1143000"/>
            <a:ext cx="8502480" cy="7164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0" name="Text 6"/>
          <p:cNvSpPr/>
          <p:nvPr/>
        </p:nvSpPr>
        <p:spPr>
          <a:xfrm>
            <a:off x="457200" y="1261800"/>
            <a:ext cx="822816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Every Python library started as someone's class. Now you know how to build them.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481" name="Shape 7"/>
          <p:cNvSpPr/>
          <p:nvPr/>
        </p:nvSpPr>
        <p:spPr>
          <a:xfrm>
            <a:off x="320040" y="2057400"/>
            <a:ext cx="2741760" cy="126036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82" name="Shape 8"/>
          <p:cNvSpPr/>
          <p:nvPr/>
        </p:nvSpPr>
        <p:spPr>
          <a:xfrm>
            <a:off x="320040" y="2057400"/>
            <a:ext cx="2741760" cy="6264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3" name="Shape 9"/>
          <p:cNvSpPr/>
          <p:nvPr/>
        </p:nvSpPr>
        <p:spPr>
          <a:xfrm>
            <a:off x="2423160" y="2148840"/>
            <a:ext cx="565560" cy="25452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84" name="Text 10"/>
          <p:cNvSpPr/>
          <p:nvPr/>
        </p:nvSpPr>
        <p:spPr>
          <a:xfrm>
            <a:off x="2423160" y="2148840"/>
            <a:ext cx="5655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50" spc="-1" strike="noStrike">
                <a:solidFill>
                  <a:srgbClr val="0d1b2a"/>
                </a:solidFill>
                <a:latin typeface="Calibri"/>
                <a:ea typeface="Calibri"/>
              </a:rPr>
              <a:t>✓ </a:t>
            </a:r>
            <a:r>
              <a:rPr b="1" lang="en-US" sz="850" spc="-1" strike="noStrike">
                <a:solidFill>
                  <a:srgbClr val="0d1b2a"/>
                </a:solidFill>
                <a:latin typeface="Calibri"/>
                <a:ea typeface="Calibri"/>
              </a:rPr>
              <a:t>Done</a:t>
            </a:r>
            <a:endParaRPr b="0" lang="en-IN" sz="850" spc="-1" strike="noStrike">
              <a:latin typeface="Arial"/>
            </a:endParaRPr>
          </a:p>
        </p:txBody>
      </p:sp>
      <p:sp>
        <p:nvSpPr>
          <p:cNvPr id="485" name="Text 11"/>
          <p:cNvSpPr/>
          <p:nvPr/>
        </p:nvSpPr>
        <p:spPr>
          <a:xfrm>
            <a:off x="457200" y="2185560"/>
            <a:ext cx="1918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6d6a0"/>
                </a:solidFill>
                <a:latin typeface="Calibri"/>
                <a:ea typeface="Calibri"/>
              </a:rPr>
              <a:t>Fraction Class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486" name="Text 12"/>
          <p:cNvSpPr/>
          <p:nvPr/>
        </p:nvSpPr>
        <p:spPr>
          <a:xfrm>
            <a:off x="457200" y="2532960"/>
            <a:ext cx="2485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f0f4f8"/>
                </a:solidFill>
                <a:latin typeface="Calibri"/>
                <a:ea typeface="Calibri"/>
              </a:rPr>
              <a:t>Custom arithmetic type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487" name="Text 13"/>
          <p:cNvSpPr/>
          <p:nvPr/>
        </p:nvSpPr>
        <p:spPr>
          <a:xfrm>
            <a:off x="457200" y="2880360"/>
            <a:ext cx="2485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Today — you just built it!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488" name="Shape 14"/>
          <p:cNvSpPr/>
          <p:nvPr/>
        </p:nvSpPr>
        <p:spPr>
          <a:xfrm>
            <a:off x="3264480" y="2057400"/>
            <a:ext cx="2854800" cy="15418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89" name="Shape 15"/>
          <p:cNvSpPr/>
          <p:nvPr/>
        </p:nvSpPr>
        <p:spPr>
          <a:xfrm>
            <a:off x="3264480" y="2057400"/>
            <a:ext cx="2741760" cy="626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0" name="Text 16"/>
          <p:cNvSpPr/>
          <p:nvPr/>
        </p:nvSpPr>
        <p:spPr>
          <a:xfrm>
            <a:off x="3401640" y="2185560"/>
            <a:ext cx="1918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0b4d8"/>
                </a:solidFill>
                <a:latin typeface="Calibri"/>
                <a:ea typeface="Calibri"/>
              </a:rPr>
              <a:t>Coordinate Geometry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491" name="Text 17"/>
          <p:cNvSpPr/>
          <p:nvPr/>
        </p:nvSpPr>
        <p:spPr>
          <a:xfrm>
            <a:off x="3401640" y="2532960"/>
            <a:ext cx="2485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f0f4f8"/>
                </a:solidFill>
                <a:latin typeface="Calibri"/>
                <a:ea typeface="Calibri"/>
              </a:rPr>
              <a:t>Point, Line, Distance, Slope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492" name="Text 18"/>
          <p:cNvSpPr/>
          <p:nvPr/>
        </p:nvSpPr>
        <p:spPr>
          <a:xfrm>
            <a:off x="3401640" y="2880360"/>
            <a:ext cx="2485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Next session (Tuesday)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493" name="Text 21"/>
          <p:cNvSpPr/>
          <p:nvPr/>
        </p:nvSpPr>
        <p:spPr>
          <a:xfrm>
            <a:off x="6346080" y="3575160"/>
            <a:ext cx="1918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9b5de5"/>
                </a:solidFill>
                <a:latin typeface="Calibri"/>
                <a:ea typeface="Calibri"/>
              </a:rPr>
              <a:t>Linear Algebra Class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494" name="Text 22"/>
          <p:cNvSpPr/>
          <p:nvPr/>
        </p:nvSpPr>
        <p:spPr>
          <a:xfrm>
            <a:off x="6346080" y="3922920"/>
            <a:ext cx="2485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f0f4f8"/>
                </a:solidFill>
                <a:latin typeface="Calibri"/>
                <a:ea typeface="Calibri"/>
              </a:rPr>
              <a:t>Matrices, vectors, dot products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495" name="Text 23"/>
          <p:cNvSpPr/>
          <p:nvPr/>
        </p:nvSpPr>
        <p:spPr>
          <a:xfrm>
            <a:off x="6346080" y="4270320"/>
            <a:ext cx="2485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Like NumPy — fully buildable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496" name="Shape 25"/>
          <p:cNvSpPr/>
          <p:nvPr/>
        </p:nvSpPr>
        <p:spPr>
          <a:xfrm>
            <a:off x="320040" y="3447360"/>
            <a:ext cx="2741760" cy="6264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7" name="Text 27"/>
          <p:cNvSpPr/>
          <p:nvPr/>
        </p:nvSpPr>
        <p:spPr>
          <a:xfrm>
            <a:off x="457200" y="3922920"/>
            <a:ext cx="2485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f0f4f8"/>
                </a:solidFill>
                <a:latin typeface="Calibri"/>
                <a:ea typeface="Calibri"/>
              </a:rPr>
              <a:t>Private data, getters/setters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498" name="Text 28"/>
          <p:cNvSpPr/>
          <p:nvPr/>
        </p:nvSpPr>
        <p:spPr>
          <a:xfrm>
            <a:off x="457200" y="4270320"/>
            <a:ext cx="2485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Day 2 — Tuesday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499" name="Shape 30"/>
          <p:cNvSpPr/>
          <p:nvPr/>
        </p:nvSpPr>
        <p:spPr>
          <a:xfrm>
            <a:off x="3264480" y="4837320"/>
            <a:ext cx="2741760" cy="6264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0" name="Text 31"/>
          <p:cNvSpPr/>
          <p:nvPr/>
        </p:nvSpPr>
        <p:spPr>
          <a:xfrm>
            <a:off x="3401640" y="4965120"/>
            <a:ext cx="1918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6b6b"/>
                </a:solidFill>
                <a:latin typeface="Calibri"/>
                <a:ea typeface="Calibri"/>
              </a:rPr>
              <a:t>Inheritance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501" name="Text 32"/>
          <p:cNvSpPr/>
          <p:nvPr/>
        </p:nvSpPr>
        <p:spPr>
          <a:xfrm>
            <a:off x="3401640" y="5312520"/>
            <a:ext cx="2485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f0f4f8"/>
                </a:solidFill>
                <a:latin typeface="Calibri"/>
                <a:ea typeface="Calibri"/>
              </a:rPr>
              <a:t>Reuse code between related classes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502" name="Text 33"/>
          <p:cNvSpPr/>
          <p:nvPr/>
        </p:nvSpPr>
        <p:spPr>
          <a:xfrm>
            <a:off x="3401640" y="5660280"/>
            <a:ext cx="2485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Day 3 — Wednesday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503" name="Text 36"/>
          <p:cNvSpPr/>
          <p:nvPr/>
        </p:nvSpPr>
        <p:spPr>
          <a:xfrm>
            <a:off x="6346080" y="4965120"/>
            <a:ext cx="1918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90e0ef"/>
                </a:solidFill>
                <a:latin typeface="Calibri"/>
                <a:ea typeface="Calibri"/>
              </a:rPr>
              <a:t>OOP Project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504" name="Text 37"/>
          <p:cNvSpPr/>
          <p:nvPr/>
        </p:nvSpPr>
        <p:spPr>
          <a:xfrm>
            <a:off x="6346080" y="5312520"/>
            <a:ext cx="2485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f0f4f8"/>
                </a:solidFill>
                <a:latin typeface="Calibri"/>
                <a:ea typeface="Calibri"/>
              </a:rPr>
              <a:t>Full application using all principles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505" name="Text 38"/>
          <p:cNvSpPr/>
          <p:nvPr/>
        </p:nvSpPr>
        <p:spPr>
          <a:xfrm>
            <a:off x="6346080" y="5660280"/>
            <a:ext cx="2485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Day 4 — practical project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506" name="Shape 39"/>
          <p:cNvSpPr/>
          <p:nvPr/>
        </p:nvSpPr>
        <p:spPr>
          <a:xfrm>
            <a:off x="320040" y="4773240"/>
            <a:ext cx="8502480" cy="27288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07" name="Shape 40"/>
          <p:cNvSpPr/>
          <p:nvPr/>
        </p:nvSpPr>
        <p:spPr>
          <a:xfrm>
            <a:off x="320040" y="4773240"/>
            <a:ext cx="90000" cy="27288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8" name="Text 41"/>
          <p:cNvSpPr/>
          <p:nvPr/>
        </p:nvSpPr>
        <p:spPr>
          <a:xfrm>
            <a:off x="502920" y="477324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50" spc="-1" strike="noStrike">
                <a:solidFill>
                  <a:srgbClr val="ffb703"/>
                </a:solidFill>
                <a:latin typeface="Calibri"/>
                <a:ea typeface="Calibri"/>
              </a:rPr>
              <a:t>Open Source: </a:t>
            </a:r>
            <a:r>
              <a:rPr b="0" i="1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Coordinate Geometry, Linear Algebra, Statistical Analysis — all of these start exactly the way Fraction did: a class with attributes and methods.</a:t>
            </a:r>
            <a:endParaRPr b="0" lang="en-IN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Shape 0"/>
          <p:cNvSpPr/>
          <p:nvPr/>
        </p:nvSpPr>
        <p:spPr>
          <a:xfrm>
            <a:off x="0" y="0"/>
            <a:ext cx="9142560" cy="100440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0" name="Shape 1"/>
          <p:cNvSpPr/>
          <p:nvPr/>
        </p:nvSpPr>
        <p:spPr>
          <a:xfrm>
            <a:off x="0" y="0"/>
            <a:ext cx="108360" cy="100440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1" name="Text 2"/>
          <p:cNvSpPr/>
          <p:nvPr/>
        </p:nvSpPr>
        <p:spPr>
          <a:xfrm>
            <a:off x="255960" y="12816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Week 3 Session 1 — Complete Master Summary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512" name="Text 3"/>
          <p:cNvSpPr/>
          <p:nvPr/>
        </p:nvSpPr>
        <p:spPr>
          <a:xfrm>
            <a:off x="255960" y="658440"/>
            <a:ext cx="8502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0e0ef"/>
                </a:solidFill>
                <a:latin typeface="Calibri"/>
                <a:ea typeface="Calibri"/>
              </a:rPr>
              <a:t>Everything across all 4 parts at a glance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513" name="Shape 4"/>
          <p:cNvSpPr/>
          <p:nvPr/>
        </p:nvSpPr>
        <p:spPr>
          <a:xfrm>
            <a:off x="320040" y="1170360"/>
            <a:ext cx="4204800" cy="8946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14" name="Shape 5"/>
          <p:cNvSpPr/>
          <p:nvPr/>
        </p:nvSpPr>
        <p:spPr>
          <a:xfrm>
            <a:off x="320040" y="1170360"/>
            <a:ext cx="71640" cy="8946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5" name="Shape 6"/>
          <p:cNvSpPr/>
          <p:nvPr/>
        </p:nvSpPr>
        <p:spPr>
          <a:xfrm>
            <a:off x="484560" y="1225440"/>
            <a:ext cx="364320" cy="3643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6" name="Text 7"/>
          <p:cNvSpPr/>
          <p:nvPr/>
        </p:nvSpPr>
        <p:spPr>
          <a:xfrm>
            <a:off x="484560" y="122544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d1b2a"/>
                </a:solidFill>
                <a:latin typeface="Calibri"/>
                <a:ea typeface="Calibri"/>
              </a:rPr>
              <a:t>①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517" name="Text 8"/>
          <p:cNvSpPr/>
          <p:nvPr/>
        </p:nvSpPr>
        <p:spPr>
          <a:xfrm>
            <a:off x="941760" y="1225440"/>
            <a:ext cx="15073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Why OOP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518" name="Text 9"/>
          <p:cNvSpPr/>
          <p:nvPr/>
        </p:nvSpPr>
        <p:spPr>
          <a:xfrm>
            <a:off x="941760" y="1591200"/>
            <a:ext cx="34732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nFly story: 10K procedural lines rebuilt in 1.5 months with half the code using OOP.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519" name="Shape 10"/>
          <p:cNvSpPr/>
          <p:nvPr/>
        </p:nvSpPr>
        <p:spPr>
          <a:xfrm>
            <a:off x="4800600" y="1170360"/>
            <a:ext cx="4204800" cy="8946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20" name="Shape 11"/>
          <p:cNvSpPr/>
          <p:nvPr/>
        </p:nvSpPr>
        <p:spPr>
          <a:xfrm>
            <a:off x="4800600" y="1170360"/>
            <a:ext cx="71640" cy="8946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1" name="Shape 12"/>
          <p:cNvSpPr/>
          <p:nvPr/>
        </p:nvSpPr>
        <p:spPr>
          <a:xfrm>
            <a:off x="4965120" y="1225440"/>
            <a:ext cx="364320" cy="364320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2" name="Text 13"/>
          <p:cNvSpPr/>
          <p:nvPr/>
        </p:nvSpPr>
        <p:spPr>
          <a:xfrm>
            <a:off x="4965120" y="122544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d1b2a"/>
                </a:solidFill>
                <a:latin typeface="Calibri"/>
                <a:ea typeface="Calibri"/>
              </a:rPr>
              <a:t>②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523" name="Text 14"/>
          <p:cNvSpPr/>
          <p:nvPr/>
        </p:nvSpPr>
        <p:spPr>
          <a:xfrm>
            <a:off x="5422320" y="1225440"/>
            <a:ext cx="15073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OOP's Core Power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524" name="Text 15"/>
          <p:cNvSpPr/>
          <p:nvPr/>
        </p:nvSpPr>
        <p:spPr>
          <a:xfrm>
            <a:off x="5422320" y="1591200"/>
            <a:ext cx="34732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Create your own custom data types. Move from generic built-ins to app-specific types.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525" name="Shape 16"/>
          <p:cNvSpPr/>
          <p:nvPr/>
        </p:nvSpPr>
        <p:spPr>
          <a:xfrm>
            <a:off x="320040" y="2139840"/>
            <a:ext cx="4204800" cy="8946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26" name="Shape 17"/>
          <p:cNvSpPr/>
          <p:nvPr/>
        </p:nvSpPr>
        <p:spPr>
          <a:xfrm>
            <a:off x="320040" y="2139840"/>
            <a:ext cx="71640" cy="89460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7" name="Shape 18"/>
          <p:cNvSpPr/>
          <p:nvPr/>
        </p:nvSpPr>
        <p:spPr>
          <a:xfrm>
            <a:off x="484560" y="2194560"/>
            <a:ext cx="364320" cy="364320"/>
          </a:xfrm>
          <a:prstGeom prst="ellipse">
            <a:avLst/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8" name="Text 19"/>
          <p:cNvSpPr/>
          <p:nvPr/>
        </p:nvSpPr>
        <p:spPr>
          <a:xfrm>
            <a:off x="484560" y="219456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d1b2a"/>
                </a:solidFill>
                <a:latin typeface="Calibri"/>
                <a:ea typeface="Calibri"/>
              </a:rPr>
              <a:t>③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529" name="Text 20"/>
          <p:cNvSpPr/>
          <p:nvPr/>
        </p:nvSpPr>
        <p:spPr>
          <a:xfrm>
            <a:off x="941760" y="2194560"/>
            <a:ext cx="15073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Class &amp; Object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530" name="Text 21"/>
          <p:cNvSpPr/>
          <p:nvPr/>
        </p:nvSpPr>
        <p:spPr>
          <a:xfrm>
            <a:off x="941760" y="2560320"/>
            <a:ext cx="34732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Class = blueprint (attributes + methods). Object = instance that follows the blueprint.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531" name="Shape 22"/>
          <p:cNvSpPr/>
          <p:nvPr/>
        </p:nvSpPr>
        <p:spPr>
          <a:xfrm>
            <a:off x="4800600" y="2139840"/>
            <a:ext cx="4204800" cy="8946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32" name="Shape 23"/>
          <p:cNvSpPr/>
          <p:nvPr/>
        </p:nvSpPr>
        <p:spPr>
          <a:xfrm>
            <a:off x="4800600" y="2139840"/>
            <a:ext cx="71640" cy="89460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3" name="Shape 24"/>
          <p:cNvSpPr/>
          <p:nvPr/>
        </p:nvSpPr>
        <p:spPr>
          <a:xfrm>
            <a:off x="4965120" y="2194560"/>
            <a:ext cx="364320" cy="36432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4" name="Text 25"/>
          <p:cNvSpPr/>
          <p:nvPr/>
        </p:nvSpPr>
        <p:spPr>
          <a:xfrm>
            <a:off x="4965120" y="219456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d1b2a"/>
                </a:solidFill>
                <a:latin typeface="Calibri"/>
                <a:ea typeface="Calibri"/>
              </a:rPr>
              <a:t>④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535" name="Text 26"/>
          <p:cNvSpPr/>
          <p:nvPr/>
        </p:nvSpPr>
        <p:spPr>
          <a:xfrm>
            <a:off x="5422320" y="2194560"/>
            <a:ext cx="15073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Constructor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536" name="Text 27"/>
          <p:cNvSpPr/>
          <p:nvPr/>
        </p:nvSpPr>
        <p:spPr>
          <a:xfrm>
            <a:off x="5422320" y="2560320"/>
            <a:ext cx="34732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__init__ runs automatically. Use it for config code that must run before the user acts.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537" name="Shape 28"/>
          <p:cNvSpPr/>
          <p:nvPr/>
        </p:nvSpPr>
        <p:spPr>
          <a:xfrm>
            <a:off x="320040" y="3108960"/>
            <a:ext cx="4204800" cy="8946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38" name="Shape 29"/>
          <p:cNvSpPr/>
          <p:nvPr/>
        </p:nvSpPr>
        <p:spPr>
          <a:xfrm>
            <a:off x="320040" y="3108960"/>
            <a:ext cx="71640" cy="894600"/>
          </a:xfrm>
          <a:prstGeom prst="rect">
            <a:avLst/>
          </a:prstGeom>
          <a:solidFill>
            <a:srgbClr val="90e0ef"/>
          </a:solidFill>
          <a:ln w="12700">
            <a:solidFill>
              <a:srgbClr val="90e0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9" name="Shape 30"/>
          <p:cNvSpPr/>
          <p:nvPr/>
        </p:nvSpPr>
        <p:spPr>
          <a:xfrm>
            <a:off x="484560" y="3163680"/>
            <a:ext cx="364320" cy="364320"/>
          </a:xfrm>
          <a:prstGeom prst="ellipse">
            <a:avLst/>
          </a:prstGeom>
          <a:solidFill>
            <a:srgbClr val="90e0ef"/>
          </a:solidFill>
          <a:ln w="12700">
            <a:solidFill>
              <a:srgbClr val="90e0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0" name="Text 31"/>
          <p:cNvSpPr/>
          <p:nvPr/>
        </p:nvSpPr>
        <p:spPr>
          <a:xfrm>
            <a:off x="484560" y="31636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d1b2a"/>
                </a:solidFill>
                <a:latin typeface="Calibri"/>
                <a:ea typeface="Calibri"/>
              </a:rPr>
              <a:t>⑤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541" name="Text 32"/>
          <p:cNvSpPr/>
          <p:nvPr/>
        </p:nvSpPr>
        <p:spPr>
          <a:xfrm>
            <a:off x="941760" y="3163680"/>
            <a:ext cx="15073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self = Object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542" name="Text 33"/>
          <p:cNvSpPr/>
          <p:nvPr/>
        </p:nvSpPr>
        <p:spPr>
          <a:xfrm>
            <a:off x="941760" y="3529440"/>
            <a:ext cx="34732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Memory-proven. self IS the object. Golden Rule: class members only accessible via object.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543" name="Shape 34"/>
          <p:cNvSpPr/>
          <p:nvPr/>
        </p:nvSpPr>
        <p:spPr>
          <a:xfrm>
            <a:off x="4800600" y="3108960"/>
            <a:ext cx="4204800" cy="8946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44" name="Shape 35"/>
          <p:cNvSpPr/>
          <p:nvPr/>
        </p:nvSpPr>
        <p:spPr>
          <a:xfrm>
            <a:off x="4800600" y="3108960"/>
            <a:ext cx="71640" cy="89460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5" name="Shape 36"/>
          <p:cNvSpPr/>
          <p:nvPr/>
        </p:nvSpPr>
        <p:spPr>
          <a:xfrm>
            <a:off x="4965120" y="3163680"/>
            <a:ext cx="364320" cy="364320"/>
          </a:xfrm>
          <a:prstGeom prst="ellipse">
            <a:avLst/>
          </a:prstGeom>
          <a:solidFill>
            <a:srgbClr val="9b5de5"/>
          </a:solidFill>
          <a:ln w="12700">
            <a:solidFill>
              <a:srgbClr val="9b5d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6" name="Text 37"/>
          <p:cNvSpPr/>
          <p:nvPr/>
        </p:nvSpPr>
        <p:spPr>
          <a:xfrm>
            <a:off x="4965120" y="31636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d1b2a"/>
                </a:solidFill>
                <a:latin typeface="Calibri"/>
                <a:ea typeface="Calibri"/>
              </a:rPr>
              <a:t>⑥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547" name="Text 38"/>
          <p:cNvSpPr/>
          <p:nvPr/>
        </p:nvSpPr>
        <p:spPr>
          <a:xfrm>
            <a:off x="5422320" y="3163680"/>
            <a:ext cx="15073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Magic Methods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548" name="Text 39"/>
          <p:cNvSpPr/>
          <p:nvPr/>
        </p:nvSpPr>
        <p:spPr>
          <a:xfrm>
            <a:off x="5422320" y="3529440"/>
            <a:ext cx="34732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__str__, __add__, __sub__, __mul__, __truediv__ — auto-triggered by Python in context.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549" name="Shape 40"/>
          <p:cNvSpPr/>
          <p:nvPr/>
        </p:nvSpPr>
        <p:spPr>
          <a:xfrm>
            <a:off x="320040" y="4078080"/>
            <a:ext cx="4204800" cy="8946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50" name="Shape 41"/>
          <p:cNvSpPr/>
          <p:nvPr/>
        </p:nvSpPr>
        <p:spPr>
          <a:xfrm>
            <a:off x="320040" y="4078080"/>
            <a:ext cx="71640" cy="894600"/>
          </a:xfrm>
          <a:prstGeom prst="rect">
            <a:avLst/>
          </a:prstGeom>
          <a:solidFill>
            <a:srgbClr val="f15bb5"/>
          </a:solidFill>
          <a:ln w="12700">
            <a:solidFill>
              <a:srgbClr val="f15bb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1" name="Shape 42"/>
          <p:cNvSpPr/>
          <p:nvPr/>
        </p:nvSpPr>
        <p:spPr>
          <a:xfrm>
            <a:off x="484560" y="4133160"/>
            <a:ext cx="364320" cy="364320"/>
          </a:xfrm>
          <a:prstGeom prst="ellipse">
            <a:avLst/>
          </a:prstGeom>
          <a:solidFill>
            <a:srgbClr val="f15bb5"/>
          </a:solidFill>
          <a:ln w="12700">
            <a:solidFill>
              <a:srgbClr val="f15bb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2" name="Text 43"/>
          <p:cNvSpPr/>
          <p:nvPr/>
        </p:nvSpPr>
        <p:spPr>
          <a:xfrm>
            <a:off x="484560" y="413316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d1b2a"/>
                </a:solidFill>
                <a:latin typeface="Calibri"/>
                <a:ea typeface="Calibri"/>
              </a:rPr>
              <a:t>⑦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553" name="Text 44"/>
          <p:cNvSpPr/>
          <p:nvPr/>
        </p:nvSpPr>
        <p:spPr>
          <a:xfrm>
            <a:off x="941760" y="4133160"/>
            <a:ext cx="15073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Fraction Class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554" name="Text 45"/>
          <p:cNvSpPr/>
          <p:nvPr/>
        </p:nvSpPr>
        <p:spPr>
          <a:xfrm>
            <a:off x="941760" y="4498920"/>
            <a:ext cx="34732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Built a complete custom data type: display, +, −, ×, ÷, and decimal conversion.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555" name="Shape 46"/>
          <p:cNvSpPr/>
          <p:nvPr/>
        </p:nvSpPr>
        <p:spPr>
          <a:xfrm>
            <a:off x="4800600" y="4078080"/>
            <a:ext cx="4204800" cy="8946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56" name="Shape 47"/>
          <p:cNvSpPr/>
          <p:nvPr/>
        </p:nvSpPr>
        <p:spPr>
          <a:xfrm>
            <a:off x="4800600" y="4078080"/>
            <a:ext cx="71640" cy="894600"/>
          </a:xfrm>
          <a:prstGeom prst="rect">
            <a:avLst/>
          </a:prstGeom>
          <a:solidFill>
            <a:srgbClr val="8da9c4"/>
          </a:solidFill>
          <a:ln w="12700">
            <a:solidFill>
              <a:srgbClr val="8da9c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7" name="Shape 48"/>
          <p:cNvSpPr/>
          <p:nvPr/>
        </p:nvSpPr>
        <p:spPr>
          <a:xfrm>
            <a:off x="4965120" y="4133160"/>
            <a:ext cx="364320" cy="364320"/>
          </a:xfrm>
          <a:prstGeom prst="ellipse">
            <a:avLst/>
          </a:prstGeom>
          <a:solidFill>
            <a:srgbClr val="8da9c4"/>
          </a:solidFill>
          <a:ln w="12700">
            <a:solidFill>
              <a:srgbClr val="8da9c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8" name="Text 49"/>
          <p:cNvSpPr/>
          <p:nvPr/>
        </p:nvSpPr>
        <p:spPr>
          <a:xfrm>
            <a:off x="4965120" y="413316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d1b2a"/>
                </a:solidFill>
                <a:latin typeface="Calibri"/>
                <a:ea typeface="Calibri"/>
              </a:rPr>
              <a:t>⑧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559" name="Text 50"/>
          <p:cNvSpPr/>
          <p:nvPr/>
        </p:nvSpPr>
        <p:spPr>
          <a:xfrm>
            <a:off x="5422320" y="4133160"/>
            <a:ext cx="15073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Libraries = Classes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560" name="Text 51"/>
          <p:cNvSpPr/>
          <p:nvPr/>
        </p:nvSpPr>
        <p:spPr>
          <a:xfrm>
            <a:off x="5422320" y="4498920"/>
            <a:ext cx="34732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8da9c4"/>
                </a:solidFill>
                <a:latin typeface="Calibri"/>
                <a:ea typeface="Calibri"/>
              </a:rPr>
              <a:t>NumPy, Pandas, Matplotlib — all built exactly as you just built Fraction. You can too.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561" name="Shape 52"/>
          <p:cNvSpPr/>
          <p:nvPr/>
        </p:nvSpPr>
        <p:spPr>
          <a:xfrm>
            <a:off x="320040" y="4937760"/>
            <a:ext cx="8502480" cy="108360"/>
          </a:xfrm>
          <a:prstGeom prst="rect">
            <a:avLst/>
          </a:prstGeom>
          <a:solidFill>
            <a:srgbClr val="122233"/>
          </a:solidFill>
          <a:ln w="12700">
            <a:solidFill>
              <a:srgbClr val="12223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</TotalTime>
  <Application>LibreOffice/7.3.7.2$Linux_X86_64 LibreOffice_project/30$Build-2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2026-02-21T09:16:38Z</dcterms:created>
  <dc:creator>PptxGenJS</dc:creator>
  <dc:description/>
  <dc:language>en-IN</dc:language>
  <cp:lastModifiedBy/>
  <dcterms:modified xsi:type="dcterms:W3CDTF">2026-03-03T22:29:18Z</dcterms:modified>
  <cp:revision>10</cp:revision>
  <dc:subject>PptxGenJS Presentation</dc:subject>
  <dc:title>OOP in Python – Part 4: Magic Methods &amp; Fraction Class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17</vt:i4>
  </property>
  <property fmtid="{D5CDD505-2E9C-101B-9397-08002B2CF9AE}" pid="3" name="PresentationFormat">
    <vt:lpwstr>On-screen Show (16:9)</vt:lpwstr>
  </property>
  <property fmtid="{D5CDD505-2E9C-101B-9397-08002B2CF9AE}" pid="4" name="Slides">
    <vt:i4>17</vt:i4>
  </property>
</Properties>
</file>