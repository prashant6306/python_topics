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8B4C21F-EE88-4341-8243-A52C0512F46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4C5966-2D11-45FF-B96A-7373AED782E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A69F71-AF02-4C6B-95B1-85A63534DCC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DF80F4-2ABE-4FFF-93E6-E72610C4080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7A36E2-A95E-4558-8648-9F654F0847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ED0F70-384F-4E92-84A9-3049707676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7CC290-B7C9-42E2-B9D3-EA5AB2427BD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B09211-3E2B-4429-AA0D-CEA7BA2C9C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61F2C1-9464-426A-8222-F1F01798AE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3C90C1-CD3D-469D-B389-77D85C93168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16A1533-4123-416D-A232-CDBF2A6842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5AFEEB4-1FD4-4D21-9A71-772081F941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06F5F4-3777-4394-BFC2-CDA7033E95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69159B-1FE4-4D7E-80BA-D351498008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2EDAB1-4722-49BC-83BF-9AC9C4096F6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26C23A-A5BA-4D66-84C3-5D496E6BAE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14C987-6285-4ED1-8904-368EDF1234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788CF0-BA26-46F6-8BBE-8B128D40E6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4114800"/>
            <a:ext cx="9143280" cy="10281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57200" y="1097280"/>
            <a:ext cx="109080" cy="2788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777240" y="1097280"/>
            <a:ext cx="7771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OOP in Python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1874520"/>
            <a:ext cx="7771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b703"/>
                </a:solidFill>
                <a:latin typeface="Calibri"/>
                <a:ea typeface="Calibri"/>
              </a:rPr>
              <a:t>Part 3 — Constructor, self &amp; Class Diagram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272484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Week 3 · Session 1  |  File 2 of 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321876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Week 3 · Session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420624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Topics: Methods vs Functions • Class Diagram • Constructor Deep-Dive • self Keyword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6949440" y="228600"/>
            <a:ext cx="2559600" cy="2559600"/>
          </a:xfrm>
          <a:prstGeom prst="ellipse">
            <a:avLst/>
          </a:prstGeom>
          <a:solidFill>
            <a:srgbClr val="ffb703">
              <a:alpha val="10000"/>
            </a:srgbClr>
          </a:solidFill>
          <a:ln w="12700">
            <a:solidFill>
              <a:srgbClr val="ffb703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7589520" y="1325880"/>
            <a:ext cx="1370880" cy="137088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Session Roadmap — Part 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What this file covers, in transcript order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365760" y="1170360"/>
            <a:ext cx="8411760" cy="566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5"/>
          <p:cNvSpPr/>
          <p:nvPr/>
        </p:nvSpPr>
        <p:spPr>
          <a:xfrm>
            <a:off x="365760" y="1170360"/>
            <a:ext cx="474840" cy="566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6"/>
          <p:cNvSpPr/>
          <p:nvPr/>
        </p:nvSpPr>
        <p:spPr>
          <a:xfrm>
            <a:off x="365760" y="1170360"/>
            <a:ext cx="474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951120" y="12254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Methods vs Functions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951120" y="1499760"/>
            <a:ext cx="7588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Inside class = method · Outside class = function · Interview terminology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365760" y="1828800"/>
            <a:ext cx="8411760" cy="5662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Shape 10"/>
          <p:cNvSpPr/>
          <p:nvPr/>
        </p:nvSpPr>
        <p:spPr>
          <a:xfrm>
            <a:off x="365760" y="1828800"/>
            <a:ext cx="474840" cy="566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1"/>
          <p:cNvSpPr/>
          <p:nvPr/>
        </p:nvSpPr>
        <p:spPr>
          <a:xfrm>
            <a:off x="365760" y="1828800"/>
            <a:ext cx="474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951120" y="188352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Class Diagram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951120" y="2157840"/>
            <a:ext cx="7588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Visual box format · + public · − private · Interview format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365760" y="2487240"/>
            <a:ext cx="8411760" cy="566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5"/>
          <p:cNvSpPr/>
          <p:nvPr/>
        </p:nvSpPr>
        <p:spPr>
          <a:xfrm>
            <a:off x="365760" y="2487240"/>
            <a:ext cx="474840" cy="566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6"/>
          <p:cNvSpPr/>
          <p:nvPr/>
        </p:nvSpPr>
        <p:spPr>
          <a:xfrm>
            <a:off x="365760" y="2487240"/>
            <a:ext cx="474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951120" y="254196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Deep-Dive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951120" y="2816280"/>
            <a:ext cx="7588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Superpower · What belongs inside · What doesn't · Philosophical analogy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365760" y="3145680"/>
            <a:ext cx="8411760" cy="5662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20"/>
          <p:cNvSpPr/>
          <p:nvPr/>
        </p:nvSpPr>
        <p:spPr>
          <a:xfrm>
            <a:off x="365760" y="3145680"/>
            <a:ext cx="474840" cy="566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1"/>
          <p:cNvSpPr/>
          <p:nvPr/>
        </p:nvSpPr>
        <p:spPr>
          <a:xfrm>
            <a:off x="365760" y="3145680"/>
            <a:ext cx="474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951120" y="320040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One Constructor Rule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951120" y="3474720"/>
            <a:ext cx="7588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Python allows only ONE __init__ · Compare with Java / C++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Shape 24"/>
          <p:cNvSpPr/>
          <p:nvPr/>
        </p:nvSpPr>
        <p:spPr>
          <a:xfrm>
            <a:off x="365760" y="3803760"/>
            <a:ext cx="8411760" cy="566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Shape 25"/>
          <p:cNvSpPr/>
          <p:nvPr/>
        </p:nvSpPr>
        <p:spPr>
          <a:xfrm>
            <a:off x="365760" y="3803760"/>
            <a:ext cx="474840" cy="566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6"/>
          <p:cNvSpPr/>
          <p:nvPr/>
        </p:nvSpPr>
        <p:spPr>
          <a:xfrm>
            <a:off x="365760" y="3803760"/>
            <a:ext cx="474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27"/>
          <p:cNvSpPr/>
          <p:nvPr/>
        </p:nvSpPr>
        <p:spPr>
          <a:xfrm>
            <a:off x="951120" y="38588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self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951120" y="4133160"/>
            <a:ext cx="7588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Golden Rule · self = current object · Memory proof · Why it must exist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365760" y="4462200"/>
            <a:ext cx="8411760" cy="5662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30"/>
          <p:cNvSpPr/>
          <p:nvPr/>
        </p:nvSpPr>
        <p:spPr>
          <a:xfrm>
            <a:off x="365760" y="4462200"/>
            <a:ext cx="474840" cy="566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31"/>
          <p:cNvSpPr/>
          <p:nvPr/>
        </p:nvSpPr>
        <p:spPr>
          <a:xfrm>
            <a:off x="365760" y="4462200"/>
            <a:ext cx="474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06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951120" y="451728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self in Depth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Text 33"/>
          <p:cNvSpPr/>
          <p:nvPr/>
        </p:nvSpPr>
        <p:spPr>
          <a:xfrm>
            <a:off x="951120" y="4791600"/>
            <a:ext cx="7588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Removing self breaks things · Multiple objects · self for variables too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Methods vs Functions — The Correct Terminology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7 — A distinction that trips students in interviews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320040" y="1143000"/>
            <a:ext cx="8503200" cy="1370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Shape 5"/>
          <p:cNvSpPr/>
          <p:nvPr/>
        </p:nvSpPr>
        <p:spPr>
          <a:xfrm>
            <a:off x="320040" y="1143000"/>
            <a:ext cx="8503200" cy="383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6"/>
          <p:cNvSpPr/>
          <p:nvPr/>
        </p:nvSpPr>
        <p:spPr>
          <a:xfrm>
            <a:off x="457200" y="114300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Term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2286000" y="1143000"/>
            <a:ext cx="3474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760720" y="1143000"/>
            <a:ext cx="2925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Example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457200" y="152712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Method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2286000" y="1527120"/>
            <a:ext cx="3474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 function defined INSIDE a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5760720" y="1527120"/>
            <a:ext cx="2833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data.append(4)  →  append is a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365760" y="2002680"/>
            <a:ext cx="8411760" cy="360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3"/>
          <p:cNvSpPr/>
          <p:nvPr/>
        </p:nvSpPr>
        <p:spPr>
          <a:xfrm>
            <a:off x="457200" y="203904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Calibri"/>
                <a:ea typeface="Calibri"/>
              </a:rPr>
              <a:t>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2286000" y="2039040"/>
            <a:ext cx="3474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 function defined OUTSIDE any class (independent)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5760720" y="2039040"/>
            <a:ext cx="2833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len(data)  →  len is a FUNCTION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320040" y="2697480"/>
            <a:ext cx="4114080" cy="2422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17"/>
          <p:cNvSpPr/>
          <p:nvPr/>
        </p:nvSpPr>
        <p:spPr>
          <a:xfrm>
            <a:off x="320040" y="2697480"/>
            <a:ext cx="4114080" cy="346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8"/>
          <p:cNvSpPr/>
          <p:nvPr/>
        </p:nvSpPr>
        <p:spPr>
          <a:xfrm>
            <a:off x="457200" y="26974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Inside the list Class  → 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365760" y="3090600"/>
            <a:ext cx="3976920" cy="1937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20"/>
          <p:cNvSpPr/>
          <p:nvPr/>
        </p:nvSpPr>
        <p:spPr>
          <a:xfrm>
            <a:off x="365760" y="309060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1"/>
          <p:cNvSpPr/>
          <p:nvPr/>
        </p:nvSpPr>
        <p:spPr>
          <a:xfrm>
            <a:off x="365760" y="309060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457200" y="3346560"/>
            <a:ext cx="3794040" cy="16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 = [10, 20, 30]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data.append(40)   # METHOD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data.insert(0,5)  # METHOD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data.pop()        # METHOD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All defined inside list class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0" name="Shape 23"/>
          <p:cNvSpPr/>
          <p:nvPr/>
        </p:nvSpPr>
        <p:spPr>
          <a:xfrm>
            <a:off x="4709160" y="2697480"/>
            <a:ext cx="4114080" cy="2422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24"/>
          <p:cNvSpPr/>
          <p:nvPr/>
        </p:nvSpPr>
        <p:spPr>
          <a:xfrm>
            <a:off x="4709160" y="2697480"/>
            <a:ext cx="4114080" cy="346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5"/>
          <p:cNvSpPr/>
          <p:nvPr/>
        </p:nvSpPr>
        <p:spPr>
          <a:xfrm>
            <a:off x="4846320" y="269748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Outside any Class  →  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4754880" y="3090600"/>
            <a:ext cx="3976920" cy="1937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27"/>
          <p:cNvSpPr/>
          <p:nvPr/>
        </p:nvSpPr>
        <p:spPr>
          <a:xfrm>
            <a:off x="4754880" y="309060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28"/>
          <p:cNvSpPr/>
          <p:nvPr/>
        </p:nvSpPr>
        <p:spPr>
          <a:xfrm>
            <a:off x="4754880" y="309060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6" name="Text 29"/>
          <p:cNvSpPr/>
          <p:nvPr/>
        </p:nvSpPr>
        <p:spPr>
          <a:xfrm>
            <a:off x="4846320" y="3346560"/>
            <a:ext cx="3794040" cy="16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data = [10, 20, 30]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len(data)         # FUNCTION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print(data)       # FUNCTION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type(data)        # FUNCTION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NOT inside any class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7" name="Shape 30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31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32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Interview Tip: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Always say 'method' for code inside a class, and 'function' for code outside. Using the wrong term tells an interviewer you don't truly understand OOP.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Method or Function?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8.2 — The exact quiz the instructor gave the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320040" y="1143000"/>
            <a:ext cx="8503200" cy="1572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Text 5"/>
          <p:cNvSpPr/>
          <p:nvPr/>
        </p:nvSpPr>
        <p:spPr>
          <a:xfrm>
            <a:off x="457200" y="1234440"/>
            <a:ext cx="8046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Quiz Code: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65760" y="1536120"/>
            <a:ext cx="8411760" cy="1096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7"/>
          <p:cNvSpPr/>
          <p:nvPr/>
        </p:nvSpPr>
        <p:spPr>
          <a:xfrm>
            <a:off x="365760" y="153612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8"/>
          <p:cNvSpPr/>
          <p:nvPr/>
        </p:nvSpPr>
        <p:spPr>
          <a:xfrm>
            <a:off x="365760" y="153612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457200" y="1792080"/>
            <a:ext cx="822888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items = [1, 2]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len(items)      # Question: function or method?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items.append(3) # Question: function or method?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320040" y="2834640"/>
            <a:ext cx="4114080" cy="19926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Shape 11"/>
          <p:cNvSpPr/>
          <p:nvPr/>
        </p:nvSpPr>
        <p:spPr>
          <a:xfrm>
            <a:off x="320040" y="2834640"/>
            <a:ext cx="4114080" cy="365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2"/>
          <p:cNvSpPr/>
          <p:nvPr/>
        </p:nvSpPr>
        <p:spPr>
          <a:xfrm>
            <a:off x="457200" y="283464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len( )  →  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457200" y="3255120"/>
            <a:ext cx="38397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Exists independently, outside any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NOT found inside Python's list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you type data. and wait, len doesn't appear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It's a standalone built-in function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4709160" y="2834640"/>
            <a:ext cx="4114080" cy="19926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Shape 15"/>
          <p:cNvSpPr/>
          <p:nvPr/>
        </p:nvSpPr>
        <p:spPr>
          <a:xfrm>
            <a:off x="4709160" y="2834640"/>
            <a:ext cx="4114080" cy="365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6"/>
          <p:cNvSpPr/>
          <p:nvPr/>
        </p:nvSpPr>
        <p:spPr>
          <a:xfrm>
            <a:off x="4846320" y="283464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append( )  →  METHOD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4846320" y="3255120"/>
            <a:ext cx="38397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Defined INSIDE Python's list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you type data. and wait, it appears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Belongs to list — only lists can call it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It's a method of the list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320040" y="4773240"/>
            <a:ext cx="8503200" cy="291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Shape 19"/>
          <p:cNvSpPr/>
          <p:nvPr/>
        </p:nvSpPr>
        <p:spPr>
          <a:xfrm>
            <a:off x="320040" y="4773240"/>
            <a:ext cx="90720" cy="291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20"/>
          <p:cNvSpPr/>
          <p:nvPr/>
        </p:nvSpPr>
        <p:spPr>
          <a:xfrm>
            <a:off x="502920" y="477324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Instructor's Note: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He admits sometimes accidentally saying 'function' instead of 'method' in class (due to coding in multiple languages). Don't pick up that habit — be precise especially in interviews.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Class Diagram — Visual Representation of a Class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10 — A format used in software design and interviews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320040" y="1143000"/>
            <a:ext cx="4022640" cy="3638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 5"/>
          <p:cNvSpPr/>
          <p:nvPr/>
        </p:nvSpPr>
        <p:spPr>
          <a:xfrm>
            <a:off x="457200" y="1261800"/>
            <a:ext cx="3748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What is a Class Diagram?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57200" y="1609200"/>
            <a:ext cx="374832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 standardized visual box showing a class's structure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Used in software design documents and system architecture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Interviewers sometimes show one and ask questions — know this format!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Divided into 3 horizontal sections: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751320" y="3780000"/>
            <a:ext cx="3748320" cy="474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8"/>
          <p:cNvSpPr/>
          <p:nvPr/>
        </p:nvSpPr>
        <p:spPr>
          <a:xfrm>
            <a:off x="457200" y="2926080"/>
            <a:ext cx="72360" cy="474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9"/>
          <p:cNvSpPr/>
          <p:nvPr/>
        </p:nvSpPr>
        <p:spPr>
          <a:xfrm>
            <a:off x="621720" y="2926080"/>
            <a:ext cx="15080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b4d8"/>
                </a:solidFill>
                <a:latin typeface="Calibri"/>
                <a:ea typeface="Calibri"/>
              </a:rPr>
              <a:t>Section 1 (Top)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2148840" y="292608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Class name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457200" y="3493080"/>
            <a:ext cx="3748320" cy="474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2"/>
          <p:cNvSpPr/>
          <p:nvPr/>
        </p:nvSpPr>
        <p:spPr>
          <a:xfrm>
            <a:off x="457200" y="3493080"/>
            <a:ext cx="72360" cy="474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3"/>
          <p:cNvSpPr/>
          <p:nvPr/>
        </p:nvSpPr>
        <p:spPr>
          <a:xfrm>
            <a:off x="621720" y="3493080"/>
            <a:ext cx="15080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b703"/>
                </a:solidFill>
                <a:latin typeface="Calibri"/>
                <a:ea typeface="Calibri"/>
              </a:rPr>
              <a:t>Section 2 (Middle)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2148840" y="349308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Attributes / data with ± symbols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6" name="Shape 15"/>
          <p:cNvSpPr/>
          <p:nvPr/>
        </p:nvSpPr>
        <p:spPr>
          <a:xfrm>
            <a:off x="457200" y="4060080"/>
            <a:ext cx="3748320" cy="474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16"/>
          <p:cNvSpPr/>
          <p:nvPr/>
        </p:nvSpPr>
        <p:spPr>
          <a:xfrm>
            <a:off x="457200" y="4060080"/>
            <a:ext cx="72360" cy="474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7"/>
          <p:cNvSpPr/>
          <p:nvPr/>
        </p:nvSpPr>
        <p:spPr>
          <a:xfrm>
            <a:off x="621720" y="4060080"/>
            <a:ext cx="15080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alibri"/>
                <a:ea typeface="Calibri"/>
              </a:rPr>
              <a:t>Section 3 (Bottom)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9" name="Text 18"/>
          <p:cNvSpPr/>
          <p:nvPr/>
        </p:nvSpPr>
        <p:spPr>
          <a:xfrm>
            <a:off x="2148840" y="406008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Methods with ± symbols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Shape 19"/>
          <p:cNvSpPr/>
          <p:nvPr/>
        </p:nvSpPr>
        <p:spPr>
          <a:xfrm>
            <a:off x="4617720" y="1143000"/>
            <a:ext cx="4205520" cy="3638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Text 20"/>
          <p:cNvSpPr/>
          <p:nvPr/>
        </p:nvSpPr>
        <p:spPr>
          <a:xfrm>
            <a:off x="475488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ATM Class Diagram Example: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Shape 21"/>
          <p:cNvSpPr/>
          <p:nvPr/>
        </p:nvSpPr>
        <p:spPr>
          <a:xfrm>
            <a:off x="5166360" y="1664280"/>
            <a:ext cx="3108240" cy="474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2"/>
          <p:cNvSpPr/>
          <p:nvPr/>
        </p:nvSpPr>
        <p:spPr>
          <a:xfrm>
            <a:off x="5166360" y="1664280"/>
            <a:ext cx="3108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ATM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4" name="Shape 23"/>
          <p:cNvSpPr/>
          <p:nvPr/>
        </p:nvSpPr>
        <p:spPr>
          <a:xfrm>
            <a:off x="5166360" y="2139840"/>
            <a:ext cx="3108240" cy="5400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24"/>
          <p:cNvSpPr/>
          <p:nvPr/>
        </p:nvSpPr>
        <p:spPr>
          <a:xfrm>
            <a:off x="5166360" y="2194560"/>
            <a:ext cx="3108240" cy="895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 25"/>
          <p:cNvSpPr/>
          <p:nvPr/>
        </p:nvSpPr>
        <p:spPr>
          <a:xfrm>
            <a:off x="5330880" y="224928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− </a:t>
            </a: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pin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Text 26"/>
          <p:cNvSpPr/>
          <p:nvPr/>
        </p:nvSpPr>
        <p:spPr>
          <a:xfrm>
            <a:off x="6556320" y="2249280"/>
            <a:ext cx="1599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Private — PIN code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5330880" y="263340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− </a:t>
            </a: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balance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6556320" y="2633400"/>
            <a:ext cx="1599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Private — account balance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0" name="Shape 29"/>
          <p:cNvSpPr/>
          <p:nvPr/>
        </p:nvSpPr>
        <p:spPr>
          <a:xfrm>
            <a:off x="5166360" y="3090600"/>
            <a:ext cx="3108240" cy="5400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0"/>
          <p:cNvSpPr/>
          <p:nvPr/>
        </p:nvSpPr>
        <p:spPr>
          <a:xfrm>
            <a:off x="5166360" y="3145680"/>
            <a:ext cx="3108240" cy="1462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31"/>
          <p:cNvSpPr/>
          <p:nvPr/>
        </p:nvSpPr>
        <p:spPr>
          <a:xfrm>
            <a:off x="5330880" y="3200400"/>
            <a:ext cx="28796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menu()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Text 32"/>
          <p:cNvSpPr/>
          <p:nvPr/>
        </p:nvSpPr>
        <p:spPr>
          <a:xfrm>
            <a:off x="5330880" y="3465720"/>
            <a:ext cx="28796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create_pin()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5330880" y="3730680"/>
            <a:ext cx="28796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change_pin()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Text 34"/>
          <p:cNvSpPr/>
          <p:nvPr/>
        </p:nvSpPr>
        <p:spPr>
          <a:xfrm>
            <a:off x="5330880" y="3996000"/>
            <a:ext cx="28796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check_balance()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6" name="Text 35"/>
          <p:cNvSpPr/>
          <p:nvPr/>
        </p:nvSpPr>
        <p:spPr>
          <a:xfrm>
            <a:off x="5330880" y="4260960"/>
            <a:ext cx="28796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+ withdraw()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7" name="Shape 36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37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8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Coming Soon: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+ / − symbols represent Encapsulation (public vs private). Full details covered in Tuesday's session.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Access Modifiers in Class Diagrams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10.3 — What + and − mean in a class diagram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320040" y="1143000"/>
            <a:ext cx="4114080" cy="3428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Shape 5"/>
          <p:cNvSpPr/>
          <p:nvPr/>
        </p:nvSpPr>
        <p:spPr>
          <a:xfrm>
            <a:off x="320040" y="1143000"/>
            <a:ext cx="4114080" cy="410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6"/>
          <p:cNvSpPr/>
          <p:nvPr/>
        </p:nvSpPr>
        <p:spPr>
          <a:xfrm>
            <a:off x="502920" y="1143000"/>
            <a:ext cx="3839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Calibri"/>
                <a:ea typeface="Calibri"/>
              </a:rPr>
              <a:t>+   Public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475560" y="1609200"/>
            <a:ext cx="383976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Accessible from OUTSIDE the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 code can read or call it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Example: +menu() — anyone can trigger the menu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Most methods are public by default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Written with a + prefix in diagrams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>
            <a:off x="365760" y="3420000"/>
            <a:ext cx="4004280" cy="1005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9"/>
          <p:cNvSpPr/>
          <p:nvPr/>
        </p:nvSpPr>
        <p:spPr>
          <a:xfrm>
            <a:off x="365760" y="342000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0"/>
          <p:cNvSpPr/>
          <p:nvPr/>
        </p:nvSpPr>
        <p:spPr>
          <a:xfrm>
            <a:off x="365760" y="342000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457200" y="3675960"/>
            <a:ext cx="38214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 = ATM()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machine.menu()    # ✔ public — works fine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4709160" y="1143000"/>
            <a:ext cx="4114080" cy="3428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Shape 13"/>
          <p:cNvSpPr/>
          <p:nvPr/>
        </p:nvSpPr>
        <p:spPr>
          <a:xfrm>
            <a:off x="4709160" y="1143000"/>
            <a:ext cx="4114080" cy="410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4"/>
          <p:cNvSpPr/>
          <p:nvPr/>
        </p:nvSpPr>
        <p:spPr>
          <a:xfrm>
            <a:off x="4864680" y="1143000"/>
            <a:ext cx="3839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d1b2a"/>
                </a:solidFill>
                <a:latin typeface="Calibri"/>
                <a:ea typeface="Calibri"/>
              </a:rPr>
              <a:t>−   </a:t>
            </a:r>
            <a:r>
              <a:rPr b="1" lang="en-US" sz="1600" spc="-1" strike="noStrike">
                <a:solidFill>
                  <a:srgbClr val="0d1b2a"/>
                </a:solidFill>
                <a:latin typeface="Calibri"/>
                <a:ea typeface="Calibri"/>
              </a:rPr>
              <a:t>Private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4864680" y="1609200"/>
            <a:ext cx="383976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NOT accessible from outside the class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Only the class itself can use it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Example: −pin — external code can't read it directly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Used to protect sensitive data (Encapsulation)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Written with a − prefix in diagrams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6" name="Shape 16"/>
          <p:cNvSpPr/>
          <p:nvPr/>
        </p:nvSpPr>
        <p:spPr>
          <a:xfrm>
            <a:off x="4754880" y="3420000"/>
            <a:ext cx="4004280" cy="1005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7"/>
          <p:cNvSpPr/>
          <p:nvPr/>
        </p:nvSpPr>
        <p:spPr>
          <a:xfrm>
            <a:off x="4754880" y="342000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8"/>
          <p:cNvSpPr/>
          <p:nvPr/>
        </p:nvSpPr>
        <p:spPr>
          <a:xfrm>
            <a:off x="4754880" y="342000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4846320" y="3675960"/>
            <a:ext cx="38214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 = ATM()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machine.pin       # ✘ private — should fail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(Enforcement covered Tuesday)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Shape 20"/>
          <p:cNvSpPr/>
          <p:nvPr/>
        </p:nvSpPr>
        <p:spPr>
          <a:xfrm>
            <a:off x="320040" y="4663440"/>
            <a:ext cx="8503200" cy="383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21"/>
          <p:cNvSpPr/>
          <p:nvPr/>
        </p:nvSpPr>
        <p:spPr>
          <a:xfrm>
            <a:off x="320040" y="4663440"/>
            <a:ext cx="90720" cy="383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2"/>
          <p:cNvSpPr/>
          <p:nvPr/>
        </p:nvSpPr>
        <p:spPr>
          <a:xfrm>
            <a:off x="502920" y="466344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Quick Reference:  + = public (accessible outside)     − = private (internal only)     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Constructor __init__ — Deep Dive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7 — Why __init__ is unlike any other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320040" y="1143000"/>
            <a:ext cx="8503200" cy="959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Shape 5"/>
          <p:cNvSpPr/>
          <p:nvPr/>
        </p:nvSpPr>
        <p:spPr>
          <a:xfrm>
            <a:off x="320040" y="1143000"/>
            <a:ext cx="8503200" cy="72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6"/>
          <p:cNvSpPr/>
          <p:nvPr/>
        </p:nvSpPr>
        <p:spPr>
          <a:xfrm>
            <a:off x="457200" y="126180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⚡ </a:t>
            </a: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SUPERPOWER: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2468880" y="1261800"/>
            <a:ext cx="6171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constructor's code runs AUTOMATICALLY — you never need to call it — the instant an object is created.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457200" y="193860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ALL other methods execute only when explicitly called. __init__ is the only exception.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320040" y="2304360"/>
            <a:ext cx="4114080" cy="2724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Text 10"/>
          <p:cNvSpPr/>
          <p:nvPr/>
        </p:nvSpPr>
        <p:spPr>
          <a:xfrm>
            <a:off x="457200" y="241416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— Auto-execution: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365760" y="2724840"/>
            <a:ext cx="4004280" cy="2193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2"/>
          <p:cNvSpPr/>
          <p:nvPr/>
        </p:nvSpPr>
        <p:spPr>
          <a:xfrm>
            <a:off x="365760" y="272484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3"/>
          <p:cNvSpPr/>
          <p:nvPr/>
        </p:nvSpPr>
        <p:spPr>
          <a:xfrm>
            <a:off x="365760" y="272484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457200" y="2980800"/>
            <a:ext cx="382140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print('System ready!')  # auto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m1 = BankATM()  # prints 'System ready!'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m2 = BankATM()  # prints 'System ready!' again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Constructor ran TWICE — once per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4709160" y="2304360"/>
            <a:ext cx="4114080" cy="2724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16"/>
          <p:cNvSpPr/>
          <p:nvPr/>
        </p:nvSpPr>
        <p:spPr>
          <a:xfrm>
            <a:off x="4846320" y="241416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Normal vs Constructor: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Shape 17"/>
          <p:cNvSpPr/>
          <p:nvPr/>
        </p:nvSpPr>
        <p:spPr>
          <a:xfrm>
            <a:off x="4846320" y="2779920"/>
            <a:ext cx="3821400" cy="6210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18"/>
          <p:cNvSpPr/>
          <p:nvPr/>
        </p:nvSpPr>
        <p:spPr>
          <a:xfrm>
            <a:off x="4846320" y="2779920"/>
            <a:ext cx="72360" cy="62100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9"/>
          <p:cNvSpPr/>
          <p:nvPr/>
        </p:nvSpPr>
        <p:spPr>
          <a:xfrm>
            <a:off x="5010840" y="2779920"/>
            <a:ext cx="1690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Normal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6720840" y="2779920"/>
            <a:ext cx="18738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Must be called explicitly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4" name="Shape 21"/>
          <p:cNvSpPr/>
          <p:nvPr/>
        </p:nvSpPr>
        <p:spPr>
          <a:xfrm>
            <a:off x="4846320" y="3529440"/>
            <a:ext cx="3821400" cy="6210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Shape 22"/>
          <p:cNvSpPr/>
          <p:nvPr/>
        </p:nvSpPr>
        <p:spPr>
          <a:xfrm>
            <a:off x="4846320" y="3529440"/>
            <a:ext cx="72360" cy="6210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3"/>
          <p:cNvSpPr/>
          <p:nvPr/>
        </p:nvSpPr>
        <p:spPr>
          <a:xfrm>
            <a:off x="5010840" y="3529440"/>
            <a:ext cx="1690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__init__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Text 24"/>
          <p:cNvSpPr/>
          <p:nvPr/>
        </p:nvSpPr>
        <p:spPr>
          <a:xfrm>
            <a:off x="6720840" y="3529440"/>
            <a:ext cx="18738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Called automatically on creation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Text 25"/>
          <p:cNvSpPr/>
          <p:nvPr/>
        </p:nvSpPr>
        <p:spPr>
          <a:xfrm>
            <a:off x="4846320" y="4334400"/>
            <a:ext cx="38397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Every time a new object is created, constructor runs again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Create 3 objects → constructor runs 3 times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Each object gets its own fresh copy of attributes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Shape 26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Shape 27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8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Multiple Objects: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Each object creation fires __init__ independently. m1 and m2 both got their own secret_code and account_bal — they don't share data.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Belongs Inside the Constructor?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7.2 — The interview answer that separates textbook learners from practitioners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Shape 4"/>
          <p:cNvSpPr/>
          <p:nvPr/>
        </p:nvSpPr>
        <p:spPr>
          <a:xfrm>
            <a:off x="320040" y="1143000"/>
            <a:ext cx="4068360" cy="1937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7" name="Shape 5"/>
          <p:cNvSpPr/>
          <p:nvPr/>
        </p:nvSpPr>
        <p:spPr>
          <a:xfrm>
            <a:off x="320040" y="1143000"/>
            <a:ext cx="4068360" cy="365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6"/>
          <p:cNvSpPr/>
          <p:nvPr/>
        </p:nvSpPr>
        <p:spPr>
          <a:xfrm>
            <a:off x="457200" y="1143000"/>
            <a:ext cx="3821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Wrong (Textbook) Answer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9" name="Text 7"/>
          <p:cNvSpPr/>
          <p:nvPr/>
        </p:nvSpPr>
        <p:spPr>
          <a:xfrm>
            <a:off x="457200" y="1572840"/>
            <a:ext cx="3821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"Constructor is used to initialize variables."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457200" y="2066400"/>
            <a:ext cx="38214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Technically true — but this answer shows you only read a book, not built real apps.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4754880" y="1143000"/>
            <a:ext cx="4068360" cy="1937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Shape 10"/>
          <p:cNvSpPr/>
          <p:nvPr/>
        </p:nvSpPr>
        <p:spPr>
          <a:xfrm>
            <a:off x="4754880" y="1143000"/>
            <a:ext cx="4068360" cy="365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1"/>
          <p:cNvSpPr/>
          <p:nvPr/>
        </p:nvSpPr>
        <p:spPr>
          <a:xfrm>
            <a:off x="4892040" y="1143000"/>
            <a:ext cx="3821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✔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Correct (Practical) Answer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4892040" y="1572840"/>
            <a:ext cx="38214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"Configuration-related code that must run automatically — without any user action — when the app starts."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5" name="Text 13"/>
          <p:cNvSpPr/>
          <p:nvPr/>
        </p:nvSpPr>
        <p:spPr>
          <a:xfrm>
            <a:off x="4892040" y="2487240"/>
            <a:ext cx="3821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The constructor is the ONLY method not under the user's control.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Shape 14"/>
          <p:cNvSpPr/>
          <p:nvPr/>
        </p:nvSpPr>
        <p:spPr>
          <a:xfrm>
            <a:off x="320040" y="3218760"/>
            <a:ext cx="4068360" cy="17823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Shape 15"/>
          <p:cNvSpPr/>
          <p:nvPr/>
        </p:nvSpPr>
        <p:spPr>
          <a:xfrm>
            <a:off x="320040" y="3218760"/>
            <a:ext cx="4068360" cy="346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6"/>
          <p:cNvSpPr/>
          <p:nvPr/>
        </p:nvSpPr>
        <p:spPr>
          <a:xfrm>
            <a:off x="457200" y="3218760"/>
            <a:ext cx="3821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✔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Belongs in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9" name="Text 17"/>
          <p:cNvSpPr/>
          <p:nvPr/>
        </p:nvSpPr>
        <p:spPr>
          <a:xfrm>
            <a:off x="457200" y="3620880"/>
            <a:ext cx="382140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Database connection code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Internet / API connection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Essential variable initialization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 setup that MUST happen before app runs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4754880" y="3218760"/>
            <a:ext cx="4068360" cy="17823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Shape 19"/>
          <p:cNvSpPr/>
          <p:nvPr/>
        </p:nvSpPr>
        <p:spPr>
          <a:xfrm>
            <a:off x="4754880" y="3218760"/>
            <a:ext cx="4068360" cy="346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20"/>
          <p:cNvSpPr/>
          <p:nvPr/>
        </p:nvSpPr>
        <p:spPr>
          <a:xfrm>
            <a:off x="4892040" y="3218760"/>
            <a:ext cx="3821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Does NOT belong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4892040" y="3620880"/>
            <a:ext cx="382140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Withdrawal / payment processing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Booking / ordering features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Anything the user triggers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Any action that needs user input first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Shape 22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Shape 23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24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Ola App Example: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Connecting to the internet when the app opens? Constructor. Booking a cab? User-triggered method. Giving feedback? User-triggered method.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Philosophical Analogy + One Constructor Rule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Sections 7.3 &amp; 7.5 — An analogy you'll never forget + Python's key restriction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320040" y="1143000"/>
            <a:ext cx="8503200" cy="2212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Shape 5"/>
          <p:cNvSpPr/>
          <p:nvPr/>
        </p:nvSpPr>
        <p:spPr>
          <a:xfrm>
            <a:off x="320040" y="1143000"/>
            <a:ext cx="109080" cy="2212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6"/>
          <p:cNvSpPr/>
          <p:nvPr/>
        </p:nvSpPr>
        <p:spPr>
          <a:xfrm>
            <a:off x="567000" y="1234440"/>
            <a:ext cx="8046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The Unforgettable Constructor Analogy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457200" y="1664280"/>
            <a:ext cx="1901160" cy="1462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8"/>
          <p:cNvSpPr/>
          <p:nvPr/>
        </p:nvSpPr>
        <p:spPr>
          <a:xfrm>
            <a:off x="457200" y="1664280"/>
            <a:ext cx="1901160" cy="346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9"/>
          <p:cNvSpPr/>
          <p:nvPr/>
        </p:nvSpPr>
        <p:spPr>
          <a:xfrm>
            <a:off x="457200" y="1664280"/>
            <a:ext cx="1901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God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457200" y="2048400"/>
            <a:ext cx="190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8" name="Text 11"/>
          <p:cNvSpPr/>
          <p:nvPr/>
        </p:nvSpPr>
        <p:spPr>
          <a:xfrm>
            <a:off x="457200" y="2377440"/>
            <a:ext cx="19011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Programmer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2541960" y="1664280"/>
            <a:ext cx="1901160" cy="1462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Shape 13"/>
          <p:cNvSpPr/>
          <p:nvPr/>
        </p:nvSpPr>
        <p:spPr>
          <a:xfrm>
            <a:off x="2541960" y="1664280"/>
            <a:ext cx="1901160" cy="346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4"/>
          <p:cNvSpPr/>
          <p:nvPr/>
        </p:nvSpPr>
        <p:spPr>
          <a:xfrm>
            <a:off x="2541960" y="1664280"/>
            <a:ext cx="1901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Earth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2541960" y="2048400"/>
            <a:ext cx="190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2541960" y="2377440"/>
            <a:ext cx="19011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17"/>
          <p:cNvSpPr/>
          <p:nvPr/>
        </p:nvSpPr>
        <p:spPr>
          <a:xfrm>
            <a:off x="4626720" y="1664280"/>
            <a:ext cx="1901160" cy="1462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Shape 18"/>
          <p:cNvSpPr/>
          <p:nvPr/>
        </p:nvSpPr>
        <p:spPr>
          <a:xfrm>
            <a:off x="4626720" y="1664280"/>
            <a:ext cx="1901160" cy="346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9"/>
          <p:cNvSpPr/>
          <p:nvPr/>
        </p:nvSpPr>
        <p:spPr>
          <a:xfrm>
            <a:off x="4626720" y="1664280"/>
            <a:ext cx="1901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Human Beings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7" name="Text 20"/>
          <p:cNvSpPr/>
          <p:nvPr/>
        </p:nvSpPr>
        <p:spPr>
          <a:xfrm>
            <a:off x="4626720" y="2048400"/>
            <a:ext cx="190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4626720" y="2377440"/>
            <a:ext cx="19011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Objects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6711840" y="1664280"/>
            <a:ext cx="1901160" cy="1462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Shape 23"/>
          <p:cNvSpPr/>
          <p:nvPr/>
        </p:nvSpPr>
        <p:spPr>
          <a:xfrm>
            <a:off x="6711840" y="1664280"/>
            <a:ext cx="1901160" cy="346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24"/>
          <p:cNvSpPr/>
          <p:nvPr/>
        </p:nvSpPr>
        <p:spPr>
          <a:xfrm>
            <a:off x="6711840" y="1664280"/>
            <a:ext cx="1901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Death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2" name="Text 25"/>
          <p:cNvSpPr/>
          <p:nvPr/>
        </p:nvSpPr>
        <p:spPr>
          <a:xfrm>
            <a:off x="6711840" y="2048400"/>
            <a:ext cx="190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↔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3" name="Text 26"/>
          <p:cNvSpPr/>
          <p:nvPr/>
        </p:nvSpPr>
        <p:spPr>
          <a:xfrm>
            <a:off x="6711840" y="2377440"/>
            <a:ext cx="19011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The Constructor Code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27"/>
          <p:cNvSpPr/>
          <p:nvPr/>
        </p:nvSpPr>
        <p:spPr>
          <a:xfrm>
            <a:off x="567000" y="3127320"/>
            <a:ext cx="8046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Why? Because death is GUARANTEED for every human (object) — and it's NOT under human control.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Just like constructor code is guaranteed to run and is NOT under the user's control.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Shape 28"/>
          <p:cNvSpPr/>
          <p:nvPr/>
        </p:nvSpPr>
        <p:spPr>
          <a:xfrm>
            <a:off x="320040" y="3858840"/>
            <a:ext cx="8503200" cy="9320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6" name="Shape 29"/>
          <p:cNvSpPr/>
          <p:nvPr/>
        </p:nvSpPr>
        <p:spPr>
          <a:xfrm>
            <a:off x="320040" y="3858840"/>
            <a:ext cx="8503200" cy="72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30"/>
          <p:cNvSpPr/>
          <p:nvPr/>
        </p:nvSpPr>
        <p:spPr>
          <a:xfrm>
            <a:off x="457200" y="396864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Calibri"/>
                <a:ea typeface="Calibri"/>
              </a:rPr>
              <a:t>Python Rule: Only ONE Constructor Per Class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Text 31"/>
          <p:cNvSpPr/>
          <p:nvPr/>
        </p:nvSpPr>
        <p:spPr>
          <a:xfrm>
            <a:off x="457200" y="431604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→  only one __init__ allowed     </a:t>
            </a: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Java  </a:t>
            </a: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→  multiple constructors (overloading)     </a:t>
            </a: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C++  </a:t>
            </a: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→  same as Java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9" name="Shape 32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33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34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Also: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 Python the constructor name is always __init__ and cannot be renamed. In Java the constructor name equals the class name. In C++ the same.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'self'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5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 — 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320040" y="1143000"/>
            <a:ext cx="8503200" cy="7491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Shape 5"/>
          <p:cNvSpPr/>
          <p:nvPr/>
        </p:nvSpPr>
        <p:spPr>
          <a:xfrm>
            <a:off x="320040" y="1143000"/>
            <a:ext cx="8503200" cy="63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6"/>
          <p:cNvSpPr/>
          <p:nvPr/>
        </p:nvSpPr>
        <p:spPr>
          <a:xfrm>
            <a:off x="457200" y="123444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self appears in THREE places in every class — and each serves a different purpose.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320040" y="2011680"/>
            <a:ext cx="8503200" cy="867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8"/>
          <p:cNvSpPr/>
          <p:nvPr/>
        </p:nvSpPr>
        <p:spPr>
          <a:xfrm>
            <a:off x="320040" y="2011680"/>
            <a:ext cx="90720" cy="867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Shape 9"/>
          <p:cNvSpPr/>
          <p:nvPr/>
        </p:nvSpPr>
        <p:spPr>
          <a:xfrm>
            <a:off x="502920" y="2212920"/>
            <a:ext cx="383400" cy="383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10"/>
          <p:cNvSpPr/>
          <p:nvPr/>
        </p:nvSpPr>
        <p:spPr>
          <a:xfrm>
            <a:off x="502920" y="22129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3" name="Text 11"/>
          <p:cNvSpPr/>
          <p:nvPr/>
        </p:nvSpPr>
        <p:spPr>
          <a:xfrm>
            <a:off x="1005840" y="206640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Method Definitions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4" name="Text 12"/>
          <p:cNvSpPr/>
          <p:nvPr/>
        </p:nvSpPr>
        <p:spPr>
          <a:xfrm>
            <a:off x="1005840" y="248724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First parameter in EVERY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5" name="Shape 13"/>
          <p:cNvSpPr/>
          <p:nvPr/>
        </p:nvSpPr>
        <p:spPr>
          <a:xfrm>
            <a:off x="3794760" y="2084760"/>
            <a:ext cx="4754160" cy="730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4"/>
          <p:cNvSpPr/>
          <p:nvPr/>
        </p:nvSpPr>
        <p:spPr>
          <a:xfrm>
            <a:off x="3886200" y="2139840"/>
            <a:ext cx="4571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    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show_menu(self):   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do_withdraw(self):  # ← here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07" name="Shape 15"/>
          <p:cNvSpPr/>
          <p:nvPr/>
        </p:nvSpPr>
        <p:spPr>
          <a:xfrm>
            <a:off x="320040" y="2999160"/>
            <a:ext cx="8503200" cy="867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Shape 16"/>
          <p:cNvSpPr/>
          <p:nvPr/>
        </p:nvSpPr>
        <p:spPr>
          <a:xfrm>
            <a:off x="320040" y="2999160"/>
            <a:ext cx="90720" cy="867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17"/>
          <p:cNvSpPr/>
          <p:nvPr/>
        </p:nvSpPr>
        <p:spPr>
          <a:xfrm>
            <a:off x="502920" y="3200400"/>
            <a:ext cx="383400" cy="3834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18"/>
          <p:cNvSpPr/>
          <p:nvPr/>
        </p:nvSpPr>
        <p:spPr>
          <a:xfrm>
            <a:off x="502920" y="32004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1" name="Text 19"/>
          <p:cNvSpPr/>
          <p:nvPr/>
        </p:nvSpPr>
        <p:spPr>
          <a:xfrm>
            <a:off x="1005840" y="305424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Attribute Names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2" name="Text 20"/>
          <p:cNvSpPr/>
          <p:nvPr/>
        </p:nvSpPr>
        <p:spPr>
          <a:xfrm>
            <a:off x="1005840" y="347472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Prefix on every class variable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Shape 21"/>
          <p:cNvSpPr/>
          <p:nvPr/>
        </p:nvSpPr>
        <p:spPr>
          <a:xfrm>
            <a:off x="3794760" y="3072240"/>
            <a:ext cx="4754160" cy="730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22"/>
          <p:cNvSpPr/>
          <p:nvPr/>
        </p:nvSpPr>
        <p:spPr>
          <a:xfrm>
            <a:off x="3886200" y="3127320"/>
            <a:ext cx="4571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self.secret_code = ''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06d6a0"/>
                </a:solidFill>
                <a:latin typeface="Consolas"/>
                <a:ea typeface="Consolas"/>
              </a:rPr>
              <a:t>self.account_bal  = 0  # ← here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15" name="Shape 23"/>
          <p:cNvSpPr/>
          <p:nvPr/>
        </p:nvSpPr>
        <p:spPr>
          <a:xfrm>
            <a:off x="320040" y="3986640"/>
            <a:ext cx="8503200" cy="867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6" name="Shape 24"/>
          <p:cNvSpPr/>
          <p:nvPr/>
        </p:nvSpPr>
        <p:spPr>
          <a:xfrm>
            <a:off x="320040" y="3986640"/>
            <a:ext cx="90720" cy="867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25"/>
          <p:cNvSpPr/>
          <p:nvPr/>
        </p:nvSpPr>
        <p:spPr>
          <a:xfrm>
            <a:off x="502920" y="4187880"/>
            <a:ext cx="383400" cy="383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26"/>
          <p:cNvSpPr/>
          <p:nvPr/>
        </p:nvSpPr>
        <p:spPr>
          <a:xfrm>
            <a:off x="502920" y="4187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9" name="Text 27"/>
          <p:cNvSpPr/>
          <p:nvPr/>
        </p:nvSpPr>
        <p:spPr>
          <a:xfrm>
            <a:off x="1005840" y="404172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Method Calls Inside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0" name="Text 28"/>
          <p:cNvSpPr/>
          <p:nvPr/>
        </p:nvSpPr>
        <p:spPr>
          <a:xfrm>
            <a:off x="1005840" y="446220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When one method calls another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Shape 29"/>
          <p:cNvSpPr/>
          <p:nvPr/>
        </p:nvSpPr>
        <p:spPr>
          <a:xfrm>
            <a:off x="3794760" y="4060080"/>
            <a:ext cx="4754160" cy="7308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30"/>
          <p:cNvSpPr/>
          <p:nvPr/>
        </p:nvSpPr>
        <p:spPr>
          <a:xfrm>
            <a:off x="3886200" y="4114800"/>
            <a:ext cx="4571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b703"/>
                </a:solidFill>
                <a:latin typeface="Consolas"/>
                <a:ea typeface="Consolas"/>
              </a:rPr>
              <a:t>self.show_menu()   # ← here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# (can't call directly without self)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23" name="Shape 31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Shape 32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33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Instructor's Warning: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'If you miss how self works, you'll be troubled by it forever. Give me your full focus for the next 10 minutes.'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Golden Rule of 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9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9.2 — The foundation that explains WHY self must exist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320040" y="1143000"/>
            <a:ext cx="8503200" cy="1023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Shape 5"/>
          <p:cNvSpPr/>
          <p:nvPr/>
        </p:nvSpPr>
        <p:spPr>
          <a:xfrm>
            <a:off x="320040" y="1143000"/>
            <a:ext cx="8503200" cy="72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6"/>
          <p:cNvSpPr/>
          <p:nvPr/>
        </p:nvSpPr>
        <p:spPr>
          <a:xfrm>
            <a:off x="457200" y="1261800"/>
            <a:ext cx="18280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b703"/>
                </a:solidFill>
                <a:latin typeface="Calibri"/>
                <a:ea typeface="Calibri"/>
              </a:rPr>
              <a:t>Golden Rule: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2286000" y="1261800"/>
            <a:ext cx="6354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Inside a class, the data (attributes) and methods can ONLY be accessed by the OBJECT of that class.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4" name="Text 8"/>
          <p:cNvSpPr/>
          <p:nvPr/>
        </p:nvSpPr>
        <p:spPr>
          <a:xfrm>
            <a:off x="2286000" y="1810440"/>
            <a:ext cx="6354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Nobody else — not even other methods within the same class — can directly access them.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5" name="Shape 9"/>
          <p:cNvSpPr/>
          <p:nvPr/>
        </p:nvSpPr>
        <p:spPr>
          <a:xfrm>
            <a:off x="320040" y="2286000"/>
            <a:ext cx="4114080" cy="2724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Text 10"/>
          <p:cNvSpPr/>
          <p:nvPr/>
        </p:nvSpPr>
        <p:spPr>
          <a:xfrm>
            <a:off x="457200" y="239580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— Object has full access: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7" name="Shape 11"/>
          <p:cNvSpPr/>
          <p:nvPr/>
        </p:nvSpPr>
        <p:spPr>
          <a:xfrm>
            <a:off x="365760" y="2724840"/>
            <a:ext cx="4004280" cy="2175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12"/>
          <p:cNvSpPr/>
          <p:nvPr/>
        </p:nvSpPr>
        <p:spPr>
          <a:xfrm>
            <a:off x="365760" y="272484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13"/>
          <p:cNvSpPr/>
          <p:nvPr/>
        </p:nvSpPr>
        <p:spPr>
          <a:xfrm>
            <a:off x="365760" y="272484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457200" y="2980800"/>
            <a:ext cx="382140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 = ATM()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machine.  # type dot — see ALL members: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secret_code, account_bal,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show_menu, set_pin,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update_pin, do_withdraw ...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The OBJECT (machine) can reach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everything inside the class.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1" name="Shape 15"/>
          <p:cNvSpPr/>
          <p:nvPr/>
        </p:nvSpPr>
        <p:spPr>
          <a:xfrm>
            <a:off x="4709160" y="2286000"/>
            <a:ext cx="4114080" cy="2724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2" name="Text 16"/>
          <p:cNvSpPr/>
          <p:nvPr/>
        </p:nvSpPr>
        <p:spPr>
          <a:xfrm>
            <a:off x="4846320" y="239580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Critical Quiz: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3" name="Text 17"/>
          <p:cNvSpPr/>
          <p:nvPr/>
        </p:nvSpPr>
        <p:spPr>
          <a:xfrm>
            <a:off x="4846320" y="2724840"/>
            <a:ext cx="38214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Q: Can check_balance() directly call withdraw() inside the ATM class?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4" name="Shape 18"/>
          <p:cNvSpPr/>
          <p:nvPr/>
        </p:nvSpPr>
        <p:spPr>
          <a:xfrm>
            <a:off x="4846320" y="3438000"/>
            <a:ext cx="3821400" cy="5662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5" name="Shape 19"/>
          <p:cNvSpPr/>
          <p:nvPr/>
        </p:nvSpPr>
        <p:spPr>
          <a:xfrm>
            <a:off x="4846320" y="3438000"/>
            <a:ext cx="3821400" cy="72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0"/>
          <p:cNvSpPr/>
          <p:nvPr/>
        </p:nvSpPr>
        <p:spPr>
          <a:xfrm>
            <a:off x="4983480" y="3547800"/>
            <a:ext cx="1005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6b6b"/>
                </a:solidFill>
                <a:latin typeface="Calibri"/>
                <a:ea typeface="Calibri"/>
              </a:rPr>
              <a:t>A:  NO!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47" name="Text 21"/>
          <p:cNvSpPr/>
          <p:nvPr/>
        </p:nvSpPr>
        <p:spPr>
          <a:xfrm>
            <a:off x="6035040" y="3547800"/>
            <a:ext cx="2541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Methods cannot talk to each other directly.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8" name="Text 22"/>
          <p:cNvSpPr/>
          <p:nvPr/>
        </p:nvSpPr>
        <p:spPr>
          <a:xfrm>
            <a:off x="4846320" y="4060080"/>
            <a:ext cx="3821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They MUST communicate through an object of the class.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9" name="Text 23"/>
          <p:cNvSpPr/>
          <p:nvPr/>
        </p:nvSpPr>
        <p:spPr>
          <a:xfrm>
            <a:off x="4846320" y="4443840"/>
            <a:ext cx="3821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b703"/>
                </a:solidFill>
                <a:latin typeface="Calibri"/>
                <a:ea typeface="Calibri"/>
              </a:rPr>
              <a:t>That object is self.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0" name="Shape 24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1" name="Shape 25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26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Key Concept: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Golden Rule is the REASON self exists. Without an object to relay calls through, methods would be isolated — unable to use attributes or call each other.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IS 'self'? — The Big Reveal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9.3 — Proved with memory addresses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320040" y="1143000"/>
            <a:ext cx="8503200" cy="895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8" name="Shape 5"/>
          <p:cNvSpPr/>
          <p:nvPr/>
        </p:nvSpPr>
        <p:spPr>
          <a:xfrm>
            <a:off x="320040" y="1143000"/>
            <a:ext cx="8503200" cy="72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6"/>
          <p:cNvSpPr/>
          <p:nvPr/>
        </p:nvSpPr>
        <p:spPr>
          <a:xfrm>
            <a:off x="457200" y="1261800"/>
            <a:ext cx="1736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CONCLUSION: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2194560" y="1261800"/>
            <a:ext cx="6491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self IS the current object of the class — nothing more, nothing less.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457200" y="1874520"/>
            <a:ext cx="8320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self and obj point to the exact same memory address. They are the same thing.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320040" y="2267640"/>
            <a:ext cx="5028480" cy="248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3" name="Text 10"/>
          <p:cNvSpPr/>
          <p:nvPr/>
        </p:nvSpPr>
        <p:spPr>
          <a:xfrm>
            <a:off x="457200" y="2377440"/>
            <a:ext cx="4662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Memory Address Proof: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365760" y="2688480"/>
            <a:ext cx="4853880" cy="208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12"/>
          <p:cNvSpPr/>
          <p:nvPr/>
        </p:nvSpPr>
        <p:spPr>
          <a:xfrm>
            <a:off x="365760" y="268848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13"/>
          <p:cNvSpPr/>
          <p:nvPr/>
        </p:nvSpPr>
        <p:spPr>
          <a:xfrm>
            <a:off x="365760" y="268848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7" name="Text 14"/>
          <p:cNvSpPr/>
          <p:nvPr/>
        </p:nvSpPr>
        <p:spPr>
          <a:xfrm>
            <a:off x="457200" y="2944440"/>
            <a:ext cx="4735800" cy="16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print(id(self))   # address of self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print(id(kiosk))          # address of kiosk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BOTH lines print THE SAME address!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e.g.  140456789012  (inside __init__)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       140456789012  (outside, via kiosk)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5577840" y="2267640"/>
            <a:ext cx="3245400" cy="11512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9" name="Shape 16"/>
          <p:cNvSpPr/>
          <p:nvPr/>
        </p:nvSpPr>
        <p:spPr>
          <a:xfrm>
            <a:off x="5577840" y="2267640"/>
            <a:ext cx="3245400" cy="346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17"/>
          <p:cNvSpPr/>
          <p:nvPr/>
        </p:nvSpPr>
        <p:spPr>
          <a:xfrm>
            <a:off x="5715000" y="2267640"/>
            <a:ext cx="2971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How Python actually works: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1" name="Shape 18"/>
          <p:cNvSpPr/>
          <p:nvPr/>
        </p:nvSpPr>
        <p:spPr>
          <a:xfrm>
            <a:off x="5623560" y="2651760"/>
            <a:ext cx="3199680" cy="947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Shape 19"/>
          <p:cNvSpPr/>
          <p:nvPr/>
        </p:nvSpPr>
        <p:spPr>
          <a:xfrm>
            <a:off x="5623560" y="265176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20"/>
          <p:cNvSpPr/>
          <p:nvPr/>
        </p:nvSpPr>
        <p:spPr>
          <a:xfrm>
            <a:off x="5623560" y="265176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74" name="Text 21"/>
          <p:cNvSpPr/>
          <p:nvPr/>
        </p:nvSpPr>
        <p:spPr>
          <a:xfrm>
            <a:off x="5715000" y="2907720"/>
            <a:ext cx="2925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You write: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kiosk.update_pin()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Python does internally: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BankATM.update_pin(kiosk)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75" name="Shape 22"/>
          <p:cNvSpPr/>
          <p:nvPr/>
        </p:nvSpPr>
        <p:spPr>
          <a:xfrm>
            <a:off x="5577840" y="3600000"/>
            <a:ext cx="3245400" cy="1154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6" name="Shape 23"/>
          <p:cNvSpPr/>
          <p:nvPr/>
        </p:nvSpPr>
        <p:spPr>
          <a:xfrm>
            <a:off x="5577840" y="3600000"/>
            <a:ext cx="3245400" cy="346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24"/>
          <p:cNvSpPr/>
          <p:nvPr/>
        </p:nvSpPr>
        <p:spPr>
          <a:xfrm>
            <a:off x="5715000" y="3493080"/>
            <a:ext cx="2971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What this means for you: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8" name="Text 25"/>
          <p:cNvSpPr/>
          <p:nvPr/>
        </p:nvSpPr>
        <p:spPr>
          <a:xfrm>
            <a:off x="5715000" y="3895200"/>
            <a:ext cx="3016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Python auto-passes the object as 1st arg, That argument is received as 'self'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fb703"/>
                </a:solidFill>
                <a:latin typeface="Calibri"/>
                <a:ea typeface="Calibri"/>
              </a:rPr>
              <a:t>So every method MUST have self as 1st param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9" name="Shape 26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0" name="Shape 27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28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 and the object are two names for the same thing.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Why Does self Exist? — The Full Picture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9.4 — Without self, methods are isolated islands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6" name="Shape 4"/>
          <p:cNvSpPr/>
          <p:nvPr/>
        </p:nvSpPr>
        <p:spPr>
          <a:xfrm>
            <a:off x="320040" y="1143000"/>
            <a:ext cx="4114080" cy="2331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7" name="Shape 5"/>
          <p:cNvSpPr/>
          <p:nvPr/>
        </p:nvSpPr>
        <p:spPr>
          <a:xfrm>
            <a:off x="320040" y="1143000"/>
            <a:ext cx="4114080" cy="346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6"/>
          <p:cNvSpPr/>
          <p:nvPr/>
        </p:nvSpPr>
        <p:spPr>
          <a:xfrm>
            <a:off x="457200" y="11430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WRONG — won't work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9" name="Shape 7"/>
          <p:cNvSpPr/>
          <p:nvPr/>
        </p:nvSpPr>
        <p:spPr>
          <a:xfrm>
            <a:off x="365760" y="1536120"/>
            <a:ext cx="4004280" cy="182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Shape 8"/>
          <p:cNvSpPr/>
          <p:nvPr/>
        </p:nvSpPr>
        <p:spPr>
          <a:xfrm>
            <a:off x="365760" y="153612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9"/>
          <p:cNvSpPr/>
          <p:nvPr/>
        </p:nvSpPr>
        <p:spPr>
          <a:xfrm>
            <a:off x="365760" y="153612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457200" y="1792080"/>
            <a:ext cx="3821400" cy="15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6b6b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f6b6b"/>
                </a:solidFill>
                <a:latin typeface="Consolas"/>
                <a:ea typeface="Consolas"/>
              </a:rPr>
              <a:t>show_menu()  # ERROR!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Cannot call directly —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violates Golden Rule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4709160" y="1143000"/>
            <a:ext cx="4114080" cy="2331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4" name="Shape 12"/>
          <p:cNvSpPr/>
          <p:nvPr/>
        </p:nvSpPr>
        <p:spPr>
          <a:xfrm>
            <a:off x="4709160" y="1143000"/>
            <a:ext cx="4114080" cy="346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13"/>
          <p:cNvSpPr/>
          <p:nvPr/>
        </p:nvSpPr>
        <p:spPr>
          <a:xfrm>
            <a:off x="4846320" y="114300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✔  </a:t>
            </a: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CORRECT — must use self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6" name="Shape 14"/>
          <p:cNvSpPr/>
          <p:nvPr/>
        </p:nvSpPr>
        <p:spPr>
          <a:xfrm>
            <a:off x="4754880" y="1536120"/>
            <a:ext cx="4004280" cy="1828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15"/>
          <p:cNvSpPr/>
          <p:nvPr/>
        </p:nvSpPr>
        <p:spPr>
          <a:xfrm>
            <a:off x="4754880" y="153612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16"/>
          <p:cNvSpPr/>
          <p:nvPr/>
        </p:nvSpPr>
        <p:spPr>
          <a:xfrm>
            <a:off x="4754880" y="153612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99" name="Text 17"/>
          <p:cNvSpPr/>
          <p:nvPr/>
        </p:nvSpPr>
        <p:spPr>
          <a:xfrm>
            <a:off x="4846320" y="1792080"/>
            <a:ext cx="3821400" cy="15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  # ✔ works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self IS the object —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communicates through it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0" name="Shape 18"/>
          <p:cNvSpPr/>
          <p:nvPr/>
        </p:nvSpPr>
        <p:spPr>
          <a:xfrm>
            <a:off x="320040" y="3611880"/>
            <a:ext cx="8503200" cy="1389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1" name="Text 19"/>
          <p:cNvSpPr/>
          <p:nvPr/>
        </p:nvSpPr>
        <p:spPr>
          <a:xfrm>
            <a:off x="457200" y="371232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Communication Flow Inside a Class: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2" name="Shape 20"/>
          <p:cNvSpPr/>
          <p:nvPr/>
        </p:nvSpPr>
        <p:spPr>
          <a:xfrm>
            <a:off x="548640" y="4041720"/>
            <a:ext cx="2285280" cy="803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3" name="Shape 21"/>
          <p:cNvSpPr/>
          <p:nvPr/>
        </p:nvSpPr>
        <p:spPr>
          <a:xfrm>
            <a:off x="548640" y="4041720"/>
            <a:ext cx="2285280" cy="72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22"/>
          <p:cNvSpPr/>
          <p:nvPr/>
        </p:nvSpPr>
        <p:spPr>
          <a:xfrm>
            <a:off x="548640" y="4114800"/>
            <a:ext cx="2285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__init__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2853000" y="429768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6" name="Shape 24"/>
          <p:cNvSpPr/>
          <p:nvPr/>
        </p:nvSpPr>
        <p:spPr>
          <a:xfrm>
            <a:off x="3291840" y="4041720"/>
            <a:ext cx="2285280" cy="803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7" name="Shape 25"/>
          <p:cNvSpPr/>
          <p:nvPr/>
        </p:nvSpPr>
        <p:spPr>
          <a:xfrm>
            <a:off x="3291840" y="4041720"/>
            <a:ext cx="2285280" cy="72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26"/>
          <p:cNvSpPr/>
          <p:nvPr/>
        </p:nvSpPr>
        <p:spPr>
          <a:xfrm>
            <a:off x="3291840" y="4114800"/>
            <a:ext cx="2285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self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(object)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9" name="Text 27"/>
          <p:cNvSpPr/>
          <p:nvPr/>
        </p:nvSpPr>
        <p:spPr>
          <a:xfrm>
            <a:off x="5596200" y="429768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10" name="Shape 28"/>
          <p:cNvSpPr/>
          <p:nvPr/>
        </p:nvSpPr>
        <p:spPr>
          <a:xfrm>
            <a:off x="6035040" y="4041720"/>
            <a:ext cx="2285280" cy="8038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1" name="Shape 29"/>
          <p:cNvSpPr/>
          <p:nvPr/>
        </p:nvSpPr>
        <p:spPr>
          <a:xfrm>
            <a:off x="6035040" y="4041720"/>
            <a:ext cx="2285280" cy="72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30"/>
          <p:cNvSpPr/>
          <p:nvPr/>
        </p:nvSpPr>
        <p:spPr>
          <a:xfrm>
            <a:off x="6035040" y="4114800"/>
            <a:ext cx="2285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show_menu()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3" name="Text 31"/>
          <p:cNvSpPr/>
          <p:nvPr/>
        </p:nvSpPr>
        <p:spPr>
          <a:xfrm>
            <a:off x="457200" y="4901040"/>
            <a:ext cx="832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Method must use self to relay call → self IS the object → object can call any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4" name="Shape 32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5" name="Shape 33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Text 34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Key Takeaway: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 solves the Golden Rule restriction. By going through self (the object), one method can trigger any other method or access any attribute.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Proof: Removing 'self' Breaks Everything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9.5 — Live error demonstration from the lecture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320040" y="1143000"/>
            <a:ext cx="5119920" cy="365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2" name="Text 5"/>
          <p:cNvSpPr/>
          <p:nvPr/>
        </p:nvSpPr>
        <p:spPr>
          <a:xfrm>
            <a:off x="457200" y="126180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Code Without self (Broken):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3" name="Shape 6"/>
          <p:cNvSpPr/>
          <p:nvPr/>
        </p:nvSpPr>
        <p:spPr>
          <a:xfrm>
            <a:off x="365760" y="1591200"/>
            <a:ext cx="4982760" cy="1901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Shape 7"/>
          <p:cNvSpPr/>
          <p:nvPr/>
        </p:nvSpPr>
        <p:spPr>
          <a:xfrm>
            <a:off x="365760" y="159120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8"/>
          <p:cNvSpPr/>
          <p:nvPr/>
        </p:nvSpPr>
        <p:spPr>
          <a:xfrm>
            <a:off x="365760" y="159120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26" name="Text 9"/>
          <p:cNvSpPr/>
          <p:nvPr/>
        </p:nvSpPr>
        <p:spPr>
          <a:xfrm>
            <a:off x="457200" y="1847160"/>
            <a:ext cx="479988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update_pin():  # MISSING self!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pass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6b6b"/>
                </a:solidFill>
                <a:latin typeface="Consolas"/>
                <a:ea typeface="Consolas"/>
              </a:rPr>
              <a:t>kiosk.update_pin()    # ← triggers error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7" name="Shape 10"/>
          <p:cNvSpPr/>
          <p:nvPr/>
        </p:nvSpPr>
        <p:spPr>
          <a:xfrm>
            <a:off x="365760" y="3547800"/>
            <a:ext cx="4982760" cy="10508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8" name="Shape 11"/>
          <p:cNvSpPr/>
          <p:nvPr/>
        </p:nvSpPr>
        <p:spPr>
          <a:xfrm>
            <a:off x="365760" y="3547800"/>
            <a:ext cx="4982760" cy="63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12"/>
          <p:cNvSpPr/>
          <p:nvPr/>
        </p:nvSpPr>
        <p:spPr>
          <a:xfrm>
            <a:off x="502920" y="363024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Error Message: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0" name="Shape 13"/>
          <p:cNvSpPr/>
          <p:nvPr/>
        </p:nvSpPr>
        <p:spPr>
          <a:xfrm>
            <a:off x="402480" y="3931920"/>
            <a:ext cx="4918680" cy="621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Shape 14"/>
          <p:cNvSpPr/>
          <p:nvPr/>
        </p:nvSpPr>
        <p:spPr>
          <a:xfrm>
            <a:off x="402480" y="393192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15"/>
          <p:cNvSpPr/>
          <p:nvPr/>
        </p:nvSpPr>
        <p:spPr>
          <a:xfrm>
            <a:off x="402480" y="393192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33" name="Text 16"/>
          <p:cNvSpPr/>
          <p:nvPr/>
        </p:nvSpPr>
        <p:spPr>
          <a:xfrm>
            <a:off x="493920" y="4187880"/>
            <a:ext cx="4735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TypeError: update_pin() takes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positional arguments but 1 was given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4" name="Shape 17"/>
          <p:cNvSpPr/>
          <p:nvPr/>
        </p:nvSpPr>
        <p:spPr>
          <a:xfrm>
            <a:off x="5623560" y="1143000"/>
            <a:ext cx="3199680" cy="3455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5" name="Text 18"/>
          <p:cNvSpPr/>
          <p:nvPr/>
        </p:nvSpPr>
        <p:spPr>
          <a:xfrm>
            <a:off x="5760720" y="126180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Why This Error Happens: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6" name="Text 19"/>
          <p:cNvSpPr/>
          <p:nvPr/>
        </p:nvSpPr>
        <p:spPr>
          <a:xfrm>
            <a:off x="5760720" y="1591200"/>
            <a:ext cx="2925360" cy="23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you call kiosk.update_pin()…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automatically passes kiosk as the first argument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update_pin() has no self parameter — it expected 0 args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gave 1 arg (kiosk) → mismatch → error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Adding self fixes it: def update_pin(self)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7" name="Shape 20"/>
          <p:cNvSpPr/>
          <p:nvPr/>
        </p:nvSpPr>
        <p:spPr>
          <a:xfrm>
            <a:off x="5623560" y="3913560"/>
            <a:ext cx="3199680" cy="6850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8" name="Shape 21"/>
          <p:cNvSpPr/>
          <p:nvPr/>
        </p:nvSpPr>
        <p:spPr>
          <a:xfrm>
            <a:off x="5623560" y="3913560"/>
            <a:ext cx="3199680" cy="72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Text 22"/>
          <p:cNvSpPr/>
          <p:nvPr/>
        </p:nvSpPr>
        <p:spPr>
          <a:xfrm>
            <a:off x="5760720" y="3986640"/>
            <a:ext cx="2925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Hidden Translation: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0" name="Shape 23"/>
          <p:cNvSpPr/>
          <p:nvPr/>
        </p:nvSpPr>
        <p:spPr>
          <a:xfrm>
            <a:off x="5650920" y="4224600"/>
            <a:ext cx="3144960" cy="566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24"/>
          <p:cNvSpPr/>
          <p:nvPr/>
        </p:nvSpPr>
        <p:spPr>
          <a:xfrm>
            <a:off x="5650920" y="422460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25"/>
          <p:cNvSpPr/>
          <p:nvPr/>
        </p:nvSpPr>
        <p:spPr>
          <a:xfrm>
            <a:off x="5650920" y="422460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43" name="Text 26"/>
          <p:cNvSpPr/>
          <p:nvPr/>
        </p:nvSpPr>
        <p:spPr>
          <a:xfrm>
            <a:off x="5742360" y="4480560"/>
            <a:ext cx="29620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Python converts: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kiosk.update_pin()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# Into this internally: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0f4f8"/>
                </a:solidFill>
                <a:latin typeface="Consolas"/>
                <a:ea typeface="Consolas"/>
              </a:rPr>
              <a:t>BankATM.update_pin(kiosk)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44" name="Shape 27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5" name="Shape 28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 29"/>
          <p:cNvSpPr/>
          <p:nvPr/>
        </p:nvSpPr>
        <p:spPr>
          <a:xfrm>
            <a:off x="502920" y="477324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Classic Rule: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7" name="Text 30"/>
          <p:cNvSpPr/>
          <p:nvPr/>
        </p:nvSpPr>
        <p:spPr>
          <a:xfrm>
            <a:off x="1810440" y="4773240"/>
            <a:ext cx="6674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error 'takes 0 positional arguments but 1 was given' almost always means you forgot self as the first parameter.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Multiple Objects — self Always Points to Current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9.6 — self is dynamic, not fixed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2" name="Shape 4"/>
          <p:cNvSpPr/>
          <p:nvPr/>
        </p:nvSpPr>
        <p:spPr>
          <a:xfrm>
            <a:off x="320040" y="1143000"/>
            <a:ext cx="8503200" cy="15721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3" name="Text 5"/>
          <p:cNvSpPr/>
          <p:nvPr/>
        </p:nvSpPr>
        <p:spPr>
          <a:xfrm>
            <a:off x="360000" y="960480"/>
            <a:ext cx="8046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With Two Objects: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4" name="Shape 6"/>
          <p:cNvSpPr/>
          <p:nvPr/>
        </p:nvSpPr>
        <p:spPr>
          <a:xfrm>
            <a:off x="365760" y="1143000"/>
            <a:ext cx="8453880" cy="1489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8"/>
          <p:cNvSpPr/>
          <p:nvPr/>
        </p:nvSpPr>
        <p:spPr>
          <a:xfrm>
            <a:off x="365760" y="148140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56" name="Text 9"/>
          <p:cNvSpPr/>
          <p:nvPr/>
        </p:nvSpPr>
        <p:spPr>
          <a:xfrm>
            <a:off x="457200" y="1737360"/>
            <a:ext cx="822888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print(id(self))     # prints THIS object's address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</p:txBody>
      </p:sp>
      <p:sp>
        <p:nvSpPr>
          <p:cNvPr id="457" name="Shape 10"/>
          <p:cNvSpPr/>
          <p:nvPr/>
        </p:nvSpPr>
        <p:spPr>
          <a:xfrm>
            <a:off x="320040" y="2816280"/>
            <a:ext cx="2742480" cy="2029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8" name="Shape 11"/>
          <p:cNvSpPr/>
          <p:nvPr/>
        </p:nvSpPr>
        <p:spPr>
          <a:xfrm>
            <a:off x="320040" y="2816280"/>
            <a:ext cx="2742480" cy="346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12"/>
          <p:cNvSpPr/>
          <p:nvPr/>
        </p:nvSpPr>
        <p:spPr>
          <a:xfrm>
            <a:off x="457200" y="281628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machine1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60" name="Text 13"/>
          <p:cNvSpPr/>
          <p:nvPr/>
        </p:nvSpPr>
        <p:spPr>
          <a:xfrm>
            <a:off x="457200" y="3218760"/>
            <a:ext cx="2486520" cy="15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inside __init__ dynamically points to machine1.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machine1.secret_code = '' is stored in machine1's memory.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61" name="Shape 14"/>
          <p:cNvSpPr/>
          <p:nvPr/>
        </p:nvSpPr>
        <p:spPr>
          <a:xfrm>
            <a:off x="3227760" y="2816280"/>
            <a:ext cx="2742480" cy="2029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2" name="Shape 15"/>
          <p:cNvSpPr/>
          <p:nvPr/>
        </p:nvSpPr>
        <p:spPr>
          <a:xfrm>
            <a:off x="3227760" y="2816280"/>
            <a:ext cx="2742480" cy="346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16"/>
          <p:cNvSpPr/>
          <p:nvPr/>
        </p:nvSpPr>
        <p:spPr>
          <a:xfrm>
            <a:off x="3364920" y="281628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machine2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64" name="Text 17"/>
          <p:cNvSpPr/>
          <p:nvPr/>
        </p:nvSpPr>
        <p:spPr>
          <a:xfrm>
            <a:off x="3364920" y="3218760"/>
            <a:ext cx="2486520" cy="15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now points to machine2.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machine2.secret_code = '' is stored in machine2's memory.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65" name="Shape 18"/>
          <p:cNvSpPr/>
          <p:nvPr/>
        </p:nvSpPr>
        <p:spPr>
          <a:xfrm>
            <a:off x="6135480" y="2816280"/>
            <a:ext cx="2742480" cy="2029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6" name="Shape 19"/>
          <p:cNvSpPr/>
          <p:nvPr/>
        </p:nvSpPr>
        <p:spPr>
          <a:xfrm>
            <a:off x="6135480" y="2816280"/>
            <a:ext cx="2742480" cy="346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20"/>
          <p:cNvSpPr/>
          <p:nvPr/>
        </p:nvSpPr>
        <p:spPr>
          <a:xfrm>
            <a:off x="6272640" y="281628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They don't share data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68" name="Text 21"/>
          <p:cNvSpPr/>
          <p:nvPr/>
        </p:nvSpPr>
        <p:spPr>
          <a:xfrm>
            <a:off x="6272640" y="3218760"/>
            <a:ext cx="2486520" cy="15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machine1.secret_code and machine2.secret_code are completely independent. Changing one never affects the other.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69" name="Shape 22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0" name="Shape 23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24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Summary: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 is not a fixed reference — it dynamically refers to whichever object triggered the method call. Two objects of the same class never share their attributes.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3082320" y="1400040"/>
            <a:ext cx="53773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machine1 = BankATM()  # self = machine1's address  e.g. 140001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machine2 = BankATM()  # self = machine2's address  e.g. 140002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Both are DIFFERENT — each object gets its own self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Can 'self' Be Renamed? + self for Variables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76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Sections 9.7 &amp; 9.8 — Flexibility vs convention, and why variables need self too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77" name="Shape 4"/>
          <p:cNvSpPr/>
          <p:nvPr/>
        </p:nvSpPr>
        <p:spPr>
          <a:xfrm>
            <a:off x="320040" y="1143000"/>
            <a:ext cx="4114080" cy="3638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8" name="Text 5"/>
          <p:cNvSpPr/>
          <p:nvPr/>
        </p:nvSpPr>
        <p:spPr>
          <a:xfrm>
            <a:off x="45720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Can You Rename self?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457200" y="1627560"/>
            <a:ext cx="3839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YES — technically self is just a convention, not a Python keyword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You could write def __init__(anything): and it would work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80" name="Shape 7"/>
          <p:cNvSpPr/>
          <p:nvPr/>
        </p:nvSpPr>
        <p:spPr>
          <a:xfrm>
            <a:off x="365760" y="2450520"/>
            <a:ext cx="4004280" cy="1352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8"/>
          <p:cNvSpPr/>
          <p:nvPr/>
        </p:nvSpPr>
        <p:spPr>
          <a:xfrm>
            <a:off x="365760" y="245052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9"/>
          <p:cNvSpPr/>
          <p:nvPr/>
        </p:nvSpPr>
        <p:spPr>
          <a:xfrm>
            <a:off x="365760" y="245052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83" name="Text 10"/>
          <p:cNvSpPr/>
          <p:nvPr/>
        </p:nvSpPr>
        <p:spPr>
          <a:xfrm>
            <a:off x="457200" y="2706480"/>
            <a:ext cx="38214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Technically legal: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__init__(current_obj):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current_obj.secret_code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Works — but terrible practice!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84" name="Text 11"/>
          <p:cNvSpPr/>
          <p:nvPr/>
        </p:nvSpPr>
        <p:spPr>
          <a:xfrm>
            <a:off x="457200" y="3858840"/>
            <a:ext cx="38397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BUT — universally all Python devs use self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Renaming confuses every reader of your code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b703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Convention beats technical flexibility here — always use self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85" name="Shape 12"/>
          <p:cNvSpPr/>
          <p:nvPr/>
        </p:nvSpPr>
        <p:spPr>
          <a:xfrm>
            <a:off x="4709160" y="1143000"/>
            <a:ext cx="4114080" cy="3638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6" name="Text 13"/>
          <p:cNvSpPr/>
          <p:nvPr/>
        </p:nvSpPr>
        <p:spPr>
          <a:xfrm>
            <a:off x="4846320" y="126180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self for Variables (Not Just Methods)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87" name="Text 14"/>
          <p:cNvSpPr/>
          <p:nvPr/>
        </p:nvSpPr>
        <p:spPr>
          <a:xfrm>
            <a:off x="4846320" y="1627560"/>
            <a:ext cx="3839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The Golden Rule applies to attributes too. A method can't read or write class variables directly: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88" name="Shape 15"/>
          <p:cNvSpPr/>
          <p:nvPr/>
        </p:nvSpPr>
        <p:spPr>
          <a:xfrm>
            <a:off x="4754880" y="2157840"/>
            <a:ext cx="4004280" cy="2468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Shape 16"/>
          <p:cNvSpPr/>
          <p:nvPr/>
        </p:nvSpPr>
        <p:spPr>
          <a:xfrm>
            <a:off x="4754880" y="2157840"/>
            <a:ext cx="566280" cy="200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7"/>
          <p:cNvSpPr/>
          <p:nvPr/>
        </p:nvSpPr>
        <p:spPr>
          <a:xfrm>
            <a:off x="4754880" y="2157840"/>
            <a:ext cx="566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91" name="Text 18"/>
          <p:cNvSpPr/>
          <p:nvPr/>
        </p:nvSpPr>
        <p:spPr>
          <a:xfrm>
            <a:off x="4846320" y="2414160"/>
            <a:ext cx="3821400" cy="21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 # ✔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set_pin(self):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entered = input('PIN: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WRONG — can't access directly: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secret_code = entered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CORRECT — must go via self: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entered # ✔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2" name="Shape 19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3" name="Shape 20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21"/>
          <p:cNvSpPr/>
          <p:nvPr/>
        </p:nvSpPr>
        <p:spPr>
          <a:xfrm>
            <a:off x="502920" y="47732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Cross-Language: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5" name="Text 22"/>
          <p:cNvSpPr/>
          <p:nvPr/>
        </p:nvSpPr>
        <p:spPr>
          <a:xfrm>
            <a:off x="2331720" y="4773240"/>
            <a:ext cx="6491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 Java and C++ the equivalent keyword is 'this' — same concept, different name. Python chose the more descriptive word 'self'.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Shape 1"/>
          <p:cNvSpPr/>
          <p:nvPr/>
        </p:nvSpPr>
        <p:spPr>
          <a:xfrm>
            <a:off x="0" y="0"/>
            <a:ext cx="109080" cy="1005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Text 2"/>
          <p:cNvSpPr/>
          <p:nvPr/>
        </p:nvSpPr>
        <p:spPr>
          <a:xfrm>
            <a:off x="255960" y="128160"/>
            <a:ext cx="850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Part 3 — Complete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255960" y="658440"/>
            <a:ext cx="8503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Everything covered in this file at a glance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0" name="Shape 4"/>
          <p:cNvSpPr/>
          <p:nvPr/>
        </p:nvSpPr>
        <p:spPr>
          <a:xfrm>
            <a:off x="320040" y="11703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1" name="Shape 5"/>
          <p:cNvSpPr/>
          <p:nvPr/>
        </p:nvSpPr>
        <p:spPr>
          <a:xfrm>
            <a:off x="320040" y="1170360"/>
            <a:ext cx="72360" cy="1114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Shape 6"/>
          <p:cNvSpPr/>
          <p:nvPr/>
        </p:nvSpPr>
        <p:spPr>
          <a:xfrm>
            <a:off x="484560" y="1243440"/>
            <a:ext cx="410760" cy="410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Text 7"/>
          <p:cNvSpPr/>
          <p:nvPr/>
        </p:nvSpPr>
        <p:spPr>
          <a:xfrm>
            <a:off x="484560" y="12434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①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4" name="Text 8"/>
          <p:cNvSpPr/>
          <p:nvPr/>
        </p:nvSpPr>
        <p:spPr>
          <a:xfrm>
            <a:off x="978480" y="12618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Method vs Function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5" name="Text 9"/>
          <p:cNvSpPr/>
          <p:nvPr/>
        </p:nvSpPr>
        <p:spPr>
          <a:xfrm>
            <a:off x="978480" y="16459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Inside class = method. Outside = function. append is a method; len is a function.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6" name="Shape 10"/>
          <p:cNvSpPr/>
          <p:nvPr/>
        </p:nvSpPr>
        <p:spPr>
          <a:xfrm>
            <a:off x="4800600" y="11703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7" name="Shape 11"/>
          <p:cNvSpPr/>
          <p:nvPr/>
        </p:nvSpPr>
        <p:spPr>
          <a:xfrm>
            <a:off x="4800600" y="1170360"/>
            <a:ext cx="72360" cy="1114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Shape 12"/>
          <p:cNvSpPr/>
          <p:nvPr/>
        </p:nvSpPr>
        <p:spPr>
          <a:xfrm>
            <a:off x="4965120" y="1243440"/>
            <a:ext cx="410760" cy="410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Text 13"/>
          <p:cNvSpPr/>
          <p:nvPr/>
        </p:nvSpPr>
        <p:spPr>
          <a:xfrm>
            <a:off x="4965120" y="12434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②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0" name="Text 14"/>
          <p:cNvSpPr/>
          <p:nvPr/>
        </p:nvSpPr>
        <p:spPr>
          <a:xfrm>
            <a:off x="5459040" y="12618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Class Diagram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1" name="Text 15"/>
          <p:cNvSpPr/>
          <p:nvPr/>
        </p:nvSpPr>
        <p:spPr>
          <a:xfrm>
            <a:off x="5459040" y="16459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3-section box: name / attributes (±) / methods (±). + = public, − = private.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2" name="Shape 16"/>
          <p:cNvSpPr/>
          <p:nvPr/>
        </p:nvSpPr>
        <p:spPr>
          <a:xfrm>
            <a:off x="320040" y="24321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3" name="Shape 17"/>
          <p:cNvSpPr/>
          <p:nvPr/>
        </p:nvSpPr>
        <p:spPr>
          <a:xfrm>
            <a:off x="320040" y="2432160"/>
            <a:ext cx="72360" cy="1114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Shape 18"/>
          <p:cNvSpPr/>
          <p:nvPr/>
        </p:nvSpPr>
        <p:spPr>
          <a:xfrm>
            <a:off x="484560" y="2505600"/>
            <a:ext cx="410760" cy="410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19"/>
          <p:cNvSpPr/>
          <p:nvPr/>
        </p:nvSpPr>
        <p:spPr>
          <a:xfrm>
            <a:off x="484560" y="25056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③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6" name="Text 20"/>
          <p:cNvSpPr/>
          <p:nvPr/>
        </p:nvSpPr>
        <p:spPr>
          <a:xfrm>
            <a:off x="978480" y="25236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Superpower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7" name="Text 21"/>
          <p:cNvSpPr/>
          <p:nvPr/>
        </p:nvSpPr>
        <p:spPr>
          <a:xfrm>
            <a:off x="978480" y="29077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__init__ runs AUTOMATICALLY on object creation. No explicit call needed.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8" name="Shape 22"/>
          <p:cNvSpPr/>
          <p:nvPr/>
        </p:nvSpPr>
        <p:spPr>
          <a:xfrm>
            <a:off x="4800600" y="243216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9" name="Shape 23"/>
          <p:cNvSpPr/>
          <p:nvPr/>
        </p:nvSpPr>
        <p:spPr>
          <a:xfrm>
            <a:off x="4800600" y="2432160"/>
            <a:ext cx="72360" cy="1114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Shape 24"/>
          <p:cNvSpPr/>
          <p:nvPr/>
        </p:nvSpPr>
        <p:spPr>
          <a:xfrm>
            <a:off x="4965120" y="2505600"/>
            <a:ext cx="410760" cy="410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25"/>
          <p:cNvSpPr/>
          <p:nvPr/>
        </p:nvSpPr>
        <p:spPr>
          <a:xfrm>
            <a:off x="4965120" y="25056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④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2" name="Text 26"/>
          <p:cNvSpPr/>
          <p:nvPr/>
        </p:nvSpPr>
        <p:spPr>
          <a:xfrm>
            <a:off x="5459040" y="25236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Constructor's True Job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23" name="Text 27"/>
          <p:cNvSpPr/>
          <p:nvPr/>
        </p:nvSpPr>
        <p:spPr>
          <a:xfrm>
            <a:off x="5459040" y="29077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Configuration code that must run before the user does anything — DB connections, setup, etc.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24" name="Shape 28"/>
          <p:cNvSpPr/>
          <p:nvPr/>
        </p:nvSpPr>
        <p:spPr>
          <a:xfrm>
            <a:off x="320040" y="369432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5" name="Shape 29"/>
          <p:cNvSpPr/>
          <p:nvPr/>
        </p:nvSpPr>
        <p:spPr>
          <a:xfrm>
            <a:off x="320040" y="3694320"/>
            <a:ext cx="72360" cy="11149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Shape 30"/>
          <p:cNvSpPr/>
          <p:nvPr/>
        </p:nvSpPr>
        <p:spPr>
          <a:xfrm>
            <a:off x="484560" y="3767400"/>
            <a:ext cx="410760" cy="41076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Text 31"/>
          <p:cNvSpPr/>
          <p:nvPr/>
        </p:nvSpPr>
        <p:spPr>
          <a:xfrm>
            <a:off x="484560" y="37674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⑤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8" name="Text 32"/>
          <p:cNvSpPr/>
          <p:nvPr/>
        </p:nvSpPr>
        <p:spPr>
          <a:xfrm>
            <a:off x="978480" y="378576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Golden Rule of OOP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29" name="Text 33"/>
          <p:cNvSpPr/>
          <p:nvPr/>
        </p:nvSpPr>
        <p:spPr>
          <a:xfrm>
            <a:off x="978480" y="41695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Class members accessible only via the object. Methods can't talk to each other directly.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0" name="Shape 34"/>
          <p:cNvSpPr/>
          <p:nvPr/>
        </p:nvSpPr>
        <p:spPr>
          <a:xfrm>
            <a:off x="4800600" y="3694320"/>
            <a:ext cx="4205520" cy="11149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1" name="Shape 35"/>
          <p:cNvSpPr/>
          <p:nvPr/>
        </p:nvSpPr>
        <p:spPr>
          <a:xfrm>
            <a:off x="4800600" y="3694320"/>
            <a:ext cx="72360" cy="111492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Shape 36"/>
          <p:cNvSpPr/>
          <p:nvPr/>
        </p:nvSpPr>
        <p:spPr>
          <a:xfrm>
            <a:off x="4965120" y="3767400"/>
            <a:ext cx="410760" cy="41076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Text 37"/>
          <p:cNvSpPr/>
          <p:nvPr/>
        </p:nvSpPr>
        <p:spPr>
          <a:xfrm>
            <a:off x="4965120" y="37674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⑥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4" name="Text 38"/>
          <p:cNvSpPr/>
          <p:nvPr/>
        </p:nvSpPr>
        <p:spPr>
          <a:xfrm>
            <a:off x="5459040" y="378576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self = Current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5" name="Text 39"/>
          <p:cNvSpPr/>
          <p:nvPr/>
        </p:nvSpPr>
        <p:spPr>
          <a:xfrm>
            <a:off x="5459040" y="4169520"/>
            <a:ext cx="3428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Memory-proven. self IS the object. Python auto-passes it as 1st arg to every method call.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36" name="Shape 40"/>
          <p:cNvSpPr/>
          <p:nvPr/>
        </p:nvSpPr>
        <p:spPr>
          <a:xfrm>
            <a:off x="320040" y="4773240"/>
            <a:ext cx="8503200" cy="2736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7" name="Shape 41"/>
          <p:cNvSpPr/>
          <p:nvPr/>
        </p:nvSpPr>
        <p:spPr>
          <a:xfrm>
            <a:off x="320040" y="4773240"/>
            <a:ext cx="90720" cy="273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42"/>
          <p:cNvSpPr/>
          <p:nvPr/>
        </p:nvSpPr>
        <p:spPr>
          <a:xfrm>
            <a:off x="502920" y="4773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Next → Part 4: Magic Methods (__str__, __add__, __sub__, __mul__, __truediv__) + Fraction Custom Data Type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2026-02-20T10:31:19Z</dcterms:created>
  <dc:creator>PptxGenJS</dc:creator>
  <dc:description/>
  <dc:language>en-IN</dc:language>
  <cp:lastModifiedBy/>
  <dcterms:modified xsi:type="dcterms:W3CDTF">2026-02-21T22:55:47Z</dcterms:modified>
  <cp:revision>9</cp:revision>
  <dc:subject>PptxGenJS Presentation</dc:subject>
  <dc:title>OOP in Python – Part 3: Constructor, self &amp; Class Diagram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