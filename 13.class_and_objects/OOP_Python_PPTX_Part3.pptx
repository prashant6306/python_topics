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move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</a:t>
            </a:r>
            <a:r>
              <a:rPr b="0" lang="en-IN" sz="2000" spc="-1" strike="noStrike">
                <a:latin typeface="Arial"/>
              </a:rPr>
              <a:t>edit the </a:t>
            </a:r>
            <a:r>
              <a:rPr b="0" lang="en-IN" sz="2000" spc="-1" strike="noStrike">
                <a:latin typeface="Arial"/>
              </a:rPr>
              <a:t>notes </a:t>
            </a:r>
            <a:r>
              <a:rPr b="0" lang="en-IN" sz="2000" spc="-1" strike="noStrike">
                <a:latin typeface="Arial"/>
              </a:rPr>
              <a:t>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B1399EA-4C7A-490C-A9B2-89FCBACD00C2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9D199F-22CB-4118-807C-AED46099265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EBAC10A-2D90-4898-B507-1B58DD05A1E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7A9FEAD-1A0E-464C-9C38-48004AC99BC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63443C-D710-4562-9BFB-5CCA3588A65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83E7C1-E93B-411D-9575-209B6F27A94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3317B9F-97AC-4395-B5FC-FE9FF302247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DA1EE4E-C8F2-4141-8FB9-725E01C73DE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8D3942-5FD3-42D3-A07C-BE020F2851F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AB254E0-933C-4AE3-9E18-9555D9181EB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2D8ECD-66BE-4AA0-9967-0102B194BC8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C7185E3-9A45-430F-86D9-6BA0061A8CE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5C2317-24E9-445D-8092-94E244609D9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42694AC-7321-46E2-9F2B-9111DCA6C93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0F4344-B23F-447E-8781-72D02648F6E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EE95C0-B348-4D1D-87DE-23C3C07D834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18BAF66-3D3F-43B5-A8FC-219B27723BD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4EBFCE8-5AB5-4888-8875-219EA54DDAE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to edit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title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text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3474360" cy="5143320"/>
          </a:xfrm>
          <a:prstGeom prst="rect">
            <a:avLst/>
          </a:prstGeom>
          <a:solidFill>
            <a:srgbClr val="0c1526"/>
          </a:solidFill>
          <a:ln w="12700">
            <a:solidFill>
              <a:srgbClr val="0c15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3474720" y="0"/>
            <a:ext cx="54360" cy="5143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457200" y="502920"/>
            <a:ext cx="2468520" cy="246852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457200" y="502920"/>
            <a:ext cx="24685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0" spc="-1" strike="noStrike">
                <a:solidFill>
                  <a:srgbClr val="000000"/>
                </a:solidFill>
                <a:latin typeface="Calibri"/>
              </a:rPr>
              <a:t>🐍</a:t>
            </a:r>
            <a:endParaRPr b="0" lang="en-IN" sz="75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82880" y="310896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398" strike="noStrike">
                <a:solidFill>
                  <a:srgbClr val="34d399"/>
                </a:solidFill>
                <a:latin typeface="Calibri"/>
              </a:rPr>
              <a:t>PYTHON OOP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3749040" y="457200"/>
            <a:ext cx="5211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Object-Oriented</a:t>
            </a:r>
            <a:endParaRPr b="0" lang="en-IN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Programming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3749040" y="187452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34d399"/>
                </a:solidFill>
                <a:latin typeface="Calibri"/>
              </a:rPr>
              <a:t>Session 8 · Part 2  |  File 2 of 2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3749040" y="2377440"/>
            <a:ext cx="5211720" cy="36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3749040" y="2560320"/>
            <a:ext cx="52117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e2e8f0"/>
                </a:solidFill>
                <a:latin typeface="Calibri"/>
                <a:ea typeface="Calibri"/>
              </a:rPr>
              <a:t>Collections of Objects (Lists &amp; Dicts)</a:t>
            </a:r>
            <a:endParaRPr b="0" lang="en-IN" sz="13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e2e8f0"/>
                </a:solidFill>
                <a:latin typeface="Calibri"/>
                <a:ea typeface="Calibri"/>
              </a:rPr>
              <a:t>Static Variables – Shared Across All Objects</a:t>
            </a:r>
            <a:endParaRPr b="0" lang="en-IN" sz="13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e2e8f0"/>
                </a:solidFill>
                <a:latin typeface="Calibri"/>
                <a:ea typeface="Calibri"/>
              </a:rPr>
              <a:t>Identifying Instance vs Static Variables</a:t>
            </a:r>
            <a:endParaRPr b="0" lang="en-IN" sz="13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e2e8f0"/>
                </a:solidFill>
                <a:latin typeface="Calibri"/>
                <a:ea typeface="Calibri"/>
              </a:rPr>
              <a:t>Static Methods – @staticmethod</a:t>
            </a:r>
            <a:endParaRPr b="0" lang="en-IN" sz="13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e2e8f0"/>
                </a:solidFill>
                <a:latin typeface="Calibri"/>
                <a:ea typeface="Calibri"/>
              </a:rPr>
              <a:t>Complete ATM Class – All Concepts Together</a:t>
            </a:r>
            <a:endParaRPr b="0" lang="en-IN" sz="13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e2e8f0"/>
                </a:solidFill>
                <a:latin typeface="Calibri"/>
                <a:ea typeface="Calibri"/>
              </a:rPr>
              <a:t>Quick Reference &amp; Full Session Summary</a:t>
            </a:r>
            <a:endParaRPr b="0" lang="en-IN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c1526">
              <a:alpha val="80000"/>
            </a:srgbClr>
          </a:solidFill>
          <a:ln w="12700">
            <a:solidFill>
              <a:srgbClr val="0c15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"/>
          <p:cNvSpPr/>
          <p:nvPr/>
        </p:nvSpPr>
        <p:spPr>
          <a:xfrm>
            <a:off x="274320" y="457200"/>
            <a:ext cx="2285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</a:rPr>
              <a:t>06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1005840" y="1645920"/>
            <a:ext cx="713196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3"/>
          <p:cNvSpPr/>
          <p:nvPr/>
        </p:nvSpPr>
        <p:spPr>
          <a:xfrm>
            <a:off x="1005840" y="17830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Collections of Objects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1005840" y="320040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94a3b8"/>
                </a:solidFill>
                <a:latin typeface="Calibri"/>
              </a:rPr>
              <a:t>Objects in lists, dicts, tuples — all normal Python operations apply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Collections – Objects in a List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61" name="Shape 3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" name="Text 4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182880" y="804600"/>
            <a:ext cx="8777880" cy="566640"/>
          </a:xfrm>
          <a:prstGeom prst="rect">
            <a:avLst/>
          </a:prstGeom>
          <a:solidFill>
            <a:srgbClr val="0a1628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4" name="Shape 6"/>
          <p:cNvSpPr/>
          <p:nvPr/>
        </p:nvSpPr>
        <p:spPr>
          <a:xfrm>
            <a:off x="182880" y="804600"/>
            <a:ext cx="54360" cy="566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7"/>
          <p:cNvSpPr/>
          <p:nvPr/>
        </p:nvSpPr>
        <p:spPr>
          <a:xfrm>
            <a:off x="365760" y="887040"/>
            <a:ext cx="8412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Just like integers or strings, you can store objects in any Python collection. Loop through, index, and filter them the same way — just access attributes with dot notation.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182880" y="1463040"/>
            <a:ext cx="4857120" cy="483696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" name="Shape 9"/>
          <p:cNvSpPr/>
          <p:nvPr/>
        </p:nvSpPr>
        <p:spPr>
          <a:xfrm>
            <a:off x="182880" y="1463040"/>
            <a:ext cx="5120280" cy="246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Shape 10"/>
          <p:cNvSpPr/>
          <p:nvPr/>
        </p:nvSpPr>
        <p:spPr>
          <a:xfrm>
            <a:off x="292680" y="152712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Shape 11"/>
          <p:cNvSpPr/>
          <p:nvPr/>
        </p:nvSpPr>
        <p:spPr>
          <a:xfrm>
            <a:off x="475560" y="152712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Shape 12"/>
          <p:cNvSpPr/>
          <p:nvPr/>
        </p:nvSpPr>
        <p:spPr>
          <a:xfrm>
            <a:off x="658440" y="152712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3"/>
          <p:cNvSpPr/>
          <p:nvPr/>
        </p:nvSpPr>
        <p:spPr>
          <a:xfrm>
            <a:off x="182880" y="1481400"/>
            <a:ext cx="5028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list_of_objects.py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292680" y="1737360"/>
            <a:ext cx="489168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Individual: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full_name, gender):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.full_name = full_name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.gender = gender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Create objects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p1 = Individual(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'Rahul'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'Male'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p2 = Individual(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'Priya'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'Female'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p3 = Individual(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'Karan'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'Male'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Store in a list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roster = [p1, p2, p3]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print(roster) → shows memory addresses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[&lt;Individual object at 0x...&gt;, ...]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Loop and access attributes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for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person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roster: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print(person.full_name, ',', person.gender)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Output: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Rahul , Male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Priya , Female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Karan , Male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Indexing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print(roster[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].full_name)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Rahul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List comprehension filter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males = [p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for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p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roster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p.gender ==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'Male'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73" name="Shape 15"/>
          <p:cNvSpPr/>
          <p:nvPr/>
        </p:nvSpPr>
        <p:spPr>
          <a:xfrm>
            <a:off x="5486400" y="1463040"/>
            <a:ext cx="3513600" cy="44769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4" name="Text 16"/>
          <p:cNvSpPr/>
          <p:nvPr/>
        </p:nvSpPr>
        <p:spPr>
          <a:xfrm>
            <a:off x="5623560" y="15728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8bdf8"/>
                </a:solidFill>
                <a:latin typeface="Calibri"/>
              </a:rPr>
              <a:t>What Works?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75" name="Text 17"/>
          <p:cNvSpPr/>
          <p:nvPr/>
        </p:nvSpPr>
        <p:spPr>
          <a:xfrm>
            <a:off x="5623560" y="20300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Iteration (for loop)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6" name="Text 18"/>
          <p:cNvSpPr/>
          <p:nvPr/>
        </p:nvSpPr>
        <p:spPr>
          <a:xfrm>
            <a:off x="5623560" y="228600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Loop through the list, access .full_name, .gender etc. with dot notation on each object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5623560" y="277992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Indexing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8" name="Text 20"/>
          <p:cNvSpPr/>
          <p:nvPr/>
        </p:nvSpPr>
        <p:spPr>
          <a:xfrm>
            <a:off x="5623560" y="303588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roster[0] returns the first object; roster[-1] returns the last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5623560" y="35294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List comprehension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0" name="Text 22"/>
          <p:cNvSpPr/>
          <p:nvPr/>
        </p:nvSpPr>
        <p:spPr>
          <a:xfrm>
            <a:off x="5623560" y="378576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Filter objects by attribute values — just like filtering numbers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1" name="Text 23"/>
          <p:cNvSpPr/>
          <p:nvPr/>
        </p:nvSpPr>
        <p:spPr>
          <a:xfrm>
            <a:off x="5623560" y="427932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All list methods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2" name="Text 24"/>
          <p:cNvSpPr/>
          <p:nvPr/>
        </p:nvSpPr>
        <p:spPr>
          <a:xfrm>
            <a:off x="5623560" y="453528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.append(), .remove(), len(), sorted() all work normally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3" name="Text 25"/>
          <p:cNvSpPr/>
          <p:nvPr/>
        </p:nvSpPr>
        <p:spPr>
          <a:xfrm>
            <a:off x="5623560" y="502920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print(list) shows addresses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4" name="Text 26"/>
          <p:cNvSpPr/>
          <p:nvPr/>
        </p:nvSpPr>
        <p:spPr>
          <a:xfrm>
            <a:off x="5623560" y="528516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Printing the whole list shows memory addresses, not values — loop to print nicely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Collections – Objects in a Dictionary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Text 4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0" name="Shape 5"/>
          <p:cNvSpPr/>
          <p:nvPr/>
        </p:nvSpPr>
        <p:spPr>
          <a:xfrm>
            <a:off x="182880" y="804600"/>
            <a:ext cx="5211720" cy="404136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1" name="Shape 6"/>
          <p:cNvSpPr/>
          <p:nvPr/>
        </p:nvSpPr>
        <p:spPr>
          <a:xfrm>
            <a:off x="182880" y="804600"/>
            <a:ext cx="5211720" cy="246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Shape 7"/>
          <p:cNvSpPr/>
          <p:nvPr/>
        </p:nvSpPr>
        <p:spPr>
          <a:xfrm>
            <a:off x="292680" y="86868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Shape 8"/>
          <p:cNvSpPr/>
          <p:nvPr/>
        </p:nvSpPr>
        <p:spPr>
          <a:xfrm>
            <a:off x="475560" y="86868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Shape 9"/>
          <p:cNvSpPr/>
          <p:nvPr/>
        </p:nvSpPr>
        <p:spPr>
          <a:xfrm>
            <a:off x="658440" y="86868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10"/>
          <p:cNvSpPr/>
          <p:nvPr/>
        </p:nvSpPr>
        <p:spPr>
          <a:xfrm>
            <a:off x="182880" y="822960"/>
            <a:ext cx="5120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dict_of_objects.py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96" name="Text 11"/>
          <p:cNvSpPr/>
          <p:nvPr/>
        </p:nvSpPr>
        <p:spPr>
          <a:xfrm>
            <a:off x="292680" y="1078920"/>
            <a:ext cx="4983120" cy="369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Store objects in a dictionary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profile_db = {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'ID001'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Individual(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'Rahul'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'Male'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'ID002'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Individual(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'Priya'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'Female'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'ID003'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Individual(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'Karan'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'Male'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}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Direct key lookup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print(profile_db[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'ID001'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].full_name)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Rahul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Iterate with .items() — get both key &amp; object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for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uid, person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profile_db.items():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print(uid, '→', person.full_name, ',', person.gender)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Output: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ID001 → Rahul , Male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ID002 → Priya , Female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ID003 → Karan , Male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Add a new entry dynamically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profile_db[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'ID004'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] = Individual(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'Anjali'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'Female'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Check membership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'ID001'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profile_db: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'Found'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profile_db[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'ID001'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].full_name)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97" name="Shape 12"/>
          <p:cNvSpPr/>
          <p:nvPr/>
        </p:nvSpPr>
        <p:spPr>
          <a:xfrm>
            <a:off x="5577840" y="804600"/>
            <a:ext cx="3382920" cy="18284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8" name="Text 13"/>
          <p:cNvSpPr/>
          <p:nvPr/>
        </p:nvSpPr>
        <p:spPr>
          <a:xfrm>
            <a:off x="5715000" y="89604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59e0b"/>
                </a:solidFill>
                <a:latin typeface="Calibri"/>
              </a:rPr>
              <a:t>Why a Dictionary?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9" name="Text 14"/>
          <p:cNvSpPr/>
          <p:nvPr/>
        </p:nvSpPr>
        <p:spPr>
          <a:xfrm>
            <a:off x="5715000" y="1298520"/>
            <a:ext cx="310860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e2e8f0"/>
                </a:solidFill>
                <a:latin typeface="Calibri"/>
              </a:rPr>
              <a:t>Named lookup — find by ID instantly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e2e8f0"/>
                </a:solidFill>
                <a:latin typeface="Calibri"/>
              </a:rPr>
              <a:t>.items() gives you key + object together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e2e8f0"/>
                </a:solidFill>
                <a:latin typeface="Calibri"/>
              </a:rPr>
              <a:t>Real-world pattern: employee DB, user registry, product catalogue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0" name="Shape 15"/>
          <p:cNvSpPr/>
          <p:nvPr/>
        </p:nvSpPr>
        <p:spPr>
          <a:xfrm>
            <a:off x="5577840" y="2788920"/>
            <a:ext cx="3382920" cy="2057040"/>
          </a:xfrm>
          <a:prstGeom prst="rect">
            <a:avLst/>
          </a:prstGeom>
          <a:solidFill>
            <a:srgbClr val="1a1030"/>
          </a:solidFill>
          <a:ln w="15240">
            <a:solidFill>
              <a:srgbClr val="c084fc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Shape 16"/>
          <p:cNvSpPr/>
          <p:nvPr/>
        </p:nvSpPr>
        <p:spPr>
          <a:xfrm>
            <a:off x="5577840" y="2788920"/>
            <a:ext cx="3382920" cy="5436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7"/>
          <p:cNvSpPr/>
          <p:nvPr/>
        </p:nvSpPr>
        <p:spPr>
          <a:xfrm>
            <a:off x="5715000" y="28803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299" strike="noStrike">
                <a:solidFill>
                  <a:srgbClr val="c084fc"/>
                </a:solidFill>
                <a:latin typeface="Calibri"/>
              </a:rPr>
              <a:t>HOMEWORK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3" name="Text 18"/>
          <p:cNvSpPr/>
          <p:nvPr/>
        </p:nvSpPr>
        <p:spPr>
          <a:xfrm>
            <a:off x="5715000" y="3182040"/>
            <a:ext cx="3108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alibri"/>
              </a:rPr>
              <a:t>Try storing objects in a SET. Will it work? Why / why not?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4" name="Text 19"/>
          <p:cNvSpPr/>
          <p:nvPr/>
        </p:nvSpPr>
        <p:spPr>
          <a:xfrm>
            <a:off x="5715000" y="3639240"/>
            <a:ext cx="3108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Hint: Sets require objects to be hashable. Python calls __hash__() to check. User-defined objects are mutable by default, which causes issues with sets.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c1526">
              <a:alpha val="80000"/>
            </a:srgbClr>
          </a:solidFill>
          <a:ln w="12700">
            <a:solidFill>
              <a:srgbClr val="0c15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1"/>
          <p:cNvSpPr/>
          <p:nvPr/>
        </p:nvSpPr>
        <p:spPr>
          <a:xfrm>
            <a:off x="274320" y="457200"/>
            <a:ext cx="2285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</a:rPr>
              <a:t>07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1005840" y="1645920"/>
            <a:ext cx="713196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3"/>
          <p:cNvSpPr/>
          <p:nvPr/>
        </p:nvSpPr>
        <p:spPr>
          <a:xfrm>
            <a:off x="1005840" y="17830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Static Variables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1005840" y="320040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94a3b8"/>
                </a:solidFill>
                <a:latin typeface="Calibri"/>
              </a:rPr>
              <a:t>Shared across all objects · class-level · one of the most important OOP interview topics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Static Variables – The Problem (Wrong Approach)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4" name="Text 4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07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182880" y="804600"/>
            <a:ext cx="8777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4a3b8"/>
                </a:solidFill>
                <a:latin typeface="Calibri"/>
              </a:rPr>
              <a:t>Requirement: Each BankTerminal customer must receive a unique customer ID: 1, 2, 3, …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182880" y="1234440"/>
            <a:ext cx="5120280" cy="3291480"/>
          </a:xfrm>
          <a:prstGeom prst="rect">
            <a:avLst/>
          </a:prstGeom>
          <a:solidFill>
            <a:srgbClr val="1f0b0b"/>
          </a:solidFill>
          <a:ln w="15240">
            <a:solidFill>
              <a:srgbClr val="f87171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7" name="Shape 7"/>
          <p:cNvSpPr/>
          <p:nvPr/>
        </p:nvSpPr>
        <p:spPr>
          <a:xfrm>
            <a:off x="182880" y="1234440"/>
            <a:ext cx="512028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8"/>
          <p:cNvSpPr/>
          <p:nvPr/>
        </p:nvSpPr>
        <p:spPr>
          <a:xfrm>
            <a:off x="320040" y="132588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7171"/>
                </a:solidFill>
                <a:latin typeface="Calibri"/>
              </a:rPr>
              <a:t>WRONG APPROACH — Instance Variable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320040" y="1719000"/>
            <a:ext cx="4845960" cy="251424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0" name="Shape 10"/>
          <p:cNvSpPr/>
          <p:nvPr/>
        </p:nvSpPr>
        <p:spPr>
          <a:xfrm>
            <a:off x="320040" y="1719000"/>
            <a:ext cx="4845960" cy="246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11"/>
          <p:cNvSpPr/>
          <p:nvPr/>
        </p:nvSpPr>
        <p:spPr>
          <a:xfrm>
            <a:off x="429840" y="178308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Shape 12"/>
          <p:cNvSpPr/>
          <p:nvPr/>
        </p:nvSpPr>
        <p:spPr>
          <a:xfrm>
            <a:off x="612720" y="178308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13"/>
          <p:cNvSpPr/>
          <p:nvPr/>
        </p:nvSpPr>
        <p:spPr>
          <a:xfrm>
            <a:off x="795600" y="178308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4"/>
          <p:cNvSpPr/>
          <p:nvPr/>
        </p:nvSpPr>
        <p:spPr>
          <a:xfrm>
            <a:off x="320040" y="173736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wrong_approach.py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429840" y="1993320"/>
            <a:ext cx="4617360" cy="21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BankTerminal: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.cust_id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r>
              <a:rPr b="0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   # instance var — MISTAKE!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.cust_id +=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# increments per object, but resets each time!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.__pin =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''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.__balance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c1 = BankTerminal()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c2 = BankTerminal()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c3 = BankTerminal()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print(c1.cust_id)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Output: 1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print(c2.cust_id)  </a:t>
            </a:r>
            <a:r>
              <a:rPr b="0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# Output: 1  ← Should be 2!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print(c3.cust_id)  </a:t>
            </a:r>
            <a:r>
              <a:rPr b="0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# Output: 1  ← Should be 3!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26" name="Shape 16"/>
          <p:cNvSpPr/>
          <p:nvPr/>
        </p:nvSpPr>
        <p:spPr>
          <a:xfrm>
            <a:off x="5486400" y="1234440"/>
            <a:ext cx="3474360" cy="32914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7" name="Text 17"/>
          <p:cNvSpPr/>
          <p:nvPr/>
        </p:nvSpPr>
        <p:spPr>
          <a:xfrm>
            <a:off x="5623560" y="135324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87171"/>
                </a:solidFill>
                <a:latin typeface="Calibri"/>
              </a:rPr>
              <a:t>Why It Fails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8" name="Text 18"/>
          <p:cNvSpPr/>
          <p:nvPr/>
        </p:nvSpPr>
        <p:spPr>
          <a:xfrm>
            <a:off x="5623560" y="173736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e2e8f0"/>
                </a:solidFill>
                <a:latin typeface="Calibri"/>
              </a:rPr>
              <a:t>Instance variables are INDEPENDENT for each object.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5623560" y="219456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</a:rPr>
              <a:t>When c1 is created: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0" name="Text 20"/>
          <p:cNvSpPr/>
          <p:nvPr/>
        </p:nvSpPr>
        <p:spPr>
          <a:xfrm>
            <a:off x="5623560" y="24688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urier New"/>
                <a:ea typeface="Courier New"/>
              </a:rPr>
              <a:t>self.cust_id starts at 0 → becomes 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5623560" y="28346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</a:rPr>
              <a:t>When c2 is created: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2" name="Text 22"/>
          <p:cNvSpPr/>
          <p:nvPr/>
        </p:nvSpPr>
        <p:spPr>
          <a:xfrm>
            <a:off x="5623560" y="31089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urier New"/>
                <a:ea typeface="Courier New"/>
              </a:rPr>
              <a:t>self.cust_id AGAIN starts at 0 → becomes 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3" name="Text 23"/>
          <p:cNvSpPr/>
          <p:nvPr/>
        </p:nvSpPr>
        <p:spPr>
          <a:xfrm>
            <a:off x="5623560" y="354780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Objects don't share a counter — each has its own isolated copy.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Static Variables – The Correct Solution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8" name="Text 4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07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9" name="Shape 5"/>
          <p:cNvSpPr/>
          <p:nvPr/>
        </p:nvSpPr>
        <p:spPr>
          <a:xfrm>
            <a:off x="182880" y="804600"/>
            <a:ext cx="5166000" cy="4041360"/>
          </a:xfrm>
          <a:prstGeom prst="rect">
            <a:avLst/>
          </a:prstGeom>
          <a:solidFill>
            <a:srgbClr val="0b1f12"/>
          </a:solidFill>
          <a:ln w="15240">
            <a:solidFill>
              <a:srgbClr val="34d399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0" name="Shape 6"/>
          <p:cNvSpPr/>
          <p:nvPr/>
        </p:nvSpPr>
        <p:spPr>
          <a:xfrm>
            <a:off x="182880" y="804600"/>
            <a:ext cx="5166000" cy="5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7"/>
          <p:cNvSpPr/>
          <p:nvPr/>
        </p:nvSpPr>
        <p:spPr>
          <a:xfrm>
            <a:off x="320040" y="89604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CORRECT — Static Variable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2" name="Shape 8"/>
          <p:cNvSpPr/>
          <p:nvPr/>
        </p:nvSpPr>
        <p:spPr>
          <a:xfrm>
            <a:off x="320040" y="1261800"/>
            <a:ext cx="4719960" cy="485820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3" name="Shape 9"/>
          <p:cNvSpPr/>
          <p:nvPr/>
        </p:nvSpPr>
        <p:spPr>
          <a:xfrm>
            <a:off x="320040" y="1261800"/>
            <a:ext cx="4845960" cy="246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Shape 10"/>
          <p:cNvSpPr/>
          <p:nvPr/>
        </p:nvSpPr>
        <p:spPr>
          <a:xfrm>
            <a:off x="429840" y="132588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Shape 11"/>
          <p:cNvSpPr/>
          <p:nvPr/>
        </p:nvSpPr>
        <p:spPr>
          <a:xfrm>
            <a:off x="612720" y="132588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Shape 12"/>
          <p:cNvSpPr/>
          <p:nvPr/>
        </p:nvSpPr>
        <p:spPr>
          <a:xfrm>
            <a:off x="795600" y="132588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3"/>
          <p:cNvSpPr/>
          <p:nvPr/>
        </p:nvSpPr>
        <p:spPr>
          <a:xfrm>
            <a:off x="320040" y="128016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static_var_solution.py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48" name="Text 14"/>
          <p:cNvSpPr/>
          <p:nvPr/>
        </p:nvSpPr>
        <p:spPr>
          <a:xfrm>
            <a:off x="429840" y="1536120"/>
            <a:ext cx="4617360" cy="29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BankTerminal: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Static variable: defined OUTSIDE __init__, INSIDE class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ALL objects share this single variable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__cust_counter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  # ← STATIC VARIABLE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Assign current counter value as this object's ID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.__cust_id = BankTerminal.__cust_counter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Increment shared counter for next object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BankTerminal.__cust_counter +=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.__pin =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''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.__balance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get_cust_id(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.__cust_id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get_counter():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BankTerminal.__cust_counter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c1 = BankTerminal()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c2 = BankTerminal()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c3 = BankTerminal()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print(c1.get_cust_id())   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Output: 1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print(c2.get_cust_id())   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Output: 2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print(c3.get_cust_id())   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Output: 3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print(BankTerminal.get_counter()) 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# Output: 4 (next available)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49" name="Shape 15"/>
          <p:cNvSpPr/>
          <p:nvPr/>
        </p:nvSpPr>
        <p:spPr>
          <a:xfrm>
            <a:off x="5577840" y="804600"/>
            <a:ext cx="3382920" cy="18284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0" name="Text 16"/>
          <p:cNvSpPr/>
          <p:nvPr/>
        </p:nvSpPr>
        <p:spPr>
          <a:xfrm>
            <a:off x="5715000" y="89604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4d399"/>
                </a:solidFill>
                <a:latin typeface="Calibri"/>
              </a:rPr>
              <a:t>Why Counter = 4?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1" name="Text 17"/>
          <p:cNvSpPr/>
          <p:nvPr/>
        </p:nvSpPr>
        <p:spPr>
          <a:xfrm>
            <a:off x="5715000" y="1280160"/>
            <a:ext cx="3108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alibri"/>
              </a:rPr>
              <a:t>After creating c3, the ID 3 is assigned to c3, then the counter is incremented to 4. So the counter always holds the NEXT available ID — ready for the next customer.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2" name="Shape 18"/>
          <p:cNvSpPr/>
          <p:nvPr/>
        </p:nvSpPr>
        <p:spPr>
          <a:xfrm>
            <a:off x="5577840" y="2743200"/>
            <a:ext cx="3382920" cy="21027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Text 19"/>
          <p:cNvSpPr/>
          <p:nvPr/>
        </p:nvSpPr>
        <p:spPr>
          <a:xfrm>
            <a:off x="5715000" y="283464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</a:rPr>
              <a:t>Key Syntax Rules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4" name="Text 20"/>
          <p:cNvSpPr/>
          <p:nvPr/>
        </p:nvSpPr>
        <p:spPr>
          <a:xfrm>
            <a:off x="5715000" y="3218760"/>
            <a:ext cx="310860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Defined OUTSIDE __init__ but INSIDE the class body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Accessed via ClassName.variable (not self.)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Make private with __ prefix — prevents tampering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Provide a static getter to expose the value safely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Instance vs Static Variables – Comparison &amp; Identification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58" name="Shape 3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9" name="Text 4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07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160" name="Table 0"/>
          <p:cNvGraphicFramePr/>
          <p:nvPr/>
        </p:nvGraphicFramePr>
        <p:xfrm>
          <a:off x="182880" y="822960"/>
          <a:ext cx="8777880" cy="2422800"/>
        </p:xfrm>
        <a:graphic>
          <a:graphicData uri="http://schemas.openxmlformats.org/drawingml/2006/table">
            <a:tbl>
              <a:tblPr/>
              <a:tblGrid>
                <a:gridCol w="2286000"/>
                <a:gridCol w="3246120"/>
                <a:gridCol w="3246120"/>
              </a:tblGrid>
              <a:tr h="403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8bdf8"/>
                          </a:solidFill>
                          <a:latin typeface="Calibri"/>
                        </a:rPr>
                        <a:t>Instance Variable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0c2a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34d399"/>
                          </a:solidFill>
                          <a:latin typeface="Calibri"/>
                        </a:rPr>
                        <a:t>Static Variable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0a1f12"/>
                    </a:solidFill>
                  </a:tcPr>
                </a:tc>
              </a:tr>
              <a:tr h="403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Where defined?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Inside __init__ using self.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Inside class, OUTSIDE all methods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403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Value per object?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UNIQUE — each object has its own copy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SHARED — same value for ALL objects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  <a:tr h="403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Access syntax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self.var  or  object.var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ClassName.var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403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Belongs to?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Individual object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The class itself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  <a:tr h="405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Use case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name, balance, PIN, age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counter, IFSC code, college name</a:t>
                      </a:r>
                      <a:endParaRPr b="0" lang="en-IN" sz="115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61" name="Shape 5"/>
          <p:cNvSpPr/>
          <p:nvPr/>
        </p:nvSpPr>
        <p:spPr>
          <a:xfrm>
            <a:off x="182880" y="3364920"/>
            <a:ext cx="4205880" cy="15084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Text 6"/>
          <p:cNvSpPr/>
          <p:nvPr/>
        </p:nvSpPr>
        <p:spPr>
          <a:xfrm>
            <a:off x="320040" y="34563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38bdf8"/>
                </a:solidFill>
                <a:latin typeface="Calibri"/>
              </a:rPr>
              <a:t>HOW TO IDENTIFY IN CODE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320040" y="377640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8bdf8"/>
                </a:solidFill>
                <a:latin typeface="Courier New"/>
                <a:ea typeface="Courier New"/>
              </a:rPr>
              <a:t>self.var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2194560" y="377640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Instance variable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320040" y="403236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4d399"/>
                </a:solidFill>
                <a:latin typeface="Courier New"/>
                <a:ea typeface="Courier New"/>
              </a:rPr>
              <a:t>ClassName.var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2194560" y="403236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Static variable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7" name="Text 11"/>
          <p:cNvSpPr/>
          <p:nvPr/>
        </p:nvSpPr>
        <p:spPr>
          <a:xfrm>
            <a:off x="320040" y="428868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8bdf8"/>
                </a:solidFill>
                <a:latin typeface="Courier New"/>
                <a:ea typeface="Courier New"/>
              </a:rPr>
              <a:t>Defined in __init__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8" name="Text 12"/>
          <p:cNvSpPr/>
          <p:nvPr/>
        </p:nvSpPr>
        <p:spPr>
          <a:xfrm>
            <a:off x="2194560" y="428868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Instance variable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9" name="Text 13"/>
          <p:cNvSpPr/>
          <p:nvPr/>
        </p:nvSpPr>
        <p:spPr>
          <a:xfrm>
            <a:off x="320040" y="454464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4d399"/>
                </a:solidFill>
                <a:latin typeface="Courier New"/>
                <a:ea typeface="Courier New"/>
              </a:rPr>
              <a:t>Defined at class level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0" name="Text 14"/>
          <p:cNvSpPr/>
          <p:nvPr/>
        </p:nvSpPr>
        <p:spPr>
          <a:xfrm>
            <a:off x="2194560" y="454464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Static variable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1" name="Shape 15"/>
          <p:cNvSpPr/>
          <p:nvPr/>
        </p:nvSpPr>
        <p:spPr>
          <a:xfrm>
            <a:off x="4572000" y="3364920"/>
            <a:ext cx="4388760" cy="15084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Text 16"/>
          <p:cNvSpPr/>
          <p:nvPr/>
        </p:nvSpPr>
        <p:spPr>
          <a:xfrm>
            <a:off x="4709160" y="34563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f59e0b"/>
                </a:solidFill>
                <a:latin typeface="Calibri"/>
              </a:rPr>
              <a:t>PRACTICE — Banking &amp; College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3" name="Text 17"/>
          <p:cNvSpPr/>
          <p:nvPr/>
        </p:nvSpPr>
        <p:spPr>
          <a:xfrm>
            <a:off x="4709160" y="3776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Customer name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4" name="Text 18"/>
          <p:cNvSpPr/>
          <p:nvPr/>
        </p:nvSpPr>
        <p:spPr>
          <a:xfrm>
            <a:off x="6171840" y="3776400"/>
            <a:ext cx="61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Calibri"/>
              </a:rPr>
              <a:t>Instance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5" name="Text 19"/>
          <p:cNvSpPr/>
          <p:nvPr/>
        </p:nvSpPr>
        <p:spPr>
          <a:xfrm>
            <a:off x="6858000" y="3776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Account balance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6" name="Text 20"/>
          <p:cNvSpPr/>
          <p:nvPr/>
        </p:nvSpPr>
        <p:spPr>
          <a:xfrm>
            <a:off x="8339400" y="377640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Calibri"/>
              </a:rPr>
              <a:t>Instance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7" name="Text 21"/>
          <p:cNvSpPr/>
          <p:nvPr/>
        </p:nvSpPr>
        <p:spPr>
          <a:xfrm>
            <a:off x="4709160" y="41238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Bank IFSC code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8" name="Text 22"/>
          <p:cNvSpPr/>
          <p:nvPr/>
        </p:nvSpPr>
        <p:spPr>
          <a:xfrm>
            <a:off x="6190560" y="412380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</a:rPr>
              <a:t>Static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9" name="Text 23"/>
          <p:cNvSpPr/>
          <p:nvPr/>
        </p:nvSpPr>
        <p:spPr>
          <a:xfrm>
            <a:off x="6858000" y="41238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Customer ID counter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0" name="Text 24"/>
          <p:cNvSpPr/>
          <p:nvPr/>
        </p:nvSpPr>
        <p:spPr>
          <a:xfrm>
            <a:off x="8339400" y="412380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</a:rPr>
              <a:t>Static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1" name="Text 25"/>
          <p:cNvSpPr/>
          <p:nvPr/>
        </p:nvSpPr>
        <p:spPr>
          <a:xfrm>
            <a:off x="4709160" y="447156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Student CGPA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2" name="Text 26"/>
          <p:cNvSpPr/>
          <p:nvPr/>
        </p:nvSpPr>
        <p:spPr>
          <a:xfrm>
            <a:off x="6190560" y="447156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Calibri"/>
              </a:rPr>
              <a:t>Instance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3" name="Text 27"/>
          <p:cNvSpPr/>
          <p:nvPr/>
        </p:nvSpPr>
        <p:spPr>
          <a:xfrm>
            <a:off x="6858000" y="447156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College name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4" name="Text 28"/>
          <p:cNvSpPr/>
          <p:nvPr/>
        </p:nvSpPr>
        <p:spPr>
          <a:xfrm>
            <a:off x="8339400" y="4471560"/>
            <a:ext cx="594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</a:rPr>
              <a:t>Static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Static Variables – Privacy &amp; Protection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88" name="Shape 3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9" name="Text 4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07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0" name="Shape 5"/>
          <p:cNvSpPr/>
          <p:nvPr/>
        </p:nvSpPr>
        <p:spPr>
          <a:xfrm>
            <a:off x="182880" y="804600"/>
            <a:ext cx="4297320" cy="2194200"/>
          </a:xfrm>
          <a:prstGeom prst="rect">
            <a:avLst/>
          </a:prstGeom>
          <a:solidFill>
            <a:srgbClr val="1f0b0b"/>
          </a:solidFill>
          <a:ln w="15240">
            <a:solidFill>
              <a:srgbClr val="f87171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1" name="Shape 6"/>
          <p:cNvSpPr/>
          <p:nvPr/>
        </p:nvSpPr>
        <p:spPr>
          <a:xfrm>
            <a:off x="182880" y="804600"/>
            <a:ext cx="429732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7"/>
          <p:cNvSpPr/>
          <p:nvPr/>
        </p:nvSpPr>
        <p:spPr>
          <a:xfrm>
            <a:off x="320040" y="8960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7171"/>
                </a:solidFill>
                <a:latin typeface="Calibri"/>
              </a:rPr>
              <a:t>THE DANGER — External Tampering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3" name="Shape 8"/>
          <p:cNvSpPr/>
          <p:nvPr/>
        </p:nvSpPr>
        <p:spPr>
          <a:xfrm>
            <a:off x="320040" y="1261800"/>
            <a:ext cx="4023000" cy="155412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4" name="Shape 9"/>
          <p:cNvSpPr/>
          <p:nvPr/>
        </p:nvSpPr>
        <p:spPr>
          <a:xfrm>
            <a:off x="320040" y="1261800"/>
            <a:ext cx="4023000" cy="246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Shape 10"/>
          <p:cNvSpPr/>
          <p:nvPr/>
        </p:nvSpPr>
        <p:spPr>
          <a:xfrm>
            <a:off x="429840" y="132588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Shape 11"/>
          <p:cNvSpPr/>
          <p:nvPr/>
        </p:nvSpPr>
        <p:spPr>
          <a:xfrm>
            <a:off x="612720" y="132588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Shape 12"/>
          <p:cNvSpPr/>
          <p:nvPr/>
        </p:nvSpPr>
        <p:spPr>
          <a:xfrm>
            <a:off x="795600" y="132588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13"/>
          <p:cNvSpPr/>
          <p:nvPr/>
        </p:nvSpPr>
        <p:spPr>
          <a:xfrm>
            <a:off x="320040" y="1280160"/>
            <a:ext cx="393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danger.py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9" name="Text 14"/>
          <p:cNvSpPr/>
          <p:nvPr/>
        </p:nvSpPr>
        <p:spPr>
          <a:xfrm>
            <a:off x="429840" y="1536120"/>
            <a:ext cx="37944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Without privacy, a junior dev can do: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BankTerminal.__cust_counter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r>
              <a:rPr b="0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  # Resets everyone's IDs!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After this line: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New customers will get IDs 1, 2, 3 again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Existing customers keep their old IDs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→ ID collision! Data corruption!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200" name="Shape 15"/>
          <p:cNvSpPr/>
          <p:nvPr/>
        </p:nvSpPr>
        <p:spPr>
          <a:xfrm>
            <a:off x="4663440" y="804600"/>
            <a:ext cx="4297320" cy="2194200"/>
          </a:xfrm>
          <a:prstGeom prst="rect">
            <a:avLst/>
          </a:prstGeom>
          <a:solidFill>
            <a:srgbClr val="0b1f12"/>
          </a:solidFill>
          <a:ln w="15240">
            <a:solidFill>
              <a:srgbClr val="34d399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Shape 16"/>
          <p:cNvSpPr/>
          <p:nvPr/>
        </p:nvSpPr>
        <p:spPr>
          <a:xfrm>
            <a:off x="4663440" y="804600"/>
            <a:ext cx="4297320" cy="5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17"/>
          <p:cNvSpPr/>
          <p:nvPr/>
        </p:nvSpPr>
        <p:spPr>
          <a:xfrm>
            <a:off x="4800600" y="8960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SOLUTION — Make Static Variable Private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3" name="Shape 18"/>
          <p:cNvSpPr/>
          <p:nvPr/>
        </p:nvSpPr>
        <p:spPr>
          <a:xfrm>
            <a:off x="4800600" y="1261800"/>
            <a:ext cx="4019400" cy="173700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4" name="Shape 19"/>
          <p:cNvSpPr/>
          <p:nvPr/>
        </p:nvSpPr>
        <p:spPr>
          <a:xfrm>
            <a:off x="4800600" y="1261800"/>
            <a:ext cx="4023000" cy="246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Shape 20"/>
          <p:cNvSpPr/>
          <p:nvPr/>
        </p:nvSpPr>
        <p:spPr>
          <a:xfrm>
            <a:off x="4910400" y="132588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Shape 21"/>
          <p:cNvSpPr/>
          <p:nvPr/>
        </p:nvSpPr>
        <p:spPr>
          <a:xfrm>
            <a:off x="5093280" y="132588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22"/>
          <p:cNvSpPr/>
          <p:nvPr/>
        </p:nvSpPr>
        <p:spPr>
          <a:xfrm>
            <a:off x="5276160" y="132588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3"/>
          <p:cNvSpPr/>
          <p:nvPr/>
        </p:nvSpPr>
        <p:spPr>
          <a:xfrm>
            <a:off x="4800600" y="1280160"/>
            <a:ext cx="393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solution.py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9" name="Text 24"/>
          <p:cNvSpPr/>
          <p:nvPr/>
        </p:nvSpPr>
        <p:spPr>
          <a:xfrm>
            <a:off x="4910400" y="1536120"/>
            <a:ext cx="379440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BankTerminal: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Double underscore = private static variable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__cust_counter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 # private!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Name-mangled to: _BankTerminal__cust_counter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get_counter():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safe getter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BankTerminal.__cust_counter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210" name="Shape 25"/>
          <p:cNvSpPr/>
          <p:nvPr/>
        </p:nvSpPr>
        <p:spPr>
          <a:xfrm>
            <a:off x="182880" y="3127320"/>
            <a:ext cx="2834280" cy="17186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1" name="Shape 26"/>
          <p:cNvSpPr/>
          <p:nvPr/>
        </p:nvSpPr>
        <p:spPr>
          <a:xfrm>
            <a:off x="182880" y="3127320"/>
            <a:ext cx="283428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27"/>
          <p:cNvSpPr/>
          <p:nvPr/>
        </p:nvSpPr>
        <p:spPr>
          <a:xfrm>
            <a:off x="320040" y="321876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8bdf8"/>
                </a:solidFill>
                <a:latin typeface="Calibri"/>
              </a:rPr>
              <a:t>Private Static Variables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13" name="Text 28"/>
          <p:cNvSpPr/>
          <p:nvPr/>
        </p:nvSpPr>
        <p:spPr>
          <a:xfrm>
            <a:off x="320040" y="3611880"/>
            <a:ext cx="255996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Add __ prefix to static variables. Python name-mangles __cust_counter to _BankTerminal__cust_counter. External code cannot access it directly.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4" name="Shape 29"/>
          <p:cNvSpPr/>
          <p:nvPr/>
        </p:nvSpPr>
        <p:spPr>
          <a:xfrm>
            <a:off x="3163680" y="3127320"/>
            <a:ext cx="2834280" cy="17186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5" name="Shape 30"/>
          <p:cNvSpPr/>
          <p:nvPr/>
        </p:nvSpPr>
        <p:spPr>
          <a:xfrm>
            <a:off x="3163680" y="3127320"/>
            <a:ext cx="283428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31"/>
          <p:cNvSpPr/>
          <p:nvPr/>
        </p:nvSpPr>
        <p:spPr>
          <a:xfrm>
            <a:off x="3300840" y="321876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59e0b"/>
                </a:solidFill>
                <a:latin typeface="Calibri"/>
              </a:rPr>
              <a:t>Static Getter Method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17" name="Text 32"/>
          <p:cNvSpPr/>
          <p:nvPr/>
        </p:nvSpPr>
        <p:spPr>
          <a:xfrm>
            <a:off x="3300840" y="3611880"/>
            <a:ext cx="255996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Provide a @staticmethod as a getter: BankTerminal.get_counter(). This exposes the value safely without allowing modification.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8" name="Shape 33"/>
          <p:cNvSpPr/>
          <p:nvPr/>
        </p:nvSpPr>
        <p:spPr>
          <a:xfrm>
            <a:off x="6144840" y="3127320"/>
            <a:ext cx="2834280" cy="17186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Shape 34"/>
          <p:cNvSpPr/>
          <p:nvPr/>
        </p:nvSpPr>
        <p:spPr>
          <a:xfrm>
            <a:off x="6144840" y="3127320"/>
            <a:ext cx="2834280" cy="5436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35"/>
          <p:cNvSpPr/>
          <p:nvPr/>
        </p:nvSpPr>
        <p:spPr>
          <a:xfrm>
            <a:off x="6282000" y="321876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c084fc"/>
                </a:solidFill>
                <a:latin typeface="Calibri"/>
              </a:rPr>
              <a:t>Same Rule as Instance Vars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21" name="Text 36"/>
          <p:cNvSpPr/>
          <p:nvPr/>
        </p:nvSpPr>
        <p:spPr>
          <a:xfrm>
            <a:off x="6282000" y="3611880"/>
            <a:ext cx="255996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Private + getter/setter applies to BOTH instance and static variables. Encapsulation principles are identical for both.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c1526">
              <a:alpha val="80000"/>
            </a:srgbClr>
          </a:solidFill>
          <a:ln w="12700">
            <a:solidFill>
              <a:srgbClr val="0c15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1"/>
          <p:cNvSpPr/>
          <p:nvPr/>
        </p:nvSpPr>
        <p:spPr>
          <a:xfrm>
            <a:off x="274320" y="457200"/>
            <a:ext cx="2285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</a:rPr>
              <a:t>08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1005840" y="1645920"/>
            <a:ext cx="713196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3"/>
          <p:cNvSpPr/>
          <p:nvPr/>
        </p:nvSpPr>
        <p:spPr>
          <a:xfrm>
            <a:off x="1005840" y="17830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Static Methods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26" name="Text 4"/>
          <p:cNvSpPr/>
          <p:nvPr/>
        </p:nvSpPr>
        <p:spPr>
          <a:xfrm>
            <a:off x="1005840" y="320040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94a3b8"/>
                </a:solidFill>
                <a:latin typeface="Calibri"/>
              </a:rPr>
              <a:t>@staticmethod · no self · utility functions · called via ClassName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Static Methods – @staticmethod Decorator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230" name="Shape 3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1" name="Text 4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08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2" name="Shape 5"/>
          <p:cNvSpPr/>
          <p:nvPr/>
        </p:nvSpPr>
        <p:spPr>
          <a:xfrm>
            <a:off x="182880" y="804600"/>
            <a:ext cx="2834280" cy="10054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3" name="Shape 6"/>
          <p:cNvSpPr/>
          <p:nvPr/>
        </p:nvSpPr>
        <p:spPr>
          <a:xfrm>
            <a:off x="182880" y="804600"/>
            <a:ext cx="283428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7"/>
          <p:cNvSpPr/>
          <p:nvPr/>
        </p:nvSpPr>
        <p:spPr>
          <a:xfrm>
            <a:off x="320040" y="8960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8bdf8"/>
                </a:solidFill>
                <a:latin typeface="Calibri"/>
              </a:rPr>
              <a:t>No self Parameter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35" name="Text 8"/>
          <p:cNvSpPr/>
          <p:nvPr/>
        </p:nvSpPr>
        <p:spPr>
          <a:xfrm>
            <a:off x="320040" y="124344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Static methods don't receive the current object — cannot access instance variables at all.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6" name="Shape 9"/>
          <p:cNvSpPr/>
          <p:nvPr/>
        </p:nvSpPr>
        <p:spPr>
          <a:xfrm>
            <a:off x="3154680" y="804600"/>
            <a:ext cx="2834280" cy="10054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7" name="Shape 10"/>
          <p:cNvSpPr/>
          <p:nvPr/>
        </p:nvSpPr>
        <p:spPr>
          <a:xfrm>
            <a:off x="3154680" y="804600"/>
            <a:ext cx="283428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11"/>
          <p:cNvSpPr/>
          <p:nvPr/>
        </p:nvSpPr>
        <p:spPr>
          <a:xfrm>
            <a:off x="3291840" y="8960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59e0b"/>
                </a:solidFill>
                <a:latin typeface="Calibri"/>
              </a:rPr>
              <a:t>@staticmethod Decorator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39" name="Text 12"/>
          <p:cNvSpPr/>
          <p:nvPr/>
        </p:nvSpPr>
        <p:spPr>
          <a:xfrm>
            <a:off x="3291840" y="124344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Place this on the line directly above def. It tells Python this is a class-level utility, not an instance method.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0" name="Shape 13"/>
          <p:cNvSpPr/>
          <p:nvPr/>
        </p:nvSpPr>
        <p:spPr>
          <a:xfrm>
            <a:off x="6126480" y="804600"/>
            <a:ext cx="2834280" cy="10054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1" name="Shape 14"/>
          <p:cNvSpPr/>
          <p:nvPr/>
        </p:nvSpPr>
        <p:spPr>
          <a:xfrm>
            <a:off x="6126480" y="804600"/>
            <a:ext cx="2834280" cy="5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15"/>
          <p:cNvSpPr/>
          <p:nvPr/>
        </p:nvSpPr>
        <p:spPr>
          <a:xfrm>
            <a:off x="6263640" y="8960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4d399"/>
                </a:solidFill>
                <a:latin typeface="Calibri"/>
              </a:rPr>
              <a:t>Call via ClassName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43" name="Text 16"/>
          <p:cNvSpPr/>
          <p:nvPr/>
        </p:nvSpPr>
        <p:spPr>
          <a:xfrm>
            <a:off x="6263640" y="124344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BankTerminal.get_counter() — no object required. Works even before any objects are created.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4" name="Shape 17"/>
          <p:cNvSpPr/>
          <p:nvPr/>
        </p:nvSpPr>
        <p:spPr>
          <a:xfrm>
            <a:off x="182880" y="1901880"/>
            <a:ext cx="5217120" cy="457812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5" name="Shape 18"/>
          <p:cNvSpPr/>
          <p:nvPr/>
        </p:nvSpPr>
        <p:spPr>
          <a:xfrm>
            <a:off x="182880" y="1901880"/>
            <a:ext cx="5394600" cy="246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Shape 19"/>
          <p:cNvSpPr/>
          <p:nvPr/>
        </p:nvSpPr>
        <p:spPr>
          <a:xfrm>
            <a:off x="292680" y="196596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Shape 20"/>
          <p:cNvSpPr/>
          <p:nvPr/>
        </p:nvSpPr>
        <p:spPr>
          <a:xfrm>
            <a:off x="475560" y="196596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Shape 21"/>
          <p:cNvSpPr/>
          <p:nvPr/>
        </p:nvSpPr>
        <p:spPr>
          <a:xfrm>
            <a:off x="658440" y="196596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22"/>
          <p:cNvSpPr/>
          <p:nvPr/>
        </p:nvSpPr>
        <p:spPr>
          <a:xfrm>
            <a:off x="182880" y="1920240"/>
            <a:ext cx="5303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static_method.py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50" name="Text 23"/>
          <p:cNvSpPr/>
          <p:nvPr/>
        </p:nvSpPr>
        <p:spPr>
          <a:xfrm>
            <a:off x="292680" y="2176200"/>
            <a:ext cx="5166000" cy="26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BankTerminal: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__cust_counter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.__cust_id = BankTerminal.__cust_counter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BankTerminal.__cust_counter +=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.__pin =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''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.__balance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STATIC METHOD ---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get_counter():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# no self!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BankTerminal.__cust_counter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get_balance(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# normal method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.__balance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Usage ---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Call BEFORE creating any object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print(BankTerminal.get_counter())  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# Output: 1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c1 = BankTerminal()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c2 = BankTerminal()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Call AFTER creating objects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print(BankTerminal.get_counter())  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# Output: 3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(counter = 3, ready for 3rd customer)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251" name="Shape 24"/>
          <p:cNvSpPr/>
          <p:nvPr/>
        </p:nvSpPr>
        <p:spPr>
          <a:xfrm>
            <a:off x="5760720" y="1901880"/>
            <a:ext cx="3200040" cy="29714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2" name="Text 25"/>
          <p:cNvSpPr/>
          <p:nvPr/>
        </p:nvSpPr>
        <p:spPr>
          <a:xfrm>
            <a:off x="5897880" y="2011680"/>
            <a:ext cx="2925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8bdf8"/>
                </a:solidFill>
                <a:latin typeface="Calibri"/>
              </a:rPr>
              <a:t>Normal vs Static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8bdf8"/>
                </a:solidFill>
                <a:latin typeface="Calibri"/>
              </a:rPr>
              <a:t>Method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53" name="Text 26"/>
          <p:cNvSpPr/>
          <p:nvPr/>
        </p:nvSpPr>
        <p:spPr>
          <a:xfrm>
            <a:off x="5897880" y="267012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</a:rPr>
              <a:t>First param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4" name="Text 27"/>
          <p:cNvSpPr/>
          <p:nvPr/>
        </p:nvSpPr>
        <p:spPr>
          <a:xfrm>
            <a:off x="7269480" y="2670120"/>
            <a:ext cx="776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self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5" name="Text 28"/>
          <p:cNvSpPr/>
          <p:nvPr/>
        </p:nvSpPr>
        <p:spPr>
          <a:xfrm>
            <a:off x="8065080" y="2670120"/>
            <a:ext cx="80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None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6" name="Text 29"/>
          <p:cNvSpPr/>
          <p:nvPr/>
        </p:nvSpPr>
        <p:spPr>
          <a:xfrm>
            <a:off x="5897880" y="308160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</a:rPr>
              <a:t>Access instance vars?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7" name="Text 30"/>
          <p:cNvSpPr/>
          <p:nvPr/>
        </p:nvSpPr>
        <p:spPr>
          <a:xfrm>
            <a:off x="7269480" y="3081600"/>
            <a:ext cx="776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YES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8" name="Text 31"/>
          <p:cNvSpPr/>
          <p:nvPr/>
        </p:nvSpPr>
        <p:spPr>
          <a:xfrm>
            <a:off x="8065080" y="3081600"/>
            <a:ext cx="80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NO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9" name="Text 32"/>
          <p:cNvSpPr/>
          <p:nvPr/>
        </p:nvSpPr>
        <p:spPr>
          <a:xfrm>
            <a:off x="5897880" y="349308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</a:rPr>
              <a:t>Access static vars?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0" name="Text 33"/>
          <p:cNvSpPr/>
          <p:nvPr/>
        </p:nvSpPr>
        <p:spPr>
          <a:xfrm>
            <a:off x="7269480" y="3493080"/>
            <a:ext cx="776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YES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1" name="Text 34"/>
          <p:cNvSpPr/>
          <p:nvPr/>
        </p:nvSpPr>
        <p:spPr>
          <a:xfrm>
            <a:off x="8065080" y="3493080"/>
            <a:ext cx="80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YES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2" name="Text 35"/>
          <p:cNvSpPr/>
          <p:nvPr/>
        </p:nvSpPr>
        <p:spPr>
          <a:xfrm>
            <a:off x="5897880" y="390456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</a:rPr>
              <a:t>Called via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3" name="Text 36"/>
          <p:cNvSpPr/>
          <p:nvPr/>
        </p:nvSpPr>
        <p:spPr>
          <a:xfrm>
            <a:off x="7269480" y="3904560"/>
            <a:ext cx="776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obj.method()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4" name="Text 37"/>
          <p:cNvSpPr/>
          <p:nvPr/>
        </p:nvSpPr>
        <p:spPr>
          <a:xfrm>
            <a:off x="8065080" y="3904560"/>
            <a:ext cx="80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Class.method()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5" name="Text 38"/>
          <p:cNvSpPr/>
          <p:nvPr/>
        </p:nvSpPr>
        <p:spPr>
          <a:xfrm>
            <a:off x="5897880" y="4316040"/>
            <a:ext cx="132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</a:rPr>
              <a:t>Decorator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6" name="Text 39"/>
          <p:cNvSpPr/>
          <p:nvPr/>
        </p:nvSpPr>
        <p:spPr>
          <a:xfrm>
            <a:off x="7269480" y="4316040"/>
            <a:ext cx="776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—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7" name="Text 40"/>
          <p:cNvSpPr/>
          <p:nvPr/>
        </p:nvSpPr>
        <p:spPr>
          <a:xfrm>
            <a:off x="8065080" y="4316040"/>
            <a:ext cx="80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Static Methods – Utility Functions &amp; Decorator Explained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271" name="Shape 3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2" name="Text 4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08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3" name="Shape 5"/>
          <p:cNvSpPr/>
          <p:nvPr/>
        </p:nvSpPr>
        <p:spPr>
          <a:xfrm>
            <a:off x="182880" y="804600"/>
            <a:ext cx="5120280" cy="40413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4" name="Text 6"/>
          <p:cNvSpPr/>
          <p:nvPr/>
        </p:nvSpPr>
        <p:spPr>
          <a:xfrm>
            <a:off x="320040" y="89604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</a:rPr>
              <a:t>Static Methods as Utility Functions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5" name="Text 7"/>
          <p:cNvSpPr/>
          <p:nvPr/>
        </p:nvSpPr>
        <p:spPr>
          <a:xfrm>
            <a:off x="320040" y="128016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</a:rPr>
              <a:t>When a method is logically part of a class but doesn't need any object's data — make it static.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6" name="Shape 8"/>
          <p:cNvSpPr/>
          <p:nvPr/>
        </p:nvSpPr>
        <p:spPr>
          <a:xfrm>
            <a:off x="320040" y="1737360"/>
            <a:ext cx="4719960" cy="340632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7" name="Shape 9"/>
          <p:cNvSpPr/>
          <p:nvPr/>
        </p:nvSpPr>
        <p:spPr>
          <a:xfrm>
            <a:off x="320040" y="1737360"/>
            <a:ext cx="4845960" cy="246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Shape 10"/>
          <p:cNvSpPr/>
          <p:nvPr/>
        </p:nvSpPr>
        <p:spPr>
          <a:xfrm>
            <a:off x="429840" y="180144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Shape 11"/>
          <p:cNvSpPr/>
          <p:nvPr/>
        </p:nvSpPr>
        <p:spPr>
          <a:xfrm>
            <a:off x="612720" y="180144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Shape 12"/>
          <p:cNvSpPr/>
          <p:nvPr/>
        </p:nvSpPr>
        <p:spPr>
          <a:xfrm>
            <a:off x="795600" y="180144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13"/>
          <p:cNvSpPr/>
          <p:nvPr/>
        </p:nvSpPr>
        <p:spPr>
          <a:xfrm>
            <a:off x="320040" y="1755720"/>
            <a:ext cx="4754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utility_demo.py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82" name="Text 14"/>
          <p:cNvSpPr/>
          <p:nvPr/>
        </p:nvSpPr>
        <p:spPr>
          <a:xfrm>
            <a:off x="429840" y="2011680"/>
            <a:ext cx="4617360" cy="23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NumberUtils: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is_even(value):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value %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2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==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factorial(n):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result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for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i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range(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n +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result *= i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result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clamp(value, min_v, max_v):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max(min_v, min(value, max_v))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Call WITHOUT creating any object!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print(NumberUtils.is_even(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4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))  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True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print(NumberUtils.factorial(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5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))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120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print(NumberUtils.clamp(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15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10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))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10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283" name="Shape 15"/>
          <p:cNvSpPr/>
          <p:nvPr/>
        </p:nvSpPr>
        <p:spPr>
          <a:xfrm>
            <a:off x="5486400" y="804600"/>
            <a:ext cx="3474360" cy="404136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4" name="Text 16"/>
          <p:cNvSpPr/>
          <p:nvPr/>
        </p:nvSpPr>
        <p:spPr>
          <a:xfrm>
            <a:off x="5623560" y="896040"/>
            <a:ext cx="3200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59e0b"/>
                </a:solidFill>
                <a:latin typeface="Calibri"/>
              </a:rPr>
              <a:t>The @staticmethod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59e0b"/>
                </a:solidFill>
                <a:latin typeface="Calibri"/>
              </a:rPr>
              <a:t>Decorator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85" name="Shape 17"/>
          <p:cNvSpPr/>
          <p:nvPr/>
        </p:nvSpPr>
        <p:spPr>
          <a:xfrm>
            <a:off x="5623560" y="1536120"/>
            <a:ext cx="3200040" cy="36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18"/>
          <p:cNvSpPr/>
          <p:nvPr/>
        </p:nvSpPr>
        <p:spPr>
          <a:xfrm>
            <a:off x="5623560" y="162756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alibri"/>
              </a:rPr>
              <a:t>Placed on the line immediately ABOVE def: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7" name="Shape 19"/>
          <p:cNvSpPr/>
          <p:nvPr/>
        </p:nvSpPr>
        <p:spPr>
          <a:xfrm>
            <a:off x="5623560" y="2011680"/>
            <a:ext cx="3200040" cy="59400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8" name="Shape 20"/>
          <p:cNvSpPr/>
          <p:nvPr/>
        </p:nvSpPr>
        <p:spPr>
          <a:xfrm>
            <a:off x="5623560" y="2011680"/>
            <a:ext cx="3200040" cy="246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Shape 21"/>
          <p:cNvSpPr/>
          <p:nvPr/>
        </p:nvSpPr>
        <p:spPr>
          <a:xfrm>
            <a:off x="5733360" y="207576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Shape 22"/>
          <p:cNvSpPr/>
          <p:nvPr/>
        </p:nvSpPr>
        <p:spPr>
          <a:xfrm>
            <a:off x="5916240" y="207576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Shape 23"/>
          <p:cNvSpPr/>
          <p:nvPr/>
        </p:nvSpPr>
        <p:spPr>
          <a:xfrm>
            <a:off x="6099120" y="207576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Text 24"/>
          <p:cNvSpPr/>
          <p:nvPr/>
        </p:nvSpPr>
        <p:spPr>
          <a:xfrm>
            <a:off x="5733360" y="2286000"/>
            <a:ext cx="2971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my_utility():  # no self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293" name="Text 25"/>
          <p:cNvSpPr/>
          <p:nvPr/>
        </p:nvSpPr>
        <p:spPr>
          <a:xfrm>
            <a:off x="5623560" y="26974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</a:rPr>
              <a:t>What it tells Python: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4" name="Text 26"/>
          <p:cNvSpPr/>
          <p:nvPr/>
        </p:nvSpPr>
        <p:spPr>
          <a:xfrm>
            <a:off x="5623560" y="2971800"/>
            <a:ext cx="320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This method belongs to the class, not an object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Do NOT pass 'self' automatically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Can be called via ClassName with no instance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5" name="Shape 27"/>
          <p:cNvSpPr/>
          <p:nvPr/>
        </p:nvSpPr>
        <p:spPr>
          <a:xfrm>
            <a:off x="5623560" y="3977640"/>
            <a:ext cx="3200040" cy="685440"/>
          </a:xfrm>
          <a:prstGeom prst="rect">
            <a:avLst/>
          </a:prstGeom>
          <a:solidFill>
            <a:srgbClr val="1a1030"/>
          </a:solidFill>
          <a:ln w="15240">
            <a:solidFill>
              <a:srgbClr val="c084fc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6" name="Text 28"/>
          <p:cNvSpPr/>
          <p:nvPr/>
        </p:nvSpPr>
        <p:spPr>
          <a:xfrm>
            <a:off x="5715000" y="4041720"/>
            <a:ext cx="3017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Advanced note: Decorators are a Python feature for modifying function behaviour. Full internals explained in a later session. For now: @staticmethod = 'this is a utility method'.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Complete BankTerminal Class – All Concepts (Part 1 of 2)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300" name="Shape 3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1" name="Text 4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Final Integration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2" name="Text 5"/>
          <p:cNvSpPr/>
          <p:nvPr/>
        </p:nvSpPr>
        <p:spPr>
          <a:xfrm>
            <a:off x="182880" y="777240"/>
            <a:ext cx="8777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</a:rPr>
              <a:t>Private vars · Static counter · Getters · Setters · Static method · PIN management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3" name="Shape 6"/>
          <p:cNvSpPr/>
          <p:nvPr/>
        </p:nvSpPr>
        <p:spPr>
          <a:xfrm>
            <a:off x="182880" y="1170360"/>
            <a:ext cx="4857120" cy="476964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4" name="Shape 7"/>
          <p:cNvSpPr/>
          <p:nvPr/>
        </p:nvSpPr>
        <p:spPr>
          <a:xfrm>
            <a:off x="182880" y="1170360"/>
            <a:ext cx="4937400" cy="246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Shape 8"/>
          <p:cNvSpPr/>
          <p:nvPr/>
        </p:nvSpPr>
        <p:spPr>
          <a:xfrm>
            <a:off x="292680" y="123444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Shape 9"/>
          <p:cNvSpPr/>
          <p:nvPr/>
        </p:nvSpPr>
        <p:spPr>
          <a:xfrm>
            <a:off x="475560" y="123444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Shape 10"/>
          <p:cNvSpPr/>
          <p:nvPr/>
        </p:nvSpPr>
        <p:spPr>
          <a:xfrm>
            <a:off x="658440" y="123444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11"/>
          <p:cNvSpPr/>
          <p:nvPr/>
        </p:nvSpPr>
        <p:spPr>
          <a:xfrm>
            <a:off x="182880" y="1188720"/>
            <a:ext cx="4845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bank_terminal_v1.py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09" name="Text 12"/>
          <p:cNvSpPr/>
          <p:nvPr/>
        </p:nvSpPr>
        <p:spPr>
          <a:xfrm>
            <a:off x="292680" y="1444680"/>
            <a:ext cx="4708800" cy="33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BankTerminal: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── Static variable: shared counter for all terminals ──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__cust_counter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.__cust_id = BankTerminal.__cust_counter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BankTerminal.__cust_counter +=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.__pin =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''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.__balance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── Static Method ──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get_counter():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BankTerminal.__cust_counter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── Getters ──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get_balance(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.__balance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get_cust_id(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.__cust_id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── Setter with validation ──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set_balance(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new_amount):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type(new_amount) ==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int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.__balance = new_amount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else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'Invalid: must be an integer'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310" name="Shape 13"/>
          <p:cNvSpPr/>
          <p:nvPr/>
        </p:nvSpPr>
        <p:spPr>
          <a:xfrm>
            <a:off x="5303520" y="1170360"/>
            <a:ext cx="3657240" cy="6580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1" name="Shape 14"/>
          <p:cNvSpPr/>
          <p:nvPr/>
        </p:nvSpPr>
        <p:spPr>
          <a:xfrm>
            <a:off x="5303520" y="1170360"/>
            <a:ext cx="54360" cy="658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15"/>
          <p:cNvSpPr/>
          <p:nvPr/>
        </p:nvSpPr>
        <p:spPr>
          <a:xfrm>
            <a:off x="5468040" y="121608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4d399"/>
                </a:solidFill>
                <a:latin typeface="Calibri"/>
              </a:rPr>
              <a:t>Static Variable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13" name="Text 16"/>
          <p:cNvSpPr/>
          <p:nvPr/>
        </p:nvSpPr>
        <p:spPr>
          <a:xfrm>
            <a:off x="5468040" y="148140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__cust_counter — shared counter at class level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4" name="Shape 17"/>
          <p:cNvSpPr/>
          <p:nvPr/>
        </p:nvSpPr>
        <p:spPr>
          <a:xfrm>
            <a:off x="5303520" y="1920240"/>
            <a:ext cx="3657240" cy="6580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5" name="Shape 18"/>
          <p:cNvSpPr/>
          <p:nvPr/>
        </p:nvSpPr>
        <p:spPr>
          <a:xfrm>
            <a:off x="5303520" y="1920240"/>
            <a:ext cx="54360" cy="658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19"/>
          <p:cNvSpPr/>
          <p:nvPr/>
        </p:nvSpPr>
        <p:spPr>
          <a:xfrm>
            <a:off x="5468040" y="196596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59e0b"/>
                </a:solidFill>
                <a:latin typeface="Calibri"/>
              </a:rPr>
              <a:t>@staticmethod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17" name="Text 20"/>
          <p:cNvSpPr/>
          <p:nvPr/>
        </p:nvSpPr>
        <p:spPr>
          <a:xfrm>
            <a:off x="5468040" y="223128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get_counter() — no self, called via ClassName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8" name="Shape 21"/>
          <p:cNvSpPr/>
          <p:nvPr/>
        </p:nvSpPr>
        <p:spPr>
          <a:xfrm>
            <a:off x="5303520" y="2670120"/>
            <a:ext cx="3657240" cy="6580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9" name="Shape 22"/>
          <p:cNvSpPr/>
          <p:nvPr/>
        </p:nvSpPr>
        <p:spPr>
          <a:xfrm>
            <a:off x="5303520" y="2670120"/>
            <a:ext cx="54360" cy="658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23"/>
          <p:cNvSpPr/>
          <p:nvPr/>
        </p:nvSpPr>
        <p:spPr>
          <a:xfrm>
            <a:off x="5468040" y="27158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8bdf8"/>
                </a:solidFill>
                <a:latin typeface="Calibri"/>
              </a:rPr>
              <a:t>Getters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21" name="Text 24"/>
          <p:cNvSpPr/>
          <p:nvPr/>
        </p:nvSpPr>
        <p:spPr>
          <a:xfrm>
            <a:off x="5468040" y="298080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get_balance(), get_cust_id() — read-only access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2" name="Shape 25"/>
          <p:cNvSpPr/>
          <p:nvPr/>
        </p:nvSpPr>
        <p:spPr>
          <a:xfrm>
            <a:off x="5303520" y="3420000"/>
            <a:ext cx="3657240" cy="6580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3" name="Shape 26"/>
          <p:cNvSpPr/>
          <p:nvPr/>
        </p:nvSpPr>
        <p:spPr>
          <a:xfrm>
            <a:off x="5303520" y="3420000"/>
            <a:ext cx="54360" cy="658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Text 27"/>
          <p:cNvSpPr/>
          <p:nvPr/>
        </p:nvSpPr>
        <p:spPr>
          <a:xfrm>
            <a:off x="5468040" y="346572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87171"/>
                </a:solidFill>
                <a:latin typeface="Calibri"/>
              </a:rPr>
              <a:t>Setter + Validation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25" name="Text 28"/>
          <p:cNvSpPr/>
          <p:nvPr/>
        </p:nvSpPr>
        <p:spPr>
          <a:xfrm>
            <a:off x="5468040" y="373068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set_balance() — type check before assigning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6" name="Shape 29"/>
          <p:cNvSpPr/>
          <p:nvPr/>
        </p:nvSpPr>
        <p:spPr>
          <a:xfrm>
            <a:off x="5303520" y="4169520"/>
            <a:ext cx="3657240" cy="6580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7" name="Shape 30"/>
          <p:cNvSpPr/>
          <p:nvPr/>
        </p:nvSpPr>
        <p:spPr>
          <a:xfrm>
            <a:off x="5303520" y="4169520"/>
            <a:ext cx="54360" cy="65808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31"/>
          <p:cNvSpPr/>
          <p:nvPr/>
        </p:nvSpPr>
        <p:spPr>
          <a:xfrm>
            <a:off x="5468040" y="42152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c084fc"/>
                </a:solidFill>
                <a:latin typeface="Calibri"/>
              </a:rPr>
              <a:t>Private Variables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29" name="Text 32"/>
          <p:cNvSpPr/>
          <p:nvPr/>
        </p:nvSpPr>
        <p:spPr>
          <a:xfrm>
            <a:off x="5468040" y="448056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__cust_id, __pin, __balance — protected by __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Complete BankTerminal Class – All Concepts (Part 2 of 2)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333" name="Shape 3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4" name="Text 4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Final Integration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5" name="Shape 5"/>
          <p:cNvSpPr/>
          <p:nvPr/>
        </p:nvSpPr>
        <p:spPr>
          <a:xfrm>
            <a:off x="182880" y="804600"/>
            <a:ext cx="5037120" cy="603540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6" name="Shape 6"/>
          <p:cNvSpPr/>
          <p:nvPr/>
        </p:nvSpPr>
        <p:spPr>
          <a:xfrm>
            <a:off x="182880" y="804600"/>
            <a:ext cx="5166000" cy="246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Shape 7"/>
          <p:cNvSpPr/>
          <p:nvPr/>
        </p:nvSpPr>
        <p:spPr>
          <a:xfrm>
            <a:off x="292680" y="86868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Shape 8"/>
          <p:cNvSpPr/>
          <p:nvPr/>
        </p:nvSpPr>
        <p:spPr>
          <a:xfrm>
            <a:off x="475560" y="86868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Shape 9"/>
          <p:cNvSpPr/>
          <p:nvPr/>
        </p:nvSpPr>
        <p:spPr>
          <a:xfrm>
            <a:off x="658440" y="86868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10"/>
          <p:cNvSpPr/>
          <p:nvPr/>
        </p:nvSpPr>
        <p:spPr>
          <a:xfrm>
            <a:off x="182880" y="822960"/>
            <a:ext cx="5074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bank_terminal_v2.py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41" name="Text 11"/>
          <p:cNvSpPr/>
          <p:nvPr/>
        </p:nvSpPr>
        <p:spPr>
          <a:xfrm>
            <a:off x="292680" y="1078920"/>
            <a:ext cx="4937400" cy="37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── PIN Management ──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create_pin(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.__pin = input(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'Set new PIN: 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'PIN created.'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update_pin(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old = input(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'Enter current PIN: 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old ==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.__pin: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.__pin = input(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'New PIN: 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'PIN updated.'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else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print(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'Incorrect PIN.'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── Account Operations ──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view_balance(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pin = input(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'Enter PIN: 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pin ==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.__pin: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'Balance:'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.__balance)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else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print(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'Wrong PIN.'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withdraw_cash(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amount):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pin = input(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'Enter PIN: 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pin ==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.__pin: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.__balance &gt;= amount: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.__balance -= amount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'Withdrawn:'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amount,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         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'| Remaining:'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.__balance)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else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print(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'Insufficient balance.'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else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print(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'Wrong PIN.'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show_menu(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'=== BankTerminal Menu ==='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for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idx, opt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enumerate([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'1. Create PIN'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'2. Update PIN'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'3. View Balance'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'4. Withdraw'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'5. Exit'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],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print(opt)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342" name="Shape 12"/>
          <p:cNvSpPr/>
          <p:nvPr/>
        </p:nvSpPr>
        <p:spPr>
          <a:xfrm>
            <a:off x="5486400" y="804600"/>
            <a:ext cx="3474360" cy="40687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3" name="Text 13"/>
          <p:cNvSpPr/>
          <p:nvPr/>
        </p:nvSpPr>
        <p:spPr>
          <a:xfrm>
            <a:off x="5623560" y="89604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8bdf8"/>
                </a:solidFill>
                <a:latin typeface="Calibri"/>
              </a:rPr>
              <a:t>How to Use It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44" name="Text 14"/>
          <p:cNvSpPr/>
          <p:nvPr/>
        </p:nvSpPr>
        <p:spPr>
          <a:xfrm>
            <a:off x="5623560" y="1325880"/>
            <a:ext cx="3200040" cy="34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# Before any object: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BankTerminal.get_counter()  → 1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# Create customers: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cust1 = BankTerminal()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cust2 = BankTerminal()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# Counter updated: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BankTerminal.get_counter()  → 3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# Set balance safely: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cust1.set_balance(5000)  # OK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cust1.set_balance('abc') # Rejected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# View balance after PIN: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cust1.view_balance()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# Withdraw: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cust1.withdraw_cash(1000)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Quick Reference – All Key Rules &amp; Formulas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348" name="Shape 3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9" name="Text 4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Session Summary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0" name="Shape 5"/>
          <p:cNvSpPr/>
          <p:nvPr/>
        </p:nvSpPr>
        <p:spPr>
          <a:xfrm>
            <a:off x="182880" y="822960"/>
            <a:ext cx="4205880" cy="20113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1" name="Shape 6"/>
          <p:cNvSpPr/>
          <p:nvPr/>
        </p:nvSpPr>
        <p:spPr>
          <a:xfrm>
            <a:off x="182880" y="822960"/>
            <a:ext cx="420588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7"/>
          <p:cNvSpPr/>
          <p:nvPr/>
        </p:nvSpPr>
        <p:spPr>
          <a:xfrm>
            <a:off x="320040" y="91440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8bdf8"/>
                </a:solidFill>
                <a:latin typeface="Calibri"/>
              </a:rPr>
              <a:t>Reference Variables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53" name="Text 8"/>
          <p:cNvSpPr/>
          <p:nvPr/>
        </p:nvSpPr>
        <p:spPr>
          <a:xfrm>
            <a:off x="320040" y="1280160"/>
            <a:ext cx="3977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p = Class() → p stores MEMORY ADDRESS, not the object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k = p → both point to the SAME object (aliasing)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Change via k → p also sees it (same memory)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k = p does NOT copy — use copy.deepcopy() for that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id() returns the memory address for proof</a:t>
            </a:r>
            <a:endParaRPr b="0" lang="en-IN" sz="1080" spc="-1" strike="noStrike">
              <a:latin typeface="Arial"/>
            </a:endParaRPr>
          </a:p>
        </p:txBody>
      </p:sp>
      <p:sp>
        <p:nvSpPr>
          <p:cNvPr id="354" name="Shape 9"/>
          <p:cNvSpPr/>
          <p:nvPr/>
        </p:nvSpPr>
        <p:spPr>
          <a:xfrm>
            <a:off x="4572000" y="822960"/>
            <a:ext cx="4388760" cy="20113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5" name="Shape 10"/>
          <p:cNvSpPr/>
          <p:nvPr/>
        </p:nvSpPr>
        <p:spPr>
          <a:xfrm>
            <a:off x="4572000" y="822960"/>
            <a:ext cx="4388760" cy="5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Text 11"/>
          <p:cNvSpPr/>
          <p:nvPr/>
        </p:nvSpPr>
        <p:spPr>
          <a:xfrm>
            <a:off x="4709160" y="914400"/>
            <a:ext cx="4160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4d399"/>
                </a:solidFill>
                <a:latin typeface="Calibri"/>
              </a:rPr>
              <a:t>Pass by Reference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57" name="Text 12"/>
          <p:cNvSpPr/>
          <p:nvPr/>
        </p:nvSpPr>
        <p:spPr>
          <a:xfrm>
            <a:off x="4709160" y="1280160"/>
            <a:ext cx="41601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Passing object to function → sends memory address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id() inside and outside function is IDENTICAL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Changes inside function affect the original object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No need to return — already modified in-place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User-defined objects are MUTABLE by default</a:t>
            </a:r>
            <a:endParaRPr b="0" lang="en-IN" sz="1080" spc="-1" strike="noStrike">
              <a:latin typeface="Arial"/>
            </a:endParaRPr>
          </a:p>
        </p:txBody>
      </p:sp>
      <p:sp>
        <p:nvSpPr>
          <p:cNvPr id="358" name="Shape 13"/>
          <p:cNvSpPr/>
          <p:nvPr/>
        </p:nvSpPr>
        <p:spPr>
          <a:xfrm>
            <a:off x="182880" y="2944440"/>
            <a:ext cx="4205880" cy="19015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9" name="Shape 14"/>
          <p:cNvSpPr/>
          <p:nvPr/>
        </p:nvSpPr>
        <p:spPr>
          <a:xfrm>
            <a:off x="182880" y="2944440"/>
            <a:ext cx="420588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Text 15"/>
          <p:cNvSpPr/>
          <p:nvPr/>
        </p:nvSpPr>
        <p:spPr>
          <a:xfrm>
            <a:off x="320040" y="303588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59e0b"/>
                </a:solidFill>
                <a:latin typeface="Calibri"/>
              </a:rPr>
              <a:t>Encapsulation Rules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61" name="Text 16"/>
          <p:cNvSpPr/>
          <p:nvPr/>
        </p:nvSpPr>
        <p:spPr>
          <a:xfrm>
            <a:off x="320040" y="3401640"/>
            <a:ext cx="397728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Private var: self.__balance (double underscore)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Name mangling: __balance → _ClassName__balance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Python = Gentleman's Agreement (nothing truly private)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Getter: read-only access to private value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Setter: write access WITH type/range validation</a:t>
            </a:r>
            <a:endParaRPr b="0" lang="en-IN" sz="1080" spc="-1" strike="noStrike">
              <a:latin typeface="Arial"/>
            </a:endParaRPr>
          </a:p>
        </p:txBody>
      </p:sp>
      <p:sp>
        <p:nvSpPr>
          <p:cNvPr id="362" name="Shape 17"/>
          <p:cNvSpPr/>
          <p:nvPr/>
        </p:nvSpPr>
        <p:spPr>
          <a:xfrm>
            <a:off x="4572000" y="2944440"/>
            <a:ext cx="4388760" cy="19015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3" name="Shape 18"/>
          <p:cNvSpPr/>
          <p:nvPr/>
        </p:nvSpPr>
        <p:spPr>
          <a:xfrm>
            <a:off x="4572000" y="2944440"/>
            <a:ext cx="438876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19"/>
          <p:cNvSpPr/>
          <p:nvPr/>
        </p:nvSpPr>
        <p:spPr>
          <a:xfrm>
            <a:off x="4709160" y="3035880"/>
            <a:ext cx="4160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87171"/>
                </a:solidFill>
                <a:latin typeface="Calibri"/>
              </a:rPr>
              <a:t>Static Variables &amp; Methods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65" name="Text 20"/>
          <p:cNvSpPr/>
          <p:nvPr/>
        </p:nvSpPr>
        <p:spPr>
          <a:xfrm>
            <a:off x="4709160" y="3401640"/>
            <a:ext cx="416016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Static var: class-level, outside __init__, shared by all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Instance var: self. inside __init__, unique per object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Access static: ClassName.variable (not self.)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Static method: @staticmethod, no self parameter</a:t>
            </a:r>
            <a:endParaRPr b="0" lang="en-IN" sz="108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80" spc="-1" strike="noStrike">
                <a:solidFill>
                  <a:srgbClr val="e2e8f0"/>
                </a:solidFill>
                <a:latin typeface="Calibri"/>
              </a:rPr>
              <a:t>Call static method: ClassName.method() — no object needed</a:t>
            </a:r>
            <a:endParaRPr b="0" lang="en-IN" sz="10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Full Session Summary – OOP Session 8 Part 2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369" name="Shape 3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0" name="Text 4"/>
          <p:cNvSpPr/>
          <p:nvPr/>
        </p:nvSpPr>
        <p:spPr>
          <a:xfrm>
            <a:off x="7543800" y="11880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Every Topic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371" name="Table 0"/>
          <p:cNvGraphicFramePr/>
          <p:nvPr/>
        </p:nvGraphicFramePr>
        <p:xfrm>
          <a:off x="182880" y="822960"/>
          <a:ext cx="8777880" cy="4132800"/>
        </p:xfrm>
        <a:graphic>
          <a:graphicData uri="http://schemas.openxmlformats.org/drawingml/2006/table">
            <a:tbl>
              <a:tblPr/>
              <a:tblGrid>
                <a:gridCol w="2743200"/>
                <a:gridCol w="6035040"/>
              </a:tblGrid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38bdf8"/>
                          </a:solidFill>
                          <a:latin typeface="Calibri"/>
                        </a:rPr>
                        <a:t>Key Takeaway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62032"/>
                    </a:solidFill>
                  </a:tcPr>
                </a:tc>
              </a:tr>
              <a:tr h="417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Coordinate Geometry Practice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Two classes (Coordinate &amp; LinearEq) interacting — one class's method receives the other as input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Accessing Attributes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You can add new attributes to an object from OUTSIDE the class (risky but valid)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Reference Variables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p stores MEMORY ADDRESS, not the object · aliasing danger · id() as proof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Pass by Reference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Functions receive address — id() same inside/outside · changes persist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Object Mutability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User-defined objects are mutable · id() unchanged after modification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Instance Variables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self.variable in __init__ — unique value per object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Encapsulation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Private __ vars + getters/setters + validation layer · Gentleman's Agreement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Name Mangling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__balance → _ClassName__balance internally · bypassed only intentionally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Collections of Objects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Objects in lists, dicts, tuples — iterate, index, filter with dot notation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Static Variables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Class-level · ClassName.var · shared by all · counter pattern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Static Methods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@staticmethod · no self · ClassName.method() · utility functions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Complete BankTerminal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Integrates: private vars, counter, getters/setters, PIN, withdraw, static method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c1526"/>
          </a:solidFill>
          <a:ln w="12700">
            <a:solidFill>
              <a:srgbClr val="0c15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Shape 1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Text 2"/>
          <p:cNvSpPr/>
          <p:nvPr/>
        </p:nvSpPr>
        <p:spPr>
          <a:xfrm>
            <a:off x="914400" y="5029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497" strike="noStrike">
                <a:solidFill>
                  <a:srgbClr val="34d399"/>
                </a:solidFill>
                <a:latin typeface="Calibri"/>
              </a:rPr>
              <a:t>COMING UP NEXT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5" name="Text 3"/>
          <p:cNvSpPr/>
          <p:nvPr/>
        </p:nvSpPr>
        <p:spPr>
          <a:xfrm>
            <a:off x="914400" y="914400"/>
            <a:ext cx="7314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Remaining OOP Principles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76" name="Shape 4"/>
          <p:cNvSpPr/>
          <p:nvPr/>
        </p:nvSpPr>
        <p:spPr>
          <a:xfrm>
            <a:off x="914400" y="2030040"/>
            <a:ext cx="7314840" cy="45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Shape 5"/>
          <p:cNvSpPr/>
          <p:nvPr/>
        </p:nvSpPr>
        <p:spPr>
          <a:xfrm>
            <a:off x="914400" y="2258640"/>
            <a:ext cx="365400" cy="365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Text 6"/>
          <p:cNvSpPr/>
          <p:nvPr/>
        </p:nvSpPr>
        <p:spPr>
          <a:xfrm>
            <a:off x="914400" y="22586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9" name="Text 7"/>
          <p:cNvSpPr/>
          <p:nvPr/>
        </p:nvSpPr>
        <p:spPr>
          <a:xfrm>
            <a:off x="1417320" y="221292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Inheritance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80" name="Text 8"/>
          <p:cNvSpPr/>
          <p:nvPr/>
        </p:nvSpPr>
        <p:spPr>
          <a:xfrm>
            <a:off x="3840480" y="226764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Derive new classes from existing ones — code reuse and extension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1" name="Shape 9"/>
          <p:cNvSpPr/>
          <p:nvPr/>
        </p:nvSpPr>
        <p:spPr>
          <a:xfrm>
            <a:off x="914400" y="3081600"/>
            <a:ext cx="365400" cy="365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10"/>
          <p:cNvSpPr/>
          <p:nvPr/>
        </p:nvSpPr>
        <p:spPr>
          <a:xfrm>
            <a:off x="914400" y="30816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83" name="Text 11"/>
          <p:cNvSpPr/>
          <p:nvPr/>
        </p:nvSpPr>
        <p:spPr>
          <a:xfrm>
            <a:off x="1417320" y="303588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Polymorphism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84" name="Text 12"/>
          <p:cNvSpPr/>
          <p:nvPr/>
        </p:nvSpPr>
        <p:spPr>
          <a:xfrm>
            <a:off x="3840480" y="309060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One interface, many implementations — overriding and duck typing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5" name="Shape 13"/>
          <p:cNvSpPr/>
          <p:nvPr/>
        </p:nvSpPr>
        <p:spPr>
          <a:xfrm>
            <a:off x="914400" y="3904560"/>
            <a:ext cx="365400" cy="365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Text 14"/>
          <p:cNvSpPr/>
          <p:nvPr/>
        </p:nvSpPr>
        <p:spPr>
          <a:xfrm>
            <a:off x="914400" y="39045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87" name="Text 15"/>
          <p:cNvSpPr/>
          <p:nvPr/>
        </p:nvSpPr>
        <p:spPr>
          <a:xfrm>
            <a:off x="1417320" y="385884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Abstraction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88" name="Text 16"/>
          <p:cNvSpPr/>
          <p:nvPr/>
        </p:nvSpPr>
        <p:spPr>
          <a:xfrm>
            <a:off x="3840480" y="391356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Hide implementation — expose only what's needed via abstract classes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9" name="Shape 17"/>
          <p:cNvSpPr/>
          <p:nvPr/>
        </p:nvSpPr>
        <p:spPr>
          <a:xfrm>
            <a:off x="914400" y="4617720"/>
            <a:ext cx="7954920" cy="383760"/>
          </a:xfrm>
          <a:prstGeom prst="rect">
            <a:avLst/>
          </a:prstGeom>
          <a:solidFill>
            <a:srgbClr val="0a1628"/>
          </a:solidFill>
          <a:ln w="15240">
            <a:solidFill>
              <a:srgbClr val="f59e0b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0" name="Text 18"/>
          <p:cNvSpPr/>
          <p:nvPr/>
        </p:nvSpPr>
        <p:spPr>
          <a:xfrm>
            <a:off x="1051560" y="4663440"/>
            <a:ext cx="7680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9e0b"/>
                </a:solidFill>
                <a:latin typeface="Calibri"/>
              </a:rPr>
              <a:t>Saturday Session: Class methods vs Static methods · __hash__ deep dive · Immutability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2026-02-21T18:23:36Z</dcterms:created>
  <dc:creator>PptxGenJS</dc:creator>
  <dc:description/>
  <dc:language>en-IN</dc:language>
  <cp:lastModifiedBy/>
  <dcterms:modified xsi:type="dcterms:W3CDTF">2026-03-03T10:01:56Z</dcterms:modified>
  <cp:revision>2</cp:revision>
  <dc:subject>PptxGenJS Presentation</dc:subject>
  <dc:title>Python OOP – Part 3 (File 2 Topics)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