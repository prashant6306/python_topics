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notesSlides/_rels/notesSlide15.xml.rels" ContentType="application/vnd.openxmlformats-package.relationships+xml"/>
  <Override PartName="/ppt/notesSlides/_rels/notesSlide6.xml.rels" ContentType="application/vnd.openxmlformats-package.relationships+xml"/>
  <Override PartName="/ppt/notesSlides/_rels/notesSlide11.xml.rels" ContentType="application/vnd.openxmlformats-package.relationships+xml"/>
  <Override PartName="/ppt/notesSlides/_rels/notesSlide2.xml.rels" ContentType="application/vnd.openxmlformats-package.relationships+xml"/>
  <Override PartName="/ppt/notesSlides/_rels/notesSlide12.xml.rels" ContentType="application/vnd.openxmlformats-package.relationships+xml"/>
  <Override PartName="/ppt/notesSlides/_rels/notesSlide5.xml.rels" ContentType="application/vnd.openxmlformats-package.relationships+xml"/>
  <Override PartName="/ppt/notesSlides/_rels/notesSlide9.xml.rels" ContentType="application/vnd.openxmlformats-package.relationships+xml"/>
  <Override PartName="/ppt/notesSlides/_rels/notesSlide13.xml.rels" ContentType="application/vnd.openxmlformats-package.relationships+xml"/>
  <Override PartName="/ppt/notesSlides/_rels/notesSlide18.xml.rels" ContentType="application/vnd.openxmlformats-package.relationships+xml"/>
  <Override PartName="/ppt/notesSlides/_rels/notesSlide8.xml.rels" ContentType="application/vnd.openxmlformats-package.relationships+xml"/>
  <Override PartName="/ppt/notesSlides/_rels/notesSlide17.xml.rels" ContentType="application/vnd.openxmlformats-package.relationships+xml"/>
  <Override PartName="/ppt/notesSlides/_rels/notesSlide4.xml.rels" ContentType="application/vnd.openxmlformats-package.relationships+xml"/>
  <Override PartName="/ppt/notesSlides/_rels/notesSlide19.xml.rels" ContentType="application/vnd.openxmlformats-package.relationships+xml"/>
  <Override PartName="/ppt/notesSlides/_rels/notesSlide20.xml.rels" ContentType="application/vnd.openxmlformats-package.relationships+xml"/>
  <Override PartName="/ppt/notesSlides/_rels/notesSlide3.xml.rels" ContentType="application/vnd.openxmlformats-package.relationships+xml"/>
  <Override PartName="/ppt/notesSlides/_rels/notesSlide14.xml.rels" ContentType="application/vnd.openxmlformats-package.relationships+xml"/>
  <Override PartName="/ppt/notesSlides/_rels/notesSlide10.xml.rels" ContentType="application/vnd.openxmlformats-package.relationships+xml"/>
  <Override PartName="/ppt/notesSlides/_rels/notesSlide1.xml.rels" ContentType="application/vnd.openxmlformats-package.relationships+xml"/>
  <Override PartName="/ppt/notesSlides/_rels/notesSlide16.xml.rels" ContentType="application/vnd.openxmlformats-package.relationships+xml"/>
  <Override PartName="/ppt/notesSlides/_rels/notesSlide7.xml.rels" ContentType="application/vnd.openxmlformats-package.relationships+xml"/>
  <Override PartName="/ppt/notesSlides/notesSlide9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7.xml" ContentType="application/vnd.openxmlformats-officedocument.presentationml.notesSlide+xml"/>
  <Override PartName="/ppt/_rels/presentation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presProps.xml" ContentType="application/vnd.openxmlformats-officedocument.presentationml.presProps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slides/slide13.xml" ContentType="application/vnd.openxmlformats-officedocument.presentationml.slide+xml"/>
  <Override PartName="/ppt/slides/slide12.xml" ContentType="application/vnd.openxmlformats-officedocument.presentationml.slide+xml"/>
  <Override PartName="/ppt/slides/slide9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7.xml" ContentType="application/vnd.openxmlformats-officedocument.presentationml.slide+xml"/>
  <Override PartName="/ppt/slides/slide19.xml" ContentType="application/vnd.openxmlformats-officedocument.presentationml.slide+xml"/>
  <Override PartName="/ppt/slides/slide4.xml" ContentType="application/vnd.openxmlformats-officedocument.presentationml.slide+xml"/>
  <Override PartName="/ppt/slides/slide6.xml" ContentType="application/vnd.openxmlformats-officedocument.presentationml.slide+xml"/>
  <Override PartName="/ppt/slides/slide20.xml" ContentType="application/vnd.openxmlformats-officedocument.presentationml.slide+xml"/>
  <Override PartName="/ppt/slides/slide18.xml" ContentType="application/vnd.openxmlformats-officedocument.presentationml.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_rels/slide5.xml.rels" ContentType="application/vnd.openxmlformats-package.relationships+xml"/>
  <Override PartName="/ppt/slides/_rels/slide2.xml.rels" ContentType="application/vnd.openxmlformats-package.relationships+xml"/>
  <Override PartName="/ppt/slides/_rels/slide20.xml.rels" ContentType="application/vnd.openxmlformats-package.relationships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_rels/slide14.xml.rels" ContentType="application/vnd.openxmlformats-package.relationships+xml"/>
  <Override PartName="/ppt/slides/_rels/slide15.xml.rels" ContentType="application/vnd.openxmlformats-package.relationships+xml"/>
  <Override PartName="/ppt/slides/_rels/slide13.xml.rels" ContentType="application/vnd.openxmlformats-package.relationships+xml"/>
  <Override PartName="/ppt/slides/_rels/slide16.xml.rels" ContentType="application/vnd.openxmlformats-package.relationships+xml"/>
  <Override PartName="/ppt/slides/_rels/slide12.xml.rels" ContentType="application/vnd.openxmlformats-package.relationships+xml"/>
  <Override PartName="/ppt/slides/_rels/slide9.xml.rels" ContentType="application/vnd.openxmlformats-package.relationships+xml"/>
  <Override PartName="/ppt/slides/_rels/slide10.xml.rels" ContentType="application/vnd.openxmlformats-package.relationships+xml"/>
  <Override PartName="/ppt/slides/_rels/slide11.xml.rels" ContentType="application/vnd.openxmlformats-package.relationships+xml"/>
  <Override PartName="/ppt/slides/_rels/slide8.xml.rels" ContentType="application/vnd.openxmlformats-package.relationships+xml"/>
  <Override PartName="/ppt/slides/_rels/slide7.xml.rels" ContentType="application/vnd.openxmlformats-package.relationships+xml"/>
  <Override PartName="/ppt/slides/_rels/slide19.xml.rels" ContentType="application/vnd.openxmlformats-package.relationships+xml"/>
  <Override PartName="/ppt/slides/_rels/slide3.xml.rels" ContentType="application/vnd.openxmlformats-package.relationships+xml"/>
  <Override PartName="/ppt/slides/_rels/slide6.xml.rels" ContentType="application/vnd.openxmlformats-package.relationships+xml"/>
  <Override PartName="/ppt/slides/_rels/slide18.xml.rels" ContentType="application/vnd.openxmlformats-package.relationships+xml"/>
  <Override PartName="/ppt/slides/_rels/slide17.xml.rels" ContentType="application/vnd.openxmlformats-package.relationships+xml"/>
  <Override PartName="/ppt/slides/slide16.xml" ContentType="application/vnd.openxmlformats-officedocument.presentationml.slid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14.xml" ContentType="application/vnd.openxmlformats-officedocument.presentationml.slide+xml"/>
  <Override PartName="/ppt/slides/slide5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</p:sldIdLst>
  <p:sldSz cx="9144000" cy="5143500"/>
  <p:notesSz cx="51435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slide" Target="slides/slide19.xml"/><Relationship Id="rId23" Type="http://schemas.openxmlformats.org/officeDocument/2006/relationships/slide" Target="slides/slide20.xml"/><Relationship Id="rId24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IN" sz="1800" spc="-1" strike="noStrike">
                <a:solidFill>
                  <a:srgbClr val="000000"/>
                </a:solidFill>
                <a:latin typeface="Calibri"/>
              </a:rPr>
              <a:t>C</a:t>
            </a:r>
            <a:r>
              <a:rPr b="0" lang="en-IN" sz="1800" spc="-1" strike="noStrike">
                <a:solidFill>
                  <a:srgbClr val="000000"/>
                </a:solidFill>
                <a:latin typeface="Calibri"/>
              </a:rPr>
              <a:t>li</a:t>
            </a:r>
            <a:r>
              <a:rPr b="0" lang="en-IN" sz="1800" spc="-1" strike="noStrike">
                <a:solidFill>
                  <a:srgbClr val="000000"/>
                </a:solidFill>
                <a:latin typeface="Calibri"/>
              </a:rPr>
              <a:t>c</a:t>
            </a:r>
            <a:r>
              <a:rPr b="0" lang="en-IN" sz="1800" spc="-1" strike="noStrike">
                <a:solidFill>
                  <a:srgbClr val="000000"/>
                </a:solidFill>
                <a:latin typeface="Calibri"/>
              </a:rPr>
              <a:t>k </a:t>
            </a:r>
            <a:r>
              <a:rPr b="0" lang="en-IN" sz="1800" spc="-1" strike="noStrike">
                <a:solidFill>
                  <a:srgbClr val="000000"/>
                </a:solidFill>
                <a:latin typeface="Calibri"/>
              </a:rPr>
              <a:t>t</a:t>
            </a:r>
            <a:r>
              <a:rPr b="0" lang="en-IN" sz="1800" spc="-1" strike="noStrike">
                <a:solidFill>
                  <a:srgbClr val="000000"/>
                </a:solidFill>
                <a:latin typeface="Calibri"/>
              </a:rPr>
              <a:t>o </a:t>
            </a:r>
            <a:r>
              <a:rPr b="0" lang="en-IN" sz="1800" spc="-1" strike="noStrike">
                <a:solidFill>
                  <a:srgbClr val="000000"/>
                </a:solidFill>
                <a:latin typeface="Calibri"/>
              </a:rPr>
              <a:t>m</a:t>
            </a:r>
            <a:r>
              <a:rPr b="0" lang="en-IN" sz="1800" spc="-1" strike="noStrike">
                <a:solidFill>
                  <a:srgbClr val="000000"/>
                </a:solidFill>
                <a:latin typeface="Calibri"/>
              </a:rPr>
              <a:t>o</a:t>
            </a:r>
            <a:r>
              <a:rPr b="0" lang="en-IN" sz="1800" spc="-1" strike="noStrike">
                <a:solidFill>
                  <a:srgbClr val="000000"/>
                </a:solidFill>
                <a:latin typeface="Calibri"/>
              </a:rPr>
              <a:t>v</a:t>
            </a:r>
            <a:r>
              <a:rPr b="0" lang="en-IN" sz="1800" spc="-1" strike="noStrike">
                <a:solidFill>
                  <a:srgbClr val="000000"/>
                </a:solidFill>
                <a:latin typeface="Calibri"/>
              </a:rPr>
              <a:t>e </a:t>
            </a:r>
            <a:r>
              <a:rPr b="0" lang="en-IN" sz="1800" spc="-1" strike="noStrike">
                <a:solidFill>
                  <a:srgbClr val="000000"/>
                </a:solidFill>
                <a:latin typeface="Calibri"/>
              </a:rPr>
              <a:t>t</a:t>
            </a:r>
            <a:r>
              <a:rPr b="0" lang="en-IN" sz="1800" spc="-1" strike="noStrike">
                <a:solidFill>
                  <a:srgbClr val="000000"/>
                </a:solidFill>
                <a:latin typeface="Calibri"/>
              </a:rPr>
              <a:t>h</a:t>
            </a:r>
            <a:r>
              <a:rPr b="0" lang="en-IN" sz="1800" spc="-1" strike="noStrike">
                <a:solidFill>
                  <a:srgbClr val="000000"/>
                </a:solidFill>
                <a:latin typeface="Calibri"/>
              </a:rPr>
              <a:t>e </a:t>
            </a:r>
            <a:r>
              <a:rPr b="0" lang="en-IN" sz="1800" spc="-1" strike="noStrike">
                <a:solidFill>
                  <a:srgbClr val="000000"/>
                </a:solidFill>
                <a:latin typeface="Calibri"/>
              </a:rPr>
              <a:t>s</a:t>
            </a:r>
            <a:r>
              <a:rPr b="0" lang="en-IN" sz="1800" spc="-1" strike="noStrike">
                <a:solidFill>
                  <a:srgbClr val="000000"/>
                </a:solidFill>
                <a:latin typeface="Calibri"/>
              </a:rPr>
              <a:t>li</a:t>
            </a:r>
            <a:r>
              <a:rPr b="0" lang="en-IN" sz="1800" spc="-1" strike="noStrike">
                <a:solidFill>
                  <a:srgbClr val="000000"/>
                </a:solidFill>
                <a:latin typeface="Calibri"/>
              </a:rPr>
              <a:t>d</a:t>
            </a:r>
            <a:r>
              <a:rPr b="0" lang="en-IN" sz="1800" spc="-1" strike="noStrike">
                <a:solidFill>
                  <a:srgbClr val="000000"/>
                </a:solidFill>
                <a:latin typeface="Calibri"/>
              </a:rPr>
              <a:t>e</a:t>
            </a:r>
            <a:endParaRPr b="0" lang="en-IN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9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IN" sz="2000" spc="-1" strike="noStrike">
                <a:latin typeface="Arial"/>
              </a:rPr>
              <a:t>Click to </a:t>
            </a:r>
            <a:r>
              <a:rPr b="0" lang="en-IN" sz="2000" spc="-1" strike="noStrike">
                <a:latin typeface="Arial"/>
              </a:rPr>
              <a:t>edit the </a:t>
            </a:r>
            <a:r>
              <a:rPr b="0" lang="en-IN" sz="2000" spc="-1" strike="noStrike">
                <a:latin typeface="Arial"/>
              </a:rPr>
              <a:t>notes </a:t>
            </a:r>
            <a:r>
              <a:rPr b="0" lang="en-IN" sz="2000" spc="-1" strike="noStrike">
                <a:latin typeface="Arial"/>
              </a:rPr>
              <a:t>format</a:t>
            </a:r>
            <a:endParaRPr b="0" lang="en-IN" sz="2000" spc="-1" strike="noStrike">
              <a:latin typeface="Arial"/>
            </a:endParaRPr>
          </a:p>
        </p:txBody>
      </p:sp>
      <p:sp>
        <p:nvSpPr>
          <p:cNvPr id="40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IN" sz="1400" spc="-1" strike="noStrike">
                <a:latin typeface="Times New Roman"/>
              </a:rPr>
              <a:t>&lt;header&gt;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1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algn="r">
              <a:buNone/>
              <a:defRPr b="0" lang="en-IN" sz="1400" spc="-1" strike="noStrike">
                <a:latin typeface="Times New Roman"/>
              </a:defRPr>
            </a:lvl1pPr>
          </a:lstStyle>
          <a:p>
            <a:pPr algn="r">
              <a:buNone/>
            </a:pPr>
            <a:r>
              <a:rPr b="0" lang="en-IN" sz="1400" spc="-1" strike="noStrike">
                <a:latin typeface="Times New Roman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2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>
              <a:defRPr b="0" lang="en-IN" sz="1400" spc="-1" strike="noStrike">
                <a:latin typeface="Times New Roman"/>
              </a:defRPr>
            </a:lvl1pPr>
          </a:lstStyle>
          <a:p>
            <a:r>
              <a:rPr b="0" lang="en-IN" sz="1400" spc="-1" strike="noStrike">
                <a:latin typeface="Times New Roman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3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buNone/>
              <a:defRPr b="0" lang="en-IN" sz="1400" spc="-1" strike="noStrike">
                <a:latin typeface="Times New Roman"/>
              </a:defRPr>
            </a:lvl1pPr>
          </a:lstStyle>
          <a:p>
            <a:pPr algn="r">
              <a:buNone/>
            </a:pPr>
            <a:fld id="{53E59D3E-9807-4FA3-8CFC-F337D7F16218}" type="slidenum">
              <a:rPr b="0" lang="en-IN" sz="1400" spc="-1" strike="noStrike">
                <a:latin typeface="Times New Roman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
</Relationships>
</file>

<file path=ppt/notesSlides/_rels/notesSlide12.xml.rels><?xml version="1.0" encoding="UTF-8"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
</Relationships>
</file>

<file path=ppt/notesSlides/_rels/notesSlide13.xml.rels><?xml version="1.0" encoding="UTF-8"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
</Relationships>
</file>

<file path=ppt/notesSlides/_rels/notesSlide14.xml.rels><?xml version="1.0" encoding="UTF-8"?>
<Relationships xmlns="http://schemas.openxmlformats.org/package/2006/relationships"><Relationship Id="rId1" Type="http://schemas.openxmlformats.org/officeDocument/2006/relationships/slide" Target="../slides/slide14.xml"/><Relationship Id="rId2" Type="http://schemas.openxmlformats.org/officeDocument/2006/relationships/notesMaster" Target="../notesMasters/notesMaster1.xml"/>
</Relationships>
</file>

<file path=ppt/notesSlides/_rels/notesSlide15.xml.rels><?xml version="1.0" encoding="UTF-8"?>
<Relationships xmlns="http://schemas.openxmlformats.org/package/2006/relationships"><Relationship Id="rId1" Type="http://schemas.openxmlformats.org/officeDocument/2006/relationships/slide" Target="../slides/slide15.xml"/><Relationship Id="rId2" Type="http://schemas.openxmlformats.org/officeDocument/2006/relationships/notesMaster" Target="../notesMasters/notesMaster1.xml"/>
</Relationships>
</file>

<file path=ppt/notesSlides/_rels/notesSlide16.xml.rels><?xml version="1.0" encoding="UTF-8"?>
<Relationships xmlns="http://schemas.openxmlformats.org/package/2006/relationships"><Relationship Id="rId1" Type="http://schemas.openxmlformats.org/officeDocument/2006/relationships/slide" Target="../slides/slide16.xml"/><Relationship Id="rId2" Type="http://schemas.openxmlformats.org/officeDocument/2006/relationships/notesMaster" Target="../notesMasters/notesMaster1.xml"/>
</Relationships>
</file>

<file path=ppt/notesSlides/_rels/notesSlide17.xml.rels><?xml version="1.0" encoding="UTF-8"?>
<Relationships xmlns="http://schemas.openxmlformats.org/package/2006/relationships"><Relationship Id="rId1" Type="http://schemas.openxmlformats.org/officeDocument/2006/relationships/slide" Target="../slides/slide17.xml"/><Relationship Id="rId2" Type="http://schemas.openxmlformats.org/officeDocument/2006/relationships/notesMaster" Target="../notesMasters/notesMaster1.xml"/>
</Relationships>
</file>

<file path=ppt/notesSlides/_rels/notesSlide18.xml.rels><?xml version="1.0" encoding="UTF-8"?>
<Relationships xmlns="http://schemas.openxmlformats.org/package/2006/relationships"><Relationship Id="rId1" Type="http://schemas.openxmlformats.org/officeDocument/2006/relationships/slide" Target="../slides/slide18.xml"/><Relationship Id="rId2" Type="http://schemas.openxmlformats.org/officeDocument/2006/relationships/notesMaster" Target="../notesMasters/notesMaster1.xml"/>
</Relationships>
</file>

<file path=ppt/notesSlides/_rels/notesSlide19.xml.rels><?xml version="1.0" encoding="UTF-8"?>
<Relationships xmlns="http://schemas.openxmlformats.org/package/2006/relationships"><Relationship Id="rId1" Type="http://schemas.openxmlformats.org/officeDocument/2006/relationships/slide" Target="../slides/slide19.xml"/><Relationship Id="rId2" Type="http://schemas.openxmlformats.org/officeDocument/2006/relationships/notesMaster" Target="../notesMasters/notesMaster1.xml"/>
</Relationships>
</file>

<file path=ppt/notesSlides/_rels/notesSlide20.xml.rels><?xml version="1.0" encoding="UTF-8"?>
<Relationships xmlns="http://schemas.openxmlformats.org/package/2006/relationships"><Relationship Id="rId1" Type="http://schemas.openxmlformats.org/officeDocument/2006/relationships/slide" Target="../slides/slide20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4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445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6DA9F890-DCCE-483A-9AF8-365FB1FB1DD4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4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448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6B49B5A2-82A0-42B9-A6F8-882F997CD114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5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451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489755C8-9E99-4D37-A9CB-DD032E0465C2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5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454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8A96AFBE-A317-49BF-9688-0075627D817B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5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457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B9BA2A91-9B0D-4E84-B5F9-AEF3C08F3CAB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5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460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7235BAC8-2465-4886-B24F-52CF8B6FE30A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6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463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7F04CF23-4A63-4CDF-9332-6F6D5EEB7897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6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466" name="PlaceHolder 3"/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2D2A0832-C4B2-484D-B746-A903E413A40C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6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469" name="PlaceHolder 3"/>
          <p:cNvSpPr>
            <a:spLocks noGrp="1"/>
          </p:cNvSpPr>
          <p:nvPr>
            <p:ph type="sldNum" idx="1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31A32BD2-D961-473B-BDD9-3A77C087A5C5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7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472" name="PlaceHolder 3"/>
          <p:cNvSpPr>
            <a:spLocks noGrp="1"/>
          </p:cNvSpPr>
          <p:nvPr>
            <p:ph type="sldNum" idx="1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BE042CBB-AC9A-4A27-90BA-29E6A8CD9538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7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475" name="PlaceHolder 3"/>
          <p:cNvSpPr>
            <a:spLocks noGrp="1"/>
          </p:cNvSpPr>
          <p:nvPr>
            <p:ph type="sldNum" idx="1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17BEB1CB-EE88-438E-98D6-F1297A06CAA2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7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478" name="PlaceHolder 3"/>
          <p:cNvSpPr>
            <a:spLocks noGrp="1"/>
          </p:cNvSpPr>
          <p:nvPr>
            <p:ph type="sldNum" idx="1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66E1ED40-3156-40D6-AB2D-F0D4248A2ECB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8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481" name="PlaceHolder 3"/>
          <p:cNvSpPr>
            <a:spLocks noGrp="1"/>
          </p:cNvSpPr>
          <p:nvPr>
            <p:ph type="sldNum" idx="1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81D00AED-BE72-43CD-863B-1E4FF94052B8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8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484" name="PlaceHolder 3"/>
          <p:cNvSpPr>
            <a:spLocks noGrp="1"/>
          </p:cNvSpPr>
          <p:nvPr>
            <p:ph type="sldNum" idx="1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3CB89C76-F588-46FF-B3D6-1BA2D974C545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8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487" name="PlaceHolder 3"/>
          <p:cNvSpPr>
            <a:spLocks noGrp="1"/>
          </p:cNvSpPr>
          <p:nvPr>
            <p:ph type="sldNum" idx="1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82F599A9-BAA2-4799-A8D9-A8E755C4723B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8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490" name="PlaceHolder 3"/>
          <p:cNvSpPr>
            <a:spLocks noGrp="1"/>
          </p:cNvSpPr>
          <p:nvPr>
            <p:ph type="sldNum" idx="1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89CD5303-BDFE-443F-8F15-331E7A50B965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9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493" name="PlaceHolder 3"/>
          <p:cNvSpPr>
            <a:spLocks noGrp="1"/>
          </p:cNvSpPr>
          <p:nvPr>
            <p:ph type="sldNum" idx="2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3639F3F8-A40D-4D7B-AF8B-61166EF28BB5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9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496" name="PlaceHolder 3"/>
          <p:cNvSpPr>
            <a:spLocks noGrp="1"/>
          </p:cNvSpPr>
          <p:nvPr>
            <p:ph type="sldNum" idx="2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E980C9BE-CDBA-44D0-8B70-905084C87470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9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499" name="PlaceHolder 3"/>
          <p:cNvSpPr>
            <a:spLocks noGrp="1"/>
          </p:cNvSpPr>
          <p:nvPr>
            <p:ph type="sldNum" idx="2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C4778CA0-5316-4E73-B671-B6784F235953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50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502" name="PlaceHolder 3"/>
          <p:cNvSpPr>
            <a:spLocks noGrp="1"/>
          </p:cNvSpPr>
          <p:nvPr>
            <p:ph type="sldNum" idx="2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900B1339-E420-4DA6-90FA-5C2B64DDF147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ubTitle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3200" spc="-1" strike="noStrike">
              <a:latin typeface="Arial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subTitle"/>
          </p:nvPr>
        </p:nvSpPr>
        <p:spPr>
          <a:xfrm>
            <a:off x="457200" y="205200"/>
            <a:ext cx="8229240" cy="3981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3200" spc="-1" strike="noStrike">
              <a:latin typeface="Arial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7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8" name="PlaceHolder 4"/>
          <p:cNvSpPr>
            <a:spLocks noGrp="1"/>
          </p:cNvSpPr>
          <p:nvPr>
            <p:ph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323964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4" name="PlaceHolder 4"/>
          <p:cNvSpPr>
            <a:spLocks noGrp="1"/>
          </p:cNvSpPr>
          <p:nvPr>
            <p:ph/>
          </p:nvPr>
        </p:nvSpPr>
        <p:spPr>
          <a:xfrm>
            <a:off x="602208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5" name="PlaceHolder 5"/>
          <p:cNvSpPr>
            <a:spLocks noGrp="1"/>
          </p:cNvSpPr>
          <p:nvPr>
            <p:ph/>
          </p:nvPr>
        </p:nvSpPr>
        <p:spPr>
          <a:xfrm>
            <a:off x="45720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6" name="PlaceHolder 6"/>
          <p:cNvSpPr>
            <a:spLocks noGrp="1"/>
          </p:cNvSpPr>
          <p:nvPr>
            <p:ph/>
          </p:nvPr>
        </p:nvSpPr>
        <p:spPr>
          <a:xfrm>
            <a:off x="323964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7" name="PlaceHolder 7"/>
          <p:cNvSpPr>
            <a:spLocks noGrp="1"/>
          </p:cNvSpPr>
          <p:nvPr>
            <p:ph/>
          </p:nvPr>
        </p:nvSpPr>
        <p:spPr>
          <a:xfrm>
            <a:off x="602208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IN" sz="1800" spc="-1" strike="noStrike">
                <a:solidFill>
                  <a:srgbClr val="000000"/>
                </a:solidFill>
                <a:latin typeface="Calibri"/>
              </a:rPr>
              <a:t>Click to edit the </a:t>
            </a:r>
            <a:r>
              <a:rPr b="0" lang="en-IN" sz="1800" spc="-1" strike="noStrike">
                <a:solidFill>
                  <a:srgbClr val="000000"/>
                </a:solidFill>
                <a:latin typeface="Calibri"/>
              </a:rPr>
              <a:t>title text format</a:t>
            </a:r>
            <a:endParaRPr b="0" lang="en-IN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3200" spc="-1" strike="noStrike">
                <a:solidFill>
                  <a:srgbClr val="000000"/>
                </a:solidFill>
                <a:latin typeface="Calibri"/>
              </a:rPr>
              <a:t>Click to edit the outline text format</a:t>
            </a:r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2400" spc="-1" strike="noStrike">
                <a:solidFill>
                  <a:srgbClr val="000000"/>
                </a:solidFill>
                <a:latin typeface="Calibri"/>
              </a:rPr>
              <a:t>Second Outline Level</a:t>
            </a:r>
            <a:endParaRPr b="0" lang="en-IN" sz="2400" spc="-1" strike="noStrike">
              <a:solidFill>
                <a:srgbClr val="000000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pc="-1" strike="noStrike">
                <a:solidFill>
                  <a:srgbClr val="000000"/>
                </a:solidFill>
                <a:latin typeface="Calibri"/>
              </a:rPr>
              <a:t>Third Outline Level</a:t>
            </a:r>
            <a:endParaRPr b="0" lang="en-IN" sz="2000" spc="-1" strike="noStrike">
              <a:solidFill>
                <a:srgbClr val="000000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2000" spc="-1" strike="noStrike">
                <a:solidFill>
                  <a:srgbClr val="000000"/>
                </a:solidFill>
                <a:latin typeface="Calibri"/>
              </a:rPr>
              <a:t>Fourth Outline Level</a:t>
            </a:r>
            <a:endParaRPr b="0" lang="en-IN" sz="2000" spc="-1" strike="noStrike">
              <a:solidFill>
                <a:srgbClr val="000000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pc="-1" strike="noStrike">
                <a:solidFill>
                  <a:srgbClr val="000000"/>
                </a:solidFill>
                <a:latin typeface="Calibri"/>
              </a:rPr>
              <a:t>Fifth Outline Level</a:t>
            </a:r>
            <a:endParaRPr b="0" lang="en-IN" sz="2000" spc="-1" strike="noStrike">
              <a:solidFill>
                <a:srgbClr val="000000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pc="-1" strike="noStrike">
                <a:solidFill>
                  <a:srgbClr val="000000"/>
                </a:solidFill>
                <a:latin typeface="Calibri"/>
              </a:rPr>
              <a:t>Sixth Outline Level</a:t>
            </a:r>
            <a:endParaRPr b="0" lang="en-IN" sz="2000" spc="-1" strike="noStrike">
              <a:solidFill>
                <a:srgbClr val="000000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pc="-1" strike="noStrike">
                <a:solidFill>
                  <a:srgbClr val="000000"/>
                </a:solidFill>
                <a:latin typeface="Calibri"/>
              </a:rPr>
              <a:t>Seventh Outline Level</a:t>
            </a:r>
            <a:endParaRPr b="0" lang="en-IN" sz="20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Shape 0"/>
          <p:cNvSpPr/>
          <p:nvPr/>
        </p:nvSpPr>
        <p:spPr>
          <a:xfrm>
            <a:off x="0" y="0"/>
            <a:ext cx="3474360" cy="5143320"/>
          </a:xfrm>
          <a:prstGeom prst="rect">
            <a:avLst/>
          </a:prstGeom>
          <a:solidFill>
            <a:srgbClr val="0c1526"/>
          </a:solidFill>
          <a:ln w="12700">
            <a:solidFill>
              <a:srgbClr val="0c1526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5" name="Shape 1"/>
          <p:cNvSpPr/>
          <p:nvPr/>
        </p:nvSpPr>
        <p:spPr>
          <a:xfrm>
            <a:off x="3474720" y="0"/>
            <a:ext cx="54360" cy="514332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6" name="Shape 2"/>
          <p:cNvSpPr/>
          <p:nvPr/>
        </p:nvSpPr>
        <p:spPr>
          <a:xfrm>
            <a:off x="457200" y="548640"/>
            <a:ext cx="2377080" cy="2377080"/>
          </a:xfrm>
          <a:prstGeom prst="ellipse">
            <a:avLst/>
          </a:prstGeom>
          <a:solidFill>
            <a:srgbClr val="1e3a5f"/>
          </a:solidFill>
          <a:ln w="25400">
            <a:solidFill>
              <a:srgbClr val="38bdf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Text 3"/>
          <p:cNvSpPr/>
          <p:nvPr/>
        </p:nvSpPr>
        <p:spPr>
          <a:xfrm>
            <a:off x="457200" y="548640"/>
            <a:ext cx="2377080" cy="237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7200" spc="-1" strike="noStrike">
                <a:solidFill>
                  <a:srgbClr val="000000"/>
                </a:solidFill>
                <a:latin typeface="Calibri"/>
              </a:rPr>
              <a:t>🐍</a:t>
            </a:r>
            <a:endParaRPr b="0" lang="en-IN" sz="7200" spc="-1" strike="noStrike">
              <a:latin typeface="Arial"/>
            </a:endParaRPr>
          </a:p>
        </p:txBody>
      </p:sp>
      <p:sp>
        <p:nvSpPr>
          <p:cNvPr id="48" name="Text 4"/>
          <p:cNvSpPr/>
          <p:nvPr/>
        </p:nvSpPr>
        <p:spPr>
          <a:xfrm>
            <a:off x="274320" y="3108960"/>
            <a:ext cx="292572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398" strike="noStrike">
                <a:solidFill>
                  <a:srgbClr val="38bdf8"/>
                </a:solidFill>
                <a:latin typeface="Calibri"/>
              </a:rPr>
              <a:t>PYTHON OOP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49" name="Text 5"/>
          <p:cNvSpPr/>
          <p:nvPr/>
        </p:nvSpPr>
        <p:spPr>
          <a:xfrm>
            <a:off x="3749040" y="457200"/>
            <a:ext cx="5211720" cy="137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4000" spc="-1" strike="noStrike">
                <a:solidFill>
                  <a:srgbClr val="ffffff"/>
                </a:solidFill>
                <a:latin typeface="Calibri"/>
              </a:rPr>
              <a:t>Object-Oriented</a:t>
            </a:r>
            <a:endParaRPr b="0" lang="en-IN" sz="4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4000" spc="-1" strike="noStrike">
                <a:solidFill>
                  <a:srgbClr val="ffffff"/>
                </a:solidFill>
                <a:latin typeface="Calibri"/>
              </a:rPr>
              <a:t>Programming</a:t>
            </a:r>
            <a:endParaRPr b="0" lang="en-IN" sz="4000" spc="-1" strike="noStrike">
              <a:latin typeface="Arial"/>
            </a:endParaRPr>
          </a:p>
        </p:txBody>
      </p:sp>
      <p:sp>
        <p:nvSpPr>
          <p:cNvPr id="50" name="Text 6"/>
          <p:cNvSpPr/>
          <p:nvPr/>
        </p:nvSpPr>
        <p:spPr>
          <a:xfrm>
            <a:off x="3749040" y="1874520"/>
            <a:ext cx="521172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800" spc="-1" strike="noStrike">
                <a:solidFill>
                  <a:srgbClr val="38bdf8"/>
                </a:solidFill>
                <a:latin typeface="Calibri"/>
              </a:rPr>
              <a:t>Session 8 · Part 2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51" name="Shape 7"/>
          <p:cNvSpPr/>
          <p:nvPr/>
        </p:nvSpPr>
        <p:spPr>
          <a:xfrm>
            <a:off x="3749040" y="2377440"/>
            <a:ext cx="5211720" cy="36360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52" name="Text 8"/>
          <p:cNvSpPr/>
          <p:nvPr/>
        </p:nvSpPr>
        <p:spPr>
          <a:xfrm>
            <a:off x="3749040" y="2560320"/>
            <a:ext cx="5211720" cy="2194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marL="343080" indent="-343080">
              <a:lnSpc>
                <a:spcPct val="100000"/>
              </a:lnSpc>
              <a:buClr>
                <a:srgbClr val="e2e8f0"/>
              </a:buClr>
              <a:buFont typeface="Symbol" charset="2"/>
              <a:buChar char=""/>
            </a:pPr>
            <a:r>
              <a:rPr b="0" lang="en-US" sz="1400" spc="-1" strike="noStrike">
                <a:solidFill>
                  <a:srgbClr val="e2e8f0"/>
                </a:solidFill>
                <a:latin typeface="Calibri"/>
                <a:ea typeface="Calibri"/>
              </a:rPr>
              <a:t>Coordinate Geometry Practice</a:t>
            </a:r>
            <a:endParaRPr b="0" lang="en-IN" sz="1400" spc="-1" strike="noStrike">
              <a:latin typeface="Arial"/>
            </a:endParaRPr>
          </a:p>
          <a:p>
            <a:pPr marL="343080" indent="-343080">
              <a:lnSpc>
                <a:spcPct val="100000"/>
              </a:lnSpc>
              <a:buClr>
                <a:srgbClr val="e2e8f0"/>
              </a:buClr>
              <a:buFont typeface="Symbol" charset="2"/>
              <a:buChar char=""/>
            </a:pPr>
            <a:r>
              <a:rPr b="0" lang="en-US" sz="1400" spc="-1" strike="noStrike">
                <a:solidFill>
                  <a:srgbClr val="e2e8f0"/>
                </a:solidFill>
                <a:latin typeface="Calibri"/>
                <a:ea typeface="Calibri"/>
              </a:rPr>
              <a:t>Reference Variables</a:t>
            </a:r>
            <a:endParaRPr b="0" lang="en-IN" sz="1400" spc="-1" strike="noStrike">
              <a:latin typeface="Arial"/>
            </a:endParaRPr>
          </a:p>
          <a:p>
            <a:pPr marL="343080" indent="-343080">
              <a:lnSpc>
                <a:spcPct val="100000"/>
              </a:lnSpc>
              <a:buClr>
                <a:srgbClr val="e2e8f0"/>
              </a:buClr>
              <a:buFont typeface="Symbol" charset="2"/>
              <a:buChar char=""/>
            </a:pPr>
            <a:r>
              <a:rPr b="0" lang="en-US" sz="1400" spc="-1" strike="noStrike">
                <a:solidFill>
                  <a:srgbClr val="e2e8f0"/>
                </a:solidFill>
                <a:latin typeface="Calibri"/>
                <a:ea typeface="Calibri"/>
              </a:rPr>
              <a:t>Pass by Reference</a:t>
            </a:r>
            <a:endParaRPr b="0" lang="en-IN" sz="1400" spc="-1" strike="noStrike">
              <a:latin typeface="Arial"/>
            </a:endParaRPr>
          </a:p>
          <a:p>
            <a:pPr marL="343080" indent="-343080">
              <a:lnSpc>
                <a:spcPct val="100000"/>
              </a:lnSpc>
              <a:buClr>
                <a:srgbClr val="e2e8f0"/>
              </a:buClr>
              <a:buFont typeface="Symbol" charset="2"/>
              <a:buChar char=""/>
            </a:pPr>
            <a:r>
              <a:rPr b="0" lang="en-US" sz="1400" spc="-1" strike="noStrike">
                <a:solidFill>
                  <a:srgbClr val="e2e8f0"/>
                </a:solidFill>
                <a:latin typeface="Calibri"/>
                <a:ea typeface="Calibri"/>
              </a:rPr>
              <a:t>Object Mutability</a:t>
            </a:r>
            <a:endParaRPr b="0" lang="en-IN" sz="1400" spc="-1" strike="noStrike">
              <a:latin typeface="Arial"/>
            </a:endParaRPr>
          </a:p>
          <a:p>
            <a:pPr marL="343080" indent="-343080">
              <a:lnSpc>
                <a:spcPct val="100000"/>
              </a:lnSpc>
              <a:buClr>
                <a:srgbClr val="e2e8f0"/>
              </a:buClr>
              <a:buFont typeface="Symbol" charset="2"/>
              <a:buChar char=""/>
            </a:pPr>
            <a:r>
              <a:rPr b="0" lang="en-US" sz="1400" spc="-1" strike="noStrike">
                <a:solidFill>
                  <a:srgbClr val="e2e8f0"/>
                </a:solidFill>
                <a:latin typeface="Calibri"/>
                <a:ea typeface="Calibri"/>
              </a:rPr>
              <a:t>Encapsulation (Deep Dive)</a:t>
            </a:r>
            <a:endParaRPr b="0" lang="en-IN" sz="14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Shape 0"/>
          <p:cNvSpPr/>
          <p:nvPr/>
        </p:nvSpPr>
        <p:spPr>
          <a:xfrm>
            <a:off x="0" y="0"/>
            <a:ext cx="63720" cy="514332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54" name="Shape 1"/>
          <p:cNvSpPr/>
          <p:nvPr/>
        </p:nvSpPr>
        <p:spPr>
          <a:xfrm>
            <a:off x="0" y="0"/>
            <a:ext cx="9143640" cy="71280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55" name="Text 2"/>
          <p:cNvSpPr/>
          <p:nvPr/>
        </p:nvSpPr>
        <p:spPr>
          <a:xfrm>
            <a:off x="182880" y="0"/>
            <a:ext cx="7131960" cy="712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200" spc="-1" strike="noStrike">
                <a:solidFill>
                  <a:srgbClr val="ffffff"/>
                </a:solidFill>
                <a:latin typeface="Calibri"/>
              </a:rPr>
              <a:t>Session Overview</a:t>
            </a:r>
            <a:endParaRPr b="0" lang="en-IN" sz="2200" spc="-1" strike="noStrike">
              <a:latin typeface="Arial"/>
            </a:endParaRPr>
          </a:p>
        </p:txBody>
      </p:sp>
      <p:sp>
        <p:nvSpPr>
          <p:cNvPr id="56" name="Shape 3"/>
          <p:cNvSpPr/>
          <p:nvPr/>
        </p:nvSpPr>
        <p:spPr>
          <a:xfrm>
            <a:off x="7589520" y="109800"/>
            <a:ext cx="1371240" cy="47520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round/>
          </a:ln>
          <a:effectLst>
            <a:outerShdw algn="bl" blurRad="127080" dir="16200000" dist="50760" kx="0" ky="0" rotWithShape="0" sx="100000" sy="10000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57" name="Text 4"/>
          <p:cNvSpPr/>
          <p:nvPr/>
        </p:nvSpPr>
        <p:spPr>
          <a:xfrm>
            <a:off x="7589520" y="109800"/>
            <a:ext cx="137124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0f172a"/>
                </a:solidFill>
                <a:latin typeface="Calibri"/>
              </a:rPr>
              <a:t>OOP · S8 P2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58" name="Shape 5"/>
          <p:cNvSpPr/>
          <p:nvPr/>
        </p:nvSpPr>
        <p:spPr>
          <a:xfrm>
            <a:off x="182880" y="868680"/>
            <a:ext cx="4114440" cy="3840120"/>
          </a:xfrm>
          <a:prstGeom prst="rect">
            <a:avLst/>
          </a:prstGeom>
          <a:solidFill>
            <a:srgbClr val="1e293b"/>
          </a:solidFill>
          <a:ln w="15240">
            <a:solidFill>
              <a:srgbClr val="38bdf8"/>
            </a:solidFill>
            <a:round/>
          </a:ln>
          <a:effectLst>
            <a:outerShdw algn="bl" blurRad="127080" dir="16200000" dist="50760" kx="0" ky="0" rotWithShape="0" sx="100000" sy="10000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59" name="Text 6"/>
          <p:cNvSpPr/>
          <p:nvPr/>
        </p:nvSpPr>
        <p:spPr>
          <a:xfrm>
            <a:off x="320040" y="960120"/>
            <a:ext cx="37486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299" strike="noStrike">
                <a:solidFill>
                  <a:srgbClr val="38bdf8"/>
                </a:solidFill>
                <a:latin typeface="Calibri"/>
              </a:rPr>
              <a:t>LAST CLASS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60" name="Text 7"/>
          <p:cNvSpPr/>
          <p:nvPr/>
        </p:nvSpPr>
        <p:spPr>
          <a:xfrm>
            <a:off x="320040" y="1280160"/>
            <a:ext cx="374868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200" spc="-1" strike="noStrike">
                <a:solidFill>
                  <a:srgbClr val="ffffff"/>
                </a:solidFill>
                <a:latin typeface="Calibri"/>
              </a:rPr>
              <a:t>RECAP</a:t>
            </a:r>
            <a:endParaRPr b="0" lang="en-IN" sz="2200" spc="-1" strike="noStrike">
              <a:latin typeface="Arial"/>
            </a:endParaRPr>
          </a:p>
        </p:txBody>
      </p:sp>
      <p:sp>
        <p:nvSpPr>
          <p:cNvPr id="61" name="Text 8"/>
          <p:cNvSpPr/>
          <p:nvPr/>
        </p:nvSpPr>
        <p:spPr>
          <a:xfrm>
            <a:off x="320040" y="1737360"/>
            <a:ext cx="3840120" cy="2651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marL="343080" indent="-343080">
              <a:lnSpc>
                <a:spcPct val="100000"/>
              </a:lnSpc>
              <a:buClr>
                <a:srgbClr val="e2e8f0"/>
              </a:buClr>
              <a:buFont typeface="Symbol" charset="2"/>
              <a:buChar char=""/>
            </a:pPr>
            <a:r>
              <a:rPr b="0" lang="en-US" sz="1250" spc="-1" strike="noStrike">
                <a:solidFill>
                  <a:srgbClr val="e2e8f0"/>
                </a:solidFill>
                <a:latin typeface="Calibri"/>
              </a:rPr>
              <a:t>What OOP is and why it is necessary</a:t>
            </a:r>
            <a:endParaRPr b="0" lang="en-IN" sz="1250" spc="-1" strike="noStrike">
              <a:latin typeface="Arial"/>
            </a:endParaRPr>
          </a:p>
          <a:p>
            <a:pPr marL="343080" indent="-343080">
              <a:lnSpc>
                <a:spcPct val="100000"/>
              </a:lnSpc>
              <a:buClr>
                <a:srgbClr val="e2e8f0"/>
              </a:buClr>
              <a:buFont typeface="Symbol" charset="2"/>
              <a:buChar char=""/>
            </a:pPr>
            <a:r>
              <a:rPr b="0" lang="en-US" sz="1250" spc="-1" strike="noStrike">
                <a:solidFill>
                  <a:srgbClr val="e2e8f0"/>
                </a:solidFill>
                <a:latin typeface="Calibri"/>
              </a:rPr>
              <a:t>Classes, Objects, and the four core OOP philosophies</a:t>
            </a:r>
            <a:endParaRPr b="0" lang="en-IN" sz="1250" spc="-1" strike="noStrike">
              <a:latin typeface="Arial"/>
            </a:endParaRPr>
          </a:p>
          <a:p>
            <a:pPr marL="343080" indent="-343080">
              <a:lnSpc>
                <a:spcPct val="100000"/>
              </a:lnSpc>
              <a:buClr>
                <a:srgbClr val="e2e8f0"/>
              </a:buClr>
              <a:buFont typeface="Symbol" charset="2"/>
              <a:buChar char=""/>
            </a:pPr>
            <a:r>
              <a:rPr b="0" lang="en-US" sz="1250" spc="-1" strike="noStrike">
                <a:solidFill>
                  <a:srgbClr val="e2e8f0"/>
                </a:solidFill>
                <a:latin typeface="Calibri"/>
              </a:rPr>
              <a:t>Encapsulation, Inheritance, Polymorphism, Abstraction</a:t>
            </a:r>
            <a:endParaRPr b="0" lang="en-IN" sz="1250" spc="-1" strike="noStrike">
              <a:latin typeface="Arial"/>
            </a:endParaRPr>
          </a:p>
          <a:p>
            <a:pPr marL="343080" indent="-343080">
              <a:lnSpc>
                <a:spcPct val="100000"/>
              </a:lnSpc>
              <a:buClr>
                <a:srgbClr val="e2e8f0"/>
              </a:buClr>
              <a:buFont typeface="Symbol" charset="2"/>
              <a:buChar char=""/>
            </a:pPr>
            <a:r>
              <a:rPr b="0" lang="en-US" sz="1250" spc="-1" strike="noStrike">
                <a:solidFill>
                  <a:srgbClr val="e2e8f0"/>
                </a:solidFill>
                <a:latin typeface="Calibri"/>
              </a:rPr>
              <a:t>OOP's biggest power: create your own data types</a:t>
            </a:r>
            <a:endParaRPr b="0" lang="en-IN" sz="1250" spc="-1" strike="noStrike">
              <a:latin typeface="Arial"/>
            </a:endParaRPr>
          </a:p>
          <a:p>
            <a:pPr marL="343080" indent="-343080">
              <a:lnSpc>
                <a:spcPct val="100000"/>
              </a:lnSpc>
              <a:buClr>
                <a:srgbClr val="e2e8f0"/>
              </a:buClr>
              <a:buFont typeface="Symbol" charset="2"/>
              <a:buChar char=""/>
            </a:pPr>
            <a:r>
              <a:rPr b="0" lang="en-US" sz="1250" spc="-1" strike="noStrike">
                <a:solidFill>
                  <a:srgbClr val="e2e8f0"/>
                </a:solidFill>
                <a:latin typeface="Calibri"/>
              </a:rPr>
              <a:t>Built a custom Fraction data type with magic methods</a:t>
            </a:r>
            <a:endParaRPr b="0" lang="en-IN" sz="1250" spc="-1" strike="noStrike">
              <a:latin typeface="Arial"/>
            </a:endParaRPr>
          </a:p>
        </p:txBody>
      </p:sp>
      <p:sp>
        <p:nvSpPr>
          <p:cNvPr id="62" name="Shape 9"/>
          <p:cNvSpPr/>
          <p:nvPr/>
        </p:nvSpPr>
        <p:spPr>
          <a:xfrm>
            <a:off x="4572000" y="868680"/>
            <a:ext cx="4297320" cy="3840120"/>
          </a:xfrm>
          <a:prstGeom prst="rect">
            <a:avLst/>
          </a:prstGeom>
          <a:solidFill>
            <a:srgbClr val="1e293b"/>
          </a:solidFill>
          <a:ln w="15240">
            <a:solidFill>
              <a:srgbClr val="38bdf8"/>
            </a:solidFill>
            <a:round/>
          </a:ln>
          <a:effectLst>
            <a:outerShdw algn="bl" blurRad="127080" dir="16200000" dist="50760" kx="0" ky="0" rotWithShape="0" sx="100000" sy="10000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63" name="Text 10"/>
          <p:cNvSpPr/>
          <p:nvPr/>
        </p:nvSpPr>
        <p:spPr>
          <a:xfrm>
            <a:off x="4709160" y="960120"/>
            <a:ext cx="39315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299" strike="noStrike">
                <a:solidFill>
                  <a:srgbClr val="34d399"/>
                </a:solidFill>
                <a:latin typeface="Calibri"/>
              </a:rPr>
              <a:t>TODAY'S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64" name="Text 11"/>
          <p:cNvSpPr/>
          <p:nvPr/>
        </p:nvSpPr>
        <p:spPr>
          <a:xfrm>
            <a:off x="4709160" y="1280160"/>
            <a:ext cx="393156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200" spc="-1" strike="noStrike">
                <a:solidFill>
                  <a:srgbClr val="ffffff"/>
                </a:solidFill>
                <a:latin typeface="Calibri"/>
              </a:rPr>
              <a:t>AGENDA</a:t>
            </a:r>
            <a:endParaRPr b="0" lang="en-IN" sz="2200" spc="-1" strike="noStrike">
              <a:latin typeface="Arial"/>
            </a:endParaRPr>
          </a:p>
        </p:txBody>
      </p:sp>
      <p:sp>
        <p:nvSpPr>
          <p:cNvPr id="65" name="Text 12"/>
          <p:cNvSpPr/>
          <p:nvPr/>
        </p:nvSpPr>
        <p:spPr>
          <a:xfrm>
            <a:off x="4709160" y="1737360"/>
            <a:ext cx="4023000" cy="2651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marL="343080" indent="-343080">
              <a:lnSpc>
                <a:spcPct val="100000"/>
              </a:lnSpc>
              <a:buClr>
                <a:srgbClr val="e2e8f0"/>
              </a:buClr>
              <a:buFont typeface="Calibri Light"/>
              <a:buAutoNum type="arabicPeriod"/>
            </a:pPr>
            <a:r>
              <a:rPr b="0" lang="en-US" sz="1150" spc="-1" strike="noStrike">
                <a:solidFill>
                  <a:srgbClr val="e2e8f0"/>
                </a:solidFill>
                <a:latin typeface="Calibri"/>
              </a:rPr>
              <a:t>Coordinate Geometry (2 interacting classes)</a:t>
            </a:r>
            <a:endParaRPr b="0" lang="en-IN" sz="1150" spc="-1" strike="noStrike">
              <a:latin typeface="Arial"/>
            </a:endParaRPr>
          </a:p>
          <a:p>
            <a:pPr marL="343080" indent="-343080">
              <a:lnSpc>
                <a:spcPct val="100000"/>
              </a:lnSpc>
              <a:buClr>
                <a:srgbClr val="e2e8f0"/>
              </a:buClr>
              <a:buFont typeface="Calibri Light"/>
              <a:buAutoNum type="arabicPeriod"/>
            </a:pPr>
            <a:r>
              <a:rPr b="0" lang="en-US" sz="1150" spc="-1" strike="noStrike">
                <a:solidFill>
                  <a:srgbClr val="e2e8f0"/>
                </a:solidFill>
                <a:latin typeface="Calibri"/>
              </a:rPr>
              <a:t>Reference Variables — the technical truth</a:t>
            </a:r>
            <a:endParaRPr b="0" lang="en-IN" sz="1150" spc="-1" strike="noStrike">
              <a:latin typeface="Arial"/>
            </a:endParaRPr>
          </a:p>
          <a:p>
            <a:pPr marL="343080" indent="-343080">
              <a:lnSpc>
                <a:spcPct val="100000"/>
              </a:lnSpc>
              <a:buClr>
                <a:srgbClr val="e2e8f0"/>
              </a:buClr>
              <a:buFont typeface="Calibri Light"/>
              <a:buAutoNum type="arabicPeriod"/>
            </a:pPr>
            <a:r>
              <a:rPr b="0" lang="en-US" sz="1150" spc="-1" strike="noStrike">
                <a:solidFill>
                  <a:srgbClr val="e2e8f0"/>
                </a:solidFill>
                <a:latin typeface="Calibri"/>
              </a:rPr>
              <a:t>Pass by Reference — how objects travel</a:t>
            </a:r>
            <a:endParaRPr b="0" lang="en-IN" sz="1150" spc="-1" strike="noStrike">
              <a:latin typeface="Arial"/>
            </a:endParaRPr>
          </a:p>
          <a:p>
            <a:pPr marL="343080" indent="-343080">
              <a:lnSpc>
                <a:spcPct val="100000"/>
              </a:lnSpc>
              <a:buClr>
                <a:srgbClr val="e2e8f0"/>
              </a:buClr>
              <a:buFont typeface="Calibri Light"/>
              <a:buAutoNum type="arabicPeriod"/>
            </a:pPr>
            <a:r>
              <a:rPr b="0" lang="en-US" sz="1150" spc="-1" strike="noStrike">
                <a:solidFill>
                  <a:srgbClr val="e2e8f0"/>
                </a:solidFill>
                <a:latin typeface="Calibri"/>
              </a:rPr>
              <a:t>Object Mutability — mutable by default</a:t>
            </a:r>
            <a:endParaRPr b="0" lang="en-IN" sz="1150" spc="-1" strike="noStrike">
              <a:latin typeface="Arial"/>
            </a:endParaRPr>
          </a:p>
          <a:p>
            <a:pPr marL="343080" indent="-343080">
              <a:lnSpc>
                <a:spcPct val="100000"/>
              </a:lnSpc>
              <a:buClr>
                <a:srgbClr val="e2e8f0"/>
              </a:buClr>
              <a:buFont typeface="Calibri Light"/>
              <a:buAutoNum type="arabicPeriod"/>
            </a:pPr>
            <a:r>
              <a:rPr b="0" lang="en-US" sz="1150" spc="-1" strike="noStrike">
                <a:solidFill>
                  <a:srgbClr val="e2e8f0"/>
                </a:solidFill>
                <a:latin typeface="Calibri"/>
              </a:rPr>
              <a:t>Encapsulation — taught through a story</a:t>
            </a:r>
            <a:endParaRPr b="0" lang="en-IN" sz="1150" spc="-1" strike="noStrike">
              <a:latin typeface="Arial"/>
            </a:endParaRPr>
          </a:p>
          <a:p>
            <a:pPr marL="343080" indent="-343080">
              <a:lnSpc>
                <a:spcPct val="100000"/>
              </a:lnSpc>
              <a:buClr>
                <a:srgbClr val="e2e8f0"/>
              </a:buClr>
              <a:buFont typeface="Calibri Light"/>
              <a:buAutoNum type="arabicPeriod"/>
            </a:pPr>
            <a:r>
              <a:rPr b="0" lang="en-US" sz="1150" spc="-1" strike="noStrike">
                <a:solidFill>
                  <a:srgbClr val="e2e8f0"/>
                </a:solidFill>
                <a:latin typeface="Calibri"/>
              </a:rPr>
              <a:t>Instance vs Static Variables</a:t>
            </a:r>
            <a:endParaRPr b="0" lang="en-IN" sz="1150" spc="-1" strike="noStrike">
              <a:latin typeface="Arial"/>
            </a:endParaRPr>
          </a:p>
          <a:p>
            <a:pPr marL="343080" indent="-343080">
              <a:lnSpc>
                <a:spcPct val="100000"/>
              </a:lnSpc>
              <a:buClr>
                <a:srgbClr val="e2e8f0"/>
              </a:buClr>
              <a:buFont typeface="Calibri Light"/>
              <a:buAutoNum type="arabicPeriod"/>
            </a:pPr>
            <a:r>
              <a:rPr b="0" lang="en-US" sz="1150" spc="-1" strike="noStrike">
                <a:solidFill>
                  <a:srgbClr val="e2e8f0"/>
                </a:solidFill>
                <a:latin typeface="Calibri"/>
              </a:rPr>
              <a:t>Collections of Objects</a:t>
            </a:r>
            <a:endParaRPr b="0" lang="en-IN" sz="1150" spc="-1" strike="noStrike">
              <a:latin typeface="Arial"/>
            </a:endParaRPr>
          </a:p>
          <a:p>
            <a:pPr marL="343080" indent="-343080">
              <a:lnSpc>
                <a:spcPct val="100000"/>
              </a:lnSpc>
              <a:buClr>
                <a:srgbClr val="e2e8f0"/>
              </a:buClr>
              <a:buFont typeface="Calibri Light"/>
              <a:buAutoNum type="arabicPeriod"/>
            </a:pPr>
            <a:r>
              <a:rPr b="0" lang="en-US" sz="1150" spc="-1" strike="noStrike">
                <a:solidFill>
                  <a:srgbClr val="e2e8f0"/>
                </a:solidFill>
                <a:latin typeface="Calibri"/>
              </a:rPr>
              <a:t>Static Methods</a:t>
            </a:r>
            <a:endParaRPr b="0" lang="en-IN" sz="115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Shape 0"/>
          <p:cNvSpPr/>
          <p:nvPr/>
        </p:nvSpPr>
        <p:spPr>
          <a:xfrm>
            <a:off x="0" y="0"/>
            <a:ext cx="9143640" cy="51433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67" name="Shape 1"/>
          <p:cNvSpPr/>
          <p:nvPr/>
        </p:nvSpPr>
        <p:spPr>
          <a:xfrm>
            <a:off x="0" y="0"/>
            <a:ext cx="9143640" cy="5143320"/>
          </a:xfrm>
          <a:prstGeom prst="rect">
            <a:avLst/>
          </a:prstGeom>
          <a:solidFill>
            <a:srgbClr val="162032">
              <a:alpha val="80000"/>
            </a:srgbClr>
          </a:solidFill>
          <a:ln w="12700">
            <a:solidFill>
              <a:srgbClr val="162032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68" name="Text 2"/>
          <p:cNvSpPr/>
          <p:nvPr/>
        </p:nvSpPr>
        <p:spPr>
          <a:xfrm>
            <a:off x="274320" y="457200"/>
            <a:ext cx="2285640" cy="274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0" spc="-1" strike="noStrike">
                <a:solidFill>
                  <a:srgbClr val="38bdf8">
                    <a:alpha val="30000"/>
                  </a:srgbClr>
                </a:solidFill>
                <a:latin typeface="Calibri"/>
              </a:rPr>
              <a:t>01</a:t>
            </a:r>
            <a:endParaRPr b="0" lang="en-IN" sz="13000" spc="-1" strike="noStrike">
              <a:latin typeface="Arial"/>
            </a:endParaRPr>
          </a:p>
        </p:txBody>
      </p:sp>
      <p:sp>
        <p:nvSpPr>
          <p:cNvPr id="69" name="Shape 3"/>
          <p:cNvSpPr/>
          <p:nvPr/>
        </p:nvSpPr>
        <p:spPr>
          <a:xfrm>
            <a:off x="1005840" y="1645920"/>
            <a:ext cx="7131960" cy="5436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70" name="Text 4"/>
          <p:cNvSpPr/>
          <p:nvPr/>
        </p:nvSpPr>
        <p:spPr>
          <a:xfrm>
            <a:off x="1005840" y="1783080"/>
            <a:ext cx="7772040" cy="137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4200" spc="-1" strike="noStrike">
                <a:solidFill>
                  <a:srgbClr val="ffffff"/>
                </a:solidFill>
                <a:latin typeface="Calibri"/>
              </a:rPr>
              <a:t>Coordinate Geometry Practice</a:t>
            </a:r>
            <a:endParaRPr b="0" lang="en-IN" sz="4200" spc="-1" strike="noStrike">
              <a:latin typeface="Arial"/>
            </a:endParaRPr>
          </a:p>
        </p:txBody>
      </p:sp>
      <p:sp>
        <p:nvSpPr>
          <p:cNvPr id="71" name="Text 5"/>
          <p:cNvSpPr/>
          <p:nvPr/>
        </p:nvSpPr>
        <p:spPr>
          <a:xfrm>
            <a:off x="1005840" y="3200400"/>
            <a:ext cx="777204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700" spc="-1" strike="noStrike">
                <a:solidFill>
                  <a:srgbClr val="94a3b8"/>
                </a:solidFill>
                <a:latin typeface="Calibri"/>
              </a:rPr>
              <a:t>Building two interacting classes · Point and Line</a:t>
            </a:r>
            <a:endParaRPr b="0" lang="en-IN" sz="17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Shape 0"/>
          <p:cNvSpPr/>
          <p:nvPr/>
        </p:nvSpPr>
        <p:spPr>
          <a:xfrm>
            <a:off x="0" y="0"/>
            <a:ext cx="63720" cy="514332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73" name="Shape 1"/>
          <p:cNvSpPr/>
          <p:nvPr/>
        </p:nvSpPr>
        <p:spPr>
          <a:xfrm>
            <a:off x="0" y="0"/>
            <a:ext cx="9143640" cy="71280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74" name="Text 2"/>
          <p:cNvSpPr/>
          <p:nvPr/>
        </p:nvSpPr>
        <p:spPr>
          <a:xfrm>
            <a:off x="182880" y="0"/>
            <a:ext cx="7131960" cy="712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200" spc="-1" strike="noStrike">
                <a:solidFill>
                  <a:srgbClr val="ffffff"/>
                </a:solidFill>
                <a:latin typeface="Calibri"/>
              </a:rPr>
              <a:t>Coordinate Geometry – Problem Statement</a:t>
            </a:r>
            <a:endParaRPr b="0" lang="en-IN" sz="2200" spc="-1" strike="noStrike">
              <a:latin typeface="Arial"/>
            </a:endParaRPr>
          </a:p>
        </p:txBody>
      </p:sp>
      <p:sp>
        <p:nvSpPr>
          <p:cNvPr id="75" name="Shape 3"/>
          <p:cNvSpPr/>
          <p:nvPr/>
        </p:nvSpPr>
        <p:spPr>
          <a:xfrm>
            <a:off x="7589520" y="109800"/>
            <a:ext cx="1371240" cy="47520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round/>
          </a:ln>
          <a:effectLst>
            <a:outerShdw algn="bl" blurRad="127080" dir="16200000" dist="50760" kx="0" ky="0" rotWithShape="0" sx="100000" sy="10000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76" name="Text 4"/>
          <p:cNvSpPr/>
          <p:nvPr/>
        </p:nvSpPr>
        <p:spPr>
          <a:xfrm>
            <a:off x="7589520" y="109800"/>
            <a:ext cx="137124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0f172a"/>
                </a:solidFill>
                <a:latin typeface="Calibri"/>
              </a:rPr>
              <a:t>Section 01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77" name="Text 5"/>
          <p:cNvSpPr/>
          <p:nvPr/>
        </p:nvSpPr>
        <p:spPr>
          <a:xfrm>
            <a:off x="182880" y="777240"/>
            <a:ext cx="877788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1400" spc="-1" strike="noStrike">
                <a:solidFill>
                  <a:srgbClr val="94a3b8"/>
                </a:solidFill>
                <a:latin typeface="Calibri"/>
              </a:rPr>
              <a:t>Build coordinate geometry software using two interacting classes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78" name="Shape 6"/>
          <p:cNvSpPr/>
          <p:nvPr/>
        </p:nvSpPr>
        <p:spPr>
          <a:xfrm>
            <a:off x="182880" y="1298520"/>
            <a:ext cx="2834280" cy="1508400"/>
          </a:xfrm>
          <a:prstGeom prst="rect">
            <a:avLst/>
          </a:prstGeom>
          <a:solidFill>
            <a:srgbClr val="1e293b"/>
          </a:solidFill>
          <a:ln w="15240">
            <a:solidFill>
              <a:srgbClr val="38bdf8"/>
            </a:solidFill>
            <a:round/>
          </a:ln>
          <a:effectLst>
            <a:outerShdw algn="bl" blurRad="127080" dir="16200000" dist="50760" kx="0" ky="0" rotWithShape="0" sx="100000" sy="10000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79" name="Shape 7"/>
          <p:cNvSpPr/>
          <p:nvPr/>
        </p:nvSpPr>
        <p:spPr>
          <a:xfrm>
            <a:off x="182880" y="1298520"/>
            <a:ext cx="383760" cy="150840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80" name="Text 8"/>
          <p:cNvSpPr/>
          <p:nvPr/>
        </p:nvSpPr>
        <p:spPr>
          <a:xfrm>
            <a:off x="182880" y="1298520"/>
            <a:ext cx="383760" cy="1508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200" spc="-1" strike="noStrike">
                <a:solidFill>
                  <a:srgbClr val="0f172a"/>
                </a:solidFill>
                <a:latin typeface="Calibri"/>
              </a:rPr>
              <a:t>1</a:t>
            </a:r>
            <a:endParaRPr b="0" lang="en-IN" sz="2200" spc="-1" strike="noStrike">
              <a:latin typeface="Arial"/>
            </a:endParaRPr>
          </a:p>
        </p:txBody>
      </p:sp>
      <p:sp>
        <p:nvSpPr>
          <p:cNvPr id="81" name="Text 9"/>
          <p:cNvSpPr/>
          <p:nvPr/>
        </p:nvSpPr>
        <p:spPr>
          <a:xfrm>
            <a:off x="640080" y="1408320"/>
            <a:ext cx="226728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50" spc="-1" strike="noStrike">
                <a:solidFill>
                  <a:srgbClr val="ffffff"/>
                </a:solidFill>
                <a:latin typeface="Calibri"/>
              </a:rPr>
              <a:t>Create &amp; display 2D points</a:t>
            </a:r>
            <a:endParaRPr b="0" lang="en-IN" sz="1250" spc="-1" strike="noStrike">
              <a:latin typeface="Arial"/>
            </a:endParaRPr>
          </a:p>
        </p:txBody>
      </p:sp>
      <p:sp>
        <p:nvSpPr>
          <p:cNvPr id="82" name="Text 10"/>
          <p:cNvSpPr/>
          <p:nvPr/>
        </p:nvSpPr>
        <p:spPr>
          <a:xfrm>
            <a:off x="640080" y="1828800"/>
            <a:ext cx="2267280" cy="86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94a3b8"/>
                </a:solidFill>
                <a:latin typeface="Calibri"/>
              </a:rPr>
              <a:t>User can instantiate Point objects with x, y coordinates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83" name="Shape 11"/>
          <p:cNvSpPr/>
          <p:nvPr/>
        </p:nvSpPr>
        <p:spPr>
          <a:xfrm>
            <a:off x="3163680" y="1298520"/>
            <a:ext cx="2834280" cy="1508400"/>
          </a:xfrm>
          <a:prstGeom prst="rect">
            <a:avLst/>
          </a:prstGeom>
          <a:solidFill>
            <a:srgbClr val="1e293b"/>
          </a:solidFill>
          <a:ln w="15240">
            <a:solidFill>
              <a:srgbClr val="38bdf8"/>
            </a:solidFill>
            <a:round/>
          </a:ln>
          <a:effectLst>
            <a:outerShdw algn="bl" blurRad="127080" dir="16200000" dist="50760" kx="0" ky="0" rotWithShape="0" sx="100000" sy="10000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84" name="Shape 12"/>
          <p:cNvSpPr/>
          <p:nvPr/>
        </p:nvSpPr>
        <p:spPr>
          <a:xfrm>
            <a:off x="3163680" y="1298520"/>
            <a:ext cx="383760" cy="150840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85" name="Text 13"/>
          <p:cNvSpPr/>
          <p:nvPr/>
        </p:nvSpPr>
        <p:spPr>
          <a:xfrm>
            <a:off x="3163680" y="1298520"/>
            <a:ext cx="383760" cy="1508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200" spc="-1" strike="noStrike">
                <a:solidFill>
                  <a:srgbClr val="0f172a"/>
                </a:solidFill>
                <a:latin typeface="Calibri"/>
              </a:rPr>
              <a:t>2</a:t>
            </a:r>
            <a:endParaRPr b="0" lang="en-IN" sz="2200" spc="-1" strike="noStrike">
              <a:latin typeface="Arial"/>
            </a:endParaRPr>
          </a:p>
        </p:txBody>
      </p:sp>
      <p:sp>
        <p:nvSpPr>
          <p:cNvPr id="86" name="Text 14"/>
          <p:cNvSpPr/>
          <p:nvPr/>
        </p:nvSpPr>
        <p:spPr>
          <a:xfrm>
            <a:off x="3620880" y="1408320"/>
            <a:ext cx="226728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50" spc="-1" strike="noStrike">
                <a:solidFill>
                  <a:srgbClr val="ffffff"/>
                </a:solidFill>
                <a:latin typeface="Calibri"/>
              </a:rPr>
              <a:t>Distance between two points</a:t>
            </a:r>
            <a:endParaRPr b="0" lang="en-IN" sz="1250" spc="-1" strike="noStrike">
              <a:latin typeface="Arial"/>
            </a:endParaRPr>
          </a:p>
        </p:txBody>
      </p:sp>
      <p:sp>
        <p:nvSpPr>
          <p:cNvPr id="87" name="Text 15"/>
          <p:cNvSpPr/>
          <p:nvPr/>
        </p:nvSpPr>
        <p:spPr>
          <a:xfrm>
            <a:off x="3620880" y="1828800"/>
            <a:ext cx="2267280" cy="86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94a3b8"/>
                </a:solidFill>
                <a:latin typeface="Calibri"/>
              </a:rPr>
              <a:t>Calculate Euclidean distance: √[(x2-x1)² + (y2-y1)²]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88" name="Shape 16"/>
          <p:cNvSpPr/>
          <p:nvPr/>
        </p:nvSpPr>
        <p:spPr>
          <a:xfrm>
            <a:off x="6144840" y="1298520"/>
            <a:ext cx="2834280" cy="1508400"/>
          </a:xfrm>
          <a:prstGeom prst="rect">
            <a:avLst/>
          </a:prstGeom>
          <a:solidFill>
            <a:srgbClr val="1e293b"/>
          </a:solidFill>
          <a:ln w="15240">
            <a:solidFill>
              <a:srgbClr val="38bdf8"/>
            </a:solidFill>
            <a:round/>
          </a:ln>
          <a:effectLst>
            <a:outerShdw algn="bl" blurRad="127080" dir="16200000" dist="50760" kx="0" ky="0" rotWithShape="0" sx="100000" sy="10000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89" name="Shape 17"/>
          <p:cNvSpPr/>
          <p:nvPr/>
        </p:nvSpPr>
        <p:spPr>
          <a:xfrm>
            <a:off x="6144840" y="1298520"/>
            <a:ext cx="383760" cy="150840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90" name="Text 18"/>
          <p:cNvSpPr/>
          <p:nvPr/>
        </p:nvSpPr>
        <p:spPr>
          <a:xfrm>
            <a:off x="6144840" y="1298520"/>
            <a:ext cx="383760" cy="1508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200" spc="-1" strike="noStrike">
                <a:solidFill>
                  <a:srgbClr val="0f172a"/>
                </a:solidFill>
                <a:latin typeface="Calibri"/>
              </a:rPr>
              <a:t>3</a:t>
            </a:r>
            <a:endParaRPr b="0" lang="en-IN" sz="2200" spc="-1" strike="noStrike">
              <a:latin typeface="Arial"/>
            </a:endParaRPr>
          </a:p>
        </p:txBody>
      </p:sp>
      <p:sp>
        <p:nvSpPr>
          <p:cNvPr id="91" name="Text 19"/>
          <p:cNvSpPr/>
          <p:nvPr/>
        </p:nvSpPr>
        <p:spPr>
          <a:xfrm>
            <a:off x="6602040" y="1408320"/>
            <a:ext cx="226728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50" spc="-1" strike="noStrike">
                <a:solidFill>
                  <a:srgbClr val="ffffff"/>
                </a:solidFill>
                <a:latin typeface="Calibri"/>
              </a:rPr>
              <a:t>Distance from origin</a:t>
            </a:r>
            <a:endParaRPr b="0" lang="en-IN" sz="1250" spc="-1" strike="noStrike">
              <a:latin typeface="Arial"/>
            </a:endParaRPr>
          </a:p>
        </p:txBody>
      </p:sp>
      <p:sp>
        <p:nvSpPr>
          <p:cNvPr id="92" name="Text 20"/>
          <p:cNvSpPr/>
          <p:nvPr/>
        </p:nvSpPr>
        <p:spPr>
          <a:xfrm>
            <a:off x="6602040" y="1828800"/>
            <a:ext cx="2267280" cy="86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94a3b8"/>
                </a:solidFill>
                <a:latin typeface="Calibri"/>
              </a:rPr>
              <a:t>Find how far any point is from (0, 0) — reuse distance method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93" name="Shape 21"/>
          <p:cNvSpPr/>
          <p:nvPr/>
        </p:nvSpPr>
        <p:spPr>
          <a:xfrm>
            <a:off x="182880" y="2990160"/>
            <a:ext cx="2834280" cy="1508400"/>
          </a:xfrm>
          <a:prstGeom prst="rect">
            <a:avLst/>
          </a:prstGeom>
          <a:solidFill>
            <a:srgbClr val="1e293b"/>
          </a:solidFill>
          <a:ln w="15240">
            <a:solidFill>
              <a:srgbClr val="38bdf8"/>
            </a:solidFill>
            <a:round/>
          </a:ln>
          <a:effectLst>
            <a:outerShdw algn="bl" blurRad="127080" dir="16200000" dist="50760" kx="0" ky="0" rotWithShape="0" sx="100000" sy="10000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94" name="Shape 22"/>
          <p:cNvSpPr/>
          <p:nvPr/>
        </p:nvSpPr>
        <p:spPr>
          <a:xfrm>
            <a:off x="182880" y="2990160"/>
            <a:ext cx="383760" cy="150840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95" name="Text 23"/>
          <p:cNvSpPr/>
          <p:nvPr/>
        </p:nvSpPr>
        <p:spPr>
          <a:xfrm>
            <a:off x="182880" y="2990160"/>
            <a:ext cx="383760" cy="1508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200" spc="-1" strike="noStrike">
                <a:solidFill>
                  <a:srgbClr val="0f172a"/>
                </a:solidFill>
                <a:latin typeface="Calibri"/>
              </a:rPr>
              <a:t>4</a:t>
            </a:r>
            <a:endParaRPr b="0" lang="en-IN" sz="2200" spc="-1" strike="noStrike">
              <a:latin typeface="Arial"/>
            </a:endParaRPr>
          </a:p>
        </p:txBody>
      </p:sp>
      <p:sp>
        <p:nvSpPr>
          <p:cNvPr id="96" name="Text 24"/>
          <p:cNvSpPr/>
          <p:nvPr/>
        </p:nvSpPr>
        <p:spPr>
          <a:xfrm>
            <a:off x="640080" y="3099960"/>
            <a:ext cx="226728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50" spc="-1" strike="noStrike">
                <a:solidFill>
                  <a:srgbClr val="ffffff"/>
                </a:solidFill>
                <a:latin typeface="Calibri"/>
              </a:rPr>
              <a:t>Point lies on a line?</a:t>
            </a:r>
            <a:endParaRPr b="0" lang="en-IN" sz="1250" spc="-1" strike="noStrike">
              <a:latin typeface="Arial"/>
            </a:endParaRPr>
          </a:p>
        </p:txBody>
      </p:sp>
      <p:sp>
        <p:nvSpPr>
          <p:cNvPr id="97" name="Text 25"/>
          <p:cNvSpPr/>
          <p:nvPr/>
        </p:nvSpPr>
        <p:spPr>
          <a:xfrm>
            <a:off x="640080" y="3520440"/>
            <a:ext cx="2267280" cy="86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94a3b8"/>
                </a:solidFill>
                <a:latin typeface="Calibri"/>
              </a:rPr>
              <a:t>Given line ax+by+c=0, check if point (x1,y1) satisfies it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98" name="Shape 26"/>
          <p:cNvSpPr/>
          <p:nvPr/>
        </p:nvSpPr>
        <p:spPr>
          <a:xfrm>
            <a:off x="3163680" y="2990160"/>
            <a:ext cx="2834280" cy="1508400"/>
          </a:xfrm>
          <a:prstGeom prst="rect">
            <a:avLst/>
          </a:prstGeom>
          <a:solidFill>
            <a:srgbClr val="1e293b"/>
          </a:solidFill>
          <a:ln w="15240">
            <a:solidFill>
              <a:srgbClr val="38bdf8"/>
            </a:solidFill>
            <a:round/>
          </a:ln>
          <a:effectLst>
            <a:outerShdw algn="bl" blurRad="127080" dir="16200000" dist="50760" kx="0" ky="0" rotWithShape="0" sx="100000" sy="10000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99" name="Shape 27"/>
          <p:cNvSpPr/>
          <p:nvPr/>
        </p:nvSpPr>
        <p:spPr>
          <a:xfrm>
            <a:off x="3163680" y="2990160"/>
            <a:ext cx="383760" cy="150840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00" name="Text 28"/>
          <p:cNvSpPr/>
          <p:nvPr/>
        </p:nvSpPr>
        <p:spPr>
          <a:xfrm>
            <a:off x="3163680" y="2990160"/>
            <a:ext cx="383760" cy="1508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200" spc="-1" strike="noStrike">
                <a:solidFill>
                  <a:srgbClr val="0f172a"/>
                </a:solidFill>
                <a:latin typeface="Calibri"/>
              </a:rPr>
              <a:t>5</a:t>
            </a:r>
            <a:endParaRPr b="0" lang="en-IN" sz="2200" spc="-1" strike="noStrike">
              <a:latin typeface="Arial"/>
            </a:endParaRPr>
          </a:p>
        </p:txBody>
      </p:sp>
      <p:sp>
        <p:nvSpPr>
          <p:cNvPr id="101" name="Text 29"/>
          <p:cNvSpPr/>
          <p:nvPr/>
        </p:nvSpPr>
        <p:spPr>
          <a:xfrm>
            <a:off x="3620880" y="3099960"/>
            <a:ext cx="226728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50" spc="-1" strike="noStrike">
                <a:solidFill>
                  <a:srgbClr val="ffffff"/>
                </a:solidFill>
                <a:latin typeface="Calibri"/>
              </a:rPr>
              <a:t>Shortest point-to-line distance</a:t>
            </a:r>
            <a:endParaRPr b="0" lang="en-IN" sz="1250" spc="-1" strike="noStrike">
              <a:latin typeface="Arial"/>
            </a:endParaRPr>
          </a:p>
        </p:txBody>
      </p:sp>
      <p:sp>
        <p:nvSpPr>
          <p:cNvPr id="102" name="Text 30"/>
          <p:cNvSpPr/>
          <p:nvPr/>
        </p:nvSpPr>
        <p:spPr>
          <a:xfrm>
            <a:off x="3620880" y="3520440"/>
            <a:ext cx="2267280" cy="86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94a3b8"/>
                </a:solidFill>
                <a:latin typeface="Calibri"/>
              </a:rPr>
              <a:t>Formula: |ax1 + by1 + c| / √(a²+b²)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103" name="Shape 31"/>
          <p:cNvSpPr/>
          <p:nvPr/>
        </p:nvSpPr>
        <p:spPr>
          <a:xfrm>
            <a:off x="6126480" y="1298520"/>
            <a:ext cx="2834280" cy="1508400"/>
          </a:xfrm>
          <a:prstGeom prst="rect">
            <a:avLst/>
          </a:prstGeom>
          <a:solidFill>
            <a:srgbClr val="2d1b4e"/>
          </a:solidFill>
          <a:ln w="19050">
            <a:solidFill>
              <a:srgbClr val="f59e0b"/>
            </a:solidFill>
            <a:round/>
          </a:ln>
          <a:effectLst>
            <a:outerShdw algn="bl" blurRad="127080" dir="16200000" dist="50760" kx="0" ky="0" rotWithShape="0" sx="100000" sy="10000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04" name="Text 32"/>
          <p:cNvSpPr/>
          <p:nvPr/>
        </p:nvSpPr>
        <p:spPr>
          <a:xfrm>
            <a:off x="6263640" y="1389960"/>
            <a:ext cx="25599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299" strike="noStrike">
                <a:solidFill>
                  <a:srgbClr val="f59e0b"/>
                </a:solidFill>
                <a:latin typeface="Calibri"/>
              </a:rPr>
              <a:t>HOMEWORK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105" name="Text 33"/>
          <p:cNvSpPr/>
          <p:nvPr/>
        </p:nvSpPr>
        <p:spPr>
          <a:xfrm>
            <a:off x="6263640" y="1737360"/>
            <a:ext cx="255996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e2e8f0"/>
                </a:solidFill>
                <a:latin typeface="Calibri"/>
              </a:rPr>
              <a:t>Add an intersect() method to Line class that checks whether two Line objects intersect or are parallel.</a:t>
            </a:r>
            <a:endParaRPr b="0" lang="en-IN" sz="11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Shape 0"/>
          <p:cNvSpPr/>
          <p:nvPr/>
        </p:nvSpPr>
        <p:spPr>
          <a:xfrm>
            <a:off x="0" y="0"/>
            <a:ext cx="63720" cy="514332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07" name="Shape 1"/>
          <p:cNvSpPr/>
          <p:nvPr/>
        </p:nvSpPr>
        <p:spPr>
          <a:xfrm>
            <a:off x="0" y="0"/>
            <a:ext cx="9143640" cy="71280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08" name="Text 2"/>
          <p:cNvSpPr/>
          <p:nvPr/>
        </p:nvSpPr>
        <p:spPr>
          <a:xfrm>
            <a:off x="182880" y="0"/>
            <a:ext cx="7131960" cy="712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200" spc="-1" strike="noStrike">
                <a:solidFill>
                  <a:srgbClr val="ffffff"/>
                </a:solidFill>
                <a:latin typeface="Calibri"/>
              </a:rPr>
              <a:t>Point Class – Design &amp; Code</a:t>
            </a:r>
            <a:endParaRPr b="0" lang="en-IN" sz="2200" spc="-1" strike="noStrike">
              <a:latin typeface="Arial"/>
            </a:endParaRPr>
          </a:p>
        </p:txBody>
      </p:sp>
      <p:sp>
        <p:nvSpPr>
          <p:cNvPr id="109" name="Shape 3"/>
          <p:cNvSpPr/>
          <p:nvPr/>
        </p:nvSpPr>
        <p:spPr>
          <a:xfrm>
            <a:off x="7589520" y="109800"/>
            <a:ext cx="1371240" cy="47520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round/>
          </a:ln>
          <a:effectLst>
            <a:outerShdw algn="bl" blurRad="127080" dir="16200000" dist="50760" kx="0" ky="0" rotWithShape="0" sx="100000" sy="10000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10" name="Text 4"/>
          <p:cNvSpPr/>
          <p:nvPr/>
        </p:nvSpPr>
        <p:spPr>
          <a:xfrm>
            <a:off x="7589520" y="109800"/>
            <a:ext cx="137124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0f172a"/>
                </a:solidFill>
                <a:latin typeface="Calibri"/>
              </a:rPr>
              <a:t>Section 01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111" name="Shape 5"/>
          <p:cNvSpPr/>
          <p:nvPr/>
        </p:nvSpPr>
        <p:spPr>
          <a:xfrm>
            <a:off x="182880" y="804600"/>
            <a:ext cx="2742840" cy="3977280"/>
          </a:xfrm>
          <a:prstGeom prst="rect">
            <a:avLst/>
          </a:prstGeom>
          <a:solidFill>
            <a:srgbClr val="1e293b"/>
          </a:solidFill>
          <a:ln w="15240">
            <a:solidFill>
              <a:srgbClr val="38bdf8"/>
            </a:solidFill>
            <a:round/>
          </a:ln>
          <a:effectLst>
            <a:outerShdw algn="bl" blurRad="127080" dir="16200000" dist="50760" kx="0" ky="0" rotWithShape="0" sx="100000" sy="10000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12" name="Text 6"/>
          <p:cNvSpPr/>
          <p:nvPr/>
        </p:nvSpPr>
        <p:spPr>
          <a:xfrm>
            <a:off x="320040" y="896040"/>
            <a:ext cx="237708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600" spc="-1" strike="noStrike">
                <a:solidFill>
                  <a:srgbClr val="38bdf8"/>
                </a:solidFill>
                <a:latin typeface="Calibri"/>
              </a:rPr>
              <a:t>DESIGN</a:t>
            </a:r>
            <a:endParaRPr b="0" lang="en-IN" sz="16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600" spc="-1" strike="noStrike">
                <a:solidFill>
                  <a:srgbClr val="38bdf8"/>
                </a:solidFill>
                <a:latin typeface="Calibri"/>
              </a:rPr>
              <a:t>THINKING</a:t>
            </a:r>
            <a:endParaRPr b="0" lang="en-IN" sz="1600" spc="-1" strike="noStrike">
              <a:latin typeface="Arial"/>
            </a:endParaRPr>
          </a:p>
        </p:txBody>
      </p:sp>
      <p:sp>
        <p:nvSpPr>
          <p:cNvPr id="113" name="Text 7"/>
          <p:cNvSpPr/>
          <p:nvPr/>
        </p:nvSpPr>
        <p:spPr>
          <a:xfrm>
            <a:off x="320040" y="1600200"/>
            <a:ext cx="246852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1100" spc="-1" strike="noStrike">
                <a:solidFill>
                  <a:srgbClr val="94a3b8"/>
                </a:solidFill>
                <a:latin typeface="Calibri"/>
              </a:rPr>
              <a:t>Plan before coding!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1100" spc="-1" strike="noStrike">
                <a:solidFill>
                  <a:srgbClr val="94a3b8"/>
                </a:solidFill>
                <a:latin typeface="Calibri"/>
              </a:rPr>
              <a:t>What does a 2D point need?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114" name="Shape 8"/>
          <p:cNvSpPr/>
          <p:nvPr/>
        </p:nvSpPr>
        <p:spPr>
          <a:xfrm>
            <a:off x="320040" y="2176200"/>
            <a:ext cx="2468520" cy="3636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15" name="Text 9"/>
          <p:cNvSpPr/>
          <p:nvPr/>
        </p:nvSpPr>
        <p:spPr>
          <a:xfrm>
            <a:off x="320040" y="2286000"/>
            <a:ext cx="24685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000" spc="199" strike="noStrike">
                <a:solidFill>
                  <a:srgbClr val="34d399"/>
                </a:solidFill>
                <a:latin typeface="Calibri"/>
              </a:rPr>
              <a:t>DATA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116" name="Text 10"/>
          <p:cNvSpPr/>
          <p:nvPr/>
        </p:nvSpPr>
        <p:spPr>
          <a:xfrm>
            <a:off x="320040" y="2560320"/>
            <a:ext cx="246852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marL="343080" indent="-343080">
              <a:lnSpc>
                <a:spcPct val="100000"/>
              </a:lnSpc>
              <a:buClr>
                <a:srgbClr val="e2e8f0"/>
              </a:buClr>
              <a:buFont typeface="Symbol" charset="2"/>
              <a:buChar char=""/>
            </a:pPr>
            <a:r>
              <a:rPr b="0" lang="en-US" sz="1050" spc="-1" strike="noStrike">
                <a:solidFill>
                  <a:srgbClr val="e2e8f0"/>
                </a:solidFill>
                <a:latin typeface="Calibri"/>
              </a:rPr>
              <a:t>x-coordinate value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117" name="Text 11"/>
          <p:cNvSpPr/>
          <p:nvPr/>
        </p:nvSpPr>
        <p:spPr>
          <a:xfrm>
            <a:off x="320040" y="2871360"/>
            <a:ext cx="246852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marL="343080" indent="-343080">
              <a:lnSpc>
                <a:spcPct val="100000"/>
              </a:lnSpc>
              <a:buClr>
                <a:srgbClr val="e2e8f0"/>
              </a:buClr>
              <a:buFont typeface="Symbol" charset="2"/>
              <a:buChar char=""/>
            </a:pPr>
            <a:r>
              <a:rPr b="0" lang="en-US" sz="1050" spc="-1" strike="noStrike">
                <a:solidFill>
                  <a:srgbClr val="e2e8f0"/>
                </a:solidFill>
                <a:latin typeface="Calibri"/>
              </a:rPr>
              <a:t>y-coordinate value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118" name="Text 12"/>
          <p:cNvSpPr/>
          <p:nvPr/>
        </p:nvSpPr>
        <p:spPr>
          <a:xfrm>
            <a:off x="320040" y="3291840"/>
            <a:ext cx="24685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000" spc="199" strike="noStrike">
                <a:solidFill>
                  <a:srgbClr val="34d399"/>
                </a:solidFill>
                <a:latin typeface="Calibri"/>
              </a:rPr>
              <a:t>METHODS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119" name="Text 13"/>
          <p:cNvSpPr/>
          <p:nvPr/>
        </p:nvSpPr>
        <p:spPr>
          <a:xfrm>
            <a:off x="320040" y="3566160"/>
            <a:ext cx="246852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marL="343080" indent="-343080">
              <a:lnSpc>
                <a:spcPct val="100000"/>
              </a:lnSpc>
              <a:buClr>
                <a:srgbClr val="e2e8f0"/>
              </a:buClr>
              <a:buFont typeface="Symbol" charset="2"/>
              <a:buChar char=""/>
            </a:pPr>
            <a:r>
              <a:rPr b="0" lang="en-US" sz="1050" spc="-1" strike="noStrike">
                <a:solidFill>
                  <a:srgbClr val="e2e8f0"/>
                </a:solidFill>
                <a:latin typeface="Calibri"/>
              </a:rPr>
              <a:t>__str__ — display as (x,y)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120" name="Text 14"/>
          <p:cNvSpPr/>
          <p:nvPr/>
        </p:nvSpPr>
        <p:spPr>
          <a:xfrm>
            <a:off x="320040" y="3877200"/>
            <a:ext cx="246852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marL="343080" indent="-343080">
              <a:lnSpc>
                <a:spcPct val="100000"/>
              </a:lnSpc>
              <a:buClr>
                <a:srgbClr val="e2e8f0"/>
              </a:buClr>
              <a:buFont typeface="Symbol" charset="2"/>
              <a:buChar char=""/>
            </a:pPr>
            <a:r>
              <a:rPr b="0" lang="en-US" sz="1050" spc="-1" strike="noStrike">
                <a:solidFill>
                  <a:srgbClr val="e2e8f0"/>
                </a:solidFill>
                <a:latin typeface="Calibri"/>
              </a:rPr>
              <a:t>calc_distance(other) — between two points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121" name="Text 15"/>
          <p:cNvSpPr/>
          <p:nvPr/>
        </p:nvSpPr>
        <p:spPr>
          <a:xfrm>
            <a:off x="320040" y="4187880"/>
            <a:ext cx="246852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marL="343080" indent="-343080">
              <a:lnSpc>
                <a:spcPct val="100000"/>
              </a:lnSpc>
              <a:buClr>
                <a:srgbClr val="e2e8f0"/>
              </a:buClr>
              <a:buFont typeface="Symbol" charset="2"/>
              <a:buChar char=""/>
            </a:pPr>
            <a:r>
              <a:rPr b="0" lang="en-US" sz="1050" spc="-1" strike="noStrike">
                <a:solidFill>
                  <a:srgbClr val="e2e8f0"/>
                </a:solidFill>
                <a:latin typeface="Calibri"/>
              </a:rPr>
              <a:t>origin_distance() — from (0,0)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122" name="Shape 16"/>
          <p:cNvSpPr/>
          <p:nvPr/>
        </p:nvSpPr>
        <p:spPr>
          <a:xfrm>
            <a:off x="3063240" y="804600"/>
            <a:ext cx="5897520" cy="3977280"/>
          </a:xfrm>
          <a:prstGeom prst="rect">
            <a:avLst/>
          </a:prstGeom>
          <a:solidFill>
            <a:srgbClr val="0d1117"/>
          </a:solidFill>
          <a:ln w="19050">
            <a:solidFill>
              <a:srgbClr val="2d3748"/>
            </a:solidFill>
            <a:round/>
          </a:ln>
          <a:effectLst>
            <a:outerShdw algn="bl" blurRad="127080" dir="16200000" dist="50760" kx="0" ky="0" rotWithShape="0" sx="100000" sy="10000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23" name="Shape 17"/>
          <p:cNvSpPr/>
          <p:nvPr/>
        </p:nvSpPr>
        <p:spPr>
          <a:xfrm>
            <a:off x="3063240" y="804600"/>
            <a:ext cx="5897520" cy="255600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24" name="Shape 18"/>
          <p:cNvSpPr/>
          <p:nvPr/>
        </p:nvSpPr>
        <p:spPr>
          <a:xfrm>
            <a:off x="3173040" y="859680"/>
            <a:ext cx="109440" cy="109440"/>
          </a:xfrm>
          <a:prstGeom prst="ellipse">
            <a:avLst/>
          </a:prstGeom>
          <a:solidFill>
            <a:srgbClr val="f87171"/>
          </a:solidFill>
          <a:ln w="12700">
            <a:solidFill>
              <a:srgbClr val="f87171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25" name="Shape 19"/>
          <p:cNvSpPr/>
          <p:nvPr/>
        </p:nvSpPr>
        <p:spPr>
          <a:xfrm>
            <a:off x="3355920" y="859680"/>
            <a:ext cx="109440" cy="10944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26" name="Shape 20"/>
          <p:cNvSpPr/>
          <p:nvPr/>
        </p:nvSpPr>
        <p:spPr>
          <a:xfrm>
            <a:off x="3538800" y="859680"/>
            <a:ext cx="109440" cy="109440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27" name="Text 21"/>
          <p:cNvSpPr/>
          <p:nvPr/>
        </p:nvSpPr>
        <p:spPr>
          <a:xfrm>
            <a:off x="3063240" y="822960"/>
            <a:ext cx="585180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800" spc="-1" strike="noStrike">
                <a:solidFill>
                  <a:srgbClr val="64748b"/>
                </a:solidFill>
                <a:latin typeface="Calibri"/>
              </a:rPr>
              <a:t>coordinate_class.py</a:t>
            </a:r>
            <a:endParaRPr b="0" lang="en-IN" sz="800" spc="-1" strike="noStrike">
              <a:latin typeface="Arial"/>
            </a:endParaRPr>
          </a:p>
        </p:txBody>
      </p:sp>
      <p:sp>
        <p:nvSpPr>
          <p:cNvPr id="128" name="Text 22"/>
          <p:cNvSpPr/>
          <p:nvPr/>
        </p:nvSpPr>
        <p:spPr>
          <a:xfrm>
            <a:off x="3173040" y="1097280"/>
            <a:ext cx="5668920" cy="356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r>
              <a:rPr b="1" lang="en-US" sz="1000" spc="-1" strike="noStrike">
                <a:solidFill>
                  <a:srgbClr val="38bdf8"/>
                </a:solidFill>
                <a:latin typeface="Courier New"/>
                <a:ea typeface="Courier New"/>
              </a:rPr>
              <a:t>import</a:t>
            </a:r>
            <a:r>
              <a:rPr b="0" lang="en-US" sz="1000" spc="-1" strike="noStrike">
                <a:solidFill>
                  <a:srgbClr val="e2e8f0"/>
                </a:solidFill>
                <a:latin typeface="Courier New"/>
                <a:ea typeface="Courier New"/>
              </a:rPr>
              <a:t> math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000" spc="-1" strike="noStrike">
                <a:solidFill>
                  <a:srgbClr val="38bdf8"/>
                </a:solidFill>
                <a:latin typeface="Courier New"/>
                <a:ea typeface="Courier New"/>
              </a:rPr>
              <a:t>class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34d399"/>
                </a:solidFill>
                <a:latin typeface="Courier New"/>
                <a:ea typeface="Courier New"/>
              </a:rPr>
              <a:t> </a:t>
            </a:r>
            <a:r>
              <a:rPr b="0" lang="en-US" sz="1000" spc="-1" strike="noStrike">
                <a:solidFill>
                  <a:srgbClr val="34d399"/>
                </a:solidFill>
                <a:latin typeface="Courier New"/>
                <a:ea typeface="Courier New"/>
              </a:rPr>
              <a:t>Coordinate: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000" spc="-1" strike="noStrike">
                <a:solidFill>
                  <a:srgbClr val="38bdf8"/>
                </a:solidFill>
                <a:latin typeface="Courier New"/>
                <a:ea typeface="Courier New"/>
              </a:rPr>
              <a:t>    </a:t>
            </a:r>
            <a:r>
              <a:rPr b="1" lang="en-US" sz="1000" spc="-1" strike="noStrike">
                <a:solidFill>
                  <a:srgbClr val="38bdf8"/>
                </a:solidFill>
                <a:latin typeface="Courier New"/>
                <a:ea typeface="Courier New"/>
              </a:rPr>
              <a:t>def</a:t>
            </a:r>
            <a:r>
              <a:rPr b="0" lang="en-US" sz="1000" spc="-1" strike="noStrike">
                <a:solidFill>
                  <a:srgbClr val="e2e8f0"/>
                </a:solidFill>
                <a:latin typeface="Courier New"/>
                <a:ea typeface="Courier New"/>
              </a:rPr>
              <a:t> __init__(</a:t>
            </a:r>
            <a:r>
              <a:rPr b="0" lang="en-US" sz="1000" spc="-1" strike="noStrike">
                <a:solidFill>
                  <a:srgbClr val="f59e0b"/>
                </a:solidFill>
                <a:latin typeface="Courier New"/>
                <a:ea typeface="Courier New"/>
              </a:rPr>
              <a:t>self</a:t>
            </a:r>
            <a:r>
              <a:rPr b="0" lang="en-US" sz="1000" spc="-1" strike="noStrike">
                <a:solidFill>
                  <a:srgbClr val="e2e8f0"/>
                </a:solidFill>
                <a:latin typeface="Courier New"/>
                <a:ea typeface="Courier New"/>
              </a:rPr>
              <a:t>, x_val, y_val):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f59e0b"/>
                </a:solidFill>
                <a:latin typeface="Courier New"/>
                <a:ea typeface="Courier New"/>
              </a:rPr>
              <a:t>        </a:t>
            </a:r>
            <a:r>
              <a:rPr b="0" lang="en-US" sz="1000" spc="-1" strike="noStrike">
                <a:solidFill>
                  <a:srgbClr val="f59e0b"/>
                </a:solidFill>
                <a:latin typeface="Courier New"/>
                <a:ea typeface="Courier New"/>
              </a:rPr>
              <a:t>self</a:t>
            </a:r>
            <a:r>
              <a:rPr b="0" lang="en-US" sz="1000" spc="-1" strike="noStrike">
                <a:solidFill>
                  <a:srgbClr val="e2e8f0"/>
                </a:solidFill>
                <a:latin typeface="Courier New"/>
                <a:ea typeface="Courier New"/>
              </a:rPr>
              <a:t>.x_pos = x_val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f59e0b"/>
                </a:solidFill>
                <a:latin typeface="Courier New"/>
                <a:ea typeface="Courier New"/>
              </a:rPr>
              <a:t>        </a:t>
            </a:r>
            <a:r>
              <a:rPr b="0" lang="en-US" sz="1000" spc="-1" strike="noStrike">
                <a:solidFill>
                  <a:srgbClr val="f59e0b"/>
                </a:solidFill>
                <a:latin typeface="Courier New"/>
                <a:ea typeface="Courier New"/>
              </a:rPr>
              <a:t>self</a:t>
            </a:r>
            <a:r>
              <a:rPr b="0" lang="en-US" sz="1000" spc="-1" strike="noStrike">
                <a:solidFill>
                  <a:srgbClr val="e2e8f0"/>
                </a:solidFill>
                <a:latin typeface="Courier New"/>
                <a:ea typeface="Courier New"/>
              </a:rPr>
              <a:t>.y_pos = y_val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000" spc="-1" strike="noStrike">
                <a:solidFill>
                  <a:srgbClr val="38bdf8"/>
                </a:solidFill>
                <a:latin typeface="Courier New"/>
                <a:ea typeface="Courier New"/>
              </a:rPr>
              <a:t>    </a:t>
            </a:r>
            <a:r>
              <a:rPr b="1" lang="en-US" sz="1000" spc="-1" strike="noStrike">
                <a:solidFill>
                  <a:srgbClr val="38bdf8"/>
                </a:solidFill>
                <a:latin typeface="Courier New"/>
                <a:ea typeface="Courier New"/>
              </a:rPr>
              <a:t>def</a:t>
            </a:r>
            <a:r>
              <a:rPr b="0" lang="en-US" sz="1000" spc="-1" strike="noStrike">
                <a:solidFill>
                  <a:srgbClr val="e2e8f0"/>
                </a:solidFill>
                <a:latin typeface="Courier New"/>
                <a:ea typeface="Courier New"/>
              </a:rPr>
              <a:t> __str__(</a:t>
            </a:r>
            <a:r>
              <a:rPr b="0" lang="en-US" sz="1000" spc="-1" strike="noStrike">
                <a:solidFill>
                  <a:srgbClr val="f59e0b"/>
                </a:solidFill>
                <a:latin typeface="Courier New"/>
                <a:ea typeface="Courier New"/>
              </a:rPr>
              <a:t>self</a:t>
            </a:r>
            <a:r>
              <a:rPr b="0" lang="en-US" sz="1000" spc="-1" strike="noStrike">
                <a:solidFill>
                  <a:srgbClr val="e2e8f0"/>
                </a:solidFill>
                <a:latin typeface="Courier New"/>
                <a:ea typeface="Courier New"/>
              </a:rPr>
              <a:t>):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000" spc="-1" strike="noStrike">
                <a:solidFill>
                  <a:srgbClr val="38bdf8"/>
                </a:solidFill>
                <a:latin typeface="Courier New"/>
                <a:ea typeface="Courier New"/>
              </a:rPr>
              <a:t>        </a:t>
            </a:r>
            <a:r>
              <a:rPr b="1" lang="en-US" sz="1000" spc="-1" strike="noStrike">
                <a:solidFill>
                  <a:srgbClr val="38bdf8"/>
                </a:solidFill>
                <a:latin typeface="Courier New"/>
                <a:ea typeface="Courier New"/>
              </a:rPr>
              <a:t>return</a:t>
            </a:r>
            <a:r>
              <a:rPr b="0" lang="en-US" sz="1000" spc="-1" strike="noStrike">
                <a:solidFill>
                  <a:srgbClr val="e2e8f0"/>
                </a:solidFill>
                <a:latin typeface="Courier New"/>
                <a:ea typeface="Courier New"/>
              </a:rPr>
              <a:t> '({}, {})'.format(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f59e0b"/>
                </a:solidFill>
                <a:latin typeface="Courier New"/>
                <a:ea typeface="Courier New"/>
              </a:rPr>
              <a:t>            </a:t>
            </a:r>
            <a:r>
              <a:rPr b="0" lang="en-US" sz="1000" spc="-1" strike="noStrike">
                <a:solidFill>
                  <a:srgbClr val="f59e0b"/>
                </a:solidFill>
                <a:latin typeface="Courier New"/>
                <a:ea typeface="Courier New"/>
              </a:rPr>
              <a:t>self</a:t>
            </a:r>
            <a:r>
              <a:rPr b="0" lang="en-US" sz="1000" spc="-1" strike="noStrike">
                <a:solidFill>
                  <a:srgbClr val="e2e8f0"/>
                </a:solidFill>
                <a:latin typeface="Courier New"/>
                <a:ea typeface="Courier New"/>
              </a:rPr>
              <a:t>.x_pos, </a:t>
            </a:r>
            <a:r>
              <a:rPr b="0" lang="en-US" sz="1000" spc="-1" strike="noStrike">
                <a:solidFill>
                  <a:srgbClr val="f59e0b"/>
                </a:solidFill>
                <a:latin typeface="Courier New"/>
                <a:ea typeface="Courier New"/>
              </a:rPr>
              <a:t>self</a:t>
            </a:r>
            <a:r>
              <a:rPr b="0" lang="en-US" sz="1000" spc="-1" strike="noStrike">
                <a:solidFill>
                  <a:srgbClr val="e2e8f0"/>
                </a:solidFill>
                <a:latin typeface="Courier New"/>
                <a:ea typeface="Courier New"/>
              </a:rPr>
              <a:t>.y_pos)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000" spc="-1" strike="noStrike">
                <a:solidFill>
                  <a:srgbClr val="38bdf8"/>
                </a:solidFill>
                <a:latin typeface="Courier New"/>
                <a:ea typeface="Courier New"/>
              </a:rPr>
              <a:t>    </a:t>
            </a:r>
            <a:r>
              <a:rPr b="1" lang="en-US" sz="1000" spc="-1" strike="noStrike">
                <a:solidFill>
                  <a:srgbClr val="38bdf8"/>
                </a:solidFill>
                <a:latin typeface="Courier New"/>
                <a:ea typeface="Courier New"/>
              </a:rPr>
              <a:t>def</a:t>
            </a:r>
            <a:r>
              <a:rPr b="0" lang="en-US" sz="1000" spc="-1" strike="noStrike">
                <a:solidFill>
                  <a:srgbClr val="e2e8f0"/>
                </a:solidFill>
                <a:latin typeface="Courier New"/>
                <a:ea typeface="Courier New"/>
              </a:rPr>
              <a:t> calc_distance(</a:t>
            </a:r>
            <a:r>
              <a:rPr b="0" lang="en-US" sz="1000" spc="-1" strike="noStrike">
                <a:solidFill>
                  <a:srgbClr val="f59e0b"/>
                </a:solidFill>
                <a:latin typeface="Courier New"/>
                <a:ea typeface="Courier New"/>
              </a:rPr>
              <a:t>self</a:t>
            </a:r>
            <a:r>
              <a:rPr b="0" lang="en-US" sz="1000" spc="-1" strike="noStrike">
                <a:solidFill>
                  <a:srgbClr val="e2e8f0"/>
                </a:solidFill>
                <a:latin typeface="Courier New"/>
                <a:ea typeface="Courier New"/>
              </a:rPr>
              <a:t>, other_pt):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000" spc="-1" strike="noStrike">
                <a:solidFill>
                  <a:srgbClr val="38bdf8"/>
                </a:solidFill>
                <a:latin typeface="Courier New"/>
                <a:ea typeface="Courier New"/>
              </a:rPr>
              <a:t>        </a:t>
            </a:r>
            <a:r>
              <a:rPr b="1" lang="en-US" sz="1000" spc="-1" strike="noStrike">
                <a:solidFill>
                  <a:srgbClr val="38bdf8"/>
                </a:solidFill>
                <a:latin typeface="Courier New"/>
                <a:ea typeface="Courier New"/>
              </a:rPr>
              <a:t>return</a:t>
            </a:r>
            <a:r>
              <a:rPr b="0" lang="en-US" sz="1000" spc="-1" strike="noStrike">
                <a:solidFill>
                  <a:srgbClr val="e2e8f0"/>
                </a:solidFill>
                <a:latin typeface="Courier New"/>
                <a:ea typeface="Courier New"/>
              </a:rPr>
              <a:t> ((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f59e0b"/>
                </a:solidFill>
                <a:latin typeface="Courier New"/>
                <a:ea typeface="Courier New"/>
              </a:rPr>
              <a:t>            </a:t>
            </a:r>
            <a:r>
              <a:rPr b="0" lang="en-US" sz="1000" spc="-1" strike="noStrike">
                <a:solidFill>
                  <a:srgbClr val="f59e0b"/>
                </a:solidFill>
                <a:latin typeface="Courier New"/>
                <a:ea typeface="Courier New"/>
              </a:rPr>
              <a:t>self</a:t>
            </a:r>
            <a:r>
              <a:rPr b="0" lang="en-US" sz="1000" spc="-1" strike="noStrike">
                <a:solidFill>
                  <a:srgbClr val="e2e8f0"/>
                </a:solidFill>
                <a:latin typeface="Courier New"/>
                <a:ea typeface="Courier New"/>
              </a:rPr>
              <a:t>.x_pos - other_pt.x_pos)**</a:t>
            </a:r>
            <a:r>
              <a:rPr b="0" lang="en-US" sz="1000" spc="-1" strike="noStrike">
                <a:solidFill>
                  <a:srgbClr val="fca5a5"/>
                </a:solidFill>
                <a:latin typeface="Courier New"/>
                <a:ea typeface="Courier New"/>
              </a:rPr>
              <a:t>2</a:t>
            </a:r>
            <a:r>
              <a:rPr b="0" lang="en-US" sz="1000" spc="-1" strike="noStrike">
                <a:solidFill>
                  <a:srgbClr val="e2e8f0"/>
                </a:solidFill>
                <a:latin typeface="Courier New"/>
                <a:ea typeface="Courier New"/>
              </a:rPr>
              <a:t> +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f59e0b"/>
                </a:solidFill>
                <a:latin typeface="Courier New"/>
                <a:ea typeface="Courier New"/>
              </a:rPr>
              <a:t>            </a:t>
            </a:r>
            <a:r>
              <a:rPr b="0" lang="en-US" sz="1000" spc="-1" strike="noStrike">
                <a:solidFill>
                  <a:srgbClr val="f59e0b"/>
                </a:solidFill>
                <a:latin typeface="Courier New"/>
                <a:ea typeface="Courier New"/>
              </a:rPr>
              <a:t>self</a:t>
            </a:r>
            <a:r>
              <a:rPr b="0" lang="en-US" sz="1000" spc="-1" strike="noStrike">
                <a:solidFill>
                  <a:srgbClr val="e2e8f0"/>
                </a:solidFill>
                <a:latin typeface="Courier New"/>
                <a:ea typeface="Courier New"/>
              </a:rPr>
              <a:t>.y_pos - other_pt.y_pos)**</a:t>
            </a:r>
            <a:r>
              <a:rPr b="0" lang="en-US" sz="1000" spc="-1" strike="noStrike">
                <a:solidFill>
                  <a:srgbClr val="fca5a5"/>
                </a:solidFill>
                <a:latin typeface="Courier New"/>
                <a:ea typeface="Courier New"/>
              </a:rPr>
              <a:t>2</a:t>
            </a:r>
            <a:r>
              <a:rPr b="0" lang="en-US" sz="1000" spc="-1" strike="noStrike">
                <a:solidFill>
                  <a:srgbClr val="e2e8f0"/>
                </a:solidFill>
                <a:latin typeface="Courier New"/>
                <a:ea typeface="Courier New"/>
              </a:rPr>
              <a:t>)**</a:t>
            </a:r>
            <a:r>
              <a:rPr b="0" lang="en-US" sz="1000" spc="-1" strike="noStrike">
                <a:solidFill>
                  <a:srgbClr val="fca5a5"/>
                </a:solidFill>
                <a:latin typeface="Courier New"/>
                <a:ea typeface="Courier New"/>
              </a:rPr>
              <a:t>0.5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000" spc="-1" strike="noStrike">
                <a:solidFill>
                  <a:srgbClr val="38bdf8"/>
                </a:solidFill>
                <a:latin typeface="Courier New"/>
                <a:ea typeface="Courier New"/>
              </a:rPr>
              <a:t>    </a:t>
            </a:r>
            <a:r>
              <a:rPr b="1" lang="en-US" sz="1000" spc="-1" strike="noStrike">
                <a:solidFill>
                  <a:srgbClr val="38bdf8"/>
                </a:solidFill>
                <a:latin typeface="Courier New"/>
                <a:ea typeface="Courier New"/>
              </a:rPr>
              <a:t>def</a:t>
            </a:r>
            <a:r>
              <a:rPr b="0" lang="en-US" sz="1000" spc="-1" strike="noStrike">
                <a:solidFill>
                  <a:srgbClr val="e2e8f0"/>
                </a:solidFill>
                <a:latin typeface="Courier New"/>
                <a:ea typeface="Courier New"/>
              </a:rPr>
              <a:t> origin_distance(</a:t>
            </a:r>
            <a:r>
              <a:rPr b="0" lang="en-US" sz="1000" spc="-1" strike="noStrike">
                <a:solidFill>
                  <a:srgbClr val="f59e0b"/>
                </a:solidFill>
                <a:latin typeface="Courier New"/>
                <a:ea typeface="Courier New"/>
              </a:rPr>
              <a:t>self</a:t>
            </a:r>
            <a:r>
              <a:rPr b="0" lang="en-US" sz="1000" spc="-1" strike="noStrike">
                <a:solidFill>
                  <a:srgbClr val="e2e8f0"/>
                </a:solidFill>
                <a:latin typeface="Courier New"/>
                <a:ea typeface="Courier New"/>
              </a:rPr>
              <a:t>):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1000" spc="-1" strike="noStrike">
                <a:solidFill>
                  <a:srgbClr val="64748b"/>
                </a:solidFill>
                <a:latin typeface="Courier New"/>
                <a:ea typeface="Courier New"/>
              </a:rPr>
              <a:t>        </a:t>
            </a:r>
            <a:r>
              <a:rPr b="0" i="1" lang="en-US" sz="1000" spc="-1" strike="noStrike">
                <a:solidFill>
                  <a:srgbClr val="64748b"/>
                </a:solidFill>
                <a:latin typeface="Courier New"/>
                <a:ea typeface="Courier New"/>
              </a:rPr>
              <a:t># Smart: create origin INSIDE the same class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e2e8f0"/>
                </a:solidFill>
                <a:latin typeface="Courier New"/>
                <a:ea typeface="Courier New"/>
              </a:rPr>
              <a:t>        </a:t>
            </a:r>
            <a:r>
              <a:rPr b="0" lang="en-US" sz="1000" spc="-1" strike="noStrike">
                <a:solidFill>
                  <a:srgbClr val="e2e8f0"/>
                </a:solidFill>
                <a:latin typeface="Courier New"/>
                <a:ea typeface="Courier New"/>
              </a:rPr>
              <a:t>origin = Coordinate(</a:t>
            </a:r>
            <a:r>
              <a:rPr b="0" lang="en-US" sz="1000" spc="-1" strike="noStrike">
                <a:solidFill>
                  <a:srgbClr val="fca5a5"/>
                </a:solidFill>
                <a:latin typeface="Courier New"/>
                <a:ea typeface="Courier New"/>
              </a:rPr>
              <a:t>0</a:t>
            </a:r>
            <a:r>
              <a:rPr b="0" lang="en-US" sz="1000" spc="-1" strike="noStrike">
                <a:solidFill>
                  <a:srgbClr val="e2e8f0"/>
                </a:solidFill>
                <a:latin typeface="Courier New"/>
                <a:ea typeface="Courier New"/>
              </a:rPr>
              <a:t>, </a:t>
            </a:r>
            <a:r>
              <a:rPr b="0" lang="en-US" sz="1000" spc="-1" strike="noStrike">
                <a:solidFill>
                  <a:srgbClr val="fca5a5"/>
                </a:solidFill>
                <a:latin typeface="Courier New"/>
                <a:ea typeface="Courier New"/>
              </a:rPr>
              <a:t>0</a:t>
            </a:r>
            <a:r>
              <a:rPr b="0" lang="en-US" sz="1000" spc="-1" strike="noStrike">
                <a:solidFill>
                  <a:srgbClr val="e2e8f0"/>
                </a:solidFill>
                <a:latin typeface="Courier New"/>
                <a:ea typeface="Courier New"/>
              </a:rPr>
              <a:t>)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000" spc="-1" strike="noStrike">
                <a:solidFill>
                  <a:srgbClr val="38bdf8"/>
                </a:solidFill>
                <a:latin typeface="Courier New"/>
                <a:ea typeface="Courier New"/>
              </a:rPr>
              <a:t>        </a:t>
            </a:r>
            <a:r>
              <a:rPr b="1" lang="en-US" sz="1000" spc="-1" strike="noStrike">
                <a:solidFill>
                  <a:srgbClr val="38bdf8"/>
                </a:solidFill>
                <a:latin typeface="Courier New"/>
                <a:ea typeface="Courier New"/>
              </a:rPr>
              <a:t>return</a:t>
            </a:r>
            <a:r>
              <a:rPr b="0" lang="en-US" sz="1000" spc="-1" strike="noStrike">
                <a:solidFill>
                  <a:srgbClr val="f59e0b"/>
                </a:solidFill>
                <a:latin typeface="Courier New"/>
                <a:ea typeface="Courier New"/>
              </a:rPr>
              <a:t> self</a:t>
            </a:r>
            <a:r>
              <a:rPr b="0" lang="en-US" sz="1000" spc="-1" strike="noStrike">
                <a:solidFill>
                  <a:srgbClr val="e2e8f0"/>
                </a:solidFill>
                <a:latin typeface="Courier New"/>
                <a:ea typeface="Courier New"/>
              </a:rPr>
              <a:t>.calc_distance(origin)</a:t>
            </a:r>
            <a:endParaRPr b="0" lang="en-IN" sz="10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Shape 0"/>
          <p:cNvSpPr/>
          <p:nvPr/>
        </p:nvSpPr>
        <p:spPr>
          <a:xfrm>
            <a:off x="0" y="0"/>
            <a:ext cx="63720" cy="514332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30" name="Shape 1"/>
          <p:cNvSpPr/>
          <p:nvPr/>
        </p:nvSpPr>
        <p:spPr>
          <a:xfrm>
            <a:off x="0" y="0"/>
            <a:ext cx="9143640" cy="71280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31" name="Text 2"/>
          <p:cNvSpPr/>
          <p:nvPr/>
        </p:nvSpPr>
        <p:spPr>
          <a:xfrm>
            <a:off x="182880" y="0"/>
            <a:ext cx="7131960" cy="712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200" spc="-1" strike="noStrike">
                <a:solidFill>
                  <a:srgbClr val="ffffff"/>
                </a:solidFill>
                <a:latin typeface="Calibri"/>
              </a:rPr>
              <a:t>Point Class – Usage &amp; Key Insight</a:t>
            </a:r>
            <a:endParaRPr b="0" lang="en-IN" sz="2200" spc="-1" strike="noStrike">
              <a:latin typeface="Arial"/>
            </a:endParaRPr>
          </a:p>
        </p:txBody>
      </p:sp>
      <p:sp>
        <p:nvSpPr>
          <p:cNvPr id="132" name="Shape 3"/>
          <p:cNvSpPr/>
          <p:nvPr/>
        </p:nvSpPr>
        <p:spPr>
          <a:xfrm>
            <a:off x="7589520" y="109800"/>
            <a:ext cx="1371240" cy="47520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round/>
          </a:ln>
          <a:effectLst>
            <a:outerShdw algn="bl" blurRad="127080" dir="16200000" dist="50760" kx="0" ky="0" rotWithShape="0" sx="100000" sy="10000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33" name="Text 4"/>
          <p:cNvSpPr/>
          <p:nvPr/>
        </p:nvSpPr>
        <p:spPr>
          <a:xfrm>
            <a:off x="7589520" y="109800"/>
            <a:ext cx="137124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0f172a"/>
                </a:solidFill>
                <a:latin typeface="Calibri"/>
              </a:rPr>
              <a:t>Section 01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134" name="Shape 5"/>
          <p:cNvSpPr/>
          <p:nvPr/>
        </p:nvSpPr>
        <p:spPr>
          <a:xfrm>
            <a:off x="182880" y="804600"/>
            <a:ext cx="8777880" cy="1005480"/>
          </a:xfrm>
          <a:prstGeom prst="rect">
            <a:avLst/>
          </a:prstGeom>
          <a:solidFill>
            <a:srgbClr val="0c2a1a"/>
          </a:solidFill>
          <a:ln w="25400">
            <a:solidFill>
              <a:srgbClr val="34d399"/>
            </a:solidFill>
            <a:round/>
          </a:ln>
          <a:effectLst>
            <a:outerShdw algn="bl" blurRad="127080" dir="16200000" dist="50760" kx="0" ky="0" rotWithShape="0" sx="100000" sy="10000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35" name="Shape 6"/>
          <p:cNvSpPr/>
          <p:nvPr/>
        </p:nvSpPr>
        <p:spPr>
          <a:xfrm>
            <a:off x="182880" y="804600"/>
            <a:ext cx="54360" cy="100548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36" name="Text 7"/>
          <p:cNvSpPr/>
          <p:nvPr/>
        </p:nvSpPr>
        <p:spPr>
          <a:xfrm>
            <a:off x="365760" y="841320"/>
            <a:ext cx="1828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000" spc="199" strike="noStrike">
                <a:solidFill>
                  <a:srgbClr val="34d399"/>
                </a:solidFill>
                <a:latin typeface="Calibri"/>
              </a:rPr>
              <a:t>KEY INSIGHT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137" name="Text 8"/>
          <p:cNvSpPr/>
          <p:nvPr/>
        </p:nvSpPr>
        <p:spPr>
          <a:xfrm>
            <a:off x="365760" y="1134000"/>
            <a:ext cx="841212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50" spc="-1" strike="noStrike">
                <a:solidFill>
                  <a:srgbClr val="e2e8f0"/>
                </a:solidFill>
                <a:latin typeface="Calibri"/>
              </a:rPr>
              <a:t>A class can create an object of its OWN type inside itself! origin_distance() creates Coordinate(0,0) internally and reuses calc_distance() — this avoids code duplication and is a smart design pattern.</a:t>
            </a:r>
            <a:endParaRPr b="0" lang="en-IN" sz="1250" spc="-1" strike="noStrike">
              <a:latin typeface="Arial"/>
            </a:endParaRPr>
          </a:p>
        </p:txBody>
      </p:sp>
      <p:sp>
        <p:nvSpPr>
          <p:cNvPr id="138" name="Shape 9"/>
          <p:cNvSpPr/>
          <p:nvPr/>
        </p:nvSpPr>
        <p:spPr>
          <a:xfrm>
            <a:off x="182880" y="1920240"/>
            <a:ext cx="5211720" cy="2880000"/>
          </a:xfrm>
          <a:prstGeom prst="rect">
            <a:avLst/>
          </a:prstGeom>
          <a:solidFill>
            <a:srgbClr val="0d1117"/>
          </a:solidFill>
          <a:ln w="19050">
            <a:solidFill>
              <a:srgbClr val="2d3748"/>
            </a:solidFill>
            <a:round/>
          </a:ln>
          <a:effectLst>
            <a:outerShdw algn="bl" blurRad="127080" dir="16200000" dist="50760" kx="0" ky="0" rotWithShape="0" sx="100000" sy="10000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39" name="Shape 10"/>
          <p:cNvSpPr/>
          <p:nvPr/>
        </p:nvSpPr>
        <p:spPr>
          <a:xfrm>
            <a:off x="182880" y="1920240"/>
            <a:ext cx="5211720" cy="255600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40" name="Shape 11"/>
          <p:cNvSpPr/>
          <p:nvPr/>
        </p:nvSpPr>
        <p:spPr>
          <a:xfrm>
            <a:off x="292680" y="1974960"/>
            <a:ext cx="109440" cy="109440"/>
          </a:xfrm>
          <a:prstGeom prst="ellipse">
            <a:avLst/>
          </a:prstGeom>
          <a:solidFill>
            <a:srgbClr val="f87171"/>
          </a:solidFill>
          <a:ln w="12700">
            <a:solidFill>
              <a:srgbClr val="f87171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41" name="Shape 12"/>
          <p:cNvSpPr/>
          <p:nvPr/>
        </p:nvSpPr>
        <p:spPr>
          <a:xfrm>
            <a:off x="475560" y="1974960"/>
            <a:ext cx="109440" cy="10944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42" name="Shape 13"/>
          <p:cNvSpPr/>
          <p:nvPr/>
        </p:nvSpPr>
        <p:spPr>
          <a:xfrm>
            <a:off x="658440" y="1974960"/>
            <a:ext cx="109440" cy="109440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43" name="Text 14"/>
          <p:cNvSpPr/>
          <p:nvPr/>
        </p:nvSpPr>
        <p:spPr>
          <a:xfrm>
            <a:off x="292680" y="2212920"/>
            <a:ext cx="5028840" cy="2514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r>
              <a:rPr b="0" i="1" lang="en-US" sz="1050" spc="-1" strike="noStrike">
                <a:solidFill>
                  <a:srgbClr val="64748b"/>
                </a:solidFill>
                <a:latin typeface="Courier New"/>
                <a:ea typeface="Courier New"/>
              </a:rPr>
              <a:t># --- Creating objects ---</a:t>
            </a:r>
            <a:endParaRPr b="0" lang="en-IN" sz="1050" spc="-1" strike="noStrike">
              <a:latin typeface="Arial"/>
            </a:endParaRPr>
          </a:p>
          <a:p>
            <a:r>
              <a:rPr b="0" lang="en-US" sz="1050" spc="-1" strike="noStrike">
                <a:solidFill>
                  <a:srgbClr val="e2e8f0"/>
                </a:solidFill>
                <a:latin typeface="Courier New"/>
                <a:ea typeface="Courier New"/>
              </a:rPr>
              <a:t>pt1 = Coordinate(</a:t>
            </a:r>
            <a:r>
              <a:rPr b="0" lang="en-US" sz="1050" spc="-1" strike="noStrike">
                <a:solidFill>
                  <a:srgbClr val="fca5a5"/>
                </a:solidFill>
                <a:latin typeface="Courier New"/>
                <a:ea typeface="Courier New"/>
              </a:rPr>
              <a:t>0</a:t>
            </a:r>
            <a:r>
              <a:rPr b="0" lang="en-US" sz="1050" spc="-1" strike="noStrike">
                <a:solidFill>
                  <a:srgbClr val="e2e8f0"/>
                </a:solidFill>
                <a:latin typeface="Courier New"/>
                <a:ea typeface="Courier New"/>
              </a:rPr>
              <a:t>, </a:t>
            </a:r>
            <a:r>
              <a:rPr b="0" lang="en-US" sz="1050" spc="-1" strike="noStrike">
                <a:solidFill>
                  <a:srgbClr val="fca5a5"/>
                </a:solidFill>
                <a:latin typeface="Courier New"/>
                <a:ea typeface="Courier New"/>
              </a:rPr>
              <a:t>0</a:t>
            </a:r>
            <a:r>
              <a:rPr b="0" lang="en-US" sz="1050" spc="-1" strike="noStrike">
                <a:solidFill>
                  <a:srgbClr val="e2e8f0"/>
                </a:solidFill>
                <a:latin typeface="Courier New"/>
                <a:ea typeface="Courier New"/>
              </a:rPr>
              <a:t>)</a:t>
            </a:r>
            <a:endParaRPr b="0" lang="en-IN" sz="1050" spc="-1" strike="noStrike">
              <a:latin typeface="Arial"/>
            </a:endParaRPr>
          </a:p>
          <a:p>
            <a:r>
              <a:rPr b="0" lang="en-US" sz="1050" spc="-1" strike="noStrike">
                <a:solidFill>
                  <a:srgbClr val="e2e8f0"/>
                </a:solidFill>
                <a:latin typeface="Courier New"/>
                <a:ea typeface="Courier New"/>
              </a:rPr>
              <a:t>pt2 = Coordinate(</a:t>
            </a:r>
            <a:r>
              <a:rPr b="0" lang="en-US" sz="1050" spc="-1" strike="noStrike">
                <a:solidFill>
                  <a:srgbClr val="fca5a5"/>
                </a:solidFill>
                <a:latin typeface="Courier New"/>
                <a:ea typeface="Courier New"/>
              </a:rPr>
              <a:t>-2</a:t>
            </a:r>
            <a:r>
              <a:rPr b="0" lang="en-US" sz="1050" spc="-1" strike="noStrike">
                <a:solidFill>
                  <a:srgbClr val="e2e8f0"/>
                </a:solidFill>
                <a:latin typeface="Courier New"/>
                <a:ea typeface="Courier New"/>
              </a:rPr>
              <a:t>, </a:t>
            </a:r>
            <a:r>
              <a:rPr b="0" lang="en-US" sz="1050" spc="-1" strike="noStrike">
                <a:solidFill>
                  <a:srgbClr val="fca5a5"/>
                </a:solidFill>
                <a:latin typeface="Courier New"/>
                <a:ea typeface="Courier New"/>
              </a:rPr>
              <a:t>-1</a:t>
            </a:r>
            <a:r>
              <a:rPr b="0" lang="en-US" sz="1050" spc="-1" strike="noStrike">
                <a:solidFill>
                  <a:srgbClr val="e2e8f0"/>
                </a:solidFill>
                <a:latin typeface="Courier New"/>
                <a:ea typeface="Courier New"/>
              </a:rPr>
              <a:t>)</a:t>
            </a:r>
            <a:endParaRPr b="0" lang="en-IN" sz="10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0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e2e8f0"/>
                </a:solidFill>
                <a:latin typeface="Courier New"/>
                <a:ea typeface="Courier New"/>
              </a:rPr>
              <a:t>print</a:t>
            </a:r>
            <a:endParaRPr b="0" lang="en-IN" sz="10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64748b"/>
                </a:solidFill>
                <a:latin typeface="Courier New"/>
                <a:ea typeface="Courier New"/>
              </a:rPr>
              <a:t>(pt1)   # Output: (0, 0)</a:t>
            </a:r>
            <a:endParaRPr b="0" lang="en-IN" sz="10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e2e8f0"/>
                </a:solidFill>
                <a:latin typeface="Courier New"/>
                <a:ea typeface="Courier New"/>
              </a:rPr>
              <a:t>print</a:t>
            </a:r>
            <a:r>
              <a:rPr b="0" lang="en-US" sz="1050" spc="-1" strike="noStrike">
                <a:solidFill>
                  <a:srgbClr val="64748b"/>
                </a:solidFill>
                <a:latin typeface="Courier New"/>
                <a:ea typeface="Courier New"/>
              </a:rPr>
              <a:t>(pt2)   # Output: (-2, -1)</a:t>
            </a:r>
            <a:endParaRPr b="0" lang="en-IN" sz="10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0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1050" spc="-1" strike="noStrike">
                <a:solidFill>
                  <a:srgbClr val="64748b"/>
                </a:solidFill>
                <a:latin typeface="Courier New"/>
                <a:ea typeface="Courier New"/>
              </a:rPr>
              <a:t># --- Distance between two points ---</a:t>
            </a:r>
            <a:endParaRPr b="0" lang="en-IN" sz="10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e2e8f0"/>
                </a:solidFill>
                <a:latin typeface="Courier New"/>
                <a:ea typeface="Courier New"/>
              </a:rPr>
              <a:t>print</a:t>
            </a:r>
            <a:r>
              <a:rPr b="0" lang="en-US" sz="1050" spc="-1" strike="noStrike">
                <a:solidFill>
                  <a:srgbClr val="64748b"/>
                </a:solidFill>
                <a:latin typeface="Courier New"/>
                <a:ea typeface="Courier New"/>
              </a:rPr>
              <a:t>(pt1.calc_distance(pt2))  # Output: 2.236</a:t>
            </a:r>
            <a:endParaRPr b="0" lang="en-IN" sz="10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0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1050" spc="-1" strike="noStrike">
                <a:solidFill>
                  <a:srgbClr val="64748b"/>
                </a:solidFill>
                <a:latin typeface="Courier New"/>
                <a:ea typeface="Courier New"/>
              </a:rPr>
              <a:t># --- Distance from origin ---</a:t>
            </a:r>
            <a:endParaRPr b="0" lang="en-IN" sz="10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e2e8f0"/>
                </a:solidFill>
                <a:latin typeface="Courier New"/>
                <a:ea typeface="Courier New"/>
              </a:rPr>
              <a:t>print</a:t>
            </a:r>
            <a:r>
              <a:rPr b="0" lang="en-US" sz="1050" spc="-1" strike="noStrike">
                <a:solidFill>
                  <a:srgbClr val="64748b"/>
                </a:solidFill>
                <a:latin typeface="Courier New"/>
                <a:ea typeface="Courier New"/>
              </a:rPr>
              <a:t>(pt1.origin_distance())  # Output: 0.0</a:t>
            </a:r>
            <a:endParaRPr b="0" lang="en-IN" sz="10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e2e8f0"/>
                </a:solidFill>
                <a:latin typeface="Courier New"/>
                <a:ea typeface="Courier New"/>
              </a:rPr>
              <a:t>print</a:t>
            </a:r>
            <a:r>
              <a:rPr b="0" lang="en-US" sz="1050" spc="-1" strike="noStrike">
                <a:solidFill>
                  <a:srgbClr val="64748b"/>
                </a:solidFill>
                <a:latin typeface="Courier New"/>
                <a:ea typeface="Courier New"/>
              </a:rPr>
              <a:t>(pt2.origin_distance())  # Output: 2.236</a:t>
            </a:r>
            <a:endParaRPr b="0" lang="en-IN" sz="10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050" spc="-1" strike="noStrike">
              <a:latin typeface="Arial"/>
            </a:endParaRPr>
          </a:p>
        </p:txBody>
      </p:sp>
      <p:sp>
        <p:nvSpPr>
          <p:cNvPr id="144" name="Shape 15"/>
          <p:cNvSpPr/>
          <p:nvPr/>
        </p:nvSpPr>
        <p:spPr>
          <a:xfrm>
            <a:off x="5577840" y="1920240"/>
            <a:ext cx="3382920" cy="2880000"/>
          </a:xfrm>
          <a:prstGeom prst="rect">
            <a:avLst/>
          </a:prstGeom>
          <a:solidFill>
            <a:srgbClr val="1e293b"/>
          </a:solidFill>
          <a:ln w="15240">
            <a:solidFill>
              <a:srgbClr val="38bdf8"/>
            </a:solidFill>
            <a:round/>
          </a:ln>
          <a:effectLst>
            <a:outerShdw algn="bl" blurRad="127080" dir="16200000" dist="50760" kx="0" ky="0" rotWithShape="0" sx="100000" sy="10000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45" name="Text 16"/>
          <p:cNvSpPr/>
          <p:nvPr/>
        </p:nvSpPr>
        <p:spPr>
          <a:xfrm>
            <a:off x="5715000" y="2057400"/>
            <a:ext cx="310860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38bdf8"/>
                </a:solidFill>
                <a:latin typeface="Calibri"/>
              </a:rPr>
              <a:t>How It Works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146" name="Text 17"/>
          <p:cNvSpPr/>
          <p:nvPr/>
        </p:nvSpPr>
        <p:spPr>
          <a:xfrm>
            <a:off x="5715000" y="2468880"/>
            <a:ext cx="3200040" cy="2194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marL="343080" indent="-343080">
              <a:lnSpc>
                <a:spcPct val="100000"/>
              </a:lnSpc>
              <a:buClr>
                <a:srgbClr val="e2e8f0"/>
              </a:buClr>
              <a:buFont typeface="Symbol" charset="2"/>
              <a:buChar char=""/>
            </a:pPr>
            <a:r>
              <a:rPr b="0" lang="en-US" sz="1150" spc="-1" strike="noStrike">
                <a:solidFill>
                  <a:srgbClr val="e2e8f0"/>
                </a:solidFill>
                <a:latin typeface="Calibri"/>
              </a:rPr>
              <a:t>pt1, pt2 are Coordinate objects</a:t>
            </a:r>
            <a:endParaRPr b="0" lang="en-IN" sz="1150" spc="-1" strike="noStrike">
              <a:latin typeface="Arial"/>
            </a:endParaRPr>
          </a:p>
          <a:p>
            <a:pPr marL="343080" indent="-343080">
              <a:lnSpc>
                <a:spcPct val="100000"/>
              </a:lnSpc>
              <a:buClr>
                <a:srgbClr val="e2e8f0"/>
              </a:buClr>
              <a:buFont typeface="Symbol" charset="2"/>
              <a:buChar char=""/>
            </a:pPr>
            <a:r>
              <a:rPr b="0" lang="en-US" sz="1150" spc="-1" strike="noStrike">
                <a:solidFill>
                  <a:srgbClr val="e2e8f0"/>
                </a:solidFill>
                <a:latin typeface="Calibri"/>
              </a:rPr>
              <a:t>print(pt1) calls __str__ automatically</a:t>
            </a:r>
            <a:endParaRPr b="0" lang="en-IN" sz="1150" spc="-1" strike="noStrike">
              <a:latin typeface="Arial"/>
            </a:endParaRPr>
          </a:p>
          <a:p>
            <a:pPr marL="343080" indent="-343080">
              <a:lnSpc>
                <a:spcPct val="100000"/>
              </a:lnSpc>
              <a:buClr>
                <a:srgbClr val="e2e8f0"/>
              </a:buClr>
              <a:buFont typeface="Symbol" charset="2"/>
              <a:buChar char=""/>
            </a:pPr>
            <a:r>
              <a:rPr b="0" lang="en-US" sz="1150" spc="-1" strike="noStrike">
                <a:solidFill>
                  <a:srgbClr val="e2e8f0"/>
                </a:solidFill>
                <a:latin typeface="Calibri"/>
              </a:rPr>
              <a:t>calc_distance() takes another Coordinate object as input</a:t>
            </a:r>
            <a:endParaRPr b="0" lang="en-IN" sz="1150" spc="-1" strike="noStrike">
              <a:latin typeface="Arial"/>
            </a:endParaRPr>
          </a:p>
          <a:p>
            <a:pPr marL="343080" indent="-343080">
              <a:lnSpc>
                <a:spcPct val="100000"/>
              </a:lnSpc>
              <a:buClr>
                <a:srgbClr val="e2e8f0"/>
              </a:buClr>
              <a:buFont typeface="Symbol" charset="2"/>
              <a:buChar char=""/>
            </a:pPr>
            <a:r>
              <a:rPr b="0" lang="en-US" sz="1150" spc="-1" strike="noStrike">
                <a:solidFill>
                  <a:srgbClr val="e2e8f0"/>
                </a:solidFill>
                <a:latin typeface="Calibri"/>
              </a:rPr>
              <a:t>origin_distance() creates Coordinate(0,0) internally — no need to pass it</a:t>
            </a:r>
            <a:endParaRPr b="0" lang="en-IN" sz="1150" spc="-1" strike="noStrike">
              <a:latin typeface="Arial"/>
            </a:endParaRPr>
          </a:p>
          <a:p>
            <a:pPr marL="343080" indent="-343080">
              <a:lnSpc>
                <a:spcPct val="100000"/>
              </a:lnSpc>
              <a:buClr>
                <a:srgbClr val="e2e8f0"/>
              </a:buClr>
              <a:buFont typeface="Symbol" charset="2"/>
              <a:buChar char=""/>
            </a:pPr>
            <a:r>
              <a:rPr b="0" lang="en-US" sz="1150" spc="-1" strike="noStrike">
                <a:solidFill>
                  <a:srgbClr val="e2e8f0"/>
                </a:solidFill>
                <a:latin typeface="Calibri"/>
              </a:rPr>
              <a:t>Variables renamed: x_pos, y_pos instead of x_coordinate, y_coordinate</a:t>
            </a:r>
            <a:endParaRPr b="0" lang="en-IN" sz="115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Shape 0"/>
          <p:cNvSpPr/>
          <p:nvPr/>
        </p:nvSpPr>
        <p:spPr>
          <a:xfrm>
            <a:off x="0" y="0"/>
            <a:ext cx="63720" cy="514332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48" name="Shape 1"/>
          <p:cNvSpPr/>
          <p:nvPr/>
        </p:nvSpPr>
        <p:spPr>
          <a:xfrm>
            <a:off x="0" y="0"/>
            <a:ext cx="9143640" cy="71280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49" name="Text 2"/>
          <p:cNvSpPr/>
          <p:nvPr/>
        </p:nvSpPr>
        <p:spPr>
          <a:xfrm>
            <a:off x="182880" y="0"/>
            <a:ext cx="7131960" cy="712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200" spc="-1" strike="noStrike">
                <a:solidFill>
                  <a:srgbClr val="ffffff"/>
                </a:solidFill>
                <a:latin typeface="Calibri"/>
              </a:rPr>
              <a:t>Line Class – Two Classes Interacting</a:t>
            </a:r>
            <a:endParaRPr b="0" lang="en-IN" sz="2200" spc="-1" strike="noStrike">
              <a:latin typeface="Arial"/>
            </a:endParaRPr>
          </a:p>
        </p:txBody>
      </p:sp>
      <p:sp>
        <p:nvSpPr>
          <p:cNvPr id="150" name="Shape 3"/>
          <p:cNvSpPr/>
          <p:nvPr/>
        </p:nvSpPr>
        <p:spPr>
          <a:xfrm>
            <a:off x="7589520" y="109800"/>
            <a:ext cx="1371240" cy="47520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round/>
          </a:ln>
          <a:effectLst>
            <a:outerShdw algn="bl" blurRad="127080" dir="16200000" dist="50760" kx="0" ky="0" rotWithShape="0" sx="100000" sy="10000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51" name="Text 4"/>
          <p:cNvSpPr/>
          <p:nvPr/>
        </p:nvSpPr>
        <p:spPr>
          <a:xfrm>
            <a:off x="7589520" y="109800"/>
            <a:ext cx="137124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0f172a"/>
                </a:solidFill>
                <a:latin typeface="Calibri"/>
              </a:rPr>
              <a:t>Section 01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152" name="Shape 5"/>
          <p:cNvSpPr/>
          <p:nvPr/>
        </p:nvSpPr>
        <p:spPr>
          <a:xfrm>
            <a:off x="182880" y="804600"/>
            <a:ext cx="2559960" cy="1462680"/>
          </a:xfrm>
          <a:prstGeom prst="rect">
            <a:avLst/>
          </a:prstGeom>
          <a:solidFill>
            <a:srgbClr val="1e293b"/>
          </a:solidFill>
          <a:ln w="15240">
            <a:solidFill>
              <a:srgbClr val="38bdf8"/>
            </a:solidFill>
            <a:round/>
          </a:ln>
          <a:effectLst>
            <a:outerShdw algn="bl" blurRad="127080" dir="16200000" dist="50760" kx="0" ky="0" rotWithShape="0" sx="100000" sy="10000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53" name="Text 6"/>
          <p:cNvSpPr/>
          <p:nvPr/>
        </p:nvSpPr>
        <p:spPr>
          <a:xfrm>
            <a:off x="320040" y="896040"/>
            <a:ext cx="22856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000" spc="199" strike="noStrike">
                <a:solidFill>
                  <a:srgbClr val="f59e0b"/>
                </a:solidFill>
                <a:latin typeface="Calibri"/>
              </a:rPr>
              <a:t>LINE REPRESENTATION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154" name="Text 7"/>
          <p:cNvSpPr/>
          <p:nvPr/>
        </p:nvSpPr>
        <p:spPr>
          <a:xfrm>
            <a:off x="320040" y="1207080"/>
            <a:ext cx="22856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200" spc="-1" strike="noStrike">
                <a:solidFill>
                  <a:srgbClr val="ffffff"/>
                </a:solidFill>
                <a:latin typeface="Calibri"/>
              </a:rPr>
              <a:t>ax + by + c = 0</a:t>
            </a:r>
            <a:endParaRPr b="0" lang="en-IN" sz="2200" spc="-1" strike="noStrike">
              <a:latin typeface="Arial"/>
            </a:endParaRPr>
          </a:p>
        </p:txBody>
      </p:sp>
      <p:sp>
        <p:nvSpPr>
          <p:cNvPr id="155" name="Text 8"/>
          <p:cNvSpPr/>
          <p:nvPr/>
        </p:nvSpPr>
        <p:spPr>
          <a:xfrm>
            <a:off x="320040" y="1719000"/>
            <a:ext cx="228564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94a3b8"/>
                </a:solidFill>
                <a:latin typeface="Calibri"/>
              </a:rPr>
              <a:t>e.g. a=1, b=1, c=-2 → x + y - 2 = 0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156" name="Shape 9"/>
          <p:cNvSpPr/>
          <p:nvPr/>
        </p:nvSpPr>
        <p:spPr>
          <a:xfrm>
            <a:off x="182880" y="2359080"/>
            <a:ext cx="5037120" cy="4840920"/>
          </a:xfrm>
          <a:prstGeom prst="rect">
            <a:avLst/>
          </a:prstGeom>
          <a:solidFill>
            <a:srgbClr val="0d1117"/>
          </a:solidFill>
          <a:ln w="19050">
            <a:solidFill>
              <a:srgbClr val="2d3748"/>
            </a:solidFill>
            <a:round/>
          </a:ln>
          <a:effectLst>
            <a:outerShdw algn="bl" blurRad="127080" dir="16200000" dist="50760" kx="0" ky="0" rotWithShape="0" sx="100000" sy="10000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57" name="Shape 10"/>
          <p:cNvSpPr/>
          <p:nvPr/>
        </p:nvSpPr>
        <p:spPr>
          <a:xfrm>
            <a:off x="182880" y="2359080"/>
            <a:ext cx="5303160" cy="255600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58" name="Shape 11"/>
          <p:cNvSpPr/>
          <p:nvPr/>
        </p:nvSpPr>
        <p:spPr>
          <a:xfrm>
            <a:off x="292680" y="2414160"/>
            <a:ext cx="109440" cy="109440"/>
          </a:xfrm>
          <a:prstGeom prst="ellipse">
            <a:avLst/>
          </a:prstGeom>
          <a:solidFill>
            <a:srgbClr val="f87171"/>
          </a:solidFill>
          <a:ln w="12700">
            <a:solidFill>
              <a:srgbClr val="f87171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59" name="Shape 12"/>
          <p:cNvSpPr/>
          <p:nvPr/>
        </p:nvSpPr>
        <p:spPr>
          <a:xfrm>
            <a:off x="475560" y="2414160"/>
            <a:ext cx="109440" cy="10944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60" name="Shape 13"/>
          <p:cNvSpPr/>
          <p:nvPr/>
        </p:nvSpPr>
        <p:spPr>
          <a:xfrm>
            <a:off x="658440" y="2414160"/>
            <a:ext cx="109440" cy="109440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61" name="Text 14"/>
          <p:cNvSpPr/>
          <p:nvPr/>
        </p:nvSpPr>
        <p:spPr>
          <a:xfrm>
            <a:off x="182880" y="2377440"/>
            <a:ext cx="525744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800" spc="-1" strike="noStrike">
                <a:solidFill>
                  <a:srgbClr val="64748b"/>
                </a:solidFill>
                <a:latin typeface="Calibri"/>
              </a:rPr>
              <a:t>linear_eq.py</a:t>
            </a:r>
            <a:endParaRPr b="0" lang="en-IN" sz="800" spc="-1" strike="noStrike">
              <a:latin typeface="Arial"/>
            </a:endParaRPr>
          </a:p>
        </p:txBody>
      </p:sp>
      <p:sp>
        <p:nvSpPr>
          <p:cNvPr id="162" name="Text 15"/>
          <p:cNvSpPr/>
          <p:nvPr/>
        </p:nvSpPr>
        <p:spPr>
          <a:xfrm>
            <a:off x="292680" y="2651760"/>
            <a:ext cx="5120280" cy="214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r>
              <a:rPr b="1" lang="en-US" sz="950" spc="-1" strike="noStrike">
                <a:solidFill>
                  <a:srgbClr val="38bdf8"/>
                </a:solidFill>
                <a:latin typeface="Courier New"/>
                <a:ea typeface="Courier New"/>
              </a:rPr>
              <a:t>class</a:t>
            </a:r>
            <a:r>
              <a:rPr b="0" lang="en-US" sz="950" spc="-1" strike="noStrike">
                <a:solidFill>
                  <a:srgbClr val="34d399"/>
                </a:solidFill>
                <a:latin typeface="Courier New"/>
                <a:ea typeface="Courier New"/>
              </a:rPr>
              <a:t> LinearEq:</a:t>
            </a:r>
            <a:endParaRPr b="0" lang="en-IN" sz="950" spc="-1" strike="noStrike">
              <a:latin typeface="Arial"/>
            </a:endParaRPr>
          </a:p>
          <a:p>
            <a:r>
              <a:rPr b="1" lang="en-US" sz="950" spc="-1" strike="noStrike">
                <a:solidFill>
                  <a:srgbClr val="38bdf8"/>
                </a:solidFill>
                <a:latin typeface="Courier New"/>
                <a:ea typeface="Courier New"/>
              </a:rPr>
              <a:t>    </a:t>
            </a:r>
            <a:r>
              <a:rPr b="1" lang="en-US" sz="950" spc="-1" strike="noStrike">
                <a:solidFill>
                  <a:srgbClr val="38bdf8"/>
                </a:solidFill>
                <a:latin typeface="Courier New"/>
                <a:ea typeface="Courier New"/>
              </a:rPr>
              <a:t>def</a:t>
            </a:r>
            <a:r>
              <a:rPr b="0" lang="en-US" sz="950" spc="-1" strike="noStrike">
                <a:solidFill>
                  <a:srgbClr val="e2e8f0"/>
                </a:solidFill>
                <a:latin typeface="Courier New"/>
                <a:ea typeface="Courier New"/>
              </a:rPr>
              <a:t> __init__(</a:t>
            </a:r>
            <a:r>
              <a:rPr b="0" lang="en-US" sz="950" spc="-1" strike="noStrike">
                <a:solidFill>
                  <a:srgbClr val="f59e0b"/>
                </a:solidFill>
                <a:latin typeface="Courier New"/>
                <a:ea typeface="Courier New"/>
              </a:rPr>
              <a:t>self</a:t>
            </a:r>
            <a:r>
              <a:rPr b="0" lang="en-US" sz="950" spc="-1" strike="noStrike">
                <a:solidFill>
                  <a:srgbClr val="e2e8f0"/>
                </a:solidFill>
                <a:latin typeface="Courier New"/>
                <a:ea typeface="Courier New"/>
              </a:rPr>
              <a:t>, coef_a, coef_b, coef_c):</a:t>
            </a:r>
            <a:endParaRPr b="0" lang="en-IN" sz="950" spc="-1" strike="noStrike">
              <a:latin typeface="Arial"/>
            </a:endParaRPr>
          </a:p>
          <a:p>
            <a:r>
              <a:rPr b="0" lang="en-US" sz="950" spc="-1" strike="noStrike">
                <a:solidFill>
                  <a:srgbClr val="f59e0b"/>
                </a:solidFill>
                <a:latin typeface="Courier New"/>
                <a:ea typeface="Courier New"/>
              </a:rPr>
              <a:t>        </a:t>
            </a:r>
            <a:r>
              <a:rPr b="0" lang="en-US" sz="950" spc="-1" strike="noStrike">
                <a:solidFill>
                  <a:srgbClr val="f59e0b"/>
                </a:solidFill>
                <a:latin typeface="Courier New"/>
                <a:ea typeface="Courier New"/>
              </a:rPr>
              <a:t>self</a:t>
            </a:r>
            <a:r>
              <a:rPr b="0" lang="en-US" sz="950" spc="-1" strike="noStrike">
                <a:solidFill>
                  <a:srgbClr val="e2e8f0"/>
                </a:solidFill>
                <a:latin typeface="Courier New"/>
                <a:ea typeface="Courier New"/>
              </a:rPr>
              <a:t>.coef_a = coef_a</a:t>
            </a:r>
            <a:endParaRPr b="0" lang="en-IN" sz="950" spc="-1" strike="noStrike">
              <a:latin typeface="Arial"/>
            </a:endParaRPr>
          </a:p>
          <a:p>
            <a:r>
              <a:rPr b="0" lang="en-US" sz="950" spc="-1" strike="noStrike">
                <a:solidFill>
                  <a:srgbClr val="f59e0b"/>
                </a:solidFill>
                <a:latin typeface="Courier New"/>
                <a:ea typeface="Courier New"/>
              </a:rPr>
              <a:t>        </a:t>
            </a:r>
            <a:r>
              <a:rPr b="0" lang="en-US" sz="950" spc="-1" strike="noStrike">
                <a:solidFill>
                  <a:srgbClr val="f59e0b"/>
                </a:solidFill>
                <a:latin typeface="Courier New"/>
                <a:ea typeface="Courier New"/>
              </a:rPr>
              <a:t>self</a:t>
            </a:r>
            <a:r>
              <a:rPr b="0" lang="en-US" sz="950" spc="-1" strike="noStrike">
                <a:solidFill>
                  <a:srgbClr val="e2e8f0"/>
                </a:solidFill>
                <a:latin typeface="Courier New"/>
                <a:ea typeface="Courier New"/>
              </a:rPr>
              <a:t>.coef_b = coef_b</a:t>
            </a:r>
            <a:endParaRPr b="0" lang="en-IN" sz="950" spc="-1" strike="noStrike">
              <a:latin typeface="Arial"/>
            </a:endParaRPr>
          </a:p>
          <a:p>
            <a:r>
              <a:rPr b="0" lang="en-US" sz="950" spc="-1" strike="noStrike">
                <a:solidFill>
                  <a:srgbClr val="f59e0b"/>
                </a:solidFill>
                <a:latin typeface="Courier New"/>
                <a:ea typeface="Courier New"/>
              </a:rPr>
              <a:t>        </a:t>
            </a:r>
            <a:r>
              <a:rPr b="0" lang="en-US" sz="950" spc="-1" strike="noStrike">
                <a:solidFill>
                  <a:srgbClr val="f59e0b"/>
                </a:solidFill>
                <a:latin typeface="Courier New"/>
                <a:ea typeface="Courier New"/>
              </a:rPr>
              <a:t>self</a:t>
            </a:r>
            <a:r>
              <a:rPr b="0" lang="en-US" sz="950" spc="-1" strike="noStrike">
                <a:solidFill>
                  <a:srgbClr val="e2e8f0"/>
                </a:solidFill>
                <a:latin typeface="Courier New"/>
                <a:ea typeface="Courier New"/>
              </a:rPr>
              <a:t>.coef_c = coef_c</a:t>
            </a:r>
            <a:endParaRPr b="0" lang="en-IN" sz="950" spc="-1" strike="noStrike">
              <a:latin typeface="Arial"/>
            </a:endParaRPr>
          </a:p>
          <a:p>
            <a:endParaRPr b="0" lang="en-IN" sz="950" spc="-1" strike="noStrike">
              <a:latin typeface="Arial"/>
            </a:endParaRPr>
          </a:p>
          <a:p>
            <a:r>
              <a:rPr b="1" lang="en-US" sz="950" spc="-1" strike="noStrike">
                <a:solidFill>
                  <a:srgbClr val="38bdf8"/>
                </a:solidFill>
                <a:latin typeface="Courier New"/>
                <a:ea typeface="Courier New"/>
              </a:rPr>
              <a:t>    </a:t>
            </a:r>
            <a:r>
              <a:rPr b="1" lang="en-US" sz="950" spc="-1" strike="noStrike">
                <a:solidFill>
                  <a:srgbClr val="38bdf8"/>
                </a:solidFill>
                <a:latin typeface="Courier New"/>
                <a:ea typeface="Courier New"/>
              </a:rPr>
              <a:t>def</a:t>
            </a:r>
            <a:r>
              <a:rPr b="0" lang="en-US" sz="950" spc="-1" strike="noStrike">
                <a:solidFill>
                  <a:srgbClr val="e2e8f0"/>
                </a:solidFill>
                <a:latin typeface="Courier New"/>
                <a:ea typeface="Courier New"/>
              </a:rPr>
              <a:t> point_on_line(</a:t>
            </a:r>
            <a:r>
              <a:rPr b="0" lang="en-US" sz="950" spc="-1" strike="noStrike">
                <a:solidFill>
                  <a:srgbClr val="f59e0b"/>
                </a:solidFill>
                <a:latin typeface="Courier New"/>
                <a:ea typeface="Courier New"/>
              </a:rPr>
              <a:t>self</a:t>
            </a:r>
            <a:r>
              <a:rPr b="0" lang="en-US" sz="950" spc="-1" strike="noStrike">
                <a:solidFill>
                  <a:srgbClr val="e2e8f0"/>
                </a:solidFill>
                <a:latin typeface="Courier New"/>
                <a:ea typeface="Courier New"/>
              </a:rPr>
              <a:t>, coord):</a:t>
            </a:r>
            <a:endParaRPr b="0" lang="en-IN" sz="950" spc="-1" strike="noStrike">
              <a:latin typeface="Arial"/>
            </a:endParaRPr>
          </a:p>
          <a:p>
            <a:r>
              <a:rPr b="0" i="1" lang="en-US" sz="950" spc="-1" strike="noStrike">
                <a:solidFill>
                  <a:srgbClr val="64748b"/>
                </a:solidFill>
                <a:latin typeface="Courier New"/>
                <a:ea typeface="Courier New"/>
              </a:rPr>
              <a:t>        </a:t>
            </a:r>
            <a:r>
              <a:rPr b="0" i="1" lang="en-US" sz="950" spc="-1" strike="noStrike">
                <a:solidFill>
                  <a:srgbClr val="64748b"/>
                </a:solidFill>
                <a:latin typeface="Courier New"/>
                <a:ea typeface="Courier New"/>
              </a:rPr>
              <a:t># coord is a Coordinate object</a:t>
            </a:r>
            <a:endParaRPr b="0" lang="en-IN" sz="9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50" spc="-1" strike="noStrike">
                <a:solidFill>
                  <a:srgbClr val="e2e8f0"/>
                </a:solidFill>
                <a:latin typeface="Courier New"/>
                <a:ea typeface="Courier New"/>
              </a:rPr>
              <a:t>        </a:t>
            </a:r>
            <a:r>
              <a:rPr b="0" lang="en-US" sz="950" spc="-1" strike="noStrike">
                <a:solidFill>
                  <a:srgbClr val="e2e8f0"/>
                </a:solidFill>
                <a:latin typeface="Courier New"/>
                <a:ea typeface="Courier New"/>
              </a:rPr>
              <a:t>result = (</a:t>
            </a:r>
            <a:endParaRPr b="0" lang="en-IN" sz="9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50" spc="-1" strike="noStrike">
                <a:solidFill>
                  <a:srgbClr val="e2e8f0"/>
                </a:solidFill>
                <a:latin typeface="Courier New"/>
                <a:ea typeface="Courier New"/>
              </a:rPr>
              <a:t>            </a:t>
            </a:r>
            <a:r>
              <a:rPr b="0" lang="en-US" sz="950" spc="-1" strike="noStrike">
                <a:solidFill>
                  <a:srgbClr val="e2e8f0"/>
                </a:solidFill>
                <a:latin typeface="Courier New"/>
                <a:ea typeface="Courier New"/>
              </a:rPr>
              <a:t>self</a:t>
            </a:r>
            <a:endParaRPr b="0" lang="en-IN" sz="9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50" spc="-1" strike="noStrike">
                <a:solidFill>
                  <a:srgbClr val="e2e8f0"/>
                </a:solidFill>
                <a:latin typeface="Courier New"/>
                <a:ea typeface="Courier New"/>
              </a:rPr>
              <a:t>.coef_a * coord.x_pos +</a:t>
            </a:r>
            <a:endParaRPr b="0" lang="en-IN" sz="9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50" spc="-1" strike="noStrike">
                <a:solidFill>
                  <a:srgbClr val="e2e8f0"/>
                </a:solidFill>
                <a:latin typeface="Courier New"/>
                <a:ea typeface="Courier New"/>
              </a:rPr>
              <a:t>            </a:t>
            </a:r>
            <a:r>
              <a:rPr b="0" lang="en-US" sz="950" spc="-1" strike="noStrike">
                <a:solidFill>
                  <a:srgbClr val="e2e8f0"/>
                </a:solidFill>
                <a:latin typeface="Courier New"/>
                <a:ea typeface="Courier New"/>
              </a:rPr>
              <a:t>self</a:t>
            </a:r>
            <a:endParaRPr b="0" lang="en-IN" sz="9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50" spc="-1" strike="noStrike">
                <a:solidFill>
                  <a:srgbClr val="e2e8f0"/>
                </a:solidFill>
                <a:latin typeface="Courier New"/>
                <a:ea typeface="Courier New"/>
              </a:rPr>
              <a:t>.coef_b * coord.y_pos +</a:t>
            </a:r>
            <a:endParaRPr b="0" lang="en-IN" sz="9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50" spc="-1" strike="noStrike">
                <a:solidFill>
                  <a:srgbClr val="e2e8f0"/>
                </a:solidFill>
                <a:latin typeface="Courier New"/>
                <a:ea typeface="Courier New"/>
              </a:rPr>
              <a:t>            </a:t>
            </a:r>
            <a:r>
              <a:rPr b="0" lang="en-US" sz="950" spc="-1" strike="noStrike">
                <a:solidFill>
                  <a:srgbClr val="e2e8f0"/>
                </a:solidFill>
                <a:latin typeface="Courier New"/>
                <a:ea typeface="Courier New"/>
              </a:rPr>
              <a:t>self</a:t>
            </a:r>
            <a:endParaRPr b="0" lang="en-IN" sz="9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50" spc="-1" strike="noStrike">
                <a:solidFill>
                  <a:srgbClr val="e2e8f0"/>
                </a:solidFill>
                <a:latin typeface="Courier New"/>
                <a:ea typeface="Courier New"/>
              </a:rPr>
              <a:t>.coef_c</a:t>
            </a:r>
            <a:endParaRPr b="0" lang="en-IN" sz="9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50" spc="-1" strike="noStrike">
                <a:solidFill>
                  <a:srgbClr val="e2e8f0"/>
                </a:solidFill>
                <a:latin typeface="Courier New"/>
                <a:ea typeface="Courier New"/>
              </a:rPr>
              <a:t>        </a:t>
            </a:r>
            <a:r>
              <a:rPr b="0" lang="en-US" sz="950" spc="-1" strike="noStrike">
                <a:solidFill>
                  <a:srgbClr val="e2e8f0"/>
                </a:solidFill>
                <a:latin typeface="Courier New"/>
                <a:ea typeface="Courier New"/>
              </a:rPr>
              <a:t>)</a:t>
            </a:r>
            <a:endParaRPr b="0" lang="en-IN" sz="9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950" spc="-1" strike="noStrike">
                <a:solidFill>
                  <a:srgbClr val="38bdf8"/>
                </a:solidFill>
                <a:latin typeface="Courier New"/>
                <a:ea typeface="Courier New"/>
              </a:rPr>
              <a:t>        </a:t>
            </a:r>
            <a:r>
              <a:rPr b="1" lang="en-US" sz="950" spc="-1" strike="noStrike">
                <a:solidFill>
                  <a:srgbClr val="38bdf8"/>
                </a:solidFill>
                <a:latin typeface="Courier New"/>
                <a:ea typeface="Courier New"/>
              </a:rPr>
              <a:t>return</a:t>
            </a:r>
            <a:r>
              <a:rPr b="0" lang="en-US" sz="950" spc="-1" strike="noStrike">
                <a:solidFill>
                  <a:srgbClr val="e2e8f0"/>
                </a:solidFill>
                <a:latin typeface="Courier New"/>
                <a:ea typeface="Courier New"/>
              </a:rPr>
              <a:t> result == </a:t>
            </a:r>
            <a:r>
              <a:rPr b="0" lang="en-US" sz="950" spc="-1" strike="noStrike">
                <a:solidFill>
                  <a:srgbClr val="fca5a5"/>
                </a:solidFill>
                <a:latin typeface="Courier New"/>
                <a:ea typeface="Courier New"/>
              </a:rPr>
              <a:t>0</a:t>
            </a:r>
            <a:endParaRPr b="0" lang="en-IN" sz="9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9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950" spc="-1" strike="noStrike">
                <a:solidFill>
                  <a:srgbClr val="38bdf8"/>
                </a:solidFill>
                <a:latin typeface="Courier New"/>
                <a:ea typeface="Courier New"/>
              </a:rPr>
              <a:t>    </a:t>
            </a:r>
            <a:r>
              <a:rPr b="1" lang="en-US" sz="950" spc="-1" strike="noStrike">
                <a:solidFill>
                  <a:srgbClr val="38bdf8"/>
                </a:solidFill>
                <a:latin typeface="Courier New"/>
                <a:ea typeface="Courier New"/>
              </a:rPr>
              <a:t>def</a:t>
            </a:r>
            <a:r>
              <a:rPr b="0" lang="en-US" sz="950" spc="-1" strike="noStrike">
                <a:solidFill>
                  <a:srgbClr val="e2e8f0"/>
                </a:solidFill>
                <a:latin typeface="Courier New"/>
                <a:ea typeface="Courier New"/>
              </a:rPr>
              <a:t> perpendicular_distance(</a:t>
            </a:r>
            <a:r>
              <a:rPr b="0" lang="en-US" sz="950" spc="-1" strike="noStrike">
                <a:solidFill>
                  <a:srgbClr val="f59e0b"/>
                </a:solidFill>
                <a:latin typeface="Courier New"/>
                <a:ea typeface="Courier New"/>
              </a:rPr>
              <a:t>self</a:t>
            </a:r>
            <a:r>
              <a:rPr b="0" lang="en-US" sz="950" spc="-1" strike="noStrike">
                <a:solidFill>
                  <a:srgbClr val="e2e8f0"/>
                </a:solidFill>
                <a:latin typeface="Courier New"/>
                <a:ea typeface="Courier New"/>
              </a:rPr>
              <a:t>, coord):</a:t>
            </a:r>
            <a:endParaRPr b="0" lang="en-IN" sz="9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950" spc="-1" strike="noStrike">
                <a:solidFill>
                  <a:srgbClr val="64748b"/>
                </a:solidFill>
                <a:latin typeface="Courier New"/>
                <a:ea typeface="Courier New"/>
              </a:rPr>
              <a:t>        </a:t>
            </a:r>
            <a:r>
              <a:rPr b="0" i="1" lang="en-US" sz="950" spc="-1" strike="noStrike">
                <a:solidFill>
                  <a:srgbClr val="64748b"/>
                </a:solidFill>
                <a:latin typeface="Courier New"/>
                <a:ea typeface="Courier New"/>
              </a:rPr>
              <a:t># |ax1 + by1 + c| / sqrt(a^2 + b^2)</a:t>
            </a:r>
            <a:endParaRPr b="0" lang="en-IN" sz="9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50" spc="-1" strike="noStrike">
                <a:solidFill>
                  <a:srgbClr val="e2e8f0"/>
                </a:solidFill>
                <a:latin typeface="Courier New"/>
                <a:ea typeface="Courier New"/>
              </a:rPr>
              <a:t>        </a:t>
            </a:r>
            <a:r>
              <a:rPr b="0" lang="en-US" sz="950" spc="-1" strike="noStrike">
                <a:solidFill>
                  <a:srgbClr val="e2e8f0"/>
                </a:solidFill>
                <a:latin typeface="Courier New"/>
                <a:ea typeface="Courier New"/>
              </a:rPr>
              <a:t>top = abs(</a:t>
            </a:r>
            <a:endParaRPr b="0" lang="en-IN" sz="9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50" spc="-1" strike="noStrike">
                <a:solidFill>
                  <a:srgbClr val="e2e8f0"/>
                </a:solidFill>
                <a:latin typeface="Courier New"/>
                <a:ea typeface="Courier New"/>
              </a:rPr>
              <a:t>            </a:t>
            </a:r>
            <a:r>
              <a:rPr b="0" lang="en-US" sz="950" spc="-1" strike="noStrike">
                <a:solidFill>
                  <a:srgbClr val="e2e8f0"/>
                </a:solidFill>
                <a:latin typeface="Courier New"/>
                <a:ea typeface="Courier New"/>
              </a:rPr>
              <a:t>self</a:t>
            </a:r>
            <a:endParaRPr b="0" lang="en-IN" sz="9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50" spc="-1" strike="noStrike">
                <a:solidFill>
                  <a:srgbClr val="e2e8f0"/>
                </a:solidFill>
                <a:latin typeface="Courier New"/>
                <a:ea typeface="Courier New"/>
              </a:rPr>
              <a:t>.coef_a * coord.x_pos +</a:t>
            </a:r>
            <a:endParaRPr b="0" lang="en-IN" sz="9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50" spc="-1" strike="noStrike">
                <a:solidFill>
                  <a:srgbClr val="e2e8f0"/>
                </a:solidFill>
                <a:latin typeface="Courier New"/>
                <a:ea typeface="Courier New"/>
              </a:rPr>
              <a:t>            </a:t>
            </a:r>
            <a:r>
              <a:rPr b="0" lang="en-US" sz="950" spc="-1" strike="noStrike">
                <a:solidFill>
                  <a:srgbClr val="e2e8f0"/>
                </a:solidFill>
                <a:latin typeface="Courier New"/>
                <a:ea typeface="Courier New"/>
              </a:rPr>
              <a:t>self</a:t>
            </a:r>
            <a:endParaRPr b="0" lang="en-IN" sz="9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50" spc="-1" strike="noStrike">
                <a:solidFill>
                  <a:srgbClr val="e2e8f0"/>
                </a:solidFill>
                <a:latin typeface="Courier New"/>
                <a:ea typeface="Courier New"/>
              </a:rPr>
              <a:t>.coef_b * coord.y_pos +</a:t>
            </a:r>
            <a:endParaRPr b="0" lang="en-IN" sz="9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50" spc="-1" strike="noStrike">
                <a:solidFill>
                  <a:srgbClr val="e2e8f0"/>
                </a:solidFill>
                <a:latin typeface="Courier New"/>
                <a:ea typeface="Courier New"/>
              </a:rPr>
              <a:t>            </a:t>
            </a:r>
            <a:r>
              <a:rPr b="0" lang="en-US" sz="950" spc="-1" strike="noStrike">
                <a:solidFill>
                  <a:srgbClr val="e2e8f0"/>
                </a:solidFill>
                <a:latin typeface="Courier New"/>
                <a:ea typeface="Courier New"/>
              </a:rPr>
              <a:t>self</a:t>
            </a:r>
            <a:endParaRPr b="0" lang="en-IN" sz="9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50" spc="-1" strike="noStrike">
                <a:solidFill>
                  <a:srgbClr val="e2e8f0"/>
                </a:solidFill>
                <a:latin typeface="Courier New"/>
                <a:ea typeface="Courier New"/>
              </a:rPr>
              <a:t>.coef_c)</a:t>
            </a:r>
            <a:endParaRPr b="0" lang="en-IN" sz="9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50" spc="-1" strike="noStrike">
                <a:solidFill>
                  <a:srgbClr val="e2e8f0"/>
                </a:solidFill>
                <a:latin typeface="Courier New"/>
                <a:ea typeface="Courier New"/>
              </a:rPr>
              <a:t>        </a:t>
            </a:r>
            <a:r>
              <a:rPr b="0" lang="en-US" sz="950" spc="-1" strike="noStrike">
                <a:solidFill>
                  <a:srgbClr val="e2e8f0"/>
                </a:solidFill>
                <a:latin typeface="Courier New"/>
                <a:ea typeface="Courier New"/>
              </a:rPr>
              <a:t>bot = (self.coef_a**</a:t>
            </a:r>
            <a:r>
              <a:rPr b="0" lang="en-US" sz="950" spc="-1" strike="noStrike">
                <a:solidFill>
                  <a:srgbClr val="fca5a5"/>
                </a:solidFill>
                <a:latin typeface="Courier New"/>
                <a:ea typeface="Courier New"/>
              </a:rPr>
              <a:t>2</a:t>
            </a:r>
            <a:r>
              <a:rPr b="0" lang="en-US" sz="950" spc="-1" strike="noStrike">
                <a:solidFill>
                  <a:srgbClr val="e2e8f0"/>
                </a:solidFill>
                <a:latin typeface="Courier New"/>
                <a:ea typeface="Courier New"/>
              </a:rPr>
              <a:t> + self.coef_b**</a:t>
            </a:r>
            <a:r>
              <a:rPr b="0" lang="en-US" sz="950" spc="-1" strike="noStrike">
                <a:solidFill>
                  <a:srgbClr val="fca5a5"/>
                </a:solidFill>
                <a:latin typeface="Courier New"/>
                <a:ea typeface="Courier New"/>
              </a:rPr>
              <a:t>2</a:t>
            </a:r>
            <a:r>
              <a:rPr b="0" lang="en-US" sz="950" spc="-1" strike="noStrike">
                <a:solidFill>
                  <a:srgbClr val="e2e8f0"/>
                </a:solidFill>
                <a:latin typeface="Courier New"/>
                <a:ea typeface="Courier New"/>
              </a:rPr>
              <a:t>)**</a:t>
            </a:r>
            <a:r>
              <a:rPr b="0" lang="en-US" sz="950" spc="-1" strike="noStrike">
                <a:solidFill>
                  <a:srgbClr val="fca5a5"/>
                </a:solidFill>
                <a:latin typeface="Courier New"/>
                <a:ea typeface="Courier New"/>
              </a:rPr>
              <a:t>0.5</a:t>
            </a:r>
            <a:endParaRPr b="0" lang="en-IN" sz="9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950" spc="-1" strike="noStrike">
                <a:solidFill>
                  <a:srgbClr val="38bdf8"/>
                </a:solidFill>
                <a:latin typeface="Courier New"/>
                <a:ea typeface="Courier New"/>
              </a:rPr>
              <a:t>        </a:t>
            </a:r>
            <a:r>
              <a:rPr b="1" lang="en-US" sz="950" spc="-1" strike="noStrike">
                <a:solidFill>
                  <a:srgbClr val="38bdf8"/>
                </a:solidFill>
                <a:latin typeface="Courier New"/>
                <a:ea typeface="Courier New"/>
              </a:rPr>
              <a:t>return</a:t>
            </a:r>
            <a:r>
              <a:rPr b="0" lang="en-US" sz="950" spc="-1" strike="noStrike">
                <a:solidFill>
                  <a:srgbClr val="e2e8f0"/>
                </a:solidFill>
                <a:latin typeface="Courier New"/>
                <a:ea typeface="Courier New"/>
              </a:rPr>
              <a:t> top / bot</a:t>
            </a:r>
            <a:endParaRPr b="0" lang="en-IN" sz="950" spc="-1" strike="noStrike">
              <a:latin typeface="Arial"/>
            </a:endParaRPr>
          </a:p>
        </p:txBody>
      </p:sp>
      <p:sp>
        <p:nvSpPr>
          <p:cNvPr id="163" name="Shape 16"/>
          <p:cNvSpPr/>
          <p:nvPr/>
        </p:nvSpPr>
        <p:spPr>
          <a:xfrm>
            <a:off x="5669280" y="804600"/>
            <a:ext cx="3291480" cy="4068720"/>
          </a:xfrm>
          <a:prstGeom prst="rect">
            <a:avLst/>
          </a:prstGeom>
          <a:solidFill>
            <a:srgbClr val="1e293b"/>
          </a:solidFill>
          <a:ln w="15240">
            <a:solidFill>
              <a:srgbClr val="38bdf8"/>
            </a:solidFill>
            <a:round/>
          </a:ln>
          <a:effectLst>
            <a:outerShdw algn="bl" blurRad="127080" dir="16200000" dist="50760" kx="0" ky="0" rotWithShape="0" sx="100000" sy="10000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64" name="Text 17"/>
          <p:cNvSpPr/>
          <p:nvPr/>
        </p:nvSpPr>
        <p:spPr>
          <a:xfrm>
            <a:off x="5806440" y="896040"/>
            <a:ext cx="301716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500" spc="-1" strike="noStrike">
                <a:solidFill>
                  <a:srgbClr val="ffffff"/>
                </a:solidFill>
                <a:latin typeface="Calibri"/>
              </a:rPr>
              <a:t>Usage: Two Classes</a:t>
            </a:r>
            <a:endParaRPr b="0" lang="en-IN" sz="15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500" spc="-1" strike="noStrike">
                <a:solidFill>
                  <a:srgbClr val="ffffff"/>
                </a:solidFill>
                <a:latin typeface="Calibri"/>
              </a:rPr>
              <a:t>Interacting</a:t>
            </a:r>
            <a:endParaRPr b="0" lang="en-IN" sz="1500" spc="-1" strike="noStrike">
              <a:latin typeface="Arial"/>
            </a:endParaRPr>
          </a:p>
        </p:txBody>
      </p:sp>
      <p:sp>
        <p:nvSpPr>
          <p:cNvPr id="165" name="Text 18"/>
          <p:cNvSpPr/>
          <p:nvPr/>
        </p:nvSpPr>
        <p:spPr>
          <a:xfrm>
            <a:off x="5806440" y="1536120"/>
            <a:ext cx="3108600" cy="3200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e2e8f0"/>
                </a:solidFill>
                <a:latin typeface="Courier New"/>
                <a:ea typeface="Courier New"/>
              </a:rPr>
              <a:t>ln1 = LinearEq(1, 1, -2)</a:t>
            </a:r>
            <a:endParaRPr b="0" lang="en-IN" sz="10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e2e8f0"/>
                </a:solidFill>
                <a:latin typeface="Courier New"/>
                <a:ea typeface="Courier New"/>
              </a:rPr>
              <a:t>c1 = Coordinate(1, 1)</a:t>
            </a:r>
            <a:endParaRPr b="0" lang="en-IN" sz="10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0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64748b"/>
                </a:solidFill>
                <a:latin typeface="Courier New"/>
                <a:ea typeface="Courier New"/>
              </a:rPr>
              <a:t># Check if c1 lies on ln1</a:t>
            </a:r>
            <a:endParaRPr b="0" lang="en-IN" sz="10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050" spc="-1" strike="noStrike">
                <a:solidFill>
                  <a:srgbClr val="e2e8f0"/>
                </a:solidFill>
                <a:latin typeface="Courier New"/>
                <a:ea typeface="Courier New"/>
              </a:rPr>
              <a:t>ln1.point_on_line(c1)  → True</a:t>
            </a:r>
            <a:endParaRPr b="0" lang="en-IN" sz="10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e2e8f0"/>
                </a:solidFill>
                <a:latin typeface="Courier New"/>
                <a:ea typeface="Courier New"/>
              </a:rPr>
              <a:t>(1+1-2 = 0 ✓)</a:t>
            </a:r>
            <a:endParaRPr b="0" lang="en-IN" sz="10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0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64748b"/>
                </a:solidFill>
                <a:latin typeface="Courier New"/>
                <a:ea typeface="Courier New"/>
              </a:rPr>
              <a:t># Perpendicular distance</a:t>
            </a:r>
            <a:endParaRPr b="0" lang="en-IN" sz="10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e2e8f0"/>
                </a:solidFill>
                <a:latin typeface="Courier New"/>
                <a:ea typeface="Courier New"/>
              </a:rPr>
              <a:t>ln1.perpendicular_distance(c1)</a:t>
            </a:r>
            <a:endParaRPr b="0" lang="en-IN" sz="10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050" spc="-1" strike="noStrike">
                <a:solidFill>
                  <a:srgbClr val="e2e8f0"/>
                </a:solidFill>
                <a:latin typeface="Courier New"/>
                <a:ea typeface="Courier New"/>
              </a:rPr>
              <a:t>→ </a:t>
            </a:r>
            <a:r>
              <a:rPr b="1" lang="en-US" sz="1050" spc="-1" strike="noStrike">
                <a:solidFill>
                  <a:srgbClr val="e2e8f0"/>
                </a:solidFill>
                <a:latin typeface="Courier New"/>
                <a:ea typeface="Courier New"/>
              </a:rPr>
              <a:t>0.0  (point IS on line)</a:t>
            </a:r>
            <a:endParaRPr b="0" lang="en-IN" sz="10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0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e2e8f0"/>
                </a:solidFill>
                <a:latin typeface="Courier New"/>
                <a:ea typeface="Courier New"/>
              </a:rPr>
              <a:t>c2 = Coordinate(1, 10)</a:t>
            </a:r>
            <a:endParaRPr b="0" lang="en-IN" sz="10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e2e8f0"/>
                </a:solidFill>
                <a:latin typeface="Courier New"/>
                <a:ea typeface="Courier New"/>
              </a:rPr>
              <a:t>ln1.perpendicular_distance(c2)</a:t>
            </a:r>
            <a:endParaRPr b="0" lang="en-IN" sz="10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050" spc="-1" strike="noStrike">
                <a:solidFill>
                  <a:srgbClr val="e2e8f0"/>
                </a:solidFill>
                <a:latin typeface="Courier New"/>
                <a:ea typeface="Courier New"/>
              </a:rPr>
              <a:t>→ </a:t>
            </a:r>
            <a:r>
              <a:rPr b="1" lang="en-US" sz="1050" spc="-1" strike="noStrike">
                <a:solidFill>
                  <a:srgbClr val="e2e8f0"/>
                </a:solidFill>
                <a:latin typeface="Courier New"/>
                <a:ea typeface="Courier New"/>
              </a:rPr>
              <a:t>6.36  (point off the line)</a:t>
            </a:r>
            <a:endParaRPr b="0" lang="en-IN" sz="105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Shape 0"/>
          <p:cNvSpPr/>
          <p:nvPr/>
        </p:nvSpPr>
        <p:spPr>
          <a:xfrm>
            <a:off x="0" y="0"/>
            <a:ext cx="9143640" cy="51433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67" name="Shape 1"/>
          <p:cNvSpPr/>
          <p:nvPr/>
        </p:nvSpPr>
        <p:spPr>
          <a:xfrm>
            <a:off x="0" y="0"/>
            <a:ext cx="9143640" cy="5143320"/>
          </a:xfrm>
          <a:prstGeom prst="rect">
            <a:avLst/>
          </a:prstGeom>
          <a:solidFill>
            <a:srgbClr val="162032">
              <a:alpha val="80000"/>
            </a:srgbClr>
          </a:solidFill>
          <a:ln w="12700">
            <a:solidFill>
              <a:srgbClr val="162032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68" name="Text 2"/>
          <p:cNvSpPr/>
          <p:nvPr/>
        </p:nvSpPr>
        <p:spPr>
          <a:xfrm>
            <a:off x="274320" y="457200"/>
            <a:ext cx="2285640" cy="274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0" spc="-1" strike="noStrike">
                <a:solidFill>
                  <a:srgbClr val="38bdf8">
                    <a:alpha val="30000"/>
                  </a:srgbClr>
                </a:solidFill>
                <a:latin typeface="Calibri"/>
              </a:rPr>
              <a:t>02</a:t>
            </a:r>
            <a:endParaRPr b="0" lang="en-IN" sz="13000" spc="-1" strike="noStrike">
              <a:latin typeface="Arial"/>
            </a:endParaRPr>
          </a:p>
        </p:txBody>
      </p:sp>
      <p:sp>
        <p:nvSpPr>
          <p:cNvPr id="169" name="Shape 3"/>
          <p:cNvSpPr/>
          <p:nvPr/>
        </p:nvSpPr>
        <p:spPr>
          <a:xfrm>
            <a:off x="1005840" y="1645920"/>
            <a:ext cx="7131960" cy="5436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70" name="Text 4"/>
          <p:cNvSpPr/>
          <p:nvPr/>
        </p:nvSpPr>
        <p:spPr>
          <a:xfrm>
            <a:off x="1005840" y="1783080"/>
            <a:ext cx="7772040" cy="137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4200" spc="-1" strike="noStrike">
                <a:solidFill>
                  <a:srgbClr val="ffffff"/>
                </a:solidFill>
                <a:latin typeface="Calibri"/>
              </a:rPr>
              <a:t>Reference Variables</a:t>
            </a:r>
            <a:endParaRPr b="0" lang="en-IN" sz="4200" spc="-1" strike="noStrike">
              <a:latin typeface="Arial"/>
            </a:endParaRPr>
          </a:p>
        </p:txBody>
      </p:sp>
      <p:sp>
        <p:nvSpPr>
          <p:cNvPr id="171" name="Text 5"/>
          <p:cNvSpPr/>
          <p:nvPr/>
        </p:nvSpPr>
        <p:spPr>
          <a:xfrm>
            <a:off x="1005840" y="3200400"/>
            <a:ext cx="777204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700" spc="-1" strike="noStrike">
                <a:solidFill>
                  <a:srgbClr val="94a3b8"/>
                </a:solidFill>
                <a:latin typeface="Calibri"/>
              </a:rPr>
              <a:t>The technical truth: what does a variable actually store?</a:t>
            </a:r>
            <a:endParaRPr b="0" lang="en-IN" sz="17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Shape 0"/>
          <p:cNvSpPr/>
          <p:nvPr/>
        </p:nvSpPr>
        <p:spPr>
          <a:xfrm>
            <a:off x="0" y="0"/>
            <a:ext cx="63720" cy="514332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73" name="Shape 1"/>
          <p:cNvSpPr/>
          <p:nvPr/>
        </p:nvSpPr>
        <p:spPr>
          <a:xfrm>
            <a:off x="0" y="0"/>
            <a:ext cx="9143640" cy="71280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74" name="Text 2"/>
          <p:cNvSpPr/>
          <p:nvPr/>
        </p:nvSpPr>
        <p:spPr>
          <a:xfrm>
            <a:off x="182880" y="0"/>
            <a:ext cx="7131960" cy="712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200" spc="-1" strike="noStrike">
                <a:solidFill>
                  <a:srgbClr val="ffffff"/>
                </a:solidFill>
                <a:latin typeface="Calibri"/>
              </a:rPr>
              <a:t>Reference Variables – The Technical Truth</a:t>
            </a:r>
            <a:endParaRPr b="0" lang="en-IN" sz="2200" spc="-1" strike="noStrike">
              <a:latin typeface="Arial"/>
            </a:endParaRPr>
          </a:p>
        </p:txBody>
      </p:sp>
      <p:sp>
        <p:nvSpPr>
          <p:cNvPr id="175" name="Shape 3"/>
          <p:cNvSpPr/>
          <p:nvPr/>
        </p:nvSpPr>
        <p:spPr>
          <a:xfrm>
            <a:off x="7589520" y="109800"/>
            <a:ext cx="1371240" cy="47520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round/>
          </a:ln>
          <a:effectLst>
            <a:outerShdw algn="bl" blurRad="127080" dir="16200000" dist="50760" kx="0" ky="0" rotWithShape="0" sx="100000" sy="10000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76" name="Text 4"/>
          <p:cNvSpPr/>
          <p:nvPr/>
        </p:nvSpPr>
        <p:spPr>
          <a:xfrm>
            <a:off x="7589520" y="109800"/>
            <a:ext cx="137124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0f172a"/>
                </a:solidFill>
                <a:latin typeface="Calibri"/>
              </a:rPr>
              <a:t>Section 02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177" name="Shape 5"/>
          <p:cNvSpPr/>
          <p:nvPr/>
        </p:nvSpPr>
        <p:spPr>
          <a:xfrm>
            <a:off x="182880" y="804600"/>
            <a:ext cx="4114440" cy="1919880"/>
          </a:xfrm>
          <a:prstGeom prst="rect">
            <a:avLst/>
          </a:prstGeom>
          <a:solidFill>
            <a:srgbClr val="1f0b0b"/>
          </a:solidFill>
          <a:ln w="15240">
            <a:solidFill>
              <a:srgbClr val="38bdf8"/>
            </a:solidFill>
            <a:round/>
          </a:ln>
          <a:effectLst>
            <a:outerShdw algn="bl" blurRad="127080" dir="16200000" dist="50760" kx="0" ky="0" rotWithShape="0" sx="100000" sy="10000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78" name="Shape 6"/>
          <p:cNvSpPr/>
          <p:nvPr/>
        </p:nvSpPr>
        <p:spPr>
          <a:xfrm>
            <a:off x="182880" y="804600"/>
            <a:ext cx="4114440" cy="54360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79" name="Text 7"/>
          <p:cNvSpPr/>
          <p:nvPr/>
        </p:nvSpPr>
        <p:spPr>
          <a:xfrm>
            <a:off x="320040" y="896040"/>
            <a:ext cx="37486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000" spc="199" strike="noStrike">
                <a:solidFill>
                  <a:srgbClr val="f87171"/>
                </a:solidFill>
                <a:latin typeface="Calibri"/>
              </a:rPr>
              <a:t>    </a:t>
            </a:r>
            <a:r>
              <a:rPr b="1" lang="en-US" sz="1000" spc="199" strike="noStrike">
                <a:solidFill>
                  <a:srgbClr val="f87171"/>
                </a:solidFill>
                <a:latin typeface="Calibri"/>
              </a:rPr>
              <a:t>COMMON MISCONCEPTION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180" name="Text 8"/>
          <p:cNvSpPr/>
          <p:nvPr/>
        </p:nvSpPr>
        <p:spPr>
          <a:xfrm>
            <a:off x="320040" y="1207080"/>
            <a:ext cx="37486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e2e8f0"/>
                </a:solidFill>
                <a:latin typeface="Courier New"/>
                <a:ea typeface="Courier New"/>
              </a:rPr>
              <a:t>"user = Employee('Alex', 'Dev')"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181" name="Text 9"/>
          <p:cNvSpPr/>
          <p:nvPr/>
        </p:nvSpPr>
        <p:spPr>
          <a:xfrm>
            <a:off x="320040" y="1554480"/>
            <a:ext cx="374868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50" spc="-1" strike="noStrike">
                <a:solidFill>
                  <a:srgbClr val="94a3b8"/>
                </a:solidFill>
                <a:latin typeface="Calibri"/>
              </a:rPr>
              <a:t>People say: "user is an object of Employee class."</a:t>
            </a:r>
            <a:endParaRPr b="0" lang="en-IN" sz="1150" spc="-1" strike="noStrike">
              <a:latin typeface="Arial"/>
            </a:endParaRPr>
          </a:p>
        </p:txBody>
      </p:sp>
      <p:sp>
        <p:nvSpPr>
          <p:cNvPr id="182" name="Shape 10"/>
          <p:cNvSpPr/>
          <p:nvPr/>
        </p:nvSpPr>
        <p:spPr>
          <a:xfrm>
            <a:off x="228600" y="822960"/>
            <a:ext cx="273960" cy="273960"/>
          </a:xfrm>
          <a:prstGeom prst="ellipse">
            <a:avLst/>
          </a:prstGeom>
          <a:solidFill>
            <a:srgbClr val="f87171"/>
          </a:solidFill>
          <a:ln w="12700">
            <a:solidFill>
              <a:srgbClr val="f87171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83" name="Text 11"/>
          <p:cNvSpPr/>
          <p:nvPr/>
        </p:nvSpPr>
        <p:spPr>
          <a:xfrm>
            <a:off x="228600" y="822960"/>
            <a:ext cx="2739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Calibri"/>
              </a:rPr>
              <a:t>✗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184" name="Shape 12"/>
          <p:cNvSpPr/>
          <p:nvPr/>
        </p:nvSpPr>
        <p:spPr>
          <a:xfrm>
            <a:off x="4572000" y="804600"/>
            <a:ext cx="4388760" cy="1919880"/>
          </a:xfrm>
          <a:prstGeom prst="rect">
            <a:avLst/>
          </a:prstGeom>
          <a:solidFill>
            <a:srgbClr val="0b1f12"/>
          </a:solidFill>
          <a:ln w="15240">
            <a:solidFill>
              <a:srgbClr val="38bdf8"/>
            </a:solidFill>
            <a:round/>
          </a:ln>
          <a:effectLst>
            <a:outerShdw algn="bl" blurRad="127080" dir="16200000" dist="50760" kx="0" ky="0" rotWithShape="0" sx="100000" sy="10000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85" name="Shape 13"/>
          <p:cNvSpPr/>
          <p:nvPr/>
        </p:nvSpPr>
        <p:spPr>
          <a:xfrm>
            <a:off x="4572000" y="804600"/>
            <a:ext cx="4388760" cy="5436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86" name="Text 14"/>
          <p:cNvSpPr/>
          <p:nvPr/>
        </p:nvSpPr>
        <p:spPr>
          <a:xfrm>
            <a:off x="4709160" y="896040"/>
            <a:ext cx="40230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000" spc="199" strike="noStrike">
                <a:solidFill>
                  <a:srgbClr val="34d399"/>
                </a:solidFill>
                <a:latin typeface="Calibri"/>
              </a:rPr>
              <a:t>TECHNICALLY CORRECT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187" name="Text 15"/>
          <p:cNvSpPr/>
          <p:nvPr/>
        </p:nvSpPr>
        <p:spPr>
          <a:xfrm>
            <a:off x="4709160" y="1207080"/>
            <a:ext cx="41144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e2e8f0"/>
                </a:solidFill>
                <a:latin typeface="Calibri"/>
              </a:rPr>
              <a:t>"user is a REFERENCE that holds the</a:t>
            </a:r>
            <a:endParaRPr b="0" lang="en-IN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e2e8f0"/>
                </a:solidFill>
                <a:latin typeface="Calibri"/>
              </a:rPr>
              <a:t>MEMORY ADDRESS of the object"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188" name="Text 16"/>
          <p:cNvSpPr/>
          <p:nvPr/>
        </p:nvSpPr>
        <p:spPr>
          <a:xfrm>
            <a:off x="4709160" y="1783080"/>
            <a:ext cx="41144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50" spc="-1" strike="noStrike">
                <a:solidFill>
                  <a:srgbClr val="94a3b8"/>
                </a:solidFill>
                <a:latin typeface="Calibri"/>
              </a:rPr>
              <a:t>Employee() creates the object. user stores its address.</a:t>
            </a:r>
            <a:endParaRPr b="0" lang="en-IN" sz="1150" spc="-1" strike="noStrike">
              <a:latin typeface="Arial"/>
            </a:endParaRPr>
          </a:p>
        </p:txBody>
      </p:sp>
      <p:sp>
        <p:nvSpPr>
          <p:cNvPr id="189" name="Shape 17"/>
          <p:cNvSpPr/>
          <p:nvPr/>
        </p:nvSpPr>
        <p:spPr>
          <a:xfrm>
            <a:off x="182880" y="2834640"/>
            <a:ext cx="8777880" cy="2011320"/>
          </a:xfrm>
          <a:prstGeom prst="rect">
            <a:avLst/>
          </a:prstGeom>
          <a:solidFill>
            <a:srgbClr val="1e293b"/>
          </a:solidFill>
          <a:ln w="15240">
            <a:solidFill>
              <a:srgbClr val="38bdf8"/>
            </a:solidFill>
            <a:round/>
          </a:ln>
          <a:effectLst>
            <a:outerShdw algn="bl" blurRad="127080" dir="16200000" dist="50760" kx="0" ky="0" rotWithShape="0" sx="100000" sy="10000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90" name="Text 18"/>
          <p:cNvSpPr/>
          <p:nvPr/>
        </p:nvSpPr>
        <p:spPr>
          <a:xfrm>
            <a:off x="365760" y="2926080"/>
            <a:ext cx="1828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000" spc="199" strike="noStrike">
                <a:solidFill>
                  <a:srgbClr val="38bdf8"/>
                </a:solidFill>
                <a:latin typeface="Calibri"/>
              </a:rPr>
              <a:t>MEMORY MODEL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191" name="Shape 19"/>
          <p:cNvSpPr/>
          <p:nvPr/>
        </p:nvSpPr>
        <p:spPr>
          <a:xfrm>
            <a:off x="457200" y="3273480"/>
            <a:ext cx="1645560" cy="776880"/>
          </a:xfrm>
          <a:prstGeom prst="rect">
            <a:avLst/>
          </a:prstGeom>
          <a:solidFill>
            <a:srgbClr val="0c2a3a"/>
          </a:solidFill>
          <a:ln w="19050">
            <a:solidFill>
              <a:srgbClr val="38bdf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92" name="Text 20"/>
          <p:cNvSpPr/>
          <p:nvPr/>
        </p:nvSpPr>
        <p:spPr>
          <a:xfrm>
            <a:off x="457200" y="3273480"/>
            <a:ext cx="164556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38bdf8"/>
                </a:solidFill>
                <a:latin typeface="Calibri"/>
              </a:rPr>
              <a:t>user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193" name="Text 21"/>
          <p:cNvSpPr/>
          <p:nvPr/>
        </p:nvSpPr>
        <p:spPr>
          <a:xfrm>
            <a:off x="457200" y="3620880"/>
            <a:ext cx="164556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f59e0b"/>
                </a:solidFill>
                <a:latin typeface="Courier New"/>
                <a:ea typeface="Courier New"/>
              </a:rPr>
              <a:t>0x7f3a4c2b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194" name="Shape 22"/>
          <p:cNvSpPr/>
          <p:nvPr/>
        </p:nvSpPr>
        <p:spPr>
          <a:xfrm>
            <a:off x="2148840" y="3657600"/>
            <a:ext cx="1645920" cy="360"/>
          </a:xfrm>
          <a:prstGeom prst="line">
            <a:avLst/>
          </a:prstGeom>
          <a:ln w="25400">
            <a:solidFill>
              <a:srgbClr val="38bdf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95" name="Text 23"/>
          <p:cNvSpPr/>
          <p:nvPr/>
        </p:nvSpPr>
        <p:spPr>
          <a:xfrm>
            <a:off x="3566160" y="3401640"/>
            <a:ext cx="3654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200" spc="-1" strike="noStrike">
                <a:solidFill>
                  <a:srgbClr val="38bdf8"/>
                </a:solidFill>
                <a:latin typeface="Calibri"/>
              </a:rPr>
              <a:t>→</a:t>
            </a:r>
            <a:endParaRPr b="0" lang="en-IN" sz="2200" spc="-1" strike="noStrike">
              <a:latin typeface="Arial"/>
            </a:endParaRPr>
          </a:p>
        </p:txBody>
      </p:sp>
      <p:sp>
        <p:nvSpPr>
          <p:cNvPr id="196" name="Shape 24"/>
          <p:cNvSpPr/>
          <p:nvPr/>
        </p:nvSpPr>
        <p:spPr>
          <a:xfrm>
            <a:off x="3931920" y="3200400"/>
            <a:ext cx="3200040" cy="1279800"/>
          </a:xfrm>
          <a:prstGeom prst="rect">
            <a:avLst/>
          </a:prstGeom>
          <a:solidFill>
            <a:srgbClr val="0c1a2a"/>
          </a:solidFill>
          <a:ln w="19050">
            <a:solidFill>
              <a:srgbClr val="34d399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97" name="Text 25"/>
          <p:cNvSpPr/>
          <p:nvPr/>
        </p:nvSpPr>
        <p:spPr>
          <a:xfrm>
            <a:off x="4069080" y="3246120"/>
            <a:ext cx="29257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050" spc="-1" strike="noStrike">
                <a:solidFill>
                  <a:srgbClr val="34d399"/>
                </a:solidFill>
                <a:latin typeface="Calibri"/>
              </a:rPr>
              <a:t>Employee object @ 0x7f3a4c2b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198" name="Text 26"/>
          <p:cNvSpPr/>
          <p:nvPr/>
        </p:nvSpPr>
        <p:spPr>
          <a:xfrm>
            <a:off x="4069080" y="3566160"/>
            <a:ext cx="292572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e2e8f0"/>
                </a:solidFill>
                <a:latin typeface="Courier New"/>
                <a:ea typeface="Courier New"/>
              </a:rPr>
              <a:t>name = 'Alex'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e2e8f0"/>
                </a:solidFill>
                <a:latin typeface="Courier New"/>
                <a:ea typeface="Courier New"/>
              </a:rPr>
              <a:t>job_title = 'Dev'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199" name="Shape 27"/>
          <p:cNvSpPr/>
          <p:nvPr/>
        </p:nvSpPr>
        <p:spPr>
          <a:xfrm>
            <a:off x="7315200" y="3108960"/>
            <a:ext cx="1554120" cy="1462680"/>
          </a:xfrm>
          <a:prstGeom prst="rect">
            <a:avLst/>
          </a:prstGeom>
          <a:solidFill>
            <a:srgbClr val="1a1a0c"/>
          </a:solidFill>
          <a:ln w="19050">
            <a:solidFill>
              <a:srgbClr val="f59e0b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00" name="Text 28"/>
          <p:cNvSpPr/>
          <p:nvPr/>
        </p:nvSpPr>
        <p:spPr>
          <a:xfrm>
            <a:off x="7360920" y="3154680"/>
            <a:ext cx="14626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900" spc="199" strike="noStrike">
                <a:solidFill>
                  <a:srgbClr val="f59e0b"/>
                </a:solidFill>
                <a:latin typeface="Calibri"/>
              </a:rPr>
              <a:t>PROOF</a:t>
            </a:r>
            <a:endParaRPr b="0" lang="en-IN" sz="900" spc="-1" strike="noStrike">
              <a:latin typeface="Arial"/>
            </a:endParaRPr>
          </a:p>
        </p:txBody>
      </p:sp>
      <p:sp>
        <p:nvSpPr>
          <p:cNvPr id="201" name="Text 29"/>
          <p:cNvSpPr/>
          <p:nvPr/>
        </p:nvSpPr>
        <p:spPr>
          <a:xfrm>
            <a:off x="7360920" y="3447360"/>
            <a:ext cx="146268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e2e8f0"/>
                </a:solidFill>
                <a:latin typeface="Courier New"/>
                <a:ea typeface="Courier New"/>
              </a:rPr>
              <a:t>id(user)</a:t>
            </a:r>
            <a:endParaRPr b="0" lang="en-IN" sz="100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e2e8f0"/>
                </a:solidFill>
                <a:latin typeface="Courier New"/>
                <a:ea typeface="Courier New"/>
              </a:rPr>
              <a:t>→ </a:t>
            </a:r>
            <a:r>
              <a:rPr b="0" lang="en-US" sz="1000" spc="-1" strike="noStrike">
                <a:solidFill>
                  <a:srgbClr val="e2e8f0"/>
                </a:solidFill>
                <a:latin typeface="Courier New"/>
                <a:ea typeface="Courier New"/>
              </a:rPr>
              <a:t>memory</a:t>
            </a:r>
            <a:endParaRPr b="0" lang="en-IN" sz="100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e2e8f0"/>
                </a:solidFill>
                <a:latin typeface="Courier New"/>
                <a:ea typeface="Courier New"/>
              </a:rPr>
              <a:t>address</a:t>
            </a:r>
            <a:endParaRPr b="0" lang="en-IN" sz="10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Shape 0"/>
          <p:cNvSpPr/>
          <p:nvPr/>
        </p:nvSpPr>
        <p:spPr>
          <a:xfrm>
            <a:off x="0" y="0"/>
            <a:ext cx="63720" cy="514332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03" name="Shape 1"/>
          <p:cNvSpPr/>
          <p:nvPr/>
        </p:nvSpPr>
        <p:spPr>
          <a:xfrm>
            <a:off x="0" y="0"/>
            <a:ext cx="9143640" cy="71280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04" name="Text 2"/>
          <p:cNvSpPr/>
          <p:nvPr/>
        </p:nvSpPr>
        <p:spPr>
          <a:xfrm>
            <a:off x="182880" y="0"/>
            <a:ext cx="7131960" cy="712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200" spc="-1" strike="noStrike">
                <a:solidFill>
                  <a:srgbClr val="ffffff"/>
                </a:solidFill>
                <a:latin typeface="Calibri"/>
              </a:rPr>
              <a:t>Reference Variables – 4 Key Points</a:t>
            </a:r>
            <a:endParaRPr b="0" lang="en-IN" sz="2200" spc="-1" strike="noStrike">
              <a:latin typeface="Arial"/>
            </a:endParaRPr>
          </a:p>
        </p:txBody>
      </p:sp>
      <p:sp>
        <p:nvSpPr>
          <p:cNvPr id="205" name="Shape 3"/>
          <p:cNvSpPr/>
          <p:nvPr/>
        </p:nvSpPr>
        <p:spPr>
          <a:xfrm>
            <a:off x="7589520" y="109800"/>
            <a:ext cx="1371240" cy="47520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round/>
          </a:ln>
          <a:effectLst>
            <a:outerShdw algn="bl" blurRad="127080" dir="16200000" dist="50760" kx="0" ky="0" rotWithShape="0" sx="100000" sy="10000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206" name="Text 4"/>
          <p:cNvSpPr/>
          <p:nvPr/>
        </p:nvSpPr>
        <p:spPr>
          <a:xfrm>
            <a:off x="7589520" y="109800"/>
            <a:ext cx="137124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0f172a"/>
                </a:solidFill>
                <a:latin typeface="Calibri"/>
              </a:rPr>
              <a:t>Section 02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207" name="Shape 5"/>
          <p:cNvSpPr/>
          <p:nvPr/>
        </p:nvSpPr>
        <p:spPr>
          <a:xfrm>
            <a:off x="182880" y="804600"/>
            <a:ext cx="4251600" cy="1965600"/>
          </a:xfrm>
          <a:prstGeom prst="rect">
            <a:avLst/>
          </a:prstGeom>
          <a:solidFill>
            <a:srgbClr val="1e293b"/>
          </a:solidFill>
          <a:ln w="15240">
            <a:solidFill>
              <a:srgbClr val="38bdf8"/>
            </a:solidFill>
            <a:round/>
          </a:ln>
          <a:effectLst>
            <a:outerShdw algn="bl" blurRad="127080" dir="16200000" dist="50760" kx="0" ky="0" rotWithShape="0" sx="100000" sy="10000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208" name="Shape 6"/>
          <p:cNvSpPr/>
          <p:nvPr/>
        </p:nvSpPr>
        <p:spPr>
          <a:xfrm>
            <a:off x="182880" y="804600"/>
            <a:ext cx="4251600" cy="5436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09" name="Shape 7"/>
          <p:cNvSpPr/>
          <p:nvPr/>
        </p:nvSpPr>
        <p:spPr>
          <a:xfrm>
            <a:off x="347400" y="941760"/>
            <a:ext cx="383760" cy="383760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10" name="Text 8"/>
          <p:cNvSpPr/>
          <p:nvPr/>
        </p:nvSpPr>
        <p:spPr>
          <a:xfrm>
            <a:off x="347400" y="941760"/>
            <a:ext cx="3837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600" spc="-1" strike="noStrike">
                <a:solidFill>
                  <a:srgbClr val="0f172a"/>
                </a:solidFill>
                <a:latin typeface="Calibri"/>
              </a:rPr>
              <a:t>1</a:t>
            </a:r>
            <a:endParaRPr b="0" lang="en-IN" sz="1600" spc="-1" strike="noStrike">
              <a:latin typeface="Arial"/>
            </a:endParaRPr>
          </a:p>
        </p:txBody>
      </p:sp>
      <p:sp>
        <p:nvSpPr>
          <p:cNvPr id="211" name="Text 9"/>
          <p:cNvSpPr/>
          <p:nvPr/>
        </p:nvSpPr>
        <p:spPr>
          <a:xfrm>
            <a:off x="822960" y="969120"/>
            <a:ext cx="34743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Calibri"/>
              </a:rPr>
              <a:t>Object Without a Reference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212" name="Text 10"/>
          <p:cNvSpPr/>
          <p:nvPr/>
        </p:nvSpPr>
        <p:spPr>
          <a:xfrm>
            <a:off x="365760" y="1398960"/>
            <a:ext cx="393156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94a3b8"/>
                </a:solidFill>
                <a:latin typeface="Calibri"/>
              </a:rPr>
              <a:t>An object is created the moment the class is called. You don't need to assign it to a variable. Without a reference, the object exists in memory but is inaccessible.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213" name="Shape 11"/>
          <p:cNvSpPr/>
          <p:nvPr/>
        </p:nvSpPr>
        <p:spPr>
          <a:xfrm>
            <a:off x="365760" y="2039040"/>
            <a:ext cx="3931560" cy="566640"/>
          </a:xfrm>
          <a:prstGeom prst="rect">
            <a:avLst/>
          </a:prstGeom>
          <a:solidFill>
            <a:srgbClr val="0d1117"/>
          </a:solidFill>
          <a:ln w="12700">
            <a:solidFill>
              <a:srgbClr val="334155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14" name="Text 12"/>
          <p:cNvSpPr/>
          <p:nvPr/>
        </p:nvSpPr>
        <p:spPr>
          <a:xfrm>
            <a:off x="457200" y="2066400"/>
            <a:ext cx="3748680" cy="51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e2e8f0"/>
                </a:solidFill>
                <a:latin typeface="Courier New"/>
                <a:ea typeface="Courier New"/>
              </a:rPr>
              <a:t>Employee('Alex','Dev')  # created but immediately lost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215" name="Shape 13"/>
          <p:cNvSpPr/>
          <p:nvPr/>
        </p:nvSpPr>
        <p:spPr>
          <a:xfrm>
            <a:off x="4617720" y="804600"/>
            <a:ext cx="4251600" cy="1965600"/>
          </a:xfrm>
          <a:prstGeom prst="rect">
            <a:avLst/>
          </a:prstGeom>
          <a:solidFill>
            <a:srgbClr val="1e293b"/>
          </a:solidFill>
          <a:ln w="15240">
            <a:solidFill>
              <a:srgbClr val="38bdf8"/>
            </a:solidFill>
            <a:round/>
          </a:ln>
          <a:effectLst>
            <a:outerShdw algn="bl" blurRad="127080" dir="16200000" dist="50760" kx="0" ky="0" rotWithShape="0" sx="100000" sy="10000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216" name="Shape 14"/>
          <p:cNvSpPr/>
          <p:nvPr/>
        </p:nvSpPr>
        <p:spPr>
          <a:xfrm>
            <a:off x="4617720" y="804600"/>
            <a:ext cx="4251600" cy="5436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17" name="Shape 15"/>
          <p:cNvSpPr/>
          <p:nvPr/>
        </p:nvSpPr>
        <p:spPr>
          <a:xfrm>
            <a:off x="4782240" y="941760"/>
            <a:ext cx="383760" cy="383760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18" name="Text 16"/>
          <p:cNvSpPr/>
          <p:nvPr/>
        </p:nvSpPr>
        <p:spPr>
          <a:xfrm>
            <a:off x="4782240" y="941760"/>
            <a:ext cx="3837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600" spc="-1" strike="noStrike">
                <a:solidFill>
                  <a:srgbClr val="0f172a"/>
                </a:solidFill>
                <a:latin typeface="Calibri"/>
              </a:rPr>
              <a:t>2</a:t>
            </a:r>
            <a:endParaRPr b="0" lang="en-IN" sz="1600" spc="-1" strike="noStrike">
              <a:latin typeface="Arial"/>
            </a:endParaRPr>
          </a:p>
        </p:txBody>
      </p:sp>
      <p:sp>
        <p:nvSpPr>
          <p:cNvPr id="219" name="Text 17"/>
          <p:cNvSpPr/>
          <p:nvPr/>
        </p:nvSpPr>
        <p:spPr>
          <a:xfrm>
            <a:off x="5257800" y="969120"/>
            <a:ext cx="34743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Calibri"/>
              </a:rPr>
              <a:t>One Object, Many References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220" name="Text 18"/>
          <p:cNvSpPr/>
          <p:nvPr/>
        </p:nvSpPr>
        <p:spPr>
          <a:xfrm>
            <a:off x="4800600" y="1398960"/>
            <a:ext cx="393156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94a3b8"/>
                </a:solidFill>
                <a:latin typeface="Calibri"/>
              </a:rPr>
              <a:t>Multiple variables can point to the same object. This is called aliasing — the same pattern you've seen with Python lists.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221" name="Shape 19"/>
          <p:cNvSpPr/>
          <p:nvPr/>
        </p:nvSpPr>
        <p:spPr>
          <a:xfrm>
            <a:off x="4800600" y="2039040"/>
            <a:ext cx="3931560" cy="566640"/>
          </a:xfrm>
          <a:prstGeom prst="rect">
            <a:avLst/>
          </a:prstGeom>
          <a:solidFill>
            <a:srgbClr val="0d1117"/>
          </a:solidFill>
          <a:ln w="12700">
            <a:solidFill>
              <a:srgbClr val="334155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22" name="Text 20"/>
          <p:cNvSpPr/>
          <p:nvPr/>
        </p:nvSpPr>
        <p:spPr>
          <a:xfrm>
            <a:off x="4892040" y="2066400"/>
            <a:ext cx="3748680" cy="51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e2e8f0"/>
                </a:solidFill>
                <a:latin typeface="Courier New"/>
                <a:ea typeface="Courier New"/>
              </a:rPr>
              <a:t>user = Employee('Alex','Dev')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e2e8f0"/>
                </a:solidFill>
                <a:latin typeface="Courier New"/>
                <a:ea typeface="Courier New"/>
              </a:rPr>
              <a:t>alias = user  # both point to same object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223" name="Shape 21"/>
          <p:cNvSpPr/>
          <p:nvPr/>
        </p:nvSpPr>
        <p:spPr>
          <a:xfrm>
            <a:off x="182880" y="2953440"/>
            <a:ext cx="4251600" cy="1965600"/>
          </a:xfrm>
          <a:prstGeom prst="rect">
            <a:avLst/>
          </a:prstGeom>
          <a:solidFill>
            <a:srgbClr val="1e293b"/>
          </a:solidFill>
          <a:ln w="15240">
            <a:solidFill>
              <a:srgbClr val="38bdf8"/>
            </a:solidFill>
            <a:round/>
          </a:ln>
          <a:effectLst>
            <a:outerShdw algn="bl" blurRad="127080" dir="16200000" dist="50760" kx="0" ky="0" rotWithShape="0" sx="100000" sy="10000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224" name="Shape 22"/>
          <p:cNvSpPr/>
          <p:nvPr/>
        </p:nvSpPr>
        <p:spPr>
          <a:xfrm>
            <a:off x="182880" y="2953440"/>
            <a:ext cx="4251600" cy="54360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25" name="Shape 23"/>
          <p:cNvSpPr/>
          <p:nvPr/>
        </p:nvSpPr>
        <p:spPr>
          <a:xfrm>
            <a:off x="347400" y="3090600"/>
            <a:ext cx="383760" cy="383760"/>
          </a:xfrm>
          <a:prstGeom prst="ellipse">
            <a:avLst/>
          </a:prstGeom>
          <a:solidFill>
            <a:srgbClr val="f87171"/>
          </a:solidFill>
          <a:ln w="12700">
            <a:solidFill>
              <a:srgbClr val="f87171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26" name="Text 24"/>
          <p:cNvSpPr/>
          <p:nvPr/>
        </p:nvSpPr>
        <p:spPr>
          <a:xfrm>
            <a:off x="347400" y="3090600"/>
            <a:ext cx="3837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600" spc="-1" strike="noStrike">
                <a:solidFill>
                  <a:srgbClr val="0f172a"/>
                </a:solidFill>
                <a:latin typeface="Calibri"/>
              </a:rPr>
              <a:t>3</a:t>
            </a:r>
            <a:endParaRPr b="0" lang="en-IN" sz="1600" spc="-1" strike="noStrike">
              <a:latin typeface="Arial"/>
            </a:endParaRPr>
          </a:p>
        </p:txBody>
      </p:sp>
      <p:sp>
        <p:nvSpPr>
          <p:cNvPr id="227" name="Text 25"/>
          <p:cNvSpPr/>
          <p:nvPr/>
        </p:nvSpPr>
        <p:spPr>
          <a:xfrm>
            <a:off x="822960" y="3117960"/>
            <a:ext cx="34743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Calibri"/>
              </a:rPr>
              <a:t>DANGER — Changes Via Any Reference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228" name="Text 26"/>
          <p:cNvSpPr/>
          <p:nvPr/>
        </p:nvSpPr>
        <p:spPr>
          <a:xfrm>
            <a:off x="365760" y="3547800"/>
            <a:ext cx="393156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94a3b8"/>
                </a:solidFill>
                <a:latin typeface="Calibri"/>
              </a:rPr>
              <a:t>If you modify the object via one reference, ALL references see the change. They all point to the same memory location!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229" name="Shape 27"/>
          <p:cNvSpPr/>
          <p:nvPr/>
        </p:nvSpPr>
        <p:spPr>
          <a:xfrm>
            <a:off x="365760" y="4187880"/>
            <a:ext cx="3931560" cy="566640"/>
          </a:xfrm>
          <a:prstGeom prst="rect">
            <a:avLst/>
          </a:prstGeom>
          <a:solidFill>
            <a:srgbClr val="0d1117"/>
          </a:solidFill>
          <a:ln w="12700">
            <a:solidFill>
              <a:srgbClr val="334155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30" name="Text 28"/>
          <p:cNvSpPr/>
          <p:nvPr/>
        </p:nvSpPr>
        <p:spPr>
          <a:xfrm>
            <a:off x="457200" y="4215240"/>
            <a:ext cx="3748680" cy="51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e2e8f0"/>
                </a:solidFill>
                <a:latin typeface="Courier New"/>
                <a:ea typeface="Courier New"/>
              </a:rPr>
              <a:t>alias.name = 'Bob'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e2e8f0"/>
                </a:solidFill>
                <a:latin typeface="Courier New"/>
                <a:ea typeface="Courier New"/>
              </a:rPr>
              <a:t>print(user.name)  # Output: Bob (!)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231" name="Shape 29"/>
          <p:cNvSpPr/>
          <p:nvPr/>
        </p:nvSpPr>
        <p:spPr>
          <a:xfrm>
            <a:off x="4617720" y="2953440"/>
            <a:ext cx="4251600" cy="1965600"/>
          </a:xfrm>
          <a:prstGeom prst="rect">
            <a:avLst/>
          </a:prstGeom>
          <a:solidFill>
            <a:srgbClr val="1e293b"/>
          </a:solidFill>
          <a:ln w="15240">
            <a:solidFill>
              <a:srgbClr val="38bdf8"/>
            </a:solidFill>
            <a:round/>
          </a:ln>
          <a:effectLst>
            <a:outerShdw algn="bl" blurRad="127080" dir="16200000" dist="50760" kx="0" ky="0" rotWithShape="0" sx="100000" sy="10000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232" name="Shape 30"/>
          <p:cNvSpPr/>
          <p:nvPr/>
        </p:nvSpPr>
        <p:spPr>
          <a:xfrm>
            <a:off x="4617720" y="2953440"/>
            <a:ext cx="4251600" cy="543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33" name="Shape 31"/>
          <p:cNvSpPr/>
          <p:nvPr/>
        </p:nvSpPr>
        <p:spPr>
          <a:xfrm>
            <a:off x="4782240" y="3090600"/>
            <a:ext cx="383760" cy="38376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34" name="Text 32"/>
          <p:cNvSpPr/>
          <p:nvPr/>
        </p:nvSpPr>
        <p:spPr>
          <a:xfrm>
            <a:off x="4782240" y="3090600"/>
            <a:ext cx="3837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600" spc="-1" strike="noStrike">
                <a:solidFill>
                  <a:srgbClr val="0f172a"/>
                </a:solidFill>
                <a:latin typeface="Calibri"/>
              </a:rPr>
              <a:t>4</a:t>
            </a:r>
            <a:endParaRPr b="0" lang="en-IN" sz="1600" spc="-1" strike="noStrike">
              <a:latin typeface="Arial"/>
            </a:endParaRPr>
          </a:p>
        </p:txBody>
      </p:sp>
      <p:sp>
        <p:nvSpPr>
          <p:cNvPr id="235" name="Text 33"/>
          <p:cNvSpPr/>
          <p:nvPr/>
        </p:nvSpPr>
        <p:spPr>
          <a:xfrm>
            <a:off x="5257800" y="3117960"/>
            <a:ext cx="34743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Calibri"/>
              </a:rPr>
              <a:t>alias = user Does NOT Copy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236" name="Text 34"/>
          <p:cNvSpPr/>
          <p:nvPr/>
        </p:nvSpPr>
        <p:spPr>
          <a:xfrm>
            <a:off x="4800600" y="3547800"/>
            <a:ext cx="393156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94a3b8"/>
                </a:solidFill>
                <a:latin typeface="Calibri"/>
              </a:rPr>
              <a:t>Writing alias = user does NOT create a new object. It merely copies the memory address. For a true copy, use the copy module.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237" name="Shape 35"/>
          <p:cNvSpPr/>
          <p:nvPr/>
        </p:nvSpPr>
        <p:spPr>
          <a:xfrm>
            <a:off x="4800600" y="4187880"/>
            <a:ext cx="3931560" cy="566640"/>
          </a:xfrm>
          <a:prstGeom prst="rect">
            <a:avLst/>
          </a:prstGeom>
          <a:solidFill>
            <a:srgbClr val="0d1117"/>
          </a:solidFill>
          <a:ln w="12700">
            <a:solidFill>
              <a:srgbClr val="334155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38" name="Text 36"/>
          <p:cNvSpPr/>
          <p:nvPr/>
        </p:nvSpPr>
        <p:spPr>
          <a:xfrm>
            <a:off x="4892040" y="4215240"/>
            <a:ext cx="3748680" cy="51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e2e8f0"/>
                </a:solidFill>
                <a:latin typeface="Courier New"/>
                <a:ea typeface="Courier New"/>
              </a:rPr>
              <a:t>import copy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e2e8f0"/>
                </a:solidFill>
                <a:latin typeface="Courier New"/>
                <a:ea typeface="Courier New"/>
              </a:rPr>
              <a:t>new_obj = copy.deepcopy(user)  # real copy</a:t>
            </a:r>
            <a:endParaRPr b="0" lang="en-IN" sz="10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Shape 0"/>
          <p:cNvSpPr/>
          <p:nvPr/>
        </p:nvSpPr>
        <p:spPr>
          <a:xfrm>
            <a:off x="0" y="0"/>
            <a:ext cx="9143640" cy="51433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40" name="Shape 1"/>
          <p:cNvSpPr/>
          <p:nvPr/>
        </p:nvSpPr>
        <p:spPr>
          <a:xfrm>
            <a:off x="0" y="0"/>
            <a:ext cx="9143640" cy="5143320"/>
          </a:xfrm>
          <a:prstGeom prst="rect">
            <a:avLst/>
          </a:prstGeom>
          <a:solidFill>
            <a:srgbClr val="162032">
              <a:alpha val="80000"/>
            </a:srgbClr>
          </a:solidFill>
          <a:ln w="12700">
            <a:solidFill>
              <a:srgbClr val="162032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41" name="Text 2"/>
          <p:cNvSpPr/>
          <p:nvPr/>
        </p:nvSpPr>
        <p:spPr>
          <a:xfrm>
            <a:off x="274320" y="457200"/>
            <a:ext cx="2285640" cy="274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0" spc="-1" strike="noStrike">
                <a:solidFill>
                  <a:srgbClr val="38bdf8">
                    <a:alpha val="30000"/>
                  </a:srgbClr>
                </a:solidFill>
                <a:latin typeface="Calibri"/>
              </a:rPr>
              <a:t>03</a:t>
            </a:r>
            <a:endParaRPr b="0" lang="en-IN" sz="13000" spc="-1" strike="noStrike">
              <a:latin typeface="Arial"/>
            </a:endParaRPr>
          </a:p>
        </p:txBody>
      </p:sp>
      <p:sp>
        <p:nvSpPr>
          <p:cNvPr id="242" name="Shape 3"/>
          <p:cNvSpPr/>
          <p:nvPr/>
        </p:nvSpPr>
        <p:spPr>
          <a:xfrm>
            <a:off x="1005840" y="1645920"/>
            <a:ext cx="7131960" cy="5436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43" name="Text 4"/>
          <p:cNvSpPr/>
          <p:nvPr/>
        </p:nvSpPr>
        <p:spPr>
          <a:xfrm>
            <a:off x="1005840" y="1783080"/>
            <a:ext cx="7772040" cy="137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4200" spc="-1" strike="noStrike">
                <a:solidFill>
                  <a:srgbClr val="ffffff"/>
                </a:solidFill>
                <a:latin typeface="Calibri"/>
              </a:rPr>
              <a:t>Pass by Reference</a:t>
            </a:r>
            <a:endParaRPr b="0" lang="en-IN" sz="4200" spc="-1" strike="noStrike">
              <a:latin typeface="Arial"/>
            </a:endParaRPr>
          </a:p>
        </p:txBody>
      </p:sp>
      <p:sp>
        <p:nvSpPr>
          <p:cNvPr id="244" name="Text 5"/>
          <p:cNvSpPr/>
          <p:nvPr/>
        </p:nvSpPr>
        <p:spPr>
          <a:xfrm>
            <a:off x="1005840" y="3200400"/>
            <a:ext cx="777204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700" spc="-1" strike="noStrike">
                <a:solidFill>
                  <a:srgbClr val="94a3b8"/>
                </a:solidFill>
                <a:latin typeface="Calibri"/>
              </a:rPr>
              <a:t>When you pass an object to a function, what actually travels?</a:t>
            </a:r>
            <a:endParaRPr b="0" lang="en-IN" sz="17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Shape 0"/>
          <p:cNvSpPr/>
          <p:nvPr/>
        </p:nvSpPr>
        <p:spPr>
          <a:xfrm>
            <a:off x="0" y="0"/>
            <a:ext cx="63720" cy="514332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46" name="Shape 1"/>
          <p:cNvSpPr/>
          <p:nvPr/>
        </p:nvSpPr>
        <p:spPr>
          <a:xfrm>
            <a:off x="0" y="0"/>
            <a:ext cx="9143640" cy="71280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47" name="Text 2"/>
          <p:cNvSpPr/>
          <p:nvPr/>
        </p:nvSpPr>
        <p:spPr>
          <a:xfrm>
            <a:off x="182880" y="0"/>
            <a:ext cx="7131960" cy="712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200" spc="-1" strike="noStrike">
                <a:solidFill>
                  <a:srgbClr val="ffffff"/>
                </a:solidFill>
                <a:latin typeface="Calibri"/>
              </a:rPr>
              <a:t>Pass by Reference – Proof with id()</a:t>
            </a:r>
            <a:endParaRPr b="0" lang="en-IN" sz="2200" spc="-1" strike="noStrike">
              <a:latin typeface="Arial"/>
            </a:endParaRPr>
          </a:p>
        </p:txBody>
      </p:sp>
      <p:sp>
        <p:nvSpPr>
          <p:cNvPr id="248" name="Shape 3"/>
          <p:cNvSpPr/>
          <p:nvPr/>
        </p:nvSpPr>
        <p:spPr>
          <a:xfrm>
            <a:off x="7589520" y="109800"/>
            <a:ext cx="1371240" cy="47520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round/>
          </a:ln>
          <a:effectLst>
            <a:outerShdw algn="bl" blurRad="127080" dir="16200000" dist="50760" kx="0" ky="0" rotWithShape="0" sx="100000" sy="10000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249" name="Text 4"/>
          <p:cNvSpPr/>
          <p:nvPr/>
        </p:nvSpPr>
        <p:spPr>
          <a:xfrm>
            <a:off x="7589520" y="109800"/>
            <a:ext cx="137124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0f172a"/>
                </a:solidFill>
                <a:latin typeface="Calibri"/>
              </a:rPr>
              <a:t>Section 03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250" name="Shape 5"/>
          <p:cNvSpPr/>
          <p:nvPr/>
        </p:nvSpPr>
        <p:spPr>
          <a:xfrm>
            <a:off x="182880" y="804600"/>
            <a:ext cx="5211720" cy="4023000"/>
          </a:xfrm>
          <a:prstGeom prst="rect">
            <a:avLst/>
          </a:prstGeom>
          <a:solidFill>
            <a:srgbClr val="1e293b"/>
          </a:solidFill>
          <a:ln w="15240">
            <a:solidFill>
              <a:srgbClr val="38bdf8"/>
            </a:solidFill>
            <a:round/>
          </a:ln>
          <a:effectLst>
            <a:outerShdw algn="bl" blurRad="127080" dir="16200000" dist="50760" kx="0" ky="0" rotWithShape="0" sx="100000" sy="10000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251" name="Text 6"/>
          <p:cNvSpPr/>
          <p:nvPr/>
        </p:nvSpPr>
        <p:spPr>
          <a:xfrm>
            <a:off x="320040" y="896040"/>
            <a:ext cx="493740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38bdf8"/>
                </a:solidFill>
                <a:latin typeface="Calibri"/>
              </a:rPr>
              <a:t>Code: Passing &amp; Returning Objects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252" name="Shape 7"/>
          <p:cNvSpPr/>
          <p:nvPr/>
        </p:nvSpPr>
        <p:spPr>
          <a:xfrm>
            <a:off x="320040" y="1280160"/>
            <a:ext cx="4899960" cy="3399840"/>
          </a:xfrm>
          <a:prstGeom prst="rect">
            <a:avLst/>
          </a:prstGeom>
          <a:solidFill>
            <a:srgbClr val="0d1117"/>
          </a:solidFill>
          <a:ln w="19050">
            <a:solidFill>
              <a:srgbClr val="2d3748"/>
            </a:solidFill>
            <a:round/>
          </a:ln>
          <a:effectLst>
            <a:outerShdw algn="bl" blurRad="127080" dir="16200000" dist="50760" kx="0" ky="0" rotWithShape="0" sx="100000" sy="10000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253" name="Shape 8"/>
          <p:cNvSpPr/>
          <p:nvPr/>
        </p:nvSpPr>
        <p:spPr>
          <a:xfrm>
            <a:off x="429840" y="1334880"/>
            <a:ext cx="109440" cy="109440"/>
          </a:xfrm>
          <a:prstGeom prst="ellipse">
            <a:avLst/>
          </a:prstGeom>
          <a:solidFill>
            <a:srgbClr val="f87171"/>
          </a:solidFill>
          <a:ln w="12700">
            <a:solidFill>
              <a:srgbClr val="f87171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54" name="Shape 9"/>
          <p:cNvSpPr/>
          <p:nvPr/>
        </p:nvSpPr>
        <p:spPr>
          <a:xfrm>
            <a:off x="612720" y="1334880"/>
            <a:ext cx="109440" cy="10944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55" name="Shape 10"/>
          <p:cNvSpPr/>
          <p:nvPr/>
        </p:nvSpPr>
        <p:spPr>
          <a:xfrm>
            <a:off x="795600" y="1334880"/>
            <a:ext cx="109440" cy="109440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56" name="Shape 11"/>
          <p:cNvSpPr/>
          <p:nvPr/>
        </p:nvSpPr>
        <p:spPr>
          <a:xfrm>
            <a:off x="320040" y="1280160"/>
            <a:ext cx="4937400" cy="255600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57" name="Text 12"/>
          <p:cNvSpPr/>
          <p:nvPr/>
        </p:nvSpPr>
        <p:spPr>
          <a:xfrm>
            <a:off x="429840" y="1572840"/>
            <a:ext cx="4754520" cy="2998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r>
              <a:rPr b="1" lang="en-US" sz="1000" spc="-1" strike="noStrike">
                <a:solidFill>
                  <a:srgbClr val="38bdf8"/>
                </a:solidFill>
                <a:latin typeface="Courier New"/>
                <a:ea typeface="Courier New"/>
              </a:rPr>
              <a:t>class</a:t>
            </a:r>
            <a:r>
              <a:rPr b="0" lang="en-US" sz="1000" spc="-1" strike="noStrike">
                <a:solidFill>
                  <a:srgbClr val="34d399"/>
                </a:solidFill>
                <a:latin typeface="Courier New"/>
                <a:ea typeface="Courier New"/>
              </a:rPr>
              <a:t> Employee:</a:t>
            </a:r>
            <a:endParaRPr b="0" lang="en-IN" sz="1000" spc="-1" strike="noStrike">
              <a:latin typeface="Arial"/>
            </a:endParaRPr>
          </a:p>
          <a:p>
            <a:r>
              <a:rPr b="1" lang="en-US" sz="1000" spc="-1" strike="noStrike">
                <a:solidFill>
                  <a:srgbClr val="38bdf8"/>
                </a:solidFill>
                <a:latin typeface="Courier New"/>
                <a:ea typeface="Courier New"/>
              </a:rPr>
              <a:t>    </a:t>
            </a:r>
            <a:r>
              <a:rPr b="1" lang="en-US" sz="1000" spc="-1" strike="noStrike">
                <a:solidFill>
                  <a:srgbClr val="38bdf8"/>
                </a:solidFill>
                <a:latin typeface="Courier New"/>
                <a:ea typeface="Courier New"/>
              </a:rPr>
              <a:t>def</a:t>
            </a:r>
            <a:r>
              <a:rPr b="0" lang="en-US" sz="1000" spc="-1" strike="noStrike">
                <a:solidFill>
                  <a:srgbClr val="e2e8f0"/>
                </a:solidFill>
                <a:latin typeface="Courier New"/>
                <a:ea typeface="Courier New"/>
              </a:rPr>
              <a:t> __init__(</a:t>
            </a:r>
            <a:r>
              <a:rPr b="0" lang="en-US" sz="1000" spc="-1" strike="noStrike">
                <a:solidFill>
                  <a:srgbClr val="f59e0b"/>
                </a:solidFill>
                <a:latin typeface="Courier New"/>
                <a:ea typeface="Courier New"/>
              </a:rPr>
              <a:t>self</a:t>
            </a:r>
            <a:r>
              <a:rPr b="0" lang="en-US" sz="1000" spc="-1" strike="noStrike">
                <a:solidFill>
                  <a:srgbClr val="e2e8f0"/>
                </a:solidFill>
                <a:latin typeface="Courier New"/>
                <a:ea typeface="Courier New"/>
              </a:rPr>
              <a:t>, emp_name, role):</a:t>
            </a:r>
            <a:endParaRPr b="0" lang="en-IN" sz="1000" spc="-1" strike="noStrike">
              <a:latin typeface="Arial"/>
            </a:endParaRPr>
          </a:p>
          <a:p>
            <a:r>
              <a:rPr b="0" lang="en-US" sz="1000" spc="-1" strike="noStrike">
                <a:solidFill>
                  <a:srgbClr val="f59e0b"/>
                </a:solidFill>
                <a:latin typeface="Courier New"/>
                <a:ea typeface="Courier New"/>
              </a:rPr>
              <a:t>        </a:t>
            </a:r>
            <a:r>
              <a:rPr b="0" lang="en-US" sz="1000" spc="-1" strike="noStrike">
                <a:solidFill>
                  <a:srgbClr val="f59e0b"/>
                </a:solidFill>
                <a:latin typeface="Courier New"/>
                <a:ea typeface="Courier New"/>
              </a:rPr>
              <a:t>self</a:t>
            </a:r>
            <a:r>
              <a:rPr b="0" lang="en-US" sz="1000" spc="-1" strike="noStrike">
                <a:solidFill>
                  <a:srgbClr val="e2e8f0"/>
                </a:solidFill>
                <a:latin typeface="Courier New"/>
                <a:ea typeface="Courier New"/>
              </a:rPr>
              <a:t>.emp_name = emp_name</a:t>
            </a:r>
            <a:endParaRPr b="0" lang="en-IN" sz="1000" spc="-1" strike="noStrike">
              <a:latin typeface="Arial"/>
            </a:endParaRPr>
          </a:p>
          <a:p>
            <a:r>
              <a:rPr b="0" lang="en-US" sz="1000" spc="-1" strike="noStrike">
                <a:solidFill>
                  <a:srgbClr val="f59e0b"/>
                </a:solidFill>
                <a:latin typeface="Courier New"/>
                <a:ea typeface="Courier New"/>
              </a:rPr>
              <a:t>        </a:t>
            </a:r>
            <a:r>
              <a:rPr b="0" lang="en-US" sz="1000" spc="-1" strike="noStrike">
                <a:solidFill>
                  <a:srgbClr val="f59e0b"/>
                </a:solidFill>
                <a:latin typeface="Courier New"/>
                <a:ea typeface="Courier New"/>
              </a:rPr>
              <a:t>self</a:t>
            </a:r>
            <a:r>
              <a:rPr b="0" lang="en-US" sz="1000" spc="-1" strike="noStrike">
                <a:solidFill>
                  <a:srgbClr val="e2e8f0"/>
                </a:solidFill>
                <a:latin typeface="Courier New"/>
                <a:ea typeface="Courier New"/>
              </a:rPr>
              <a:t>.role = role</a:t>
            </a:r>
            <a:endParaRPr b="0" lang="en-IN" sz="1000" spc="-1" strike="noStrike">
              <a:latin typeface="Arial"/>
            </a:endParaRPr>
          </a:p>
          <a:p>
            <a:endParaRPr b="0" lang="en-IN" sz="1000" spc="-1" strike="noStrike">
              <a:latin typeface="Arial"/>
            </a:endParaRPr>
          </a:p>
          <a:p>
            <a:r>
              <a:rPr b="0" i="1" lang="en-US" sz="1000" spc="-1" strike="noStrike">
                <a:solidFill>
                  <a:srgbClr val="64748b"/>
                </a:solidFill>
                <a:latin typeface="Courier New"/>
                <a:ea typeface="Courier New"/>
              </a:rPr>
              <a:t># Function receives an Employee object</a:t>
            </a:r>
            <a:endParaRPr b="0" lang="en-IN" sz="1000" spc="-1" strike="noStrike">
              <a:latin typeface="Arial"/>
            </a:endParaRPr>
          </a:p>
          <a:p>
            <a:r>
              <a:rPr b="1" lang="en-US" sz="1000" spc="-1" strike="noStrike">
                <a:solidFill>
                  <a:srgbClr val="38bdf8"/>
                </a:solidFill>
                <a:latin typeface="Courier New"/>
                <a:ea typeface="Courier New"/>
              </a:rPr>
              <a:t>def</a:t>
            </a:r>
            <a:r>
              <a:rPr b="0" lang="en-US" sz="1000" spc="-1" strike="noStrike">
                <a:solidFill>
                  <a:srgbClr val="e2e8f0"/>
                </a:solidFill>
                <a:latin typeface="Courier New"/>
                <a:ea typeface="Courier New"/>
              </a:rPr>
              <a:t> display_info(emp):</a:t>
            </a:r>
            <a:endParaRPr b="0" lang="en-IN" sz="1000" spc="-1" strike="noStrike">
              <a:latin typeface="Arial"/>
            </a:endParaRPr>
          </a:p>
          <a:p>
            <a:r>
              <a:rPr b="0" lang="en-US" sz="1000" spc="-1" strike="noStrike">
                <a:solidFill>
                  <a:srgbClr val="e2e8f0"/>
                </a:solidFill>
                <a:latin typeface="Courier New"/>
                <a:ea typeface="Courier New"/>
              </a:rPr>
              <a:t>    </a:t>
            </a:r>
            <a:r>
              <a:rPr b="0" lang="en-US" sz="1000" spc="-1" strike="noStrike">
                <a:solidFill>
                  <a:srgbClr val="e2e8f0"/>
                </a:solidFill>
                <a:latin typeface="Courier New"/>
                <a:ea typeface="Courier New"/>
              </a:rPr>
              <a:t>print</a:t>
            </a:r>
            <a:r>
              <a:rPr b="0" lang="en-US" sz="1000" spc="-1" strike="noStrike">
                <a:solidFill>
                  <a:srgbClr val="64748b"/>
                </a:solidFill>
                <a:latin typeface="Courier New"/>
                <a:ea typeface="Courier New"/>
              </a:rPr>
              <a:t>('Inside fn, id:', id(emp))</a:t>
            </a:r>
            <a:endParaRPr b="0" lang="en-IN" sz="1000" spc="-1" strike="noStrike">
              <a:latin typeface="Arial"/>
            </a:endParaRPr>
          </a:p>
          <a:p>
            <a:r>
              <a:rPr b="0" lang="en-US" sz="1000" spc="-1" strike="noStrike">
                <a:solidFill>
                  <a:srgbClr val="e2e8f0"/>
                </a:solidFill>
                <a:latin typeface="Courier New"/>
                <a:ea typeface="Courier New"/>
              </a:rPr>
              <a:t>    </a:t>
            </a:r>
            <a:r>
              <a:rPr b="0" lang="en-US" sz="1000" spc="-1" strike="noStrike">
                <a:solidFill>
                  <a:srgbClr val="e2e8f0"/>
                </a:solidFill>
                <a:latin typeface="Courier New"/>
                <a:ea typeface="Courier New"/>
              </a:rPr>
              <a:t>print</a:t>
            </a:r>
            <a:r>
              <a:rPr b="0" lang="en-US" sz="1000" spc="-1" strike="noStrike">
                <a:solidFill>
                  <a:srgbClr val="64748b"/>
                </a:solidFill>
                <a:latin typeface="Courier New"/>
                <a:ea typeface="Courier New"/>
              </a:rPr>
              <a:t>(emp.emp_name, '-', emp.role)</a:t>
            </a:r>
            <a:endParaRPr b="0" lang="en-IN" sz="1000" spc="-1" strike="noStrike">
              <a:latin typeface="Arial"/>
            </a:endParaRPr>
          </a:p>
          <a:p>
            <a:endParaRPr b="0" lang="en-IN" sz="1000" spc="-1" strike="noStrike">
              <a:latin typeface="Arial"/>
            </a:endParaRPr>
          </a:p>
          <a:p>
            <a:r>
              <a:rPr b="0" i="1" lang="en-US" sz="1000" spc="-1" strike="noStrike">
                <a:solidFill>
                  <a:srgbClr val="64748b"/>
                </a:solidFill>
                <a:latin typeface="Courier New"/>
                <a:ea typeface="Courier New"/>
              </a:rPr>
              <a:t># Function returns an Employee object</a:t>
            </a:r>
            <a:endParaRPr b="0" lang="en-IN" sz="1000" spc="-1" strike="noStrike">
              <a:latin typeface="Arial"/>
            </a:endParaRPr>
          </a:p>
          <a:p>
            <a:r>
              <a:rPr b="1" lang="en-US" sz="1000" spc="-1" strike="noStrike">
                <a:solidFill>
                  <a:srgbClr val="38bdf8"/>
                </a:solidFill>
                <a:latin typeface="Courier New"/>
                <a:ea typeface="Courier New"/>
              </a:rPr>
              <a:t>def</a:t>
            </a:r>
            <a:r>
              <a:rPr b="0" lang="en-US" sz="1000" spc="-1" strike="noStrike">
                <a:solidFill>
                  <a:srgbClr val="e2e8f0"/>
                </a:solidFill>
                <a:latin typeface="Courier New"/>
                <a:ea typeface="Courier New"/>
              </a:rPr>
              <a:t> build_employee():</a:t>
            </a:r>
            <a:endParaRPr b="0" lang="en-IN" sz="1000" spc="-1" strike="noStrike">
              <a:latin typeface="Arial"/>
            </a:endParaRPr>
          </a:p>
          <a:p>
            <a:r>
              <a:rPr b="0" lang="en-US" sz="1000" spc="-1" strike="noStrike">
                <a:solidFill>
                  <a:srgbClr val="e2e8f0"/>
                </a:solidFill>
                <a:latin typeface="Courier New"/>
                <a:ea typeface="Courier New"/>
              </a:rPr>
              <a:t>    </a:t>
            </a:r>
            <a:r>
              <a:rPr b="0" lang="en-US" sz="1000" spc="-1" strike="noStrike">
                <a:solidFill>
                  <a:srgbClr val="e2e8f0"/>
                </a:solidFill>
                <a:latin typeface="Courier New"/>
                <a:ea typeface="Courier New"/>
              </a:rPr>
              <a:t>temp = Employee(</a:t>
            </a:r>
            <a:r>
              <a:rPr b="0" lang="en-US" sz="1000" spc="-1" strike="noStrike">
                <a:solidFill>
                  <a:srgbClr val="86efac"/>
                </a:solidFill>
                <a:latin typeface="Courier New"/>
                <a:ea typeface="Courier New"/>
              </a:rPr>
              <a:t>'Jamie'</a:t>
            </a:r>
            <a:r>
              <a:rPr b="0" lang="en-US" sz="1000" spc="-1" strike="noStrike">
                <a:solidFill>
                  <a:srgbClr val="e2e8f0"/>
                </a:solidFill>
                <a:latin typeface="Courier New"/>
                <a:ea typeface="Courier New"/>
              </a:rPr>
              <a:t>, </a:t>
            </a:r>
            <a:r>
              <a:rPr b="0" lang="en-US" sz="1000" spc="-1" strike="noStrike">
                <a:solidFill>
                  <a:srgbClr val="86efac"/>
                </a:solidFill>
                <a:latin typeface="Courier New"/>
                <a:ea typeface="Courier New"/>
              </a:rPr>
              <a:t>'Manager'</a:t>
            </a:r>
            <a:r>
              <a:rPr b="0" lang="en-US" sz="1000" spc="-1" strike="noStrike">
                <a:solidFill>
                  <a:srgbClr val="e2e8f0"/>
                </a:solidFill>
                <a:latin typeface="Courier New"/>
                <a:ea typeface="Courier New"/>
              </a:rPr>
              <a:t>)</a:t>
            </a:r>
            <a:endParaRPr b="0" lang="en-IN" sz="1000" spc="-1" strike="noStrike">
              <a:latin typeface="Arial"/>
            </a:endParaRPr>
          </a:p>
          <a:p>
            <a:r>
              <a:rPr b="1" lang="en-US" sz="1000" spc="-1" strike="noStrike">
                <a:solidFill>
                  <a:srgbClr val="38bdf8"/>
                </a:solidFill>
                <a:latin typeface="Courier New"/>
                <a:ea typeface="Courier New"/>
              </a:rPr>
              <a:t>    </a:t>
            </a:r>
            <a:r>
              <a:rPr b="1" lang="en-US" sz="1000" spc="-1" strike="noStrike">
                <a:solidFill>
                  <a:srgbClr val="38bdf8"/>
                </a:solidFill>
                <a:latin typeface="Courier New"/>
                <a:ea typeface="Courier New"/>
              </a:rPr>
              <a:t>return</a:t>
            </a:r>
            <a:r>
              <a:rPr b="0" lang="en-US" sz="1000" spc="-1" strike="noStrike">
                <a:solidFill>
                  <a:srgbClr val="e2e8f0"/>
                </a:solidFill>
                <a:latin typeface="Courier New"/>
                <a:ea typeface="Courier New"/>
              </a:rPr>
              <a:t> temp</a:t>
            </a:r>
            <a:endParaRPr b="0" lang="en-IN" sz="1000" spc="-1" strike="noStrike">
              <a:latin typeface="Arial"/>
            </a:endParaRPr>
          </a:p>
          <a:p>
            <a:endParaRPr b="0" lang="en-IN" sz="1000" spc="-1" strike="noStrike">
              <a:latin typeface="Arial"/>
            </a:endParaRPr>
          </a:p>
          <a:p>
            <a:r>
              <a:rPr b="0" i="1" lang="en-US" sz="1000" spc="-1" strike="noStrike">
                <a:solidFill>
                  <a:srgbClr val="64748b"/>
                </a:solidFill>
                <a:latin typeface="Courier New"/>
                <a:ea typeface="Courier New"/>
              </a:rPr>
              <a:t># --- Proof: same id inside &amp; outside ---</a:t>
            </a:r>
            <a:endParaRPr b="0" lang="en-IN" sz="1000" spc="-1" strike="noStrike">
              <a:latin typeface="Arial"/>
            </a:endParaRPr>
          </a:p>
          <a:p>
            <a:r>
              <a:rPr b="0" lang="en-US" sz="1000" spc="-1" strike="noStrike">
                <a:solidFill>
                  <a:srgbClr val="e2e8f0"/>
                </a:solidFill>
                <a:latin typeface="Courier New"/>
                <a:ea typeface="Courier New"/>
              </a:rPr>
              <a:t>worker = Employee(</a:t>
            </a:r>
            <a:r>
              <a:rPr b="0" lang="en-US" sz="1000" spc="-1" strike="noStrike">
                <a:solidFill>
                  <a:srgbClr val="86efac"/>
                </a:solidFill>
                <a:latin typeface="Courier New"/>
                <a:ea typeface="Courier New"/>
              </a:rPr>
              <a:t>'Alex'</a:t>
            </a:r>
            <a:r>
              <a:rPr b="0" lang="en-US" sz="1000" spc="-1" strike="noStrike">
                <a:solidFill>
                  <a:srgbClr val="e2e8f0"/>
                </a:solidFill>
                <a:latin typeface="Courier New"/>
                <a:ea typeface="Courier New"/>
              </a:rPr>
              <a:t>, </a:t>
            </a:r>
            <a:r>
              <a:rPr b="0" lang="en-US" sz="1000" spc="-1" strike="noStrike">
                <a:solidFill>
                  <a:srgbClr val="86efac"/>
                </a:solidFill>
                <a:latin typeface="Courier New"/>
                <a:ea typeface="Courier New"/>
              </a:rPr>
              <a:t>'Dev'</a:t>
            </a:r>
            <a:r>
              <a:rPr b="0" lang="en-US" sz="1000" spc="-1" strike="noStrike">
                <a:solidFill>
                  <a:srgbClr val="e2e8f0"/>
                </a:solidFill>
                <a:latin typeface="Courier New"/>
                <a:ea typeface="Courier New"/>
              </a:rPr>
              <a:t>)</a:t>
            </a:r>
            <a:endParaRPr b="0" lang="en-IN" sz="1000" spc="-1" strike="noStrike">
              <a:latin typeface="Arial"/>
            </a:endParaRPr>
          </a:p>
          <a:p>
            <a:r>
              <a:rPr b="0" lang="en-US" sz="1000" spc="-1" strike="noStrike">
                <a:solidFill>
                  <a:srgbClr val="e2e8f0"/>
                </a:solidFill>
                <a:latin typeface="Courier New"/>
                <a:ea typeface="Courier New"/>
              </a:rPr>
              <a:t>print</a:t>
            </a:r>
            <a:r>
              <a:rPr b="0" lang="en-US" sz="1000" spc="-1" strike="noStrike">
                <a:solidFill>
                  <a:srgbClr val="64748b"/>
                </a:solidFill>
                <a:latin typeface="Courier New"/>
                <a:ea typeface="Courier New"/>
              </a:rPr>
              <a:t>('Outside fn, id:', id(worker))</a:t>
            </a:r>
            <a:endParaRPr b="0" lang="en-IN" sz="1000" spc="-1" strike="noStrike">
              <a:latin typeface="Arial"/>
            </a:endParaRPr>
          </a:p>
          <a:p>
            <a:r>
              <a:rPr b="0" lang="en-US" sz="1000" spc="-1" strike="noStrike">
                <a:solidFill>
                  <a:srgbClr val="e2e8f0"/>
                </a:solidFill>
                <a:latin typeface="Courier New"/>
                <a:ea typeface="Courier New"/>
              </a:rPr>
              <a:t>display_info(worker)</a:t>
            </a:r>
            <a:endParaRPr b="0" lang="en-IN" sz="1000" spc="-1" strike="noStrike">
              <a:latin typeface="Arial"/>
            </a:endParaRPr>
          </a:p>
          <a:p>
            <a:r>
              <a:rPr b="0" i="1" lang="en-US" sz="1000" spc="-1" strike="noStrike">
                <a:solidFill>
                  <a:srgbClr val="34d399"/>
                </a:solidFill>
                <a:latin typeface="Courier New"/>
                <a:ea typeface="Courier New"/>
              </a:rPr>
              <a:t># Output: SAME id in both lines!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000" spc="-1" strike="noStrike">
              <a:latin typeface="Arial"/>
            </a:endParaRPr>
          </a:p>
        </p:txBody>
      </p:sp>
      <p:sp>
        <p:nvSpPr>
          <p:cNvPr id="258" name="Shape 13"/>
          <p:cNvSpPr/>
          <p:nvPr/>
        </p:nvSpPr>
        <p:spPr>
          <a:xfrm>
            <a:off x="5577840" y="804600"/>
            <a:ext cx="3382920" cy="4023000"/>
          </a:xfrm>
          <a:prstGeom prst="rect">
            <a:avLst/>
          </a:prstGeom>
          <a:solidFill>
            <a:srgbClr val="1e293b"/>
          </a:solidFill>
          <a:ln w="15240">
            <a:solidFill>
              <a:srgbClr val="38bdf8"/>
            </a:solidFill>
            <a:round/>
          </a:ln>
          <a:effectLst>
            <a:outerShdw algn="bl" blurRad="127080" dir="16200000" dist="50760" kx="0" ky="0" rotWithShape="0" sx="100000" sy="10000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259" name="Text 14"/>
          <p:cNvSpPr/>
          <p:nvPr/>
        </p:nvSpPr>
        <p:spPr>
          <a:xfrm>
            <a:off x="5715000" y="896040"/>
            <a:ext cx="31086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500" spc="-1" strike="noStrike">
                <a:solidFill>
                  <a:srgbClr val="38bdf8"/>
                </a:solidFill>
                <a:latin typeface="Calibri"/>
              </a:rPr>
              <a:t>Why This Matters</a:t>
            </a:r>
            <a:endParaRPr b="0" lang="en-IN" sz="1500" spc="-1" strike="noStrike">
              <a:latin typeface="Arial"/>
            </a:endParaRPr>
          </a:p>
        </p:txBody>
      </p:sp>
      <p:sp>
        <p:nvSpPr>
          <p:cNvPr id="260" name="Text 15"/>
          <p:cNvSpPr/>
          <p:nvPr/>
        </p:nvSpPr>
        <p:spPr>
          <a:xfrm>
            <a:off x="5715000" y="1353240"/>
            <a:ext cx="31086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34d399"/>
                </a:solidFill>
                <a:latin typeface="Calibri"/>
              </a:rPr>
              <a:t>Object as argument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261" name="Text 16"/>
          <p:cNvSpPr/>
          <p:nvPr/>
        </p:nvSpPr>
        <p:spPr>
          <a:xfrm>
            <a:off x="5715000" y="1627560"/>
            <a:ext cx="310860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e2e8f0"/>
                </a:solidFill>
                <a:latin typeface="Calibri"/>
              </a:rPr>
              <a:t>For the first time — you're passing a class object to a function (not just int or list)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262" name="Text 17"/>
          <p:cNvSpPr/>
          <p:nvPr/>
        </p:nvSpPr>
        <p:spPr>
          <a:xfrm>
            <a:off x="5715000" y="2286000"/>
            <a:ext cx="31086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34d399"/>
                </a:solidFill>
                <a:latin typeface="Calibri"/>
              </a:rPr>
              <a:t>Object as return value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263" name="Text 18"/>
          <p:cNvSpPr/>
          <p:nvPr/>
        </p:nvSpPr>
        <p:spPr>
          <a:xfrm>
            <a:off x="5715000" y="2560320"/>
            <a:ext cx="310860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e2e8f0"/>
                </a:solidFill>
                <a:latin typeface="Calibri"/>
              </a:rPr>
              <a:t>Functions can also return objects — very common in real programs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264" name="Text 19"/>
          <p:cNvSpPr/>
          <p:nvPr/>
        </p:nvSpPr>
        <p:spPr>
          <a:xfrm>
            <a:off x="5715000" y="3218760"/>
            <a:ext cx="31086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34d399"/>
                </a:solidFill>
                <a:latin typeface="Calibri"/>
              </a:rPr>
              <a:t>Same memory address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265" name="Text 20"/>
          <p:cNvSpPr/>
          <p:nvPr/>
        </p:nvSpPr>
        <p:spPr>
          <a:xfrm>
            <a:off x="5715000" y="3493080"/>
            <a:ext cx="310860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e2e8f0"/>
                </a:solidFill>
                <a:latin typeface="Calibri"/>
              </a:rPr>
              <a:t>id() inside and outside the function is IDENTICAL — proves Python passes the reference (address), not a copy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266" name="Text 21"/>
          <p:cNvSpPr/>
          <p:nvPr/>
        </p:nvSpPr>
        <p:spPr>
          <a:xfrm>
            <a:off x="5715000" y="4151520"/>
            <a:ext cx="31086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34d399"/>
                </a:solidFill>
                <a:latin typeface="Calibri"/>
              </a:rPr>
              <a:t>Changes persist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267" name="Text 22"/>
          <p:cNvSpPr/>
          <p:nvPr/>
        </p:nvSpPr>
        <p:spPr>
          <a:xfrm>
            <a:off x="5715000" y="4425840"/>
            <a:ext cx="310860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e2e8f0"/>
                </a:solidFill>
                <a:latin typeface="Calibri"/>
              </a:rPr>
              <a:t>Modifying emp.emp_name inside a function changes it globally — the original object is affected</a:t>
            </a:r>
            <a:endParaRPr b="0" lang="en-IN" sz="11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Shape 0"/>
          <p:cNvSpPr/>
          <p:nvPr/>
        </p:nvSpPr>
        <p:spPr>
          <a:xfrm>
            <a:off x="0" y="0"/>
            <a:ext cx="9143640" cy="51433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69" name="Shape 1"/>
          <p:cNvSpPr/>
          <p:nvPr/>
        </p:nvSpPr>
        <p:spPr>
          <a:xfrm>
            <a:off x="0" y="0"/>
            <a:ext cx="9143640" cy="5143320"/>
          </a:xfrm>
          <a:prstGeom prst="rect">
            <a:avLst/>
          </a:prstGeom>
          <a:solidFill>
            <a:srgbClr val="162032">
              <a:alpha val="80000"/>
            </a:srgbClr>
          </a:solidFill>
          <a:ln w="12700">
            <a:solidFill>
              <a:srgbClr val="162032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70" name="Text 2"/>
          <p:cNvSpPr/>
          <p:nvPr/>
        </p:nvSpPr>
        <p:spPr>
          <a:xfrm>
            <a:off x="274320" y="457200"/>
            <a:ext cx="2285640" cy="274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0" spc="-1" strike="noStrike">
                <a:solidFill>
                  <a:srgbClr val="38bdf8">
                    <a:alpha val="30000"/>
                  </a:srgbClr>
                </a:solidFill>
                <a:latin typeface="Calibri"/>
              </a:rPr>
              <a:t>04</a:t>
            </a:r>
            <a:endParaRPr b="0" lang="en-IN" sz="13000" spc="-1" strike="noStrike">
              <a:latin typeface="Arial"/>
            </a:endParaRPr>
          </a:p>
        </p:txBody>
      </p:sp>
      <p:sp>
        <p:nvSpPr>
          <p:cNvPr id="271" name="Shape 3"/>
          <p:cNvSpPr/>
          <p:nvPr/>
        </p:nvSpPr>
        <p:spPr>
          <a:xfrm>
            <a:off x="1005840" y="1645920"/>
            <a:ext cx="7131960" cy="5436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72" name="Text 4"/>
          <p:cNvSpPr/>
          <p:nvPr/>
        </p:nvSpPr>
        <p:spPr>
          <a:xfrm>
            <a:off x="1005840" y="1783080"/>
            <a:ext cx="7772040" cy="137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4200" spc="-1" strike="noStrike">
                <a:solidFill>
                  <a:srgbClr val="ffffff"/>
                </a:solidFill>
                <a:latin typeface="Calibri"/>
              </a:rPr>
              <a:t>Object Mutability</a:t>
            </a:r>
            <a:endParaRPr b="0" lang="en-IN" sz="4200" spc="-1" strike="noStrike">
              <a:latin typeface="Arial"/>
            </a:endParaRPr>
          </a:p>
        </p:txBody>
      </p:sp>
      <p:sp>
        <p:nvSpPr>
          <p:cNvPr id="273" name="Text 5"/>
          <p:cNvSpPr/>
          <p:nvPr/>
        </p:nvSpPr>
        <p:spPr>
          <a:xfrm>
            <a:off x="1005840" y="3200400"/>
            <a:ext cx="777204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700" spc="-1" strike="noStrike">
                <a:solidFill>
                  <a:srgbClr val="94a3b8"/>
                </a:solidFill>
                <a:latin typeface="Calibri"/>
              </a:rPr>
              <a:t>User-defined class objects are mutable by default</a:t>
            </a:r>
            <a:endParaRPr b="0" lang="en-IN" sz="17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Shape 0"/>
          <p:cNvSpPr/>
          <p:nvPr/>
        </p:nvSpPr>
        <p:spPr>
          <a:xfrm>
            <a:off x="0" y="0"/>
            <a:ext cx="63720" cy="514332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75" name="Shape 1"/>
          <p:cNvSpPr/>
          <p:nvPr/>
        </p:nvSpPr>
        <p:spPr>
          <a:xfrm>
            <a:off x="0" y="0"/>
            <a:ext cx="9143640" cy="71280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76" name="Text 2"/>
          <p:cNvSpPr/>
          <p:nvPr/>
        </p:nvSpPr>
        <p:spPr>
          <a:xfrm>
            <a:off x="182880" y="0"/>
            <a:ext cx="7131960" cy="712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200" spc="-1" strike="noStrike">
                <a:solidFill>
                  <a:srgbClr val="ffffff"/>
                </a:solidFill>
                <a:latin typeface="Calibri"/>
              </a:rPr>
              <a:t>Object Mutability – Proof &amp; Interview Answer</a:t>
            </a:r>
            <a:endParaRPr b="0" lang="en-IN" sz="2200" spc="-1" strike="noStrike">
              <a:latin typeface="Arial"/>
            </a:endParaRPr>
          </a:p>
        </p:txBody>
      </p:sp>
      <p:sp>
        <p:nvSpPr>
          <p:cNvPr id="277" name="Shape 3"/>
          <p:cNvSpPr/>
          <p:nvPr/>
        </p:nvSpPr>
        <p:spPr>
          <a:xfrm>
            <a:off x="7589520" y="109800"/>
            <a:ext cx="1371240" cy="47520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round/>
          </a:ln>
          <a:effectLst>
            <a:outerShdw algn="bl" blurRad="127080" dir="16200000" dist="50760" kx="0" ky="0" rotWithShape="0" sx="100000" sy="10000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278" name="Text 4"/>
          <p:cNvSpPr/>
          <p:nvPr/>
        </p:nvSpPr>
        <p:spPr>
          <a:xfrm>
            <a:off x="7589520" y="109800"/>
            <a:ext cx="137124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0f172a"/>
                </a:solidFill>
                <a:latin typeface="Calibri"/>
              </a:rPr>
              <a:t>Section 04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279" name="Shape 5"/>
          <p:cNvSpPr/>
          <p:nvPr/>
        </p:nvSpPr>
        <p:spPr>
          <a:xfrm>
            <a:off x="182880" y="804600"/>
            <a:ext cx="4251600" cy="2377080"/>
          </a:xfrm>
          <a:prstGeom prst="rect">
            <a:avLst/>
          </a:prstGeom>
          <a:solidFill>
            <a:srgbClr val="1e293b"/>
          </a:solidFill>
          <a:ln w="15240">
            <a:solidFill>
              <a:srgbClr val="38bdf8"/>
            </a:solidFill>
            <a:round/>
          </a:ln>
          <a:effectLst>
            <a:outerShdw algn="bl" blurRad="127080" dir="16200000" dist="50760" kx="0" ky="0" rotWithShape="0" sx="100000" sy="10000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280" name="Shape 6"/>
          <p:cNvSpPr/>
          <p:nvPr/>
        </p:nvSpPr>
        <p:spPr>
          <a:xfrm>
            <a:off x="182880" y="804600"/>
            <a:ext cx="4251600" cy="5436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81" name="Text 7"/>
          <p:cNvSpPr/>
          <p:nvPr/>
        </p:nvSpPr>
        <p:spPr>
          <a:xfrm>
            <a:off x="320040" y="896040"/>
            <a:ext cx="40230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34d399"/>
                </a:solidFill>
                <a:latin typeface="Calibri"/>
              </a:rPr>
              <a:t>MUTABLE (can change in-place)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282" name="Text 8"/>
          <p:cNvSpPr/>
          <p:nvPr/>
        </p:nvSpPr>
        <p:spPr>
          <a:xfrm>
            <a:off x="320040" y="1298520"/>
            <a:ext cx="4023000" cy="105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marL="343080" indent="-343080">
              <a:lnSpc>
                <a:spcPct val="100000"/>
              </a:lnSpc>
              <a:buClr>
                <a:srgbClr val="e2e8f0"/>
              </a:buClr>
              <a:buFont typeface="Symbol" charset="2"/>
              <a:buChar char=""/>
            </a:pPr>
            <a:r>
              <a:rPr b="0" lang="en-US" sz="1300" spc="-1" strike="noStrike">
                <a:solidFill>
                  <a:srgbClr val="e2e8f0"/>
                </a:solidFill>
                <a:latin typeface="Calibri"/>
              </a:rPr>
              <a:t>Lists  [ ]</a:t>
            </a:r>
            <a:endParaRPr b="0" lang="en-IN" sz="1300" spc="-1" strike="noStrike">
              <a:latin typeface="Arial"/>
            </a:endParaRPr>
          </a:p>
          <a:p>
            <a:pPr marL="343080" indent="-343080">
              <a:lnSpc>
                <a:spcPct val="100000"/>
              </a:lnSpc>
              <a:buClr>
                <a:srgbClr val="e2e8f0"/>
              </a:buClr>
              <a:buFont typeface="Symbol" charset="2"/>
              <a:buChar char=""/>
            </a:pPr>
            <a:r>
              <a:rPr b="0" lang="en-US" sz="1300" spc="-1" strike="noStrike">
                <a:solidFill>
                  <a:srgbClr val="e2e8f0"/>
                </a:solidFill>
                <a:latin typeface="Calibri"/>
              </a:rPr>
              <a:t>Sets  { }</a:t>
            </a:r>
            <a:endParaRPr b="0" lang="en-IN" sz="1300" spc="-1" strike="noStrike">
              <a:latin typeface="Arial"/>
            </a:endParaRPr>
          </a:p>
          <a:p>
            <a:pPr marL="343080" indent="-343080">
              <a:lnSpc>
                <a:spcPct val="100000"/>
              </a:lnSpc>
              <a:buClr>
                <a:srgbClr val="e2e8f0"/>
              </a:buClr>
              <a:buFont typeface="Symbol" charset="2"/>
              <a:buChar char=""/>
            </a:pPr>
            <a:r>
              <a:rPr b="0" lang="en-US" sz="1300" spc="-1" strike="noStrike">
                <a:solidFill>
                  <a:srgbClr val="e2e8f0"/>
                </a:solidFill>
                <a:latin typeface="Calibri"/>
              </a:rPr>
              <a:t>Dicts  { : }</a:t>
            </a:r>
            <a:endParaRPr b="0" lang="en-IN" sz="1300" spc="-1" strike="noStrike">
              <a:latin typeface="Arial"/>
            </a:endParaRPr>
          </a:p>
          <a:p>
            <a:pPr marL="343080" indent="-343080">
              <a:lnSpc>
                <a:spcPct val="100000"/>
              </a:lnSpc>
              <a:buClr>
                <a:srgbClr val="e2e8f0"/>
              </a:buClr>
              <a:buFont typeface="Symbol" charset="2"/>
              <a:buChar char=""/>
            </a:pPr>
            <a:r>
              <a:rPr b="0" lang="en-US" sz="1300" spc="-1" strike="noStrike">
                <a:solidFill>
                  <a:srgbClr val="e2e8f0"/>
                </a:solidFill>
                <a:latin typeface="Calibri"/>
              </a:rPr>
              <a:t>User-defined objects  ✓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283" name="Text 9"/>
          <p:cNvSpPr/>
          <p:nvPr/>
        </p:nvSpPr>
        <p:spPr>
          <a:xfrm>
            <a:off x="320040" y="2395800"/>
            <a:ext cx="402300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34d399"/>
                </a:solidFill>
                <a:latin typeface="Courier New"/>
                <a:ea typeface="Courier New"/>
              </a:rPr>
              <a:t>→ </a:t>
            </a:r>
            <a:r>
              <a:rPr b="1" lang="en-US" sz="1200" spc="-1" strike="noStrike">
                <a:solidFill>
                  <a:srgbClr val="34d399"/>
                </a:solidFill>
                <a:latin typeface="Courier New"/>
                <a:ea typeface="Courier New"/>
              </a:rPr>
              <a:t>id() stays the SAME after changes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284" name="Shape 10"/>
          <p:cNvSpPr/>
          <p:nvPr/>
        </p:nvSpPr>
        <p:spPr>
          <a:xfrm>
            <a:off x="4617720" y="804600"/>
            <a:ext cx="4251600" cy="2377080"/>
          </a:xfrm>
          <a:prstGeom prst="rect">
            <a:avLst/>
          </a:prstGeom>
          <a:solidFill>
            <a:srgbClr val="1e293b"/>
          </a:solidFill>
          <a:ln w="15240">
            <a:solidFill>
              <a:srgbClr val="38bdf8"/>
            </a:solidFill>
            <a:round/>
          </a:ln>
          <a:effectLst>
            <a:outerShdw algn="bl" blurRad="127080" dir="16200000" dist="50760" kx="0" ky="0" rotWithShape="0" sx="100000" sy="10000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285" name="Shape 11"/>
          <p:cNvSpPr/>
          <p:nvPr/>
        </p:nvSpPr>
        <p:spPr>
          <a:xfrm>
            <a:off x="4617720" y="804600"/>
            <a:ext cx="4251600" cy="54360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86" name="Text 12"/>
          <p:cNvSpPr/>
          <p:nvPr/>
        </p:nvSpPr>
        <p:spPr>
          <a:xfrm>
            <a:off x="4754880" y="896040"/>
            <a:ext cx="40230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f87171"/>
                </a:solidFill>
                <a:latin typeface="Calibri"/>
              </a:rPr>
              <a:t>IMMUTABLE (change = new object)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287" name="Text 13"/>
          <p:cNvSpPr/>
          <p:nvPr/>
        </p:nvSpPr>
        <p:spPr>
          <a:xfrm>
            <a:off x="4754880" y="1298520"/>
            <a:ext cx="4023000" cy="105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marL="343080" indent="-343080">
              <a:lnSpc>
                <a:spcPct val="100000"/>
              </a:lnSpc>
              <a:buClr>
                <a:srgbClr val="e2e8f0"/>
              </a:buClr>
              <a:buFont typeface="Symbol" charset="2"/>
              <a:buChar char=""/>
            </a:pPr>
            <a:r>
              <a:rPr b="0" lang="en-US" sz="1300" spc="-1" strike="noStrike">
                <a:solidFill>
                  <a:srgbClr val="e2e8f0"/>
                </a:solidFill>
                <a:latin typeface="Calibri"/>
              </a:rPr>
              <a:t>Strings  str</a:t>
            </a:r>
            <a:endParaRPr b="0" lang="en-IN" sz="1300" spc="-1" strike="noStrike">
              <a:latin typeface="Arial"/>
            </a:endParaRPr>
          </a:p>
          <a:p>
            <a:pPr marL="343080" indent="-343080">
              <a:lnSpc>
                <a:spcPct val="100000"/>
              </a:lnSpc>
              <a:buClr>
                <a:srgbClr val="e2e8f0"/>
              </a:buClr>
              <a:buFont typeface="Symbol" charset="2"/>
              <a:buChar char=""/>
            </a:pPr>
            <a:r>
              <a:rPr b="0" lang="en-US" sz="1300" spc="-1" strike="noStrike">
                <a:solidFill>
                  <a:srgbClr val="e2e8f0"/>
                </a:solidFill>
                <a:latin typeface="Calibri"/>
              </a:rPr>
              <a:t>Integers  int</a:t>
            </a:r>
            <a:endParaRPr b="0" lang="en-IN" sz="1300" spc="-1" strike="noStrike">
              <a:latin typeface="Arial"/>
            </a:endParaRPr>
          </a:p>
          <a:p>
            <a:pPr marL="343080" indent="-343080">
              <a:lnSpc>
                <a:spcPct val="100000"/>
              </a:lnSpc>
              <a:buClr>
                <a:srgbClr val="e2e8f0"/>
              </a:buClr>
              <a:buFont typeface="Symbol" charset="2"/>
              <a:buChar char=""/>
            </a:pPr>
            <a:r>
              <a:rPr b="0" lang="en-US" sz="1300" spc="-1" strike="noStrike">
                <a:solidFill>
                  <a:srgbClr val="e2e8f0"/>
                </a:solidFill>
                <a:latin typeface="Calibri"/>
              </a:rPr>
              <a:t>Tuples  ( )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288" name="Text 14"/>
          <p:cNvSpPr/>
          <p:nvPr/>
        </p:nvSpPr>
        <p:spPr>
          <a:xfrm>
            <a:off x="4754880" y="2395800"/>
            <a:ext cx="402300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f87171"/>
                </a:solidFill>
                <a:latin typeface="Courier New"/>
                <a:ea typeface="Courier New"/>
              </a:rPr>
              <a:t>→ </a:t>
            </a:r>
            <a:r>
              <a:rPr b="1" lang="en-US" sz="1200" spc="-1" strike="noStrike">
                <a:solidFill>
                  <a:srgbClr val="f87171"/>
                </a:solidFill>
                <a:latin typeface="Courier New"/>
                <a:ea typeface="Courier New"/>
              </a:rPr>
              <a:t>id() changes when you 'modify'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289" name="Shape 15"/>
          <p:cNvSpPr/>
          <p:nvPr/>
        </p:nvSpPr>
        <p:spPr>
          <a:xfrm>
            <a:off x="2880" y="3273480"/>
            <a:ext cx="5037120" cy="2126520"/>
          </a:xfrm>
          <a:prstGeom prst="rect">
            <a:avLst/>
          </a:prstGeom>
          <a:solidFill>
            <a:srgbClr val="0d1117"/>
          </a:solidFill>
          <a:ln w="19050">
            <a:solidFill>
              <a:srgbClr val="2d3748"/>
            </a:solidFill>
            <a:round/>
          </a:ln>
          <a:effectLst>
            <a:outerShdw algn="bl" blurRad="127080" dir="16200000" dist="50760" kx="0" ky="0" rotWithShape="0" sx="100000" sy="10000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290" name="Shape 16"/>
          <p:cNvSpPr/>
          <p:nvPr/>
        </p:nvSpPr>
        <p:spPr>
          <a:xfrm>
            <a:off x="182880" y="3273480"/>
            <a:ext cx="5028840" cy="228240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91" name="Shape 17"/>
          <p:cNvSpPr/>
          <p:nvPr/>
        </p:nvSpPr>
        <p:spPr>
          <a:xfrm>
            <a:off x="292680" y="3328560"/>
            <a:ext cx="100080" cy="100080"/>
          </a:xfrm>
          <a:prstGeom prst="ellipse">
            <a:avLst/>
          </a:prstGeom>
          <a:solidFill>
            <a:srgbClr val="f87171"/>
          </a:solidFill>
          <a:ln w="12700">
            <a:solidFill>
              <a:srgbClr val="f87171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92" name="Shape 18"/>
          <p:cNvSpPr/>
          <p:nvPr/>
        </p:nvSpPr>
        <p:spPr>
          <a:xfrm>
            <a:off x="475560" y="3328560"/>
            <a:ext cx="100080" cy="10008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93" name="Shape 19"/>
          <p:cNvSpPr/>
          <p:nvPr/>
        </p:nvSpPr>
        <p:spPr>
          <a:xfrm>
            <a:off x="658440" y="3328560"/>
            <a:ext cx="100080" cy="100080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94" name="Text 20"/>
          <p:cNvSpPr/>
          <p:nvPr/>
        </p:nvSpPr>
        <p:spPr>
          <a:xfrm>
            <a:off x="292680" y="3520440"/>
            <a:ext cx="4845960" cy="1298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r>
              <a:rPr b="1" lang="en-US" sz="1000" spc="-1" strike="noStrike">
                <a:solidFill>
                  <a:srgbClr val="38bdf8"/>
                </a:solidFill>
                <a:latin typeface="Courier New"/>
                <a:ea typeface="Courier New"/>
              </a:rPr>
              <a:t>def</a:t>
            </a:r>
            <a:r>
              <a:rPr b="0" lang="en-US" sz="1000" spc="-1" strike="noStrike">
                <a:solidFill>
                  <a:srgbClr val="e2e8f0"/>
                </a:solidFill>
                <a:latin typeface="Courier New"/>
                <a:ea typeface="Courier New"/>
              </a:rPr>
              <a:t> update_name(emp):</a:t>
            </a:r>
            <a:endParaRPr b="0" lang="en-IN" sz="1000" spc="-1" strike="noStrike">
              <a:latin typeface="Arial"/>
            </a:endParaRPr>
          </a:p>
          <a:p>
            <a:r>
              <a:rPr b="0" lang="en-US" sz="1000" spc="-1" strike="noStrike">
                <a:solidFill>
                  <a:srgbClr val="e2e8f0"/>
                </a:solidFill>
                <a:latin typeface="Courier New"/>
                <a:ea typeface="Courier New"/>
              </a:rPr>
              <a:t>    </a:t>
            </a:r>
            <a:r>
              <a:rPr b="0" lang="en-US" sz="1000" spc="-1" strike="noStrike">
                <a:solidFill>
                  <a:srgbClr val="e2e8f0"/>
                </a:solidFill>
                <a:latin typeface="Courier New"/>
                <a:ea typeface="Courier New"/>
              </a:rPr>
              <a:t>emp.emp_name = </a:t>
            </a:r>
            <a:r>
              <a:rPr b="0" lang="en-US" sz="1000" spc="-1" strike="noStrike">
                <a:solidFill>
                  <a:srgbClr val="86efac"/>
                </a:solidFill>
                <a:latin typeface="Courier New"/>
                <a:ea typeface="Courier New"/>
              </a:rPr>
              <a:t>'Morgan'</a:t>
            </a:r>
            <a:endParaRPr b="0" lang="en-IN" sz="1000" spc="-1" strike="noStrike">
              <a:latin typeface="Arial"/>
            </a:endParaRPr>
          </a:p>
          <a:p>
            <a:r>
              <a:rPr b="1" lang="en-US" sz="1000" spc="-1" strike="noStrike">
                <a:solidFill>
                  <a:srgbClr val="38bdf8"/>
                </a:solidFill>
                <a:latin typeface="Courier New"/>
                <a:ea typeface="Courier New"/>
              </a:rPr>
              <a:t>    </a:t>
            </a:r>
            <a:r>
              <a:rPr b="1" lang="en-US" sz="1000" spc="-1" strike="noStrike">
                <a:solidFill>
                  <a:srgbClr val="38bdf8"/>
                </a:solidFill>
                <a:latin typeface="Courier New"/>
                <a:ea typeface="Courier New"/>
              </a:rPr>
              <a:t>return</a:t>
            </a:r>
            <a:r>
              <a:rPr b="0" lang="en-US" sz="1000" spc="-1" strike="noStrike">
                <a:solidFill>
                  <a:srgbClr val="e2e8f0"/>
                </a:solidFill>
                <a:latin typeface="Courier New"/>
                <a:ea typeface="Courier New"/>
              </a:rPr>
              <a:t> emp</a:t>
            </a:r>
            <a:endParaRPr b="0" lang="en-IN" sz="1000" spc="-1" strike="noStrike">
              <a:latin typeface="Arial"/>
            </a:endParaRPr>
          </a:p>
          <a:p>
            <a:endParaRPr b="0" lang="en-IN" sz="1000" spc="-1" strike="noStrike">
              <a:latin typeface="Arial"/>
            </a:endParaRPr>
          </a:p>
          <a:p>
            <a:r>
              <a:rPr b="0" lang="en-US" sz="1000" spc="-1" strike="noStrike">
                <a:solidFill>
                  <a:srgbClr val="e2e8f0"/>
                </a:solidFill>
                <a:latin typeface="Courier New"/>
                <a:ea typeface="Courier New"/>
              </a:rPr>
              <a:t>worker = Employee(</a:t>
            </a:r>
            <a:r>
              <a:rPr b="0" lang="en-US" sz="1000" spc="-1" strike="noStrike">
                <a:solidFill>
                  <a:srgbClr val="86efac"/>
                </a:solidFill>
                <a:latin typeface="Courier New"/>
                <a:ea typeface="Courier New"/>
              </a:rPr>
              <a:t>'Alex'</a:t>
            </a:r>
            <a:r>
              <a:rPr b="0" lang="en-US" sz="1000" spc="-1" strike="noStrike">
                <a:solidFill>
                  <a:srgbClr val="e2e8f0"/>
                </a:solidFill>
                <a:latin typeface="Courier New"/>
                <a:ea typeface="Courier New"/>
              </a:rPr>
              <a:t>, </a:t>
            </a:r>
            <a:r>
              <a:rPr b="0" lang="en-US" sz="1000" spc="-1" strike="noStrike">
                <a:solidFill>
                  <a:srgbClr val="86efac"/>
                </a:solidFill>
                <a:latin typeface="Courier New"/>
                <a:ea typeface="Courier New"/>
              </a:rPr>
              <a:t>'Dev'</a:t>
            </a:r>
            <a:r>
              <a:rPr b="0" lang="en-US" sz="1000" spc="-1" strike="noStrike">
                <a:solidFill>
                  <a:srgbClr val="e2e8f0"/>
                </a:solidFill>
                <a:latin typeface="Courier New"/>
                <a:ea typeface="Courier New"/>
              </a:rPr>
              <a:t>)</a:t>
            </a:r>
            <a:endParaRPr b="0" lang="en-IN" sz="1000" spc="-1" strike="noStrike">
              <a:latin typeface="Arial"/>
            </a:endParaRPr>
          </a:p>
          <a:p>
            <a:r>
              <a:rPr b="0" lang="en-US" sz="1000" spc="-1" strike="noStrike">
                <a:solidFill>
                  <a:srgbClr val="e2e8f0"/>
                </a:solidFill>
                <a:latin typeface="Courier New"/>
                <a:ea typeface="Courier New"/>
              </a:rPr>
              <a:t>print</a:t>
            </a:r>
            <a:r>
              <a:rPr b="0" lang="en-US" sz="1000" spc="-1" strike="noStrike">
                <a:solidFill>
                  <a:srgbClr val="64748b"/>
                </a:solidFill>
                <a:latin typeface="Courier New"/>
                <a:ea typeface="Courier New"/>
              </a:rPr>
              <a:t>(id(worker))   # e.g. 140234567890</a:t>
            </a:r>
            <a:endParaRPr b="0" lang="en-IN" sz="1000" spc="-1" strike="noStrike">
              <a:latin typeface="Arial"/>
            </a:endParaRPr>
          </a:p>
          <a:p>
            <a:endParaRPr b="0" lang="en-IN" sz="1000" spc="-1" strike="noStrike">
              <a:latin typeface="Arial"/>
            </a:endParaRPr>
          </a:p>
          <a:p>
            <a:r>
              <a:rPr b="0" lang="en-US" sz="1000" spc="-1" strike="noStrike">
                <a:solidFill>
                  <a:srgbClr val="e2e8f0"/>
                </a:solidFill>
                <a:latin typeface="Courier New"/>
                <a:ea typeface="Courier New"/>
              </a:rPr>
              <a:t>result = update_name(worker)</a:t>
            </a:r>
            <a:endParaRPr b="0" lang="en-IN" sz="1000" spc="-1" strike="noStrike">
              <a:latin typeface="Arial"/>
            </a:endParaRPr>
          </a:p>
          <a:p>
            <a:r>
              <a:rPr b="0" lang="en-US" sz="1000" spc="-1" strike="noStrike">
                <a:solidFill>
                  <a:srgbClr val="e2e8f0"/>
                </a:solidFill>
                <a:latin typeface="Courier New"/>
                <a:ea typeface="Courier New"/>
              </a:rPr>
              <a:t>print</a:t>
            </a:r>
            <a:r>
              <a:rPr b="0" lang="en-US" sz="1000" spc="-1" strike="noStrike">
                <a:solidFill>
                  <a:srgbClr val="34d399"/>
                </a:solidFill>
                <a:latin typeface="Courier New"/>
                <a:ea typeface="Courier New"/>
              </a:rPr>
              <a:t>(id(result))   # SAME: 140234567890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1000" spc="-1" strike="noStrike">
                <a:solidFill>
                  <a:srgbClr val="34d399"/>
                </a:solidFill>
                <a:latin typeface="Courier New"/>
                <a:ea typeface="Courier New"/>
              </a:rPr>
              <a:t># id unchanged → object was modified IN PLACE → MUTABLE!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295" name="Shape 21"/>
          <p:cNvSpPr/>
          <p:nvPr/>
        </p:nvSpPr>
        <p:spPr>
          <a:xfrm>
            <a:off x="5394960" y="3273480"/>
            <a:ext cx="3565800" cy="1599840"/>
          </a:xfrm>
          <a:prstGeom prst="rect">
            <a:avLst/>
          </a:prstGeom>
          <a:solidFill>
            <a:srgbClr val="1a2a0c"/>
          </a:solidFill>
          <a:ln w="25400">
            <a:solidFill>
              <a:srgbClr val="34d399"/>
            </a:solidFill>
            <a:round/>
          </a:ln>
          <a:effectLst>
            <a:outerShdw algn="bl" blurRad="127080" dir="16200000" dist="50760" kx="0" ky="0" rotWithShape="0" sx="100000" sy="10000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296" name="Text 22"/>
          <p:cNvSpPr/>
          <p:nvPr/>
        </p:nvSpPr>
        <p:spPr>
          <a:xfrm>
            <a:off x="5532120" y="3364920"/>
            <a:ext cx="32914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000" spc="199" strike="noStrike">
                <a:solidFill>
                  <a:srgbClr val="34d399"/>
                </a:solidFill>
                <a:latin typeface="Calibri"/>
              </a:rPr>
              <a:t>INTERVIEW ANSWER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297" name="Text 23"/>
          <p:cNvSpPr/>
          <p:nvPr/>
        </p:nvSpPr>
        <p:spPr>
          <a:xfrm>
            <a:off x="5532120" y="3657600"/>
            <a:ext cx="3291480" cy="109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e2e8f0"/>
                </a:solidFill>
                <a:latin typeface="Calibri"/>
              </a:rPr>
              <a:t>User-defined class objects are MUTABLE by default. Proof: after modifying an attribute inside a function, the object's id() remains unchanged — the change happened in place.</a:t>
            </a:r>
            <a:endParaRPr b="0" lang="en-IN" sz="11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Shape 0"/>
          <p:cNvSpPr/>
          <p:nvPr/>
        </p:nvSpPr>
        <p:spPr>
          <a:xfrm>
            <a:off x="0" y="0"/>
            <a:ext cx="9143640" cy="51433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99" name="Shape 1"/>
          <p:cNvSpPr/>
          <p:nvPr/>
        </p:nvSpPr>
        <p:spPr>
          <a:xfrm>
            <a:off x="0" y="0"/>
            <a:ext cx="9143640" cy="5143320"/>
          </a:xfrm>
          <a:prstGeom prst="rect">
            <a:avLst/>
          </a:prstGeom>
          <a:solidFill>
            <a:srgbClr val="162032">
              <a:alpha val="80000"/>
            </a:srgbClr>
          </a:solidFill>
          <a:ln w="12700">
            <a:solidFill>
              <a:srgbClr val="162032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00" name="Text 2"/>
          <p:cNvSpPr/>
          <p:nvPr/>
        </p:nvSpPr>
        <p:spPr>
          <a:xfrm>
            <a:off x="274320" y="457200"/>
            <a:ext cx="2285640" cy="274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0" spc="-1" strike="noStrike">
                <a:solidFill>
                  <a:srgbClr val="38bdf8">
                    <a:alpha val="30000"/>
                  </a:srgbClr>
                </a:solidFill>
                <a:latin typeface="Calibri"/>
              </a:rPr>
              <a:t>05</a:t>
            </a:r>
            <a:endParaRPr b="0" lang="en-IN" sz="13000" spc="-1" strike="noStrike">
              <a:latin typeface="Arial"/>
            </a:endParaRPr>
          </a:p>
        </p:txBody>
      </p:sp>
      <p:sp>
        <p:nvSpPr>
          <p:cNvPr id="301" name="Shape 3"/>
          <p:cNvSpPr/>
          <p:nvPr/>
        </p:nvSpPr>
        <p:spPr>
          <a:xfrm>
            <a:off x="1005840" y="1645920"/>
            <a:ext cx="7131960" cy="5436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02" name="Text 4"/>
          <p:cNvSpPr/>
          <p:nvPr/>
        </p:nvSpPr>
        <p:spPr>
          <a:xfrm>
            <a:off x="1005840" y="1783080"/>
            <a:ext cx="7772040" cy="137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4200" spc="-1" strike="noStrike">
                <a:solidFill>
                  <a:srgbClr val="ffffff"/>
                </a:solidFill>
                <a:latin typeface="Calibri"/>
              </a:rPr>
              <a:t>Encapsulation</a:t>
            </a:r>
            <a:endParaRPr b="0" lang="en-IN" sz="4200" spc="-1" strike="noStrike">
              <a:latin typeface="Arial"/>
            </a:endParaRPr>
          </a:p>
        </p:txBody>
      </p:sp>
      <p:sp>
        <p:nvSpPr>
          <p:cNvPr id="303" name="Text 5"/>
          <p:cNvSpPr/>
          <p:nvPr/>
        </p:nvSpPr>
        <p:spPr>
          <a:xfrm>
            <a:off x="1005840" y="3200400"/>
            <a:ext cx="777204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700" spc="-1" strike="noStrike">
                <a:solidFill>
                  <a:srgbClr val="94a3b8"/>
                </a:solidFill>
                <a:latin typeface="Calibri"/>
              </a:rPr>
              <a:t>Data hiding + controlled access · The story that explains why</a:t>
            </a:r>
            <a:endParaRPr b="0" lang="en-IN" sz="17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Shape 0"/>
          <p:cNvSpPr/>
          <p:nvPr/>
        </p:nvSpPr>
        <p:spPr>
          <a:xfrm>
            <a:off x="0" y="0"/>
            <a:ext cx="63720" cy="514332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05" name="Shape 1"/>
          <p:cNvSpPr/>
          <p:nvPr/>
        </p:nvSpPr>
        <p:spPr>
          <a:xfrm>
            <a:off x="0" y="0"/>
            <a:ext cx="9143640" cy="71280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06" name="Text 2"/>
          <p:cNvSpPr/>
          <p:nvPr/>
        </p:nvSpPr>
        <p:spPr>
          <a:xfrm>
            <a:off x="182880" y="0"/>
            <a:ext cx="7131960" cy="712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200" spc="-1" strike="noStrike">
                <a:solidFill>
                  <a:srgbClr val="ffffff"/>
                </a:solidFill>
                <a:latin typeface="Calibri"/>
              </a:rPr>
              <a:t>Encapsulation – The Story (ATM Class)</a:t>
            </a:r>
            <a:endParaRPr b="0" lang="en-IN" sz="2200" spc="-1" strike="noStrike">
              <a:latin typeface="Arial"/>
            </a:endParaRPr>
          </a:p>
        </p:txBody>
      </p:sp>
      <p:sp>
        <p:nvSpPr>
          <p:cNvPr id="307" name="Shape 3"/>
          <p:cNvSpPr/>
          <p:nvPr/>
        </p:nvSpPr>
        <p:spPr>
          <a:xfrm>
            <a:off x="7589520" y="109800"/>
            <a:ext cx="1371240" cy="47520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round/>
          </a:ln>
          <a:effectLst>
            <a:outerShdw algn="bl" blurRad="127080" dir="16200000" dist="50760" kx="0" ky="0" rotWithShape="0" sx="100000" sy="10000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308" name="Text 4"/>
          <p:cNvSpPr/>
          <p:nvPr/>
        </p:nvSpPr>
        <p:spPr>
          <a:xfrm>
            <a:off x="7589520" y="109800"/>
            <a:ext cx="137124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0f172a"/>
                </a:solidFill>
                <a:latin typeface="Calibri"/>
              </a:rPr>
              <a:t>Section 05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309" name="Text 5"/>
          <p:cNvSpPr/>
          <p:nvPr/>
        </p:nvSpPr>
        <p:spPr>
          <a:xfrm>
            <a:off x="182880" y="804600"/>
            <a:ext cx="877788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1250" spc="-1" strike="noStrike">
                <a:solidFill>
                  <a:srgbClr val="94a3b8"/>
                </a:solidFill>
                <a:latin typeface="Calibri"/>
              </a:rPr>
              <a:t>Scenario: You (the HERO — senior developer) have written this ATM class. A junior developer joins and causes trouble.</a:t>
            </a:r>
            <a:endParaRPr b="0" lang="en-IN" sz="1250" spc="-1" strike="noStrike">
              <a:latin typeface="Arial"/>
            </a:endParaRPr>
          </a:p>
        </p:txBody>
      </p:sp>
      <p:sp>
        <p:nvSpPr>
          <p:cNvPr id="310" name="Shape 6"/>
          <p:cNvSpPr/>
          <p:nvPr/>
        </p:nvSpPr>
        <p:spPr>
          <a:xfrm>
            <a:off x="182880" y="1280160"/>
            <a:ext cx="5303160" cy="3565800"/>
          </a:xfrm>
          <a:prstGeom prst="rect">
            <a:avLst/>
          </a:prstGeom>
          <a:solidFill>
            <a:srgbClr val="0d1117"/>
          </a:solidFill>
          <a:ln w="19050">
            <a:solidFill>
              <a:srgbClr val="2d3748"/>
            </a:solidFill>
            <a:round/>
          </a:ln>
          <a:effectLst>
            <a:outerShdw algn="bl" blurRad="127080" dir="16200000" dist="50760" kx="0" ky="0" rotWithShape="0" sx="100000" sy="10000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311" name="Shape 7"/>
          <p:cNvSpPr/>
          <p:nvPr/>
        </p:nvSpPr>
        <p:spPr>
          <a:xfrm>
            <a:off x="182880" y="1280160"/>
            <a:ext cx="5303160" cy="255600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12" name="Shape 8"/>
          <p:cNvSpPr/>
          <p:nvPr/>
        </p:nvSpPr>
        <p:spPr>
          <a:xfrm>
            <a:off x="292680" y="1334880"/>
            <a:ext cx="109440" cy="109440"/>
          </a:xfrm>
          <a:prstGeom prst="ellipse">
            <a:avLst/>
          </a:prstGeom>
          <a:solidFill>
            <a:srgbClr val="f87171"/>
          </a:solidFill>
          <a:ln w="12700">
            <a:solidFill>
              <a:srgbClr val="f87171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13" name="Shape 9"/>
          <p:cNvSpPr/>
          <p:nvPr/>
        </p:nvSpPr>
        <p:spPr>
          <a:xfrm>
            <a:off x="475560" y="1334880"/>
            <a:ext cx="109440" cy="10944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14" name="Shape 10"/>
          <p:cNvSpPr/>
          <p:nvPr/>
        </p:nvSpPr>
        <p:spPr>
          <a:xfrm>
            <a:off x="658440" y="1334880"/>
            <a:ext cx="109440" cy="109440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15" name="Text 11"/>
          <p:cNvSpPr/>
          <p:nvPr/>
        </p:nvSpPr>
        <p:spPr>
          <a:xfrm>
            <a:off x="182880" y="1298520"/>
            <a:ext cx="525744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800" spc="-1" strike="noStrike">
                <a:solidFill>
                  <a:srgbClr val="64748b"/>
                </a:solidFill>
                <a:latin typeface="Calibri"/>
              </a:rPr>
              <a:t>bank_machine.py</a:t>
            </a:r>
            <a:endParaRPr b="0" lang="en-IN" sz="800" spc="-1" strike="noStrike">
              <a:latin typeface="Arial"/>
            </a:endParaRPr>
          </a:p>
        </p:txBody>
      </p:sp>
      <p:sp>
        <p:nvSpPr>
          <p:cNvPr id="316" name="Text 12"/>
          <p:cNvSpPr/>
          <p:nvPr/>
        </p:nvSpPr>
        <p:spPr>
          <a:xfrm>
            <a:off x="292680" y="1572840"/>
            <a:ext cx="5120280" cy="3218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r>
              <a:rPr b="1" lang="en-US" sz="950" spc="-1" strike="noStrike">
                <a:solidFill>
                  <a:srgbClr val="38bdf8"/>
                </a:solidFill>
                <a:latin typeface="Courier New"/>
                <a:ea typeface="Courier New"/>
              </a:rPr>
              <a:t>class</a:t>
            </a:r>
            <a:r>
              <a:rPr b="0" lang="en-US" sz="950" spc="-1" strike="noStrike">
                <a:solidFill>
                  <a:srgbClr val="34d399"/>
                </a:solidFill>
                <a:latin typeface="Courier New"/>
                <a:ea typeface="Courier New"/>
              </a:rPr>
              <a:t> BankMachine:</a:t>
            </a:r>
            <a:endParaRPr b="0" lang="en-IN" sz="950" spc="-1" strike="noStrike">
              <a:latin typeface="Arial"/>
            </a:endParaRPr>
          </a:p>
          <a:p>
            <a:r>
              <a:rPr b="1" lang="en-US" sz="950" spc="-1" strike="noStrike">
                <a:solidFill>
                  <a:srgbClr val="38bdf8"/>
                </a:solidFill>
                <a:latin typeface="Courier New"/>
                <a:ea typeface="Courier New"/>
              </a:rPr>
              <a:t>    </a:t>
            </a:r>
            <a:r>
              <a:rPr b="1" lang="en-US" sz="950" spc="-1" strike="noStrike">
                <a:solidFill>
                  <a:srgbClr val="38bdf8"/>
                </a:solidFill>
                <a:latin typeface="Courier New"/>
                <a:ea typeface="Courier New"/>
              </a:rPr>
              <a:t>def</a:t>
            </a:r>
            <a:r>
              <a:rPr b="0" lang="en-US" sz="950" spc="-1" strike="noStrike">
                <a:solidFill>
                  <a:srgbClr val="e2e8f0"/>
                </a:solidFill>
                <a:latin typeface="Courier New"/>
                <a:ea typeface="Courier New"/>
              </a:rPr>
              <a:t> __init__(</a:t>
            </a:r>
            <a:r>
              <a:rPr b="0" lang="en-US" sz="950" spc="-1" strike="noStrike">
                <a:solidFill>
                  <a:srgbClr val="f59e0b"/>
                </a:solidFill>
                <a:latin typeface="Courier New"/>
                <a:ea typeface="Courier New"/>
              </a:rPr>
              <a:t>self</a:t>
            </a:r>
            <a:r>
              <a:rPr b="0" lang="en-US" sz="950" spc="-1" strike="noStrike">
                <a:solidFill>
                  <a:srgbClr val="e2e8f0"/>
                </a:solidFill>
                <a:latin typeface="Courier New"/>
                <a:ea typeface="Courier New"/>
              </a:rPr>
              <a:t>):</a:t>
            </a:r>
            <a:endParaRPr b="0" lang="en-IN" sz="950" spc="-1" strike="noStrike">
              <a:latin typeface="Arial"/>
            </a:endParaRPr>
          </a:p>
          <a:p>
            <a:r>
              <a:rPr b="0" lang="en-US" sz="950" spc="-1" strike="noStrike">
                <a:solidFill>
                  <a:srgbClr val="f59e0b"/>
                </a:solidFill>
                <a:latin typeface="Courier New"/>
                <a:ea typeface="Courier New"/>
              </a:rPr>
              <a:t>        </a:t>
            </a:r>
            <a:r>
              <a:rPr b="0" lang="en-US" sz="950" spc="-1" strike="noStrike">
                <a:solidFill>
                  <a:srgbClr val="f59e0b"/>
                </a:solidFill>
                <a:latin typeface="Courier New"/>
                <a:ea typeface="Courier New"/>
              </a:rPr>
              <a:t>self</a:t>
            </a:r>
            <a:r>
              <a:rPr b="0" lang="en-US" sz="950" spc="-1" strike="noStrike">
                <a:solidFill>
                  <a:srgbClr val="e2e8f0"/>
                </a:solidFill>
                <a:latin typeface="Courier New"/>
                <a:ea typeface="Courier New"/>
              </a:rPr>
              <a:t>.secret_pin = </a:t>
            </a:r>
            <a:r>
              <a:rPr b="0" lang="en-US" sz="950" spc="-1" strike="noStrike">
                <a:solidFill>
                  <a:srgbClr val="86efac"/>
                </a:solidFill>
                <a:latin typeface="Courier New"/>
                <a:ea typeface="Courier New"/>
              </a:rPr>
              <a:t>''</a:t>
            </a:r>
            <a:endParaRPr b="0" lang="en-IN" sz="950" spc="-1" strike="noStrike">
              <a:latin typeface="Arial"/>
            </a:endParaRPr>
          </a:p>
          <a:p>
            <a:r>
              <a:rPr b="0" lang="en-US" sz="950" spc="-1" strike="noStrike">
                <a:solidFill>
                  <a:srgbClr val="f59e0b"/>
                </a:solidFill>
                <a:latin typeface="Courier New"/>
                <a:ea typeface="Courier New"/>
              </a:rPr>
              <a:t>        </a:t>
            </a:r>
            <a:r>
              <a:rPr b="0" lang="en-US" sz="950" spc="-1" strike="noStrike">
                <a:solidFill>
                  <a:srgbClr val="f59e0b"/>
                </a:solidFill>
                <a:latin typeface="Courier New"/>
                <a:ea typeface="Courier New"/>
              </a:rPr>
              <a:t>self</a:t>
            </a:r>
            <a:r>
              <a:rPr b="0" lang="en-US" sz="950" spc="-1" strike="noStrike">
                <a:solidFill>
                  <a:srgbClr val="e2e8f0"/>
                </a:solidFill>
                <a:latin typeface="Courier New"/>
                <a:ea typeface="Courier New"/>
              </a:rPr>
              <a:t>.account_balance = </a:t>
            </a:r>
            <a:r>
              <a:rPr b="0" lang="en-US" sz="950" spc="-1" strike="noStrike">
                <a:solidFill>
                  <a:srgbClr val="fca5a5"/>
                </a:solidFill>
                <a:latin typeface="Courier New"/>
                <a:ea typeface="Courier New"/>
              </a:rPr>
              <a:t>0</a:t>
            </a:r>
            <a:endParaRPr b="0" lang="en-IN" sz="950" spc="-1" strike="noStrike">
              <a:latin typeface="Arial"/>
            </a:endParaRPr>
          </a:p>
          <a:p>
            <a:endParaRPr b="0" lang="en-IN" sz="950" spc="-1" strike="noStrike">
              <a:latin typeface="Arial"/>
            </a:endParaRPr>
          </a:p>
          <a:p>
            <a:r>
              <a:rPr b="1" lang="en-US" sz="950" spc="-1" strike="noStrike">
                <a:solidFill>
                  <a:srgbClr val="38bdf8"/>
                </a:solidFill>
                <a:latin typeface="Courier New"/>
                <a:ea typeface="Courier New"/>
              </a:rPr>
              <a:t>    </a:t>
            </a:r>
            <a:r>
              <a:rPr b="1" lang="en-US" sz="950" spc="-1" strike="noStrike">
                <a:solidFill>
                  <a:srgbClr val="38bdf8"/>
                </a:solidFill>
                <a:latin typeface="Courier New"/>
                <a:ea typeface="Courier New"/>
              </a:rPr>
              <a:t>def</a:t>
            </a:r>
            <a:r>
              <a:rPr b="0" lang="en-US" sz="950" spc="-1" strike="noStrike">
                <a:solidFill>
                  <a:srgbClr val="e2e8f0"/>
                </a:solidFill>
                <a:latin typeface="Courier New"/>
                <a:ea typeface="Courier New"/>
              </a:rPr>
              <a:t> setup_pin(</a:t>
            </a:r>
            <a:r>
              <a:rPr b="0" lang="en-US" sz="950" spc="-1" strike="noStrike">
                <a:solidFill>
                  <a:srgbClr val="f59e0b"/>
                </a:solidFill>
                <a:latin typeface="Courier New"/>
                <a:ea typeface="Courier New"/>
              </a:rPr>
              <a:t>self</a:t>
            </a:r>
            <a:r>
              <a:rPr b="0" lang="en-US" sz="950" spc="-1" strike="noStrike">
                <a:solidFill>
                  <a:srgbClr val="e2e8f0"/>
                </a:solidFill>
                <a:latin typeface="Courier New"/>
                <a:ea typeface="Courier New"/>
              </a:rPr>
              <a:t>):</a:t>
            </a:r>
            <a:endParaRPr b="0" lang="en-IN" sz="950" spc="-1" strike="noStrike">
              <a:latin typeface="Arial"/>
            </a:endParaRPr>
          </a:p>
          <a:p>
            <a:r>
              <a:rPr b="0" lang="en-US" sz="950" spc="-1" strike="noStrike">
                <a:solidFill>
                  <a:srgbClr val="f59e0b"/>
                </a:solidFill>
                <a:latin typeface="Courier New"/>
                <a:ea typeface="Courier New"/>
              </a:rPr>
              <a:t>        </a:t>
            </a:r>
            <a:r>
              <a:rPr b="0" lang="en-US" sz="950" spc="-1" strike="noStrike">
                <a:solidFill>
                  <a:srgbClr val="f59e0b"/>
                </a:solidFill>
                <a:latin typeface="Courier New"/>
                <a:ea typeface="Courier New"/>
              </a:rPr>
              <a:t>self</a:t>
            </a:r>
            <a:r>
              <a:rPr b="0" lang="en-US" sz="950" spc="-1" strike="noStrike">
                <a:solidFill>
                  <a:srgbClr val="e2e8f0"/>
                </a:solidFill>
                <a:latin typeface="Courier New"/>
                <a:ea typeface="Courier New"/>
              </a:rPr>
              <a:t>.secret_pin = input(</a:t>
            </a:r>
            <a:r>
              <a:rPr b="0" lang="en-US" sz="950" spc="-1" strike="noStrike">
                <a:solidFill>
                  <a:srgbClr val="86efac"/>
                </a:solidFill>
                <a:latin typeface="Courier New"/>
                <a:ea typeface="Courier New"/>
              </a:rPr>
              <a:t>'Set PIN: '</a:t>
            </a:r>
            <a:r>
              <a:rPr b="0" lang="en-US" sz="950" spc="-1" strike="noStrike">
                <a:solidFill>
                  <a:srgbClr val="e2e8f0"/>
                </a:solidFill>
                <a:latin typeface="Courier New"/>
                <a:ea typeface="Courier New"/>
              </a:rPr>
              <a:t>)</a:t>
            </a:r>
            <a:endParaRPr b="0" lang="en-IN" sz="950" spc="-1" strike="noStrike">
              <a:latin typeface="Arial"/>
            </a:endParaRPr>
          </a:p>
          <a:p>
            <a:endParaRPr b="0" lang="en-IN" sz="950" spc="-1" strike="noStrike">
              <a:latin typeface="Arial"/>
            </a:endParaRPr>
          </a:p>
          <a:p>
            <a:r>
              <a:rPr b="1" lang="en-US" sz="950" spc="-1" strike="noStrike">
                <a:solidFill>
                  <a:srgbClr val="38bdf8"/>
                </a:solidFill>
                <a:latin typeface="Courier New"/>
                <a:ea typeface="Courier New"/>
              </a:rPr>
              <a:t>    </a:t>
            </a:r>
            <a:r>
              <a:rPr b="1" lang="en-US" sz="950" spc="-1" strike="noStrike">
                <a:solidFill>
                  <a:srgbClr val="38bdf8"/>
                </a:solidFill>
                <a:latin typeface="Courier New"/>
                <a:ea typeface="Courier New"/>
              </a:rPr>
              <a:t>def</a:t>
            </a:r>
            <a:r>
              <a:rPr b="0" lang="en-US" sz="950" spc="-1" strike="noStrike">
                <a:solidFill>
                  <a:srgbClr val="e2e8f0"/>
                </a:solidFill>
                <a:latin typeface="Courier New"/>
                <a:ea typeface="Courier New"/>
              </a:rPr>
              <a:t> view_balance(</a:t>
            </a:r>
            <a:r>
              <a:rPr b="0" lang="en-US" sz="950" spc="-1" strike="noStrike">
                <a:solidFill>
                  <a:srgbClr val="f59e0b"/>
                </a:solidFill>
                <a:latin typeface="Courier New"/>
                <a:ea typeface="Courier New"/>
              </a:rPr>
              <a:t>self</a:t>
            </a:r>
            <a:r>
              <a:rPr b="0" lang="en-US" sz="950" spc="-1" strike="noStrike">
                <a:solidFill>
                  <a:srgbClr val="e2e8f0"/>
                </a:solidFill>
                <a:latin typeface="Courier New"/>
                <a:ea typeface="Courier New"/>
              </a:rPr>
              <a:t>):</a:t>
            </a:r>
            <a:endParaRPr b="0" lang="en-IN" sz="950" spc="-1" strike="noStrike">
              <a:latin typeface="Arial"/>
            </a:endParaRPr>
          </a:p>
          <a:p>
            <a:r>
              <a:rPr b="0" lang="en-US" sz="950" spc="-1" strike="noStrike">
                <a:solidFill>
                  <a:srgbClr val="e2e8f0"/>
                </a:solidFill>
                <a:latin typeface="Courier New"/>
                <a:ea typeface="Courier New"/>
              </a:rPr>
              <a:t>        </a:t>
            </a:r>
            <a:r>
              <a:rPr b="0" lang="en-US" sz="950" spc="-1" strike="noStrike">
                <a:solidFill>
                  <a:srgbClr val="e2e8f0"/>
                </a:solidFill>
                <a:latin typeface="Courier New"/>
                <a:ea typeface="Courier New"/>
              </a:rPr>
              <a:t>print('Balance:', </a:t>
            </a:r>
            <a:r>
              <a:rPr b="0" lang="en-US" sz="950" spc="-1" strike="noStrike">
                <a:solidFill>
                  <a:srgbClr val="f59e0b"/>
                </a:solidFill>
                <a:latin typeface="Courier New"/>
                <a:ea typeface="Courier New"/>
              </a:rPr>
              <a:t>self</a:t>
            </a:r>
            <a:r>
              <a:rPr b="0" lang="en-US" sz="950" spc="-1" strike="noStrike">
                <a:solidFill>
                  <a:srgbClr val="e2e8f0"/>
                </a:solidFill>
                <a:latin typeface="Courier New"/>
                <a:ea typeface="Courier New"/>
              </a:rPr>
              <a:t>.account_balance)</a:t>
            </a:r>
            <a:endParaRPr b="0" lang="en-IN" sz="950" spc="-1" strike="noStrike">
              <a:latin typeface="Arial"/>
            </a:endParaRPr>
          </a:p>
          <a:p>
            <a:endParaRPr b="0" lang="en-IN" sz="950" spc="-1" strike="noStrike">
              <a:latin typeface="Arial"/>
            </a:endParaRPr>
          </a:p>
          <a:p>
            <a:r>
              <a:rPr b="1" lang="en-US" sz="950" spc="-1" strike="noStrike">
                <a:solidFill>
                  <a:srgbClr val="38bdf8"/>
                </a:solidFill>
                <a:latin typeface="Courier New"/>
                <a:ea typeface="Courier New"/>
              </a:rPr>
              <a:t>    </a:t>
            </a:r>
            <a:r>
              <a:rPr b="1" lang="en-US" sz="950" spc="-1" strike="noStrike">
                <a:solidFill>
                  <a:srgbClr val="38bdf8"/>
                </a:solidFill>
                <a:latin typeface="Courier New"/>
                <a:ea typeface="Courier New"/>
              </a:rPr>
              <a:t>def</a:t>
            </a:r>
            <a:r>
              <a:rPr b="0" lang="en-US" sz="950" spc="-1" strike="noStrike">
                <a:solidFill>
                  <a:srgbClr val="e2e8f0"/>
                </a:solidFill>
                <a:latin typeface="Courier New"/>
                <a:ea typeface="Courier New"/>
              </a:rPr>
              <a:t> withdraw(</a:t>
            </a:r>
            <a:r>
              <a:rPr b="0" lang="en-US" sz="950" spc="-1" strike="noStrike">
                <a:solidFill>
                  <a:srgbClr val="f59e0b"/>
                </a:solidFill>
                <a:latin typeface="Courier New"/>
                <a:ea typeface="Courier New"/>
              </a:rPr>
              <a:t>self</a:t>
            </a:r>
            <a:r>
              <a:rPr b="0" lang="en-US" sz="950" spc="-1" strike="noStrike">
                <a:solidFill>
                  <a:srgbClr val="e2e8f0"/>
                </a:solidFill>
                <a:latin typeface="Courier New"/>
                <a:ea typeface="Courier New"/>
              </a:rPr>
              <a:t>, amt):</a:t>
            </a:r>
            <a:endParaRPr b="0" lang="en-IN" sz="950" spc="-1" strike="noStrike">
              <a:latin typeface="Arial"/>
            </a:endParaRPr>
          </a:p>
          <a:p>
            <a:r>
              <a:rPr b="1" lang="en-US" sz="950" spc="-1" strike="noStrike">
                <a:solidFill>
                  <a:srgbClr val="38bdf8"/>
                </a:solidFill>
                <a:latin typeface="Courier New"/>
                <a:ea typeface="Courier New"/>
              </a:rPr>
              <a:t>        </a:t>
            </a:r>
            <a:r>
              <a:rPr b="1" lang="en-US" sz="950" spc="-1" strike="noStrike">
                <a:solidFill>
                  <a:srgbClr val="38bdf8"/>
                </a:solidFill>
                <a:latin typeface="Courier New"/>
                <a:ea typeface="Courier New"/>
              </a:rPr>
              <a:t>if</a:t>
            </a:r>
            <a:r>
              <a:rPr b="0" lang="en-US" sz="950" spc="-1" strike="noStrike">
                <a:solidFill>
                  <a:srgbClr val="f59e0b"/>
                </a:solidFill>
                <a:latin typeface="Courier New"/>
                <a:ea typeface="Courier New"/>
              </a:rPr>
              <a:t> self</a:t>
            </a:r>
            <a:r>
              <a:rPr b="0" lang="en-US" sz="950" spc="-1" strike="noStrike">
                <a:solidFill>
                  <a:srgbClr val="e2e8f0"/>
                </a:solidFill>
                <a:latin typeface="Courier New"/>
                <a:ea typeface="Courier New"/>
              </a:rPr>
              <a:t>.secret_pin == input(</a:t>
            </a:r>
            <a:r>
              <a:rPr b="0" lang="en-US" sz="950" spc="-1" strike="noStrike">
                <a:solidFill>
                  <a:srgbClr val="86efac"/>
                </a:solidFill>
                <a:latin typeface="Courier New"/>
                <a:ea typeface="Courier New"/>
              </a:rPr>
              <a:t>'PIN: '</a:t>
            </a:r>
            <a:r>
              <a:rPr b="0" lang="en-US" sz="950" spc="-1" strike="noStrike">
                <a:solidFill>
                  <a:srgbClr val="e2e8f0"/>
                </a:solidFill>
                <a:latin typeface="Courier New"/>
                <a:ea typeface="Courier New"/>
              </a:rPr>
              <a:t>):</a:t>
            </a:r>
            <a:endParaRPr b="0" lang="en-IN" sz="950" spc="-1" strike="noStrike">
              <a:latin typeface="Arial"/>
            </a:endParaRPr>
          </a:p>
          <a:p>
            <a:r>
              <a:rPr b="1" lang="en-US" sz="950" spc="-1" strike="noStrike">
                <a:solidFill>
                  <a:srgbClr val="38bdf8"/>
                </a:solidFill>
                <a:latin typeface="Courier New"/>
                <a:ea typeface="Courier New"/>
              </a:rPr>
              <a:t>            </a:t>
            </a:r>
            <a:r>
              <a:rPr b="1" lang="en-US" sz="950" spc="-1" strike="noStrike">
                <a:solidFill>
                  <a:srgbClr val="38bdf8"/>
                </a:solidFill>
                <a:latin typeface="Courier New"/>
                <a:ea typeface="Courier New"/>
              </a:rPr>
              <a:t>if</a:t>
            </a:r>
            <a:r>
              <a:rPr b="0" lang="en-US" sz="950" spc="-1" strike="noStrike">
                <a:solidFill>
                  <a:srgbClr val="f59e0b"/>
                </a:solidFill>
                <a:latin typeface="Courier New"/>
                <a:ea typeface="Courier New"/>
              </a:rPr>
              <a:t> self</a:t>
            </a:r>
            <a:r>
              <a:rPr b="0" lang="en-US" sz="950" spc="-1" strike="noStrike">
                <a:solidFill>
                  <a:srgbClr val="e2e8f0"/>
                </a:solidFill>
                <a:latin typeface="Courier New"/>
                <a:ea typeface="Courier New"/>
              </a:rPr>
              <a:t>.account_balance &gt;= amt:</a:t>
            </a:r>
            <a:endParaRPr b="0" lang="en-IN" sz="950" spc="-1" strike="noStrike">
              <a:latin typeface="Arial"/>
            </a:endParaRPr>
          </a:p>
          <a:p>
            <a:r>
              <a:rPr b="0" lang="en-US" sz="950" spc="-1" strike="noStrike">
                <a:solidFill>
                  <a:srgbClr val="f59e0b"/>
                </a:solidFill>
                <a:latin typeface="Courier New"/>
                <a:ea typeface="Courier New"/>
              </a:rPr>
              <a:t>                </a:t>
            </a:r>
            <a:r>
              <a:rPr b="0" lang="en-US" sz="950" spc="-1" strike="noStrike">
                <a:solidFill>
                  <a:srgbClr val="f59e0b"/>
                </a:solidFill>
                <a:latin typeface="Courier New"/>
                <a:ea typeface="Courier New"/>
              </a:rPr>
              <a:t>self</a:t>
            </a:r>
            <a:r>
              <a:rPr b="0" lang="en-US" sz="950" spc="-1" strike="noStrike">
                <a:solidFill>
                  <a:srgbClr val="f87171"/>
                </a:solidFill>
                <a:latin typeface="Courier New"/>
                <a:ea typeface="Courier New"/>
              </a:rPr>
              <a:t>.account_balance -= amt  # CRASH if balance is a string!</a:t>
            </a:r>
            <a:endParaRPr b="0" lang="en-IN" sz="9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950" spc="-1" strike="noStrike">
              <a:latin typeface="Arial"/>
            </a:endParaRPr>
          </a:p>
        </p:txBody>
      </p:sp>
      <p:sp>
        <p:nvSpPr>
          <p:cNvPr id="317" name="Shape 13"/>
          <p:cNvSpPr/>
          <p:nvPr/>
        </p:nvSpPr>
        <p:spPr>
          <a:xfrm>
            <a:off x="5669280" y="1280160"/>
            <a:ext cx="3291480" cy="3565800"/>
          </a:xfrm>
          <a:prstGeom prst="rect">
            <a:avLst/>
          </a:prstGeom>
          <a:solidFill>
            <a:srgbClr val="1f0508"/>
          </a:solidFill>
          <a:ln w="15240">
            <a:solidFill>
              <a:srgbClr val="38bdf8"/>
            </a:solidFill>
            <a:round/>
          </a:ln>
          <a:effectLst>
            <a:outerShdw algn="bl" blurRad="127080" dir="16200000" dist="50760" kx="0" ky="0" rotWithShape="0" sx="100000" sy="10000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318" name="Shape 14"/>
          <p:cNvSpPr/>
          <p:nvPr/>
        </p:nvSpPr>
        <p:spPr>
          <a:xfrm>
            <a:off x="5669280" y="1280160"/>
            <a:ext cx="3291480" cy="54360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19" name="Text 15"/>
          <p:cNvSpPr/>
          <p:nvPr/>
        </p:nvSpPr>
        <p:spPr>
          <a:xfrm>
            <a:off x="5806440" y="1371600"/>
            <a:ext cx="301716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f87171"/>
                </a:solidFill>
                <a:latin typeface="Calibri"/>
              </a:rPr>
              <a:t>THE JUNIOR DEVELOPER'S SABOTAGE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320" name="Shape 16"/>
          <p:cNvSpPr/>
          <p:nvPr/>
        </p:nvSpPr>
        <p:spPr>
          <a:xfrm>
            <a:off x="5806440" y="1828800"/>
            <a:ext cx="3017160" cy="1828440"/>
          </a:xfrm>
          <a:prstGeom prst="rect">
            <a:avLst/>
          </a:prstGeom>
          <a:solidFill>
            <a:srgbClr val="0d1117"/>
          </a:solidFill>
          <a:ln w="12700">
            <a:solidFill>
              <a:srgbClr val="f87171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21" name="Text 17"/>
          <p:cNvSpPr/>
          <p:nvPr/>
        </p:nvSpPr>
        <p:spPr>
          <a:xfrm>
            <a:off x="5916240" y="1883520"/>
            <a:ext cx="2834280" cy="171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e2e8f0"/>
                </a:solidFill>
                <a:latin typeface="Courier New"/>
                <a:ea typeface="Courier New"/>
              </a:rPr>
              <a:t>machine = BankMachine()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e2e8f0"/>
                </a:solidFill>
                <a:latin typeface="Courier New"/>
                <a:ea typeface="Courier New"/>
              </a:rPr>
              <a:t># Villain corrupts the balance!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e2e8f0"/>
                </a:solidFill>
                <a:latin typeface="Courier New"/>
                <a:ea typeface="Courier New"/>
              </a:rPr>
              <a:t>machine.account_balance = 'hehe'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e2e8f0"/>
                </a:solidFill>
                <a:latin typeface="Courier New"/>
                <a:ea typeface="Courier New"/>
              </a:rPr>
              <a:t>machine.setup_pin()  # Works fine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e2e8f0"/>
                </a:solidFill>
                <a:latin typeface="Courier New"/>
                <a:ea typeface="Courier New"/>
              </a:rPr>
              <a:t>machine.withdraw(500)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e2e8f0"/>
                </a:solidFill>
                <a:latin typeface="Courier New"/>
                <a:ea typeface="Courier New"/>
              </a:rPr>
              <a:t># CRASH! Can't do 'hehe' - 500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e2e8f0"/>
                </a:solidFill>
                <a:latin typeface="Courier New"/>
                <a:ea typeface="Courier New"/>
              </a:rPr>
              <a:t># TypeError: unsupported operand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e2e8f0"/>
                </a:solidFill>
                <a:latin typeface="Courier New"/>
                <a:ea typeface="Courier New"/>
              </a:rPr>
              <a:t># type(s) for -=: 'str' and 'int'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322" name="Text 18"/>
          <p:cNvSpPr/>
          <p:nvPr/>
        </p:nvSpPr>
        <p:spPr>
          <a:xfrm>
            <a:off x="5806440" y="3749040"/>
            <a:ext cx="3017160" cy="95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e2e8f0"/>
                </a:solidFill>
                <a:latin typeface="Calibri"/>
              </a:rPr>
              <a:t>Problem: Python allows ANYONE to modify object attributes directly from outside the class. The senior dev gets blamed for the crash!</a:t>
            </a:r>
            <a:endParaRPr b="0" lang="en-IN" sz="11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Shape 0"/>
          <p:cNvSpPr/>
          <p:nvPr/>
        </p:nvSpPr>
        <p:spPr>
          <a:xfrm>
            <a:off x="0" y="0"/>
            <a:ext cx="63720" cy="514332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24" name="Shape 1"/>
          <p:cNvSpPr/>
          <p:nvPr/>
        </p:nvSpPr>
        <p:spPr>
          <a:xfrm>
            <a:off x="0" y="0"/>
            <a:ext cx="9143640" cy="71280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25" name="Text 2"/>
          <p:cNvSpPr/>
          <p:nvPr/>
        </p:nvSpPr>
        <p:spPr>
          <a:xfrm>
            <a:off x="182880" y="0"/>
            <a:ext cx="7131960" cy="712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200" spc="-1" strike="noStrike">
                <a:solidFill>
                  <a:srgbClr val="ffffff"/>
                </a:solidFill>
                <a:latin typeface="Calibri"/>
              </a:rPr>
              <a:t>Encapsulation – Private Variables &amp; Name Mangling</a:t>
            </a:r>
            <a:endParaRPr b="0" lang="en-IN" sz="2200" spc="-1" strike="noStrike">
              <a:latin typeface="Arial"/>
            </a:endParaRPr>
          </a:p>
        </p:txBody>
      </p:sp>
      <p:sp>
        <p:nvSpPr>
          <p:cNvPr id="326" name="Shape 3"/>
          <p:cNvSpPr/>
          <p:nvPr/>
        </p:nvSpPr>
        <p:spPr>
          <a:xfrm>
            <a:off x="7589520" y="109800"/>
            <a:ext cx="1371240" cy="47520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round/>
          </a:ln>
          <a:effectLst>
            <a:outerShdw algn="bl" blurRad="127080" dir="16200000" dist="50760" kx="0" ky="0" rotWithShape="0" sx="100000" sy="10000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327" name="Text 4"/>
          <p:cNvSpPr/>
          <p:nvPr/>
        </p:nvSpPr>
        <p:spPr>
          <a:xfrm>
            <a:off x="7589520" y="109800"/>
            <a:ext cx="137124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0f172a"/>
                </a:solidFill>
                <a:latin typeface="Calibri"/>
              </a:rPr>
              <a:t>Section 05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328" name="Shape 5"/>
          <p:cNvSpPr/>
          <p:nvPr/>
        </p:nvSpPr>
        <p:spPr>
          <a:xfrm>
            <a:off x="182880" y="804600"/>
            <a:ext cx="4571640" cy="1919880"/>
          </a:xfrm>
          <a:prstGeom prst="rect">
            <a:avLst/>
          </a:prstGeom>
          <a:solidFill>
            <a:srgbClr val="1e293b"/>
          </a:solidFill>
          <a:ln w="15240">
            <a:solidFill>
              <a:srgbClr val="38bdf8"/>
            </a:solidFill>
            <a:round/>
          </a:ln>
          <a:effectLst>
            <a:outerShdw algn="bl" blurRad="127080" dir="16200000" dist="50760" kx="0" ky="0" rotWithShape="0" sx="100000" sy="10000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329" name="Text 6"/>
          <p:cNvSpPr/>
          <p:nvPr/>
        </p:nvSpPr>
        <p:spPr>
          <a:xfrm>
            <a:off x="320040" y="896040"/>
            <a:ext cx="42973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34d399"/>
                </a:solidFill>
                <a:latin typeface="Calibri"/>
              </a:rPr>
              <a:t>SOLUTION 1: Private Variables (__ prefix)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330" name="Shape 7"/>
          <p:cNvSpPr/>
          <p:nvPr/>
        </p:nvSpPr>
        <p:spPr>
          <a:xfrm>
            <a:off x="320040" y="1261800"/>
            <a:ext cx="4297320" cy="1234080"/>
          </a:xfrm>
          <a:prstGeom prst="rect">
            <a:avLst/>
          </a:prstGeom>
          <a:solidFill>
            <a:srgbClr val="0d1117"/>
          </a:solidFill>
          <a:ln w="19050">
            <a:solidFill>
              <a:srgbClr val="2d374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31" name="Text 8"/>
          <p:cNvSpPr/>
          <p:nvPr/>
        </p:nvSpPr>
        <p:spPr>
          <a:xfrm>
            <a:off x="429840" y="1316880"/>
            <a:ext cx="4114440" cy="1124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e2e8f0"/>
                </a:solidFill>
                <a:latin typeface="Courier New"/>
                <a:ea typeface="Courier New"/>
              </a:rPr>
              <a:t>class BankMachine: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e2e8f0"/>
                </a:solidFill>
                <a:latin typeface="Courier New"/>
                <a:ea typeface="Courier New"/>
              </a:rPr>
              <a:t>    </a:t>
            </a:r>
            <a:r>
              <a:rPr b="0" lang="en-US" sz="1000" spc="-1" strike="noStrike">
                <a:solidFill>
                  <a:srgbClr val="e2e8f0"/>
                </a:solidFill>
                <a:latin typeface="Courier New"/>
                <a:ea typeface="Courier New"/>
              </a:rPr>
              <a:t>def __init__(self):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e2e8f0"/>
                </a:solidFill>
                <a:latin typeface="Courier New"/>
                <a:ea typeface="Courier New"/>
              </a:rPr>
              <a:t>        </a:t>
            </a:r>
            <a:r>
              <a:rPr b="0" lang="en-US" sz="1000" spc="-1" strike="noStrike">
                <a:solidFill>
                  <a:srgbClr val="e2e8f0"/>
                </a:solidFill>
                <a:latin typeface="Courier New"/>
                <a:ea typeface="Courier New"/>
              </a:rPr>
              <a:t>self.__secret_pin = ''    # PRIVATE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e2e8f0"/>
                </a:solidFill>
                <a:latin typeface="Courier New"/>
                <a:ea typeface="Courier New"/>
              </a:rPr>
              <a:t>        </a:t>
            </a:r>
            <a:r>
              <a:rPr b="0" lang="en-US" sz="1000" spc="-1" strike="noStrike">
                <a:solidFill>
                  <a:srgbClr val="e2e8f0"/>
                </a:solidFill>
                <a:latin typeface="Courier New"/>
                <a:ea typeface="Courier New"/>
              </a:rPr>
              <a:t>self.__account_balance = 0  # PRIVATE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e2e8f0"/>
                </a:solidFill>
                <a:latin typeface="Courier New"/>
                <a:ea typeface="Courier New"/>
              </a:rPr>
              <a:t># From outside: obj.__account_balance → NOT visible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332" name="Shape 9"/>
          <p:cNvSpPr/>
          <p:nvPr/>
        </p:nvSpPr>
        <p:spPr>
          <a:xfrm>
            <a:off x="4937760" y="804600"/>
            <a:ext cx="4023000" cy="1919880"/>
          </a:xfrm>
          <a:prstGeom prst="rect">
            <a:avLst/>
          </a:prstGeom>
          <a:solidFill>
            <a:srgbClr val="1e293b"/>
          </a:solidFill>
          <a:ln w="15240">
            <a:solidFill>
              <a:srgbClr val="38bdf8"/>
            </a:solidFill>
            <a:round/>
          </a:ln>
          <a:effectLst>
            <a:outerShdw algn="bl" blurRad="127080" dir="16200000" dist="50760" kx="0" ky="0" rotWithShape="0" sx="100000" sy="10000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333" name="Text 10"/>
          <p:cNvSpPr/>
          <p:nvPr/>
        </p:nvSpPr>
        <p:spPr>
          <a:xfrm>
            <a:off x="5074920" y="896040"/>
            <a:ext cx="37486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f59e0b"/>
                </a:solidFill>
                <a:latin typeface="Calibri"/>
              </a:rPr>
              <a:t>NAME MANGLING — Python's Trick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334" name="Text 11"/>
          <p:cNvSpPr/>
          <p:nvPr/>
        </p:nvSpPr>
        <p:spPr>
          <a:xfrm>
            <a:off x="5074920" y="1261800"/>
            <a:ext cx="374868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e2e8f0"/>
                </a:solidFill>
                <a:latin typeface="Calibri"/>
              </a:rPr>
              <a:t>Python renames self.__account_balance internally to _BankMachine__account_balance in memory.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335" name="Shape 12"/>
          <p:cNvSpPr/>
          <p:nvPr/>
        </p:nvSpPr>
        <p:spPr>
          <a:xfrm>
            <a:off x="5074920" y="1801440"/>
            <a:ext cx="3748680" cy="502560"/>
          </a:xfrm>
          <a:prstGeom prst="rect">
            <a:avLst/>
          </a:prstGeom>
          <a:solidFill>
            <a:srgbClr val="0d1117"/>
          </a:solidFill>
          <a:ln w="12700">
            <a:solidFill>
              <a:srgbClr val="f59e0b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36" name="Text 13"/>
          <p:cNvSpPr/>
          <p:nvPr/>
        </p:nvSpPr>
        <p:spPr>
          <a:xfrm>
            <a:off x="5184720" y="1856160"/>
            <a:ext cx="3565800" cy="39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f59e0b"/>
                </a:solidFill>
                <a:latin typeface="Courier New"/>
                <a:ea typeface="Courier New"/>
              </a:rPr>
              <a:t>self.__balance  →  _BankMachine__balance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337" name="Shape 14"/>
          <p:cNvSpPr/>
          <p:nvPr/>
        </p:nvSpPr>
        <p:spPr>
          <a:xfrm>
            <a:off x="182880" y="2816280"/>
            <a:ext cx="4114440" cy="2011320"/>
          </a:xfrm>
          <a:prstGeom prst="rect">
            <a:avLst/>
          </a:prstGeom>
          <a:solidFill>
            <a:srgbClr val="200a08"/>
          </a:solidFill>
          <a:ln w="15240">
            <a:solidFill>
              <a:srgbClr val="38bdf8"/>
            </a:solidFill>
            <a:round/>
          </a:ln>
          <a:effectLst>
            <a:outerShdw algn="bl" blurRad="127080" dir="16200000" dist="50760" kx="0" ky="0" rotWithShape="0" sx="100000" sy="10000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338" name="Shape 15"/>
          <p:cNvSpPr/>
          <p:nvPr/>
        </p:nvSpPr>
        <p:spPr>
          <a:xfrm>
            <a:off x="182880" y="2816280"/>
            <a:ext cx="4114440" cy="54360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39" name="Text 16"/>
          <p:cNvSpPr/>
          <p:nvPr/>
        </p:nvSpPr>
        <p:spPr>
          <a:xfrm>
            <a:off x="320040" y="2907720"/>
            <a:ext cx="38401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f87171"/>
                </a:solidFill>
                <a:latin typeface="Calibri"/>
              </a:rPr>
              <a:t>LOOPHOLE — The Villain Strikes Back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340" name="Shape 17"/>
          <p:cNvSpPr/>
          <p:nvPr/>
        </p:nvSpPr>
        <p:spPr>
          <a:xfrm>
            <a:off x="320040" y="3264480"/>
            <a:ext cx="3840120" cy="1188360"/>
          </a:xfrm>
          <a:prstGeom prst="rect">
            <a:avLst/>
          </a:prstGeom>
          <a:solidFill>
            <a:srgbClr val="0d1117"/>
          </a:solidFill>
          <a:ln w="12700">
            <a:solidFill>
              <a:srgbClr val="f87171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41" name="Text 18"/>
          <p:cNvSpPr/>
          <p:nvPr/>
        </p:nvSpPr>
        <p:spPr>
          <a:xfrm>
            <a:off x="429840" y="3319200"/>
            <a:ext cx="3657240" cy="1078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e2e8f0"/>
                </a:solidFill>
                <a:latin typeface="Courier New"/>
                <a:ea typeface="Courier New"/>
              </a:rPr>
              <a:t># Villain discovers name mangling and uses it: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e2e8f0"/>
                </a:solidFill>
                <a:latin typeface="Courier New"/>
                <a:ea typeface="Courier New"/>
              </a:rPr>
              <a:t>machine._BankMachine__account_balance = 'hehe'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e2e8f0"/>
                </a:solidFill>
                <a:latin typeface="Courier New"/>
                <a:ea typeface="Courier New"/>
              </a:rPr>
              <a:t># This DOES change the real private variable!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e2e8f0"/>
                </a:solidFill>
                <a:latin typeface="Courier New"/>
                <a:ea typeface="Courier New"/>
              </a:rPr>
              <a:t># withdraw() will crash again!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342" name="Shape 19"/>
          <p:cNvSpPr/>
          <p:nvPr/>
        </p:nvSpPr>
        <p:spPr>
          <a:xfrm>
            <a:off x="4480560" y="2816280"/>
            <a:ext cx="4480200" cy="2011320"/>
          </a:xfrm>
          <a:prstGeom prst="rect">
            <a:avLst/>
          </a:prstGeom>
          <a:solidFill>
            <a:srgbClr val="0c1a2a"/>
          </a:solidFill>
          <a:ln w="15240">
            <a:solidFill>
              <a:srgbClr val="38bdf8"/>
            </a:solidFill>
            <a:round/>
          </a:ln>
          <a:effectLst>
            <a:outerShdw algn="bl" blurRad="127080" dir="16200000" dist="50760" kx="0" ky="0" rotWithShape="0" sx="100000" sy="10000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343" name="Shape 20"/>
          <p:cNvSpPr/>
          <p:nvPr/>
        </p:nvSpPr>
        <p:spPr>
          <a:xfrm>
            <a:off x="4480560" y="2816280"/>
            <a:ext cx="4480200" cy="5436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44" name="Text 21"/>
          <p:cNvSpPr/>
          <p:nvPr/>
        </p:nvSpPr>
        <p:spPr>
          <a:xfrm>
            <a:off x="4617720" y="2907720"/>
            <a:ext cx="42058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38bdf8"/>
                </a:solidFill>
                <a:latin typeface="Calibri"/>
              </a:rPr>
              <a:t>Python's Philosophy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345" name="Text 22"/>
          <p:cNvSpPr/>
          <p:nvPr/>
        </p:nvSpPr>
        <p:spPr>
          <a:xfrm>
            <a:off x="4617720" y="3264480"/>
            <a:ext cx="4297320" cy="1481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e2e8f0"/>
                </a:solidFill>
                <a:latin typeface="Calibri"/>
              </a:rPr>
              <a:t>Python is a language built for adults. Nothing is truly private. Double underscore is a Gentleman's Agreement — it signals that a variable is private and should not be accessed externally.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e2e8f0"/>
                </a:solidFill>
                <a:latin typeface="Calibri"/>
              </a:rPr>
              <a:t>Unlike Java (where private is enforced), Python trusts developers to follow convention. If someone intentionally bypasses it — that is a team culture problem, not Python's responsibility.</a:t>
            </a:r>
            <a:endParaRPr b="0" lang="en-IN" sz="11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Shape 0"/>
          <p:cNvSpPr/>
          <p:nvPr/>
        </p:nvSpPr>
        <p:spPr>
          <a:xfrm>
            <a:off x="0" y="0"/>
            <a:ext cx="63720" cy="514332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47" name="Shape 1"/>
          <p:cNvSpPr/>
          <p:nvPr/>
        </p:nvSpPr>
        <p:spPr>
          <a:xfrm>
            <a:off x="0" y="0"/>
            <a:ext cx="9143640" cy="71280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48" name="Text 2"/>
          <p:cNvSpPr/>
          <p:nvPr/>
        </p:nvSpPr>
        <p:spPr>
          <a:xfrm>
            <a:off x="182880" y="0"/>
            <a:ext cx="7131960" cy="712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200" spc="-1" strike="noStrike">
                <a:solidFill>
                  <a:srgbClr val="ffffff"/>
                </a:solidFill>
                <a:latin typeface="Calibri"/>
              </a:rPr>
              <a:t>Encapsulation – Getters &amp; Setters (The Real Solution)</a:t>
            </a:r>
            <a:endParaRPr b="0" lang="en-IN" sz="2200" spc="-1" strike="noStrike">
              <a:latin typeface="Arial"/>
            </a:endParaRPr>
          </a:p>
        </p:txBody>
      </p:sp>
      <p:sp>
        <p:nvSpPr>
          <p:cNvPr id="349" name="Shape 3"/>
          <p:cNvSpPr/>
          <p:nvPr/>
        </p:nvSpPr>
        <p:spPr>
          <a:xfrm>
            <a:off x="7589520" y="109800"/>
            <a:ext cx="1371240" cy="47520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round/>
          </a:ln>
          <a:effectLst>
            <a:outerShdw algn="bl" blurRad="127080" dir="16200000" dist="50760" kx="0" ky="0" rotWithShape="0" sx="100000" sy="10000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350" name="Text 4"/>
          <p:cNvSpPr/>
          <p:nvPr/>
        </p:nvSpPr>
        <p:spPr>
          <a:xfrm>
            <a:off x="7589520" y="109800"/>
            <a:ext cx="137124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0f172a"/>
                </a:solidFill>
                <a:latin typeface="Calibri"/>
              </a:rPr>
              <a:t>Section 05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351" name="Shape 5"/>
          <p:cNvSpPr/>
          <p:nvPr/>
        </p:nvSpPr>
        <p:spPr>
          <a:xfrm>
            <a:off x="182880" y="804600"/>
            <a:ext cx="5211720" cy="4068720"/>
          </a:xfrm>
          <a:prstGeom prst="rect">
            <a:avLst/>
          </a:prstGeom>
          <a:solidFill>
            <a:srgbClr val="0d1117"/>
          </a:solidFill>
          <a:ln w="19050">
            <a:solidFill>
              <a:srgbClr val="2d3748"/>
            </a:solidFill>
            <a:round/>
          </a:ln>
          <a:effectLst>
            <a:outerShdw algn="bl" blurRad="127080" dir="16200000" dist="50760" kx="0" ky="0" rotWithShape="0" sx="100000" sy="10000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352" name="Shape 6"/>
          <p:cNvSpPr/>
          <p:nvPr/>
        </p:nvSpPr>
        <p:spPr>
          <a:xfrm>
            <a:off x="182880" y="804600"/>
            <a:ext cx="5211720" cy="255600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53" name="Shape 7"/>
          <p:cNvSpPr/>
          <p:nvPr/>
        </p:nvSpPr>
        <p:spPr>
          <a:xfrm>
            <a:off x="292680" y="859680"/>
            <a:ext cx="109440" cy="109440"/>
          </a:xfrm>
          <a:prstGeom prst="ellipse">
            <a:avLst/>
          </a:prstGeom>
          <a:solidFill>
            <a:srgbClr val="f87171"/>
          </a:solidFill>
          <a:ln w="12700">
            <a:solidFill>
              <a:srgbClr val="f87171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54" name="Shape 8"/>
          <p:cNvSpPr/>
          <p:nvPr/>
        </p:nvSpPr>
        <p:spPr>
          <a:xfrm>
            <a:off x="475560" y="859680"/>
            <a:ext cx="109440" cy="10944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55" name="Shape 9"/>
          <p:cNvSpPr/>
          <p:nvPr/>
        </p:nvSpPr>
        <p:spPr>
          <a:xfrm>
            <a:off x="658440" y="859680"/>
            <a:ext cx="109440" cy="109440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56" name="Text 10"/>
          <p:cNvSpPr/>
          <p:nvPr/>
        </p:nvSpPr>
        <p:spPr>
          <a:xfrm>
            <a:off x="182880" y="822960"/>
            <a:ext cx="516600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800" spc="-1" strike="noStrike">
                <a:solidFill>
                  <a:srgbClr val="64748b"/>
                </a:solidFill>
                <a:latin typeface="Calibri"/>
              </a:rPr>
              <a:t>bank_machine_v2.py</a:t>
            </a:r>
            <a:endParaRPr b="0" lang="en-IN" sz="800" spc="-1" strike="noStrike">
              <a:latin typeface="Arial"/>
            </a:endParaRPr>
          </a:p>
        </p:txBody>
      </p:sp>
      <p:sp>
        <p:nvSpPr>
          <p:cNvPr id="357" name="Text 11"/>
          <p:cNvSpPr/>
          <p:nvPr/>
        </p:nvSpPr>
        <p:spPr>
          <a:xfrm>
            <a:off x="292680" y="1097280"/>
            <a:ext cx="5028840" cy="372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r>
              <a:rPr b="1" lang="en-US" sz="950" spc="-1" strike="noStrike">
                <a:solidFill>
                  <a:srgbClr val="38bdf8"/>
                </a:solidFill>
                <a:latin typeface="Courier New"/>
                <a:ea typeface="Courier New"/>
              </a:rPr>
              <a:t>class</a:t>
            </a:r>
            <a:r>
              <a:rPr b="0" lang="en-US" sz="950" spc="-1" strike="noStrike">
                <a:solidFill>
                  <a:srgbClr val="34d399"/>
                </a:solidFill>
                <a:latin typeface="Courier New"/>
                <a:ea typeface="Courier New"/>
              </a:rPr>
              <a:t> BankMachine:</a:t>
            </a:r>
            <a:endParaRPr b="0" lang="en-IN" sz="950" spc="-1" strike="noStrike">
              <a:latin typeface="Arial"/>
            </a:endParaRPr>
          </a:p>
          <a:p>
            <a:r>
              <a:rPr b="1" lang="en-US" sz="950" spc="-1" strike="noStrike">
                <a:solidFill>
                  <a:srgbClr val="38bdf8"/>
                </a:solidFill>
                <a:latin typeface="Courier New"/>
                <a:ea typeface="Courier New"/>
              </a:rPr>
              <a:t>    </a:t>
            </a:r>
            <a:r>
              <a:rPr b="1" lang="en-US" sz="950" spc="-1" strike="noStrike">
                <a:solidFill>
                  <a:srgbClr val="38bdf8"/>
                </a:solidFill>
                <a:latin typeface="Courier New"/>
                <a:ea typeface="Courier New"/>
              </a:rPr>
              <a:t>def</a:t>
            </a:r>
            <a:r>
              <a:rPr b="0" lang="en-US" sz="950" spc="-1" strike="noStrike">
                <a:solidFill>
                  <a:srgbClr val="e2e8f0"/>
                </a:solidFill>
                <a:latin typeface="Courier New"/>
                <a:ea typeface="Courier New"/>
              </a:rPr>
              <a:t> __init__(</a:t>
            </a:r>
            <a:r>
              <a:rPr b="0" lang="en-US" sz="950" spc="-1" strike="noStrike">
                <a:solidFill>
                  <a:srgbClr val="f59e0b"/>
                </a:solidFill>
                <a:latin typeface="Courier New"/>
                <a:ea typeface="Courier New"/>
              </a:rPr>
              <a:t>self</a:t>
            </a:r>
            <a:r>
              <a:rPr b="0" lang="en-US" sz="950" spc="-1" strike="noStrike">
                <a:solidFill>
                  <a:srgbClr val="e2e8f0"/>
                </a:solidFill>
                <a:latin typeface="Courier New"/>
                <a:ea typeface="Courier New"/>
              </a:rPr>
              <a:t>):</a:t>
            </a:r>
            <a:endParaRPr b="0" lang="en-IN" sz="950" spc="-1" strike="noStrike">
              <a:latin typeface="Arial"/>
            </a:endParaRPr>
          </a:p>
          <a:p>
            <a:r>
              <a:rPr b="0" lang="en-US" sz="950" spc="-1" strike="noStrike">
                <a:solidFill>
                  <a:srgbClr val="f59e0b"/>
                </a:solidFill>
                <a:latin typeface="Courier New"/>
                <a:ea typeface="Courier New"/>
              </a:rPr>
              <a:t>        </a:t>
            </a:r>
            <a:r>
              <a:rPr b="0" lang="en-US" sz="950" spc="-1" strike="noStrike">
                <a:solidFill>
                  <a:srgbClr val="f59e0b"/>
                </a:solidFill>
                <a:latin typeface="Courier New"/>
                <a:ea typeface="Courier New"/>
              </a:rPr>
              <a:t>self</a:t>
            </a:r>
            <a:r>
              <a:rPr b="0" lang="en-US" sz="950" spc="-1" strike="noStrike">
                <a:solidFill>
                  <a:srgbClr val="e2e8f0"/>
                </a:solidFill>
                <a:latin typeface="Courier New"/>
                <a:ea typeface="Courier New"/>
              </a:rPr>
              <a:t>.__secret_pin = </a:t>
            </a:r>
            <a:r>
              <a:rPr b="0" lang="en-US" sz="950" spc="-1" strike="noStrike">
                <a:solidFill>
                  <a:srgbClr val="86efac"/>
                </a:solidFill>
                <a:latin typeface="Courier New"/>
                <a:ea typeface="Courier New"/>
              </a:rPr>
              <a:t>''</a:t>
            </a:r>
            <a:endParaRPr b="0" lang="en-IN" sz="950" spc="-1" strike="noStrike">
              <a:latin typeface="Arial"/>
            </a:endParaRPr>
          </a:p>
          <a:p>
            <a:r>
              <a:rPr b="0" lang="en-US" sz="950" spc="-1" strike="noStrike">
                <a:solidFill>
                  <a:srgbClr val="f59e0b"/>
                </a:solidFill>
                <a:latin typeface="Courier New"/>
                <a:ea typeface="Courier New"/>
              </a:rPr>
              <a:t>        </a:t>
            </a:r>
            <a:r>
              <a:rPr b="0" lang="en-US" sz="950" spc="-1" strike="noStrike">
                <a:solidFill>
                  <a:srgbClr val="f59e0b"/>
                </a:solidFill>
                <a:latin typeface="Courier New"/>
                <a:ea typeface="Courier New"/>
              </a:rPr>
              <a:t>self</a:t>
            </a:r>
            <a:r>
              <a:rPr b="0" lang="en-US" sz="950" spc="-1" strike="noStrike">
                <a:solidFill>
                  <a:srgbClr val="e2e8f0"/>
                </a:solidFill>
                <a:latin typeface="Courier New"/>
                <a:ea typeface="Courier New"/>
              </a:rPr>
              <a:t>.__account_balance = </a:t>
            </a:r>
            <a:r>
              <a:rPr b="0" lang="en-US" sz="950" spc="-1" strike="noStrike">
                <a:solidFill>
                  <a:srgbClr val="fca5a5"/>
                </a:solidFill>
                <a:latin typeface="Courier New"/>
                <a:ea typeface="Courier New"/>
              </a:rPr>
              <a:t>0</a:t>
            </a:r>
            <a:endParaRPr b="0" lang="en-IN" sz="950" spc="-1" strike="noStrike">
              <a:latin typeface="Arial"/>
            </a:endParaRPr>
          </a:p>
          <a:p>
            <a:endParaRPr b="0" lang="en-IN" sz="950" spc="-1" strike="noStrike">
              <a:latin typeface="Arial"/>
            </a:endParaRPr>
          </a:p>
          <a:p>
            <a:r>
              <a:rPr b="0" i="1" lang="en-US" sz="950" spc="-1" strike="noStrike">
                <a:solidFill>
                  <a:srgbClr val="64748b"/>
                </a:solidFill>
                <a:latin typeface="Courier New"/>
                <a:ea typeface="Courier New"/>
              </a:rPr>
              <a:t>    </a:t>
            </a:r>
            <a:r>
              <a:rPr b="0" i="1" lang="en-US" sz="950" spc="-1" strike="noStrike">
                <a:solidFill>
                  <a:srgbClr val="64748b"/>
                </a:solidFill>
                <a:latin typeface="Courier New"/>
                <a:ea typeface="Courier New"/>
              </a:rPr>
              <a:t># GETTER — read-only access to balance</a:t>
            </a:r>
            <a:endParaRPr b="0" lang="en-IN" sz="950" spc="-1" strike="noStrike">
              <a:latin typeface="Arial"/>
            </a:endParaRPr>
          </a:p>
          <a:p>
            <a:r>
              <a:rPr b="1" lang="en-US" sz="950" spc="-1" strike="noStrike">
                <a:solidFill>
                  <a:srgbClr val="38bdf8"/>
                </a:solidFill>
                <a:latin typeface="Courier New"/>
                <a:ea typeface="Courier New"/>
              </a:rPr>
              <a:t>    </a:t>
            </a:r>
            <a:r>
              <a:rPr b="1" lang="en-US" sz="950" spc="-1" strike="noStrike">
                <a:solidFill>
                  <a:srgbClr val="38bdf8"/>
                </a:solidFill>
                <a:latin typeface="Courier New"/>
                <a:ea typeface="Courier New"/>
              </a:rPr>
              <a:t>def</a:t>
            </a:r>
            <a:r>
              <a:rPr b="0" lang="en-US" sz="950" spc="-1" strike="noStrike">
                <a:solidFill>
                  <a:srgbClr val="e2e8f0"/>
                </a:solidFill>
                <a:latin typeface="Courier New"/>
                <a:ea typeface="Courier New"/>
              </a:rPr>
              <a:t> retrieve_balance(</a:t>
            </a:r>
            <a:r>
              <a:rPr b="0" lang="en-US" sz="950" spc="-1" strike="noStrike">
                <a:solidFill>
                  <a:srgbClr val="f59e0b"/>
                </a:solidFill>
                <a:latin typeface="Courier New"/>
                <a:ea typeface="Courier New"/>
              </a:rPr>
              <a:t>self</a:t>
            </a:r>
            <a:r>
              <a:rPr b="0" lang="en-US" sz="950" spc="-1" strike="noStrike">
                <a:solidFill>
                  <a:srgbClr val="e2e8f0"/>
                </a:solidFill>
                <a:latin typeface="Courier New"/>
                <a:ea typeface="Courier New"/>
              </a:rPr>
              <a:t>):</a:t>
            </a:r>
            <a:endParaRPr b="0" lang="en-IN" sz="950" spc="-1" strike="noStrike">
              <a:latin typeface="Arial"/>
            </a:endParaRPr>
          </a:p>
          <a:p>
            <a:r>
              <a:rPr b="1" lang="en-US" sz="950" spc="-1" strike="noStrike">
                <a:solidFill>
                  <a:srgbClr val="38bdf8"/>
                </a:solidFill>
                <a:latin typeface="Courier New"/>
                <a:ea typeface="Courier New"/>
              </a:rPr>
              <a:t>        </a:t>
            </a:r>
            <a:r>
              <a:rPr b="1" lang="en-US" sz="950" spc="-1" strike="noStrike">
                <a:solidFill>
                  <a:srgbClr val="38bdf8"/>
                </a:solidFill>
                <a:latin typeface="Courier New"/>
                <a:ea typeface="Courier New"/>
              </a:rPr>
              <a:t>return</a:t>
            </a:r>
            <a:r>
              <a:rPr b="0" lang="en-US" sz="950" spc="-1" strike="noStrike">
                <a:solidFill>
                  <a:srgbClr val="f59e0b"/>
                </a:solidFill>
                <a:latin typeface="Courier New"/>
                <a:ea typeface="Courier New"/>
              </a:rPr>
              <a:t> self</a:t>
            </a:r>
            <a:r>
              <a:rPr b="0" lang="en-US" sz="950" spc="-1" strike="noStrike">
                <a:solidFill>
                  <a:srgbClr val="e2e8f0"/>
                </a:solidFill>
                <a:latin typeface="Courier New"/>
                <a:ea typeface="Courier New"/>
              </a:rPr>
              <a:t>.__account_balance</a:t>
            </a:r>
            <a:endParaRPr b="0" lang="en-IN" sz="950" spc="-1" strike="noStrike">
              <a:latin typeface="Arial"/>
            </a:endParaRPr>
          </a:p>
          <a:p>
            <a:endParaRPr b="0" lang="en-IN" sz="950" spc="-1" strike="noStrike">
              <a:latin typeface="Arial"/>
            </a:endParaRPr>
          </a:p>
          <a:p>
            <a:r>
              <a:rPr b="0" i="1" lang="en-US" sz="950" spc="-1" strike="noStrike">
                <a:solidFill>
                  <a:srgbClr val="64748b"/>
                </a:solidFill>
                <a:latin typeface="Courier New"/>
                <a:ea typeface="Courier New"/>
              </a:rPr>
              <a:t>    </a:t>
            </a:r>
            <a:r>
              <a:rPr b="0" i="1" lang="en-US" sz="950" spc="-1" strike="noStrike">
                <a:solidFill>
                  <a:srgbClr val="64748b"/>
                </a:solidFill>
                <a:latin typeface="Courier New"/>
                <a:ea typeface="Courier New"/>
              </a:rPr>
              <a:t># SETTER — write access WITH validation</a:t>
            </a:r>
            <a:endParaRPr b="0" lang="en-IN" sz="950" spc="-1" strike="noStrike">
              <a:latin typeface="Arial"/>
            </a:endParaRPr>
          </a:p>
          <a:p>
            <a:r>
              <a:rPr b="1" lang="en-US" sz="950" spc="-1" strike="noStrike">
                <a:solidFill>
                  <a:srgbClr val="38bdf8"/>
                </a:solidFill>
                <a:latin typeface="Courier New"/>
                <a:ea typeface="Courier New"/>
              </a:rPr>
              <a:t>    </a:t>
            </a:r>
            <a:r>
              <a:rPr b="1" lang="en-US" sz="950" spc="-1" strike="noStrike">
                <a:solidFill>
                  <a:srgbClr val="38bdf8"/>
                </a:solidFill>
                <a:latin typeface="Courier New"/>
                <a:ea typeface="Courier New"/>
              </a:rPr>
              <a:t>def</a:t>
            </a:r>
            <a:r>
              <a:rPr b="0" lang="en-US" sz="950" spc="-1" strike="noStrike">
                <a:solidFill>
                  <a:srgbClr val="e2e8f0"/>
                </a:solidFill>
                <a:latin typeface="Courier New"/>
                <a:ea typeface="Courier New"/>
              </a:rPr>
              <a:t> assign_balance(</a:t>
            </a:r>
            <a:r>
              <a:rPr b="0" lang="en-US" sz="950" spc="-1" strike="noStrike">
                <a:solidFill>
                  <a:srgbClr val="f59e0b"/>
                </a:solidFill>
                <a:latin typeface="Courier New"/>
                <a:ea typeface="Courier New"/>
              </a:rPr>
              <a:t>self</a:t>
            </a:r>
            <a:r>
              <a:rPr b="0" lang="en-US" sz="950" spc="-1" strike="noStrike">
                <a:solidFill>
                  <a:srgbClr val="e2e8f0"/>
                </a:solidFill>
                <a:latin typeface="Courier New"/>
                <a:ea typeface="Courier New"/>
              </a:rPr>
              <a:t>, new_amount):</a:t>
            </a:r>
            <a:endParaRPr b="0" lang="en-IN" sz="950" spc="-1" strike="noStrike">
              <a:latin typeface="Arial"/>
            </a:endParaRPr>
          </a:p>
          <a:p>
            <a:r>
              <a:rPr b="1" lang="en-US" sz="950" spc="-1" strike="noStrike">
                <a:solidFill>
                  <a:srgbClr val="38bdf8"/>
                </a:solidFill>
                <a:latin typeface="Courier New"/>
                <a:ea typeface="Courier New"/>
              </a:rPr>
              <a:t>        </a:t>
            </a:r>
            <a:r>
              <a:rPr b="1" lang="en-US" sz="950" spc="-1" strike="noStrike">
                <a:solidFill>
                  <a:srgbClr val="38bdf8"/>
                </a:solidFill>
                <a:latin typeface="Courier New"/>
                <a:ea typeface="Courier New"/>
              </a:rPr>
              <a:t>if</a:t>
            </a:r>
            <a:r>
              <a:rPr b="0" lang="en-US" sz="950" spc="-1" strike="noStrike">
                <a:solidFill>
                  <a:srgbClr val="e2e8f0"/>
                </a:solidFill>
                <a:latin typeface="Courier New"/>
                <a:ea typeface="Courier New"/>
              </a:rPr>
              <a:t> type(new_amount) == </a:t>
            </a:r>
            <a:r>
              <a:rPr b="0" lang="en-US" sz="950" spc="-1" strike="noStrike">
                <a:solidFill>
                  <a:srgbClr val="f59e0b"/>
                </a:solidFill>
                <a:latin typeface="Courier New"/>
                <a:ea typeface="Courier New"/>
              </a:rPr>
              <a:t>int:</a:t>
            </a:r>
            <a:endParaRPr b="0" lang="en-IN" sz="950" spc="-1" strike="noStrike">
              <a:latin typeface="Arial"/>
            </a:endParaRPr>
          </a:p>
          <a:p>
            <a:r>
              <a:rPr b="0" lang="en-US" sz="950" spc="-1" strike="noStrike">
                <a:solidFill>
                  <a:srgbClr val="f59e0b"/>
                </a:solidFill>
                <a:latin typeface="Courier New"/>
                <a:ea typeface="Courier New"/>
              </a:rPr>
              <a:t>            </a:t>
            </a:r>
            <a:r>
              <a:rPr b="0" lang="en-US" sz="950" spc="-1" strike="noStrike">
                <a:solidFill>
                  <a:srgbClr val="f59e0b"/>
                </a:solidFill>
                <a:latin typeface="Courier New"/>
                <a:ea typeface="Courier New"/>
              </a:rPr>
              <a:t>self</a:t>
            </a:r>
            <a:r>
              <a:rPr b="0" lang="en-US" sz="950" spc="-1" strike="noStrike">
                <a:solidFill>
                  <a:srgbClr val="34d399"/>
                </a:solidFill>
                <a:latin typeface="Courier New"/>
                <a:ea typeface="Courier New"/>
              </a:rPr>
              <a:t>.__account_balance = new_amount</a:t>
            </a:r>
            <a:endParaRPr b="0" lang="en-IN" sz="950" spc="-1" strike="noStrike">
              <a:latin typeface="Arial"/>
            </a:endParaRPr>
          </a:p>
          <a:p>
            <a:r>
              <a:rPr b="1" lang="en-US" sz="950" spc="-1" strike="noStrike">
                <a:solidFill>
                  <a:srgbClr val="38bdf8"/>
                </a:solidFill>
                <a:latin typeface="Courier New"/>
                <a:ea typeface="Courier New"/>
              </a:rPr>
              <a:t>        </a:t>
            </a:r>
            <a:r>
              <a:rPr b="1" lang="en-US" sz="950" spc="-1" strike="noStrike">
                <a:solidFill>
                  <a:srgbClr val="38bdf8"/>
                </a:solidFill>
                <a:latin typeface="Courier New"/>
                <a:ea typeface="Courier New"/>
              </a:rPr>
              <a:t>else:</a:t>
            </a:r>
            <a:endParaRPr b="0" lang="en-IN" sz="950" spc="-1" strike="noStrike">
              <a:latin typeface="Arial"/>
            </a:endParaRPr>
          </a:p>
          <a:p>
            <a:r>
              <a:rPr b="0" lang="en-US" sz="950" spc="-1" strike="noStrike">
                <a:solidFill>
                  <a:srgbClr val="e2e8f0"/>
                </a:solidFill>
                <a:latin typeface="Courier New"/>
                <a:ea typeface="Courier New"/>
              </a:rPr>
              <a:t>            </a:t>
            </a:r>
            <a:r>
              <a:rPr b="0" lang="en-US" sz="950" spc="-1" strike="noStrike">
                <a:solidFill>
                  <a:srgbClr val="e2e8f0"/>
                </a:solidFill>
                <a:latin typeface="Courier New"/>
                <a:ea typeface="Courier New"/>
              </a:rPr>
              <a:t>print</a:t>
            </a:r>
            <a:r>
              <a:rPr b="0" lang="en-US" sz="950" spc="-1" strike="noStrike">
                <a:solidFill>
                  <a:srgbClr val="f87171"/>
                </a:solidFill>
                <a:latin typeface="Courier New"/>
                <a:ea typeface="Courier New"/>
              </a:rPr>
              <a:t>('Invalid! Balance must be an integer.')</a:t>
            </a:r>
            <a:endParaRPr b="0" lang="en-IN" sz="950" spc="-1" strike="noStrike">
              <a:latin typeface="Arial"/>
            </a:endParaRPr>
          </a:p>
          <a:p>
            <a:endParaRPr b="0" lang="en-IN" sz="950" spc="-1" strike="noStrike">
              <a:latin typeface="Arial"/>
            </a:endParaRPr>
          </a:p>
          <a:p>
            <a:r>
              <a:rPr b="0" i="1" lang="en-US" sz="950" spc="-1" strike="noStrike">
                <a:solidFill>
                  <a:srgbClr val="64748b"/>
                </a:solidFill>
                <a:latin typeface="Courier New"/>
                <a:ea typeface="Courier New"/>
              </a:rPr>
              <a:t># --- Usage ---</a:t>
            </a:r>
            <a:endParaRPr b="0" lang="en-IN" sz="950" spc="-1" strike="noStrike">
              <a:latin typeface="Arial"/>
            </a:endParaRPr>
          </a:p>
          <a:p>
            <a:r>
              <a:rPr b="0" lang="en-US" sz="950" spc="-1" strike="noStrike">
                <a:solidFill>
                  <a:srgbClr val="e2e8f0"/>
                </a:solidFill>
                <a:latin typeface="Courier New"/>
                <a:ea typeface="Courier New"/>
              </a:rPr>
              <a:t>m = BankMachine()</a:t>
            </a:r>
            <a:endParaRPr b="0" lang="en-IN" sz="950" spc="-1" strike="noStrike">
              <a:latin typeface="Arial"/>
            </a:endParaRPr>
          </a:p>
          <a:p>
            <a:r>
              <a:rPr b="0" lang="en-US" sz="950" spc="-1" strike="noStrike">
                <a:solidFill>
                  <a:srgbClr val="e2e8f0"/>
                </a:solidFill>
                <a:latin typeface="Courier New"/>
                <a:ea typeface="Courier New"/>
              </a:rPr>
              <a:t>m.assign_balance(</a:t>
            </a:r>
            <a:r>
              <a:rPr b="0" lang="en-US" sz="950" spc="-1" strike="noStrike">
                <a:solidFill>
                  <a:srgbClr val="fca5a5"/>
                </a:solidFill>
                <a:latin typeface="Courier New"/>
                <a:ea typeface="Courier New"/>
              </a:rPr>
              <a:t>1500</a:t>
            </a:r>
            <a:r>
              <a:rPr b="0" lang="en-US" sz="950" spc="-1" strike="noStrike">
                <a:solidFill>
                  <a:srgbClr val="64748b"/>
                </a:solidFill>
                <a:latin typeface="Courier New"/>
                <a:ea typeface="Courier New"/>
              </a:rPr>
              <a:t>)         # OK</a:t>
            </a:r>
            <a:endParaRPr b="0" lang="en-IN" sz="950" spc="-1" strike="noStrike">
              <a:latin typeface="Arial"/>
            </a:endParaRPr>
          </a:p>
          <a:p>
            <a:r>
              <a:rPr b="0" lang="en-US" sz="950" spc="-1" strike="noStrike">
                <a:solidFill>
                  <a:srgbClr val="e2e8f0"/>
                </a:solidFill>
                <a:latin typeface="Courier New"/>
                <a:ea typeface="Courier New"/>
              </a:rPr>
              <a:t>print</a:t>
            </a:r>
            <a:r>
              <a:rPr b="0" lang="en-US" sz="950" spc="-1" strike="noStrike">
                <a:solidFill>
                  <a:srgbClr val="64748b"/>
                </a:solidFill>
                <a:latin typeface="Courier New"/>
                <a:ea typeface="Courier New"/>
              </a:rPr>
              <a:t>(m.retrieve_balance())    # Output: 1500</a:t>
            </a:r>
            <a:endParaRPr b="0" lang="en-IN" sz="950" spc="-1" strike="noStrike">
              <a:latin typeface="Arial"/>
            </a:endParaRPr>
          </a:p>
          <a:p>
            <a:r>
              <a:rPr b="0" lang="en-US" sz="950" spc="-1" strike="noStrike">
                <a:solidFill>
                  <a:srgbClr val="e2e8f0"/>
                </a:solidFill>
                <a:latin typeface="Courier New"/>
                <a:ea typeface="Courier New"/>
              </a:rPr>
              <a:t>m.assign_balance(</a:t>
            </a:r>
            <a:r>
              <a:rPr b="0" lang="en-US" sz="950" spc="-1" strike="noStrike">
                <a:solidFill>
                  <a:srgbClr val="86efac"/>
                </a:solidFill>
                <a:latin typeface="Courier New"/>
                <a:ea typeface="Courier New"/>
              </a:rPr>
              <a:t>'hehe'</a:t>
            </a:r>
            <a:r>
              <a:rPr b="0" lang="en-US" sz="950" spc="-1" strike="noStrike">
                <a:solidFill>
                  <a:srgbClr val="f87171"/>
                </a:solidFill>
                <a:latin typeface="Courier New"/>
                <a:ea typeface="Courier New"/>
              </a:rPr>
              <a:t>)     # Rejected!</a:t>
            </a:r>
            <a:endParaRPr b="0" lang="en-IN" sz="9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50" spc="-1" strike="noStrike">
                <a:solidFill>
                  <a:srgbClr val="e2e8f0"/>
                </a:solidFill>
                <a:latin typeface="Courier New"/>
                <a:ea typeface="Courier New"/>
              </a:rPr>
              <a:t>print</a:t>
            </a:r>
            <a:r>
              <a:rPr b="0" lang="en-US" sz="950" spc="-1" strike="noStrike">
                <a:solidFill>
                  <a:srgbClr val="34d399"/>
                </a:solidFill>
                <a:latin typeface="Courier New"/>
                <a:ea typeface="Courier New"/>
              </a:rPr>
              <a:t>(m.retrieve_balance())    # Still: 1500</a:t>
            </a:r>
            <a:endParaRPr b="0" lang="en-IN" sz="950" spc="-1" strike="noStrike">
              <a:latin typeface="Arial"/>
            </a:endParaRPr>
          </a:p>
        </p:txBody>
      </p:sp>
      <p:sp>
        <p:nvSpPr>
          <p:cNvPr id="358" name="Shape 12"/>
          <p:cNvSpPr/>
          <p:nvPr/>
        </p:nvSpPr>
        <p:spPr>
          <a:xfrm>
            <a:off x="5577840" y="804600"/>
            <a:ext cx="3382920" cy="1828440"/>
          </a:xfrm>
          <a:prstGeom prst="rect">
            <a:avLst/>
          </a:prstGeom>
          <a:solidFill>
            <a:srgbClr val="1e293b"/>
          </a:solidFill>
          <a:ln w="15240">
            <a:solidFill>
              <a:srgbClr val="38bdf8"/>
            </a:solidFill>
            <a:round/>
          </a:ln>
          <a:effectLst>
            <a:outerShdw algn="bl" blurRad="127080" dir="16200000" dist="50760" kx="0" ky="0" rotWithShape="0" sx="100000" sy="10000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359" name="Text 13"/>
          <p:cNvSpPr/>
          <p:nvPr/>
        </p:nvSpPr>
        <p:spPr>
          <a:xfrm>
            <a:off x="5715000" y="896040"/>
            <a:ext cx="310860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199" strike="noStrike">
                <a:solidFill>
                  <a:srgbClr val="34d399"/>
                </a:solidFill>
                <a:latin typeface="Calibri"/>
              </a:rPr>
              <a:t>GETTER METHOD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360" name="Text 14"/>
          <p:cNvSpPr/>
          <p:nvPr/>
        </p:nvSpPr>
        <p:spPr>
          <a:xfrm>
            <a:off x="5715000" y="1207080"/>
            <a:ext cx="3108600" cy="114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e2e8f0"/>
                </a:solidFill>
                <a:latin typeface="Calibri"/>
              </a:rPr>
              <a:t>Returns the value of a private variable. Gives READ-ONLY access from outside the class. No modification possible through a getter.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361" name="Shape 15"/>
          <p:cNvSpPr/>
          <p:nvPr/>
        </p:nvSpPr>
        <p:spPr>
          <a:xfrm>
            <a:off x="5577840" y="2743200"/>
            <a:ext cx="3382920" cy="1919880"/>
          </a:xfrm>
          <a:prstGeom prst="rect">
            <a:avLst/>
          </a:prstGeom>
          <a:solidFill>
            <a:srgbClr val="1e293b"/>
          </a:solidFill>
          <a:ln w="15240">
            <a:solidFill>
              <a:srgbClr val="38bdf8"/>
            </a:solidFill>
            <a:round/>
          </a:ln>
          <a:effectLst>
            <a:outerShdw algn="bl" blurRad="127080" dir="16200000" dist="50760" kx="0" ky="0" rotWithShape="0" sx="100000" sy="10000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362" name="Text 16"/>
          <p:cNvSpPr/>
          <p:nvPr/>
        </p:nvSpPr>
        <p:spPr>
          <a:xfrm>
            <a:off x="5715000" y="2834640"/>
            <a:ext cx="310860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199" strike="noStrike">
                <a:solidFill>
                  <a:srgbClr val="f59e0b"/>
                </a:solidFill>
                <a:latin typeface="Calibri"/>
              </a:rPr>
              <a:t>SETTER METHOD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363" name="Text 17"/>
          <p:cNvSpPr/>
          <p:nvPr/>
        </p:nvSpPr>
        <p:spPr>
          <a:xfrm>
            <a:off x="5715000" y="3154680"/>
            <a:ext cx="3108600" cy="127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e2e8f0"/>
                </a:solidFill>
                <a:latin typeface="Calibri"/>
              </a:rPr>
              <a:t>Allows changing a private variable's value — but only AFTER passing validation. You control exactly what values are acceptable. Invalid data is silently rejected.</a:t>
            </a:r>
            <a:endParaRPr b="0" lang="en-IN" sz="11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Shape 0"/>
          <p:cNvSpPr/>
          <p:nvPr/>
        </p:nvSpPr>
        <p:spPr>
          <a:xfrm>
            <a:off x="0" y="0"/>
            <a:ext cx="63720" cy="514332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65" name="Shape 1"/>
          <p:cNvSpPr/>
          <p:nvPr/>
        </p:nvSpPr>
        <p:spPr>
          <a:xfrm>
            <a:off x="0" y="0"/>
            <a:ext cx="9143640" cy="71280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66" name="Text 2"/>
          <p:cNvSpPr/>
          <p:nvPr/>
        </p:nvSpPr>
        <p:spPr>
          <a:xfrm>
            <a:off x="182880" y="0"/>
            <a:ext cx="7131960" cy="712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200" spc="-1" strike="noStrike">
                <a:solidFill>
                  <a:srgbClr val="ffffff"/>
                </a:solidFill>
                <a:latin typeface="Calibri"/>
              </a:rPr>
              <a:t>Encapsulation – The Complete Answer</a:t>
            </a:r>
            <a:endParaRPr b="0" lang="en-IN" sz="2200" spc="-1" strike="noStrike">
              <a:latin typeface="Arial"/>
            </a:endParaRPr>
          </a:p>
        </p:txBody>
      </p:sp>
      <p:sp>
        <p:nvSpPr>
          <p:cNvPr id="367" name="Shape 3"/>
          <p:cNvSpPr/>
          <p:nvPr/>
        </p:nvSpPr>
        <p:spPr>
          <a:xfrm>
            <a:off x="7589520" y="109800"/>
            <a:ext cx="1371240" cy="47520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round/>
          </a:ln>
          <a:effectLst>
            <a:outerShdw algn="bl" blurRad="127080" dir="16200000" dist="50760" kx="0" ky="0" rotWithShape="0" sx="100000" sy="10000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368" name="Text 4"/>
          <p:cNvSpPr/>
          <p:nvPr/>
        </p:nvSpPr>
        <p:spPr>
          <a:xfrm>
            <a:off x="7589520" y="109800"/>
            <a:ext cx="137124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0f172a"/>
                </a:solidFill>
                <a:latin typeface="Calibri"/>
              </a:rPr>
              <a:t>Section 05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369" name="Shape 5"/>
          <p:cNvSpPr/>
          <p:nvPr/>
        </p:nvSpPr>
        <p:spPr>
          <a:xfrm>
            <a:off x="182880" y="804600"/>
            <a:ext cx="8777880" cy="1325520"/>
          </a:xfrm>
          <a:prstGeom prst="rect">
            <a:avLst/>
          </a:prstGeom>
          <a:solidFill>
            <a:srgbClr val="1e293b"/>
          </a:solidFill>
          <a:ln w="15240">
            <a:solidFill>
              <a:srgbClr val="38bdf8"/>
            </a:solidFill>
            <a:round/>
          </a:ln>
          <a:effectLst>
            <a:outerShdw algn="bl" blurRad="127080" dir="16200000" dist="50760" kx="0" ky="0" rotWithShape="0" sx="100000" sy="10000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370" name="Text 6"/>
          <p:cNvSpPr/>
          <p:nvPr/>
        </p:nvSpPr>
        <p:spPr>
          <a:xfrm>
            <a:off x="320040" y="896040"/>
            <a:ext cx="84121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299" strike="noStrike">
                <a:solidFill>
                  <a:srgbClr val="38bdf8"/>
                </a:solidFill>
                <a:latin typeface="Calibri"/>
              </a:rPr>
              <a:t>THE CAPSULE ANALOGY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371" name="Shape 7"/>
          <p:cNvSpPr/>
          <p:nvPr/>
        </p:nvSpPr>
        <p:spPr>
          <a:xfrm>
            <a:off x="365760" y="1207080"/>
            <a:ext cx="1416960" cy="685440"/>
          </a:xfrm>
          <a:prstGeom prst="rect">
            <a:avLst/>
          </a:prstGeom>
          <a:solidFill>
            <a:srgbClr val="0d1117"/>
          </a:solidFill>
          <a:ln w="19050">
            <a:solidFill>
              <a:srgbClr val="f87171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72" name="Text 8"/>
          <p:cNvSpPr/>
          <p:nvPr/>
        </p:nvSpPr>
        <p:spPr>
          <a:xfrm>
            <a:off x="411480" y="1207080"/>
            <a:ext cx="132552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050" spc="-1" strike="noStrike">
                <a:solidFill>
                  <a:srgbClr val="f87171"/>
                </a:solidFill>
                <a:latin typeface="Calibri"/>
              </a:rPr>
              <a:t>Private Attribute</a:t>
            </a:r>
            <a:endParaRPr b="0" lang="en-IN" sz="105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050" spc="-1" strike="noStrike">
                <a:solidFill>
                  <a:srgbClr val="f87171"/>
                </a:solidFill>
                <a:latin typeface="Calibri"/>
              </a:rPr>
              <a:t>__account_balance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373" name="Text 9"/>
          <p:cNvSpPr/>
          <p:nvPr/>
        </p:nvSpPr>
        <p:spPr>
          <a:xfrm>
            <a:off x="1828800" y="1261800"/>
            <a:ext cx="18252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rgbClr val="ffffff"/>
                </a:solidFill>
                <a:latin typeface="Calibri"/>
              </a:rPr>
              <a:t>+</a:t>
            </a:r>
            <a:endParaRPr b="0" lang="en-IN" sz="2400" spc="-1" strike="noStrike">
              <a:latin typeface="Arial"/>
            </a:endParaRPr>
          </a:p>
        </p:txBody>
      </p:sp>
      <p:sp>
        <p:nvSpPr>
          <p:cNvPr id="374" name="Shape 10"/>
          <p:cNvSpPr/>
          <p:nvPr/>
        </p:nvSpPr>
        <p:spPr>
          <a:xfrm>
            <a:off x="1965960" y="1207080"/>
            <a:ext cx="2057040" cy="685440"/>
          </a:xfrm>
          <a:prstGeom prst="rect">
            <a:avLst/>
          </a:prstGeom>
          <a:solidFill>
            <a:srgbClr val="0d1117"/>
          </a:solidFill>
          <a:ln w="19050">
            <a:solidFill>
              <a:srgbClr val="34d399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75" name="Text 11"/>
          <p:cNvSpPr/>
          <p:nvPr/>
        </p:nvSpPr>
        <p:spPr>
          <a:xfrm>
            <a:off x="2011680" y="1207080"/>
            <a:ext cx="196560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050" spc="-1" strike="noStrike">
                <a:solidFill>
                  <a:srgbClr val="34d399"/>
                </a:solidFill>
                <a:latin typeface="Calibri"/>
              </a:rPr>
              <a:t>Getter Method</a:t>
            </a:r>
            <a:endParaRPr b="0" lang="en-IN" sz="105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050" spc="-1" strike="noStrike">
                <a:solidFill>
                  <a:srgbClr val="34d399"/>
                </a:solidFill>
                <a:latin typeface="Calibri"/>
              </a:rPr>
              <a:t>retrieve_balance()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376" name="Text 12"/>
          <p:cNvSpPr/>
          <p:nvPr/>
        </p:nvSpPr>
        <p:spPr>
          <a:xfrm>
            <a:off x="4069080" y="1261800"/>
            <a:ext cx="18252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rgbClr val="ffffff"/>
                </a:solidFill>
                <a:latin typeface="Calibri"/>
              </a:rPr>
              <a:t>+</a:t>
            </a:r>
            <a:endParaRPr b="0" lang="en-IN" sz="2400" spc="-1" strike="noStrike">
              <a:latin typeface="Arial"/>
            </a:endParaRPr>
          </a:p>
        </p:txBody>
      </p:sp>
      <p:sp>
        <p:nvSpPr>
          <p:cNvPr id="377" name="Shape 13"/>
          <p:cNvSpPr/>
          <p:nvPr/>
        </p:nvSpPr>
        <p:spPr>
          <a:xfrm>
            <a:off x="4206240" y="1207080"/>
            <a:ext cx="2057040" cy="685440"/>
          </a:xfrm>
          <a:prstGeom prst="rect">
            <a:avLst/>
          </a:prstGeom>
          <a:solidFill>
            <a:srgbClr val="0d1117"/>
          </a:solidFill>
          <a:ln w="19050">
            <a:solidFill>
              <a:srgbClr val="f59e0b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78" name="Text 14"/>
          <p:cNvSpPr/>
          <p:nvPr/>
        </p:nvSpPr>
        <p:spPr>
          <a:xfrm>
            <a:off x="4251960" y="1207080"/>
            <a:ext cx="196560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050" spc="-1" strike="noStrike">
                <a:solidFill>
                  <a:srgbClr val="f59e0b"/>
                </a:solidFill>
                <a:latin typeface="Calibri"/>
              </a:rPr>
              <a:t>Setter Method</a:t>
            </a:r>
            <a:endParaRPr b="0" lang="en-IN" sz="105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050" spc="-1" strike="noStrike">
                <a:solidFill>
                  <a:srgbClr val="f59e0b"/>
                </a:solidFill>
                <a:latin typeface="Calibri"/>
              </a:rPr>
              <a:t>assign_balance()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379" name="Text 15"/>
          <p:cNvSpPr/>
          <p:nvPr/>
        </p:nvSpPr>
        <p:spPr>
          <a:xfrm>
            <a:off x="6309360" y="1261800"/>
            <a:ext cx="18252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rgbClr val="ffffff"/>
                </a:solidFill>
                <a:latin typeface="Calibri"/>
              </a:rPr>
              <a:t>=</a:t>
            </a:r>
            <a:endParaRPr b="0" lang="en-IN" sz="2400" spc="-1" strike="noStrike">
              <a:latin typeface="Arial"/>
            </a:endParaRPr>
          </a:p>
        </p:txBody>
      </p:sp>
      <p:sp>
        <p:nvSpPr>
          <p:cNvPr id="380" name="Shape 16"/>
          <p:cNvSpPr/>
          <p:nvPr/>
        </p:nvSpPr>
        <p:spPr>
          <a:xfrm>
            <a:off x="6446520" y="1207080"/>
            <a:ext cx="2468520" cy="685440"/>
          </a:xfrm>
          <a:prstGeom prst="rect">
            <a:avLst/>
          </a:prstGeom>
          <a:solidFill>
            <a:srgbClr val="0d1117"/>
          </a:solidFill>
          <a:ln w="19050">
            <a:solidFill>
              <a:srgbClr val="38bdf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81" name="Text 17"/>
          <p:cNvSpPr/>
          <p:nvPr/>
        </p:nvSpPr>
        <p:spPr>
          <a:xfrm>
            <a:off x="6492240" y="1207080"/>
            <a:ext cx="237708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050" spc="-1" strike="noStrike">
                <a:solidFill>
                  <a:srgbClr val="38bdf8"/>
                </a:solidFill>
                <a:latin typeface="Calibri"/>
              </a:rPr>
              <a:t>ONE CAPSULE</a:t>
            </a:r>
            <a:endParaRPr b="0" lang="en-IN" sz="105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050" spc="-1" strike="noStrike">
                <a:solidFill>
                  <a:srgbClr val="38bdf8"/>
                </a:solidFill>
                <a:latin typeface="Calibri"/>
              </a:rPr>
              <a:t>(Encapsulation)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382" name="Shape 18"/>
          <p:cNvSpPr/>
          <p:nvPr/>
        </p:nvSpPr>
        <p:spPr>
          <a:xfrm>
            <a:off x="182880" y="2249280"/>
            <a:ext cx="8777880" cy="1234080"/>
          </a:xfrm>
          <a:prstGeom prst="rect">
            <a:avLst/>
          </a:prstGeom>
          <a:solidFill>
            <a:srgbClr val="0a1628"/>
          </a:solidFill>
          <a:ln w="15240">
            <a:solidFill>
              <a:srgbClr val="38bdf8"/>
            </a:solidFill>
            <a:round/>
          </a:ln>
          <a:effectLst>
            <a:outerShdw algn="bl" blurRad="127080" dir="16200000" dist="50760" kx="0" ky="0" rotWithShape="0" sx="100000" sy="10000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383" name="Shape 19"/>
          <p:cNvSpPr/>
          <p:nvPr/>
        </p:nvSpPr>
        <p:spPr>
          <a:xfrm>
            <a:off x="182880" y="2249280"/>
            <a:ext cx="54360" cy="123408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84" name="Text 20"/>
          <p:cNvSpPr/>
          <p:nvPr/>
        </p:nvSpPr>
        <p:spPr>
          <a:xfrm>
            <a:off x="365760" y="2340720"/>
            <a:ext cx="13712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000" spc="199" strike="noStrike">
                <a:solidFill>
                  <a:srgbClr val="38bdf8"/>
                </a:solidFill>
                <a:latin typeface="Calibri"/>
              </a:rPr>
              <a:t>DEFINITION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385" name="Text 21"/>
          <p:cNvSpPr/>
          <p:nvPr/>
        </p:nvSpPr>
        <p:spPr>
          <a:xfrm>
            <a:off x="365760" y="2633400"/>
            <a:ext cx="841212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50" spc="-1" strike="noStrike">
                <a:solidFill>
                  <a:srgbClr val="e2e8f0"/>
                </a:solidFill>
                <a:latin typeface="Calibri"/>
              </a:rPr>
              <a:t>Encapsulation = hiding internal data (making variables private) + providing controlled access through getter and setter methods. It prevents external code from accidentally or intentionally corrupting the internal state of an object.</a:t>
            </a:r>
            <a:endParaRPr b="0" lang="en-IN" sz="1250" spc="-1" strike="noStrike">
              <a:latin typeface="Arial"/>
            </a:endParaRPr>
          </a:p>
        </p:txBody>
      </p:sp>
      <p:sp>
        <p:nvSpPr>
          <p:cNvPr id="386" name="Shape 22"/>
          <p:cNvSpPr/>
          <p:nvPr/>
        </p:nvSpPr>
        <p:spPr>
          <a:xfrm>
            <a:off x="182880" y="3584520"/>
            <a:ext cx="2102760" cy="1325520"/>
          </a:xfrm>
          <a:prstGeom prst="rect">
            <a:avLst/>
          </a:prstGeom>
          <a:solidFill>
            <a:srgbClr val="1e293b"/>
          </a:solidFill>
          <a:ln w="15240">
            <a:solidFill>
              <a:srgbClr val="38bdf8"/>
            </a:solidFill>
            <a:round/>
          </a:ln>
          <a:effectLst>
            <a:outerShdw algn="bl" blurRad="127080" dir="16200000" dist="50760" kx="0" ky="0" rotWithShape="0" sx="100000" sy="10000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387" name="Shape 23"/>
          <p:cNvSpPr/>
          <p:nvPr/>
        </p:nvSpPr>
        <p:spPr>
          <a:xfrm>
            <a:off x="274320" y="3675960"/>
            <a:ext cx="383760" cy="383760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88" name="Text 24"/>
          <p:cNvSpPr/>
          <p:nvPr/>
        </p:nvSpPr>
        <p:spPr>
          <a:xfrm>
            <a:off x="274320" y="3675960"/>
            <a:ext cx="3837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0f172a"/>
                </a:solidFill>
                <a:latin typeface="Calibri"/>
              </a:rPr>
              <a:t>1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389" name="Text 25"/>
          <p:cNvSpPr/>
          <p:nvPr/>
        </p:nvSpPr>
        <p:spPr>
          <a:xfrm>
            <a:off x="749880" y="3675960"/>
            <a:ext cx="14169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ffffff"/>
                </a:solidFill>
                <a:latin typeface="Calibri"/>
              </a:rPr>
              <a:t>Make ALL class attributes private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390" name="Text 26"/>
          <p:cNvSpPr/>
          <p:nvPr/>
        </p:nvSpPr>
        <p:spPr>
          <a:xfrm>
            <a:off x="274320" y="4133160"/>
            <a:ext cx="191988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94a3b8"/>
                </a:solidFill>
                <a:latin typeface="Calibri"/>
              </a:rPr>
              <a:t>Always use __ prefix on instance variables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391" name="Shape 27"/>
          <p:cNvSpPr/>
          <p:nvPr/>
        </p:nvSpPr>
        <p:spPr>
          <a:xfrm>
            <a:off x="2377440" y="3584520"/>
            <a:ext cx="2102760" cy="1325520"/>
          </a:xfrm>
          <a:prstGeom prst="rect">
            <a:avLst/>
          </a:prstGeom>
          <a:solidFill>
            <a:srgbClr val="1e293b"/>
          </a:solidFill>
          <a:ln w="15240">
            <a:solidFill>
              <a:srgbClr val="38bdf8"/>
            </a:solidFill>
            <a:round/>
          </a:ln>
          <a:effectLst>
            <a:outerShdw algn="bl" blurRad="127080" dir="16200000" dist="50760" kx="0" ky="0" rotWithShape="0" sx="100000" sy="10000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392" name="Shape 28"/>
          <p:cNvSpPr/>
          <p:nvPr/>
        </p:nvSpPr>
        <p:spPr>
          <a:xfrm>
            <a:off x="2468880" y="3675960"/>
            <a:ext cx="383760" cy="383760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93" name="Text 29"/>
          <p:cNvSpPr/>
          <p:nvPr/>
        </p:nvSpPr>
        <p:spPr>
          <a:xfrm>
            <a:off x="2468880" y="3675960"/>
            <a:ext cx="3837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0f172a"/>
                </a:solidFill>
                <a:latin typeface="Calibri"/>
              </a:rPr>
              <a:t>2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394" name="Text 30"/>
          <p:cNvSpPr/>
          <p:nvPr/>
        </p:nvSpPr>
        <p:spPr>
          <a:xfrm>
            <a:off x="2944440" y="3675960"/>
            <a:ext cx="14169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ffffff"/>
                </a:solidFill>
                <a:latin typeface="Calibri"/>
              </a:rPr>
              <a:t>Create getters for read access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395" name="Text 31"/>
          <p:cNvSpPr/>
          <p:nvPr/>
        </p:nvSpPr>
        <p:spPr>
          <a:xfrm>
            <a:off x="2468880" y="4133160"/>
            <a:ext cx="191988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94a3b8"/>
                </a:solidFill>
                <a:latin typeface="Calibri"/>
              </a:rPr>
              <a:t>Only expose attributes that external code genuinely needs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396" name="Shape 32"/>
          <p:cNvSpPr/>
          <p:nvPr/>
        </p:nvSpPr>
        <p:spPr>
          <a:xfrm>
            <a:off x="4572000" y="3584520"/>
            <a:ext cx="2102760" cy="1325520"/>
          </a:xfrm>
          <a:prstGeom prst="rect">
            <a:avLst/>
          </a:prstGeom>
          <a:solidFill>
            <a:srgbClr val="1e293b"/>
          </a:solidFill>
          <a:ln w="15240">
            <a:solidFill>
              <a:srgbClr val="38bdf8"/>
            </a:solidFill>
            <a:round/>
          </a:ln>
          <a:effectLst>
            <a:outerShdw algn="bl" blurRad="127080" dir="16200000" dist="50760" kx="0" ky="0" rotWithShape="0" sx="100000" sy="10000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397" name="Shape 33"/>
          <p:cNvSpPr/>
          <p:nvPr/>
        </p:nvSpPr>
        <p:spPr>
          <a:xfrm>
            <a:off x="4663440" y="3675960"/>
            <a:ext cx="383760" cy="383760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98" name="Text 34"/>
          <p:cNvSpPr/>
          <p:nvPr/>
        </p:nvSpPr>
        <p:spPr>
          <a:xfrm>
            <a:off x="4663440" y="3675960"/>
            <a:ext cx="3837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0f172a"/>
                </a:solidFill>
                <a:latin typeface="Calibri"/>
              </a:rPr>
              <a:t>3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399" name="Text 35"/>
          <p:cNvSpPr/>
          <p:nvPr/>
        </p:nvSpPr>
        <p:spPr>
          <a:xfrm>
            <a:off x="5139000" y="3675960"/>
            <a:ext cx="14169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ffffff"/>
                </a:solidFill>
                <a:latin typeface="Calibri"/>
              </a:rPr>
              <a:t>Create setters with validation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400" name="Text 36"/>
          <p:cNvSpPr/>
          <p:nvPr/>
        </p:nvSpPr>
        <p:spPr>
          <a:xfrm>
            <a:off x="4663440" y="4133160"/>
            <a:ext cx="191988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94a3b8"/>
                </a:solidFill>
                <a:latin typeface="Calibri"/>
              </a:rPr>
              <a:t>Always validate type/range before assigning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401" name="Shape 37"/>
          <p:cNvSpPr/>
          <p:nvPr/>
        </p:nvSpPr>
        <p:spPr>
          <a:xfrm>
            <a:off x="6766560" y="3584520"/>
            <a:ext cx="2102760" cy="1325520"/>
          </a:xfrm>
          <a:prstGeom prst="rect">
            <a:avLst/>
          </a:prstGeom>
          <a:solidFill>
            <a:srgbClr val="1e293b"/>
          </a:solidFill>
          <a:ln w="15240">
            <a:solidFill>
              <a:srgbClr val="38bdf8"/>
            </a:solidFill>
            <a:round/>
          </a:ln>
          <a:effectLst>
            <a:outerShdw algn="bl" blurRad="127080" dir="16200000" dist="50760" kx="0" ky="0" rotWithShape="0" sx="100000" sy="10000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402" name="Shape 38"/>
          <p:cNvSpPr/>
          <p:nvPr/>
        </p:nvSpPr>
        <p:spPr>
          <a:xfrm>
            <a:off x="6858000" y="3675960"/>
            <a:ext cx="383760" cy="383760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03" name="Text 39"/>
          <p:cNvSpPr/>
          <p:nvPr/>
        </p:nvSpPr>
        <p:spPr>
          <a:xfrm>
            <a:off x="6858000" y="3675960"/>
            <a:ext cx="3837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0f172a"/>
                </a:solidFill>
                <a:latin typeface="Calibri"/>
              </a:rPr>
              <a:t>4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404" name="Text 40"/>
          <p:cNvSpPr/>
          <p:nvPr/>
        </p:nvSpPr>
        <p:spPr>
          <a:xfrm>
            <a:off x="7333560" y="3675960"/>
            <a:ext cx="14169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ffffff"/>
                </a:solidFill>
                <a:latin typeface="Calibri"/>
              </a:rPr>
              <a:t>Interview answer ready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405" name="Text 41"/>
          <p:cNvSpPr/>
          <p:nvPr/>
        </p:nvSpPr>
        <p:spPr>
          <a:xfrm>
            <a:off x="6858000" y="4133160"/>
            <a:ext cx="191988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94a3b8"/>
                </a:solidFill>
                <a:latin typeface="Calibri"/>
              </a:rPr>
              <a:t>Encapsulation prevents corruption of internal state by controlling external access</a:t>
            </a:r>
            <a:endParaRPr b="0" lang="en-IN" sz="105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Shape 0"/>
          <p:cNvSpPr/>
          <p:nvPr/>
        </p:nvSpPr>
        <p:spPr>
          <a:xfrm>
            <a:off x="0" y="0"/>
            <a:ext cx="63720" cy="514332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07" name="Shape 1"/>
          <p:cNvSpPr/>
          <p:nvPr/>
        </p:nvSpPr>
        <p:spPr>
          <a:xfrm>
            <a:off x="0" y="0"/>
            <a:ext cx="9143640" cy="71280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08" name="Text 2"/>
          <p:cNvSpPr/>
          <p:nvPr/>
        </p:nvSpPr>
        <p:spPr>
          <a:xfrm>
            <a:off x="182880" y="0"/>
            <a:ext cx="7131960" cy="712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200" spc="-1" strike="noStrike">
                <a:solidFill>
                  <a:srgbClr val="ffffff"/>
                </a:solidFill>
                <a:latin typeface="Calibri"/>
              </a:rPr>
              <a:t>Part 1 – Quick Summary</a:t>
            </a:r>
            <a:endParaRPr b="0" lang="en-IN" sz="2200" spc="-1" strike="noStrike">
              <a:latin typeface="Arial"/>
            </a:endParaRPr>
          </a:p>
        </p:txBody>
      </p:sp>
      <p:sp>
        <p:nvSpPr>
          <p:cNvPr id="409" name="Shape 3"/>
          <p:cNvSpPr/>
          <p:nvPr/>
        </p:nvSpPr>
        <p:spPr>
          <a:xfrm>
            <a:off x="7589520" y="109800"/>
            <a:ext cx="1371240" cy="47520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round/>
          </a:ln>
          <a:effectLst>
            <a:outerShdw algn="bl" blurRad="127080" dir="16200000" dist="50760" kx="0" ky="0" rotWithShape="0" sx="100000" sy="10000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410" name="Text 4"/>
          <p:cNvSpPr/>
          <p:nvPr/>
        </p:nvSpPr>
        <p:spPr>
          <a:xfrm>
            <a:off x="7589520" y="109800"/>
            <a:ext cx="137124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0f172a"/>
                </a:solidFill>
                <a:latin typeface="Calibri"/>
              </a:rPr>
              <a:t>OOP S8 P2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411" name="Shape 5"/>
          <p:cNvSpPr/>
          <p:nvPr/>
        </p:nvSpPr>
        <p:spPr>
          <a:xfrm>
            <a:off x="182880" y="822960"/>
            <a:ext cx="2834280" cy="1919880"/>
          </a:xfrm>
          <a:prstGeom prst="rect">
            <a:avLst/>
          </a:prstGeom>
          <a:solidFill>
            <a:srgbClr val="1e293b"/>
          </a:solidFill>
          <a:ln w="15240">
            <a:solidFill>
              <a:srgbClr val="38bdf8"/>
            </a:solidFill>
            <a:round/>
          </a:ln>
          <a:effectLst>
            <a:outerShdw algn="bl" blurRad="127080" dir="16200000" dist="50760" kx="0" ky="0" rotWithShape="0" sx="100000" sy="10000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412" name="Shape 6"/>
          <p:cNvSpPr/>
          <p:nvPr/>
        </p:nvSpPr>
        <p:spPr>
          <a:xfrm>
            <a:off x="182880" y="822960"/>
            <a:ext cx="2834280" cy="5436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13" name="Shape 7"/>
          <p:cNvSpPr/>
          <p:nvPr/>
        </p:nvSpPr>
        <p:spPr>
          <a:xfrm>
            <a:off x="292680" y="951120"/>
            <a:ext cx="411120" cy="411120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14" name="Text 8"/>
          <p:cNvSpPr/>
          <p:nvPr/>
        </p:nvSpPr>
        <p:spPr>
          <a:xfrm>
            <a:off x="292680" y="951120"/>
            <a:ext cx="41112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0f172a"/>
                </a:solidFill>
                <a:latin typeface="Calibri"/>
              </a:rPr>
              <a:t>01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415" name="Text 9"/>
          <p:cNvSpPr/>
          <p:nvPr/>
        </p:nvSpPr>
        <p:spPr>
          <a:xfrm>
            <a:off x="777240" y="987480"/>
            <a:ext cx="21484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Calibri"/>
              </a:rPr>
              <a:t>Coordinate Geometry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416" name="Text 10"/>
          <p:cNvSpPr/>
          <p:nvPr/>
        </p:nvSpPr>
        <p:spPr>
          <a:xfrm>
            <a:off x="320040" y="1463040"/>
            <a:ext cx="2605680" cy="114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94a3b8"/>
                </a:solidFill>
                <a:latin typeface="Calibri"/>
              </a:rPr>
              <a:t>Point &amp; Line classes · Two classes interacting · Methods accepting object arguments · Smart reuse of methods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417" name="Shape 11"/>
          <p:cNvSpPr/>
          <p:nvPr/>
        </p:nvSpPr>
        <p:spPr>
          <a:xfrm>
            <a:off x="3154680" y="822960"/>
            <a:ext cx="2834280" cy="1919880"/>
          </a:xfrm>
          <a:prstGeom prst="rect">
            <a:avLst/>
          </a:prstGeom>
          <a:solidFill>
            <a:srgbClr val="1e293b"/>
          </a:solidFill>
          <a:ln w="15240">
            <a:solidFill>
              <a:srgbClr val="38bdf8"/>
            </a:solidFill>
            <a:round/>
          </a:ln>
          <a:effectLst>
            <a:outerShdw algn="bl" blurRad="127080" dir="16200000" dist="50760" kx="0" ky="0" rotWithShape="0" sx="100000" sy="10000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418" name="Shape 12"/>
          <p:cNvSpPr/>
          <p:nvPr/>
        </p:nvSpPr>
        <p:spPr>
          <a:xfrm>
            <a:off x="3154680" y="822960"/>
            <a:ext cx="2834280" cy="5436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19" name="Shape 13"/>
          <p:cNvSpPr/>
          <p:nvPr/>
        </p:nvSpPr>
        <p:spPr>
          <a:xfrm>
            <a:off x="3264480" y="951120"/>
            <a:ext cx="411120" cy="411120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20" name="Text 14"/>
          <p:cNvSpPr/>
          <p:nvPr/>
        </p:nvSpPr>
        <p:spPr>
          <a:xfrm>
            <a:off x="3264480" y="951120"/>
            <a:ext cx="41112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0f172a"/>
                </a:solidFill>
                <a:latin typeface="Calibri"/>
              </a:rPr>
              <a:t>02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421" name="Text 15"/>
          <p:cNvSpPr/>
          <p:nvPr/>
        </p:nvSpPr>
        <p:spPr>
          <a:xfrm>
            <a:off x="3749040" y="987480"/>
            <a:ext cx="21484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Calibri"/>
              </a:rPr>
              <a:t>Reference Variables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422" name="Text 16"/>
          <p:cNvSpPr/>
          <p:nvPr/>
        </p:nvSpPr>
        <p:spPr>
          <a:xfrm>
            <a:off x="3291840" y="1463040"/>
            <a:ext cx="2605680" cy="114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94a3b8"/>
                </a:solidFill>
                <a:latin typeface="Calibri"/>
              </a:rPr>
              <a:t>p stores memory address, not the object · Aliasing danger · id() as proof · k=p does NOT copy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423" name="Shape 17"/>
          <p:cNvSpPr/>
          <p:nvPr/>
        </p:nvSpPr>
        <p:spPr>
          <a:xfrm>
            <a:off x="6126480" y="822960"/>
            <a:ext cx="2834280" cy="1919880"/>
          </a:xfrm>
          <a:prstGeom prst="rect">
            <a:avLst/>
          </a:prstGeom>
          <a:solidFill>
            <a:srgbClr val="1e293b"/>
          </a:solidFill>
          <a:ln w="15240">
            <a:solidFill>
              <a:srgbClr val="38bdf8"/>
            </a:solidFill>
            <a:round/>
          </a:ln>
          <a:effectLst>
            <a:outerShdw algn="bl" blurRad="127080" dir="16200000" dist="50760" kx="0" ky="0" rotWithShape="0" sx="100000" sy="10000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424" name="Shape 18"/>
          <p:cNvSpPr/>
          <p:nvPr/>
        </p:nvSpPr>
        <p:spPr>
          <a:xfrm>
            <a:off x="6126480" y="822960"/>
            <a:ext cx="2834280" cy="543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25" name="Shape 19"/>
          <p:cNvSpPr/>
          <p:nvPr/>
        </p:nvSpPr>
        <p:spPr>
          <a:xfrm>
            <a:off x="6236280" y="951120"/>
            <a:ext cx="411120" cy="41112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26" name="Text 20"/>
          <p:cNvSpPr/>
          <p:nvPr/>
        </p:nvSpPr>
        <p:spPr>
          <a:xfrm>
            <a:off x="6236280" y="951120"/>
            <a:ext cx="41112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0f172a"/>
                </a:solidFill>
                <a:latin typeface="Calibri"/>
              </a:rPr>
              <a:t>03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427" name="Text 21"/>
          <p:cNvSpPr/>
          <p:nvPr/>
        </p:nvSpPr>
        <p:spPr>
          <a:xfrm>
            <a:off x="6720840" y="987480"/>
            <a:ext cx="21484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Calibri"/>
              </a:rPr>
              <a:t>Pass by Reference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428" name="Text 22"/>
          <p:cNvSpPr/>
          <p:nvPr/>
        </p:nvSpPr>
        <p:spPr>
          <a:xfrm>
            <a:off x="6263640" y="1463040"/>
            <a:ext cx="2605680" cy="114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94a3b8"/>
                </a:solidFill>
                <a:latin typeface="Calibri"/>
              </a:rPr>
              <a:t>Objects travel by reference · id() same inside/outside function · Changes inside functions persist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429" name="Shape 23"/>
          <p:cNvSpPr/>
          <p:nvPr/>
        </p:nvSpPr>
        <p:spPr>
          <a:xfrm>
            <a:off x="182880" y="2926080"/>
            <a:ext cx="2834280" cy="1919880"/>
          </a:xfrm>
          <a:prstGeom prst="rect">
            <a:avLst/>
          </a:prstGeom>
          <a:solidFill>
            <a:srgbClr val="1e293b"/>
          </a:solidFill>
          <a:ln w="15240">
            <a:solidFill>
              <a:srgbClr val="38bdf8"/>
            </a:solidFill>
            <a:round/>
          </a:ln>
          <a:effectLst>
            <a:outerShdw algn="bl" blurRad="127080" dir="16200000" dist="50760" kx="0" ky="0" rotWithShape="0" sx="100000" sy="10000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430" name="Shape 24"/>
          <p:cNvSpPr/>
          <p:nvPr/>
        </p:nvSpPr>
        <p:spPr>
          <a:xfrm>
            <a:off x="182880" y="2926080"/>
            <a:ext cx="2834280" cy="54360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31" name="Shape 25"/>
          <p:cNvSpPr/>
          <p:nvPr/>
        </p:nvSpPr>
        <p:spPr>
          <a:xfrm>
            <a:off x="292680" y="3054240"/>
            <a:ext cx="411120" cy="411120"/>
          </a:xfrm>
          <a:prstGeom prst="ellipse">
            <a:avLst/>
          </a:prstGeom>
          <a:solidFill>
            <a:srgbClr val="f87171"/>
          </a:solidFill>
          <a:ln w="12700">
            <a:solidFill>
              <a:srgbClr val="f87171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32" name="Text 26"/>
          <p:cNvSpPr/>
          <p:nvPr/>
        </p:nvSpPr>
        <p:spPr>
          <a:xfrm>
            <a:off x="292680" y="3054240"/>
            <a:ext cx="41112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0f172a"/>
                </a:solidFill>
                <a:latin typeface="Calibri"/>
              </a:rPr>
              <a:t>04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433" name="Text 27"/>
          <p:cNvSpPr/>
          <p:nvPr/>
        </p:nvSpPr>
        <p:spPr>
          <a:xfrm>
            <a:off x="777240" y="3090600"/>
            <a:ext cx="21484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Calibri"/>
              </a:rPr>
              <a:t>Object Mutability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434" name="Text 28"/>
          <p:cNvSpPr/>
          <p:nvPr/>
        </p:nvSpPr>
        <p:spPr>
          <a:xfrm>
            <a:off x="320040" y="3566160"/>
            <a:ext cx="2605680" cy="114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94a3b8"/>
                </a:solidFill>
                <a:latin typeface="Calibri"/>
              </a:rPr>
              <a:t>User-defined objects are mutable · id() stays same after modification · Unlike strings/integers (immutable)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435" name="Shape 29"/>
          <p:cNvSpPr/>
          <p:nvPr/>
        </p:nvSpPr>
        <p:spPr>
          <a:xfrm>
            <a:off x="3154680" y="2926080"/>
            <a:ext cx="2834280" cy="1919880"/>
          </a:xfrm>
          <a:prstGeom prst="rect">
            <a:avLst/>
          </a:prstGeom>
          <a:solidFill>
            <a:srgbClr val="1e293b"/>
          </a:solidFill>
          <a:ln w="15240">
            <a:solidFill>
              <a:srgbClr val="38bdf8"/>
            </a:solidFill>
            <a:round/>
          </a:ln>
          <a:effectLst>
            <a:outerShdw algn="bl" blurRad="127080" dir="16200000" dist="50760" kx="0" ky="0" rotWithShape="0" sx="100000" sy="10000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436" name="Shape 30"/>
          <p:cNvSpPr/>
          <p:nvPr/>
        </p:nvSpPr>
        <p:spPr>
          <a:xfrm>
            <a:off x="3154680" y="2926080"/>
            <a:ext cx="2834280" cy="5436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37" name="Shape 31"/>
          <p:cNvSpPr/>
          <p:nvPr/>
        </p:nvSpPr>
        <p:spPr>
          <a:xfrm>
            <a:off x="3264480" y="3054240"/>
            <a:ext cx="411120" cy="411120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38" name="Text 32"/>
          <p:cNvSpPr/>
          <p:nvPr/>
        </p:nvSpPr>
        <p:spPr>
          <a:xfrm>
            <a:off x="3264480" y="3054240"/>
            <a:ext cx="41112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0f172a"/>
                </a:solidFill>
                <a:latin typeface="Calibri"/>
              </a:rPr>
              <a:t>05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439" name="Text 33"/>
          <p:cNvSpPr/>
          <p:nvPr/>
        </p:nvSpPr>
        <p:spPr>
          <a:xfrm>
            <a:off x="3749040" y="3090600"/>
            <a:ext cx="21484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Calibri"/>
              </a:rPr>
              <a:t>Encapsulation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440" name="Text 34"/>
          <p:cNvSpPr/>
          <p:nvPr/>
        </p:nvSpPr>
        <p:spPr>
          <a:xfrm>
            <a:off x="3291840" y="3566160"/>
            <a:ext cx="2605680" cy="114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94a3b8"/>
                </a:solidFill>
                <a:latin typeface="Calibri"/>
              </a:rPr>
              <a:t>Private vars (__ prefix) · Name mangling · Getters &amp; setters · Validation in setters · Python Gentleman's Agreement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441" name="Shape 35"/>
          <p:cNvSpPr/>
          <p:nvPr/>
        </p:nvSpPr>
        <p:spPr>
          <a:xfrm>
            <a:off x="182880" y="4663440"/>
            <a:ext cx="8777880" cy="38376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42" name="Text 36"/>
          <p:cNvSpPr/>
          <p:nvPr/>
        </p:nvSpPr>
        <p:spPr>
          <a:xfrm>
            <a:off x="182880" y="4663440"/>
            <a:ext cx="877788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0f172a"/>
                </a:solidFill>
                <a:latin typeface="Calibri"/>
              </a:rPr>
              <a:t>Continued in Part 2  →  Collections of Objects · Static Variables · Static Methods</a:t>
            </a:r>
            <a:endParaRPr b="0" lang="en-IN" sz="13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57</TotalTime>
  <Application>LibreOffice/7.3.7.2$Linux_X86_64 LibreOffice_project/30$Build-2</Application>
  <AppVersion>15.0000</AppVersion>
  <Words>0</Words>
  <Paragraphs>0</Paragraphs>
  <Company>PptxGenJS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2026-02-21T17:51:06Z</dcterms:created>
  <dc:creator>PptxGenJS</dc:creator>
  <dc:description/>
  <dc:language>en-IN</dc:language>
  <cp:lastModifiedBy/>
  <dcterms:modified xsi:type="dcterms:W3CDTF">2026-03-02T17:49:51Z</dcterms:modified>
  <cp:revision>3</cp:revision>
  <dc:subject>PptxGenJS Presentation</dc:subject>
  <dc:title>Python OOP – Part 1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20</vt:i4>
  </property>
  <property fmtid="{D5CDD505-2E9C-101B-9397-08002B2CF9AE}" pid="3" name="PresentationFormat">
    <vt:lpwstr>On-screen Show (16:9)</vt:lpwstr>
  </property>
  <property fmtid="{D5CDD505-2E9C-101B-9397-08002B2CF9AE}" pid="4" name="Slides">
    <vt:i4>20</vt:i4>
  </property>
</Properties>
</file>