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13.xml.rels" ContentType="application/vnd.openxmlformats-package.relationships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3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1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edit the notes 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C2322BE5-0537-4DA8-B320-64E7B4B5A1D5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0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24F864C-E025-4295-92D4-E1D6C60CCF7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0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16561F6-E265-4730-964F-C4D7B028C00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15D14BC-73C5-4C38-B20E-5D2BBDC42C1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1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105D0A4-DE22-481B-8139-D9DAB3DF285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1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4C99A2A-9FBB-47A0-9FFA-B4A78B12A9E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2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47F1F40-125F-4D02-8E7C-1C449CD7930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2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F6942F0-A176-4489-80E9-0C3A9392858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2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115E680-107E-411B-BD1C-244DA26B04C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30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F4E97AE-001D-44B0-BBCC-EE74C8176CF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33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721F83D-8250-4D75-9F37-96F7436D2F6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36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655F96A-4E9A-4100-88AB-BB0EB88906B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39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D12A8F4-A7E4-4A78-88CB-83072CAAE12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42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9C806C8-B812-4021-B1E4-211994E81F1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45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4A515CA-74C2-4E6B-A3A2-E3C49AE0994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IN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0" y="0"/>
            <a:ext cx="3474360" cy="5143320"/>
          </a:xfrm>
          <a:prstGeom prst="rect">
            <a:avLst/>
          </a:prstGeom>
          <a:solidFill>
            <a:srgbClr val="0c1526"/>
          </a:solidFill>
          <a:ln w="12700">
            <a:solidFill>
              <a:srgbClr val="0c152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Shape 1"/>
          <p:cNvSpPr/>
          <p:nvPr/>
        </p:nvSpPr>
        <p:spPr>
          <a:xfrm>
            <a:off x="3474720" y="0"/>
            <a:ext cx="54360" cy="5143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Shape 2"/>
          <p:cNvSpPr/>
          <p:nvPr/>
        </p:nvSpPr>
        <p:spPr>
          <a:xfrm>
            <a:off x="457200" y="548640"/>
            <a:ext cx="2377080" cy="2377080"/>
          </a:xfrm>
          <a:prstGeom prst="ellipse">
            <a:avLst/>
          </a:prstGeom>
          <a:solidFill>
            <a:srgbClr val="1e3a5f"/>
          </a:solidFill>
          <a:ln w="254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Text 3"/>
          <p:cNvSpPr/>
          <p:nvPr/>
        </p:nvSpPr>
        <p:spPr>
          <a:xfrm>
            <a:off x="457200" y="548640"/>
            <a:ext cx="237708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200" spc="-1" strike="noStrike">
                <a:solidFill>
                  <a:srgbClr val="000000"/>
                </a:solidFill>
                <a:latin typeface="Calibri"/>
              </a:rPr>
              <a:t>🐍</a:t>
            </a:r>
            <a:endParaRPr b="0" lang="en-IN" sz="7200" spc="-1" strike="noStrike">
              <a:latin typeface="Arial"/>
            </a:endParaRPr>
          </a:p>
        </p:txBody>
      </p:sp>
      <p:sp>
        <p:nvSpPr>
          <p:cNvPr id="48" name="Text 4"/>
          <p:cNvSpPr/>
          <p:nvPr/>
        </p:nvSpPr>
        <p:spPr>
          <a:xfrm>
            <a:off x="274320" y="3108960"/>
            <a:ext cx="29257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398" strike="noStrike">
                <a:solidFill>
                  <a:srgbClr val="38bdf8"/>
                </a:solidFill>
                <a:latin typeface="Calibri"/>
              </a:rPr>
              <a:t>PYTHON OOP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49" name="Text 5"/>
          <p:cNvSpPr/>
          <p:nvPr/>
        </p:nvSpPr>
        <p:spPr>
          <a:xfrm>
            <a:off x="3749040" y="457200"/>
            <a:ext cx="52117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Object-Oriented</a:t>
            </a:r>
            <a:endParaRPr b="0" lang="en-IN" sz="4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Programming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50" name="Text 6"/>
          <p:cNvSpPr/>
          <p:nvPr/>
        </p:nvSpPr>
        <p:spPr>
          <a:xfrm>
            <a:off x="3749040" y="1874520"/>
            <a:ext cx="52117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38bdf8"/>
                </a:solidFill>
                <a:latin typeface="Calibri"/>
              </a:rPr>
              <a:t>Session 8 · Part 2  |  File 2 of 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1" name="Shape 7"/>
          <p:cNvSpPr/>
          <p:nvPr/>
        </p:nvSpPr>
        <p:spPr>
          <a:xfrm>
            <a:off x="3749040" y="2377440"/>
            <a:ext cx="5211720" cy="363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" name="Text 8"/>
          <p:cNvSpPr/>
          <p:nvPr/>
        </p:nvSpPr>
        <p:spPr>
          <a:xfrm>
            <a:off x="3749040" y="2560320"/>
            <a:ext cx="521172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e2e8f0"/>
                </a:solidFill>
                <a:latin typeface="Calibri"/>
                <a:ea typeface="Calibri"/>
              </a:rPr>
              <a:t>Instance Variables (Quick Review)</a:t>
            </a:r>
            <a:endParaRPr b="0" lang="en-IN" sz="1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e2e8f0"/>
                </a:solidFill>
                <a:latin typeface="Calibri"/>
                <a:ea typeface="Calibri"/>
              </a:rPr>
              <a:t>Collections of Objects (Lists &amp; Dicts)</a:t>
            </a:r>
            <a:endParaRPr b="0" lang="en-IN" sz="1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e2e8f0"/>
                </a:solidFill>
                <a:latin typeface="Calibri"/>
                <a:ea typeface="Calibri"/>
              </a:rPr>
              <a:t>Static Variables — Shared Across All Objects</a:t>
            </a:r>
            <a:endParaRPr b="0" lang="en-IN" sz="1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e2e8f0"/>
                </a:solidFill>
                <a:latin typeface="Calibri"/>
                <a:ea typeface="Calibri"/>
              </a:rPr>
              <a:t>Static Methods — Utility Functions</a:t>
            </a:r>
            <a:endParaRPr b="0" lang="en-IN" sz="1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e2e8f0"/>
                </a:solidFill>
                <a:latin typeface="Calibri"/>
                <a:ea typeface="Calibri"/>
              </a:rPr>
              <a:t>Complete ATM Class — Everything Together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0"/>
          <p:cNvSpPr/>
          <p:nvPr/>
        </p:nvSpPr>
        <p:spPr>
          <a:xfrm>
            <a:off x="0" y="0"/>
            <a:ext cx="63720" cy="5143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" name="Shape 1"/>
          <p:cNvSpPr/>
          <p:nvPr/>
        </p:nvSpPr>
        <p:spPr>
          <a:xfrm>
            <a:off x="0" y="0"/>
            <a:ext cx="9143640" cy="712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5" name="Text 2"/>
          <p:cNvSpPr/>
          <p:nvPr/>
        </p:nvSpPr>
        <p:spPr>
          <a:xfrm>
            <a:off x="182880" y="0"/>
            <a:ext cx="71319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Instance Variables – Quick Review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56" name="Shape 3"/>
          <p:cNvSpPr/>
          <p:nvPr/>
        </p:nvSpPr>
        <p:spPr>
          <a:xfrm>
            <a:off x="7589520" y="109800"/>
            <a:ext cx="1371240" cy="4752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7" name="Text 4"/>
          <p:cNvSpPr/>
          <p:nvPr/>
        </p:nvSpPr>
        <p:spPr>
          <a:xfrm>
            <a:off x="7589520" y="109800"/>
            <a:ext cx="13712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172a"/>
                </a:solidFill>
                <a:latin typeface="Calibri"/>
              </a:rPr>
              <a:t>Before We Proceed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58" name="Shape 5"/>
          <p:cNvSpPr/>
          <p:nvPr/>
        </p:nvSpPr>
        <p:spPr>
          <a:xfrm>
            <a:off x="182880" y="804600"/>
            <a:ext cx="8777880" cy="1279800"/>
          </a:xfrm>
          <a:prstGeom prst="rect">
            <a:avLst/>
          </a:prstGeom>
          <a:solidFill>
            <a:srgbClr val="0a1628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9" name="Shape 6"/>
          <p:cNvSpPr/>
          <p:nvPr/>
        </p:nvSpPr>
        <p:spPr>
          <a:xfrm>
            <a:off x="182880" y="804600"/>
            <a:ext cx="54360" cy="12798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0" name="Text 7"/>
          <p:cNvSpPr/>
          <p:nvPr/>
        </p:nvSpPr>
        <p:spPr>
          <a:xfrm>
            <a:off x="365760" y="89604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199" strike="noStrike">
                <a:solidFill>
                  <a:srgbClr val="38bdf8"/>
                </a:solidFill>
                <a:latin typeface="Calibri"/>
              </a:rPr>
              <a:t>INSTANCE VARIABLE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61" name="Text 8"/>
          <p:cNvSpPr/>
          <p:nvPr/>
        </p:nvSpPr>
        <p:spPr>
          <a:xfrm>
            <a:off x="365760" y="1188720"/>
            <a:ext cx="8320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2e8f0"/>
                </a:solidFill>
                <a:latin typeface="Calibri"/>
              </a:rPr>
              <a:t>A variable defined inside __init__ using self. Its value is UNIQUE per object — every object gets its own copy in memory.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2" name="Shape 9"/>
          <p:cNvSpPr/>
          <p:nvPr/>
        </p:nvSpPr>
        <p:spPr>
          <a:xfrm>
            <a:off x="182880" y="2212920"/>
            <a:ext cx="5120280" cy="2605680"/>
          </a:xfrm>
          <a:prstGeom prst="rect">
            <a:avLst/>
          </a:prstGeom>
          <a:solidFill>
            <a:srgbClr val="0d1117"/>
          </a:solidFill>
          <a:ln w="19050">
            <a:solidFill>
              <a:srgbClr val="2d374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3" name="Shape 10"/>
          <p:cNvSpPr/>
          <p:nvPr/>
        </p:nvSpPr>
        <p:spPr>
          <a:xfrm>
            <a:off x="182880" y="2212920"/>
            <a:ext cx="5120280" cy="2556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4" name="Shape 11"/>
          <p:cNvSpPr/>
          <p:nvPr/>
        </p:nvSpPr>
        <p:spPr>
          <a:xfrm>
            <a:off x="292680" y="2277000"/>
            <a:ext cx="109440" cy="109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5" name="Shape 12"/>
          <p:cNvSpPr/>
          <p:nvPr/>
        </p:nvSpPr>
        <p:spPr>
          <a:xfrm>
            <a:off x="475560" y="2277000"/>
            <a:ext cx="109440" cy="109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6" name="Shape 13"/>
          <p:cNvSpPr/>
          <p:nvPr/>
        </p:nvSpPr>
        <p:spPr>
          <a:xfrm>
            <a:off x="658440" y="2277000"/>
            <a:ext cx="109440" cy="1094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7" name="Text 14"/>
          <p:cNvSpPr/>
          <p:nvPr/>
        </p:nvSpPr>
        <p:spPr>
          <a:xfrm>
            <a:off x="182880" y="2231280"/>
            <a:ext cx="5028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</a:rPr>
              <a:t>instance_demo.py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68" name="Text 15"/>
          <p:cNvSpPr/>
          <p:nvPr/>
        </p:nvSpPr>
        <p:spPr>
          <a:xfrm>
            <a:off x="292680" y="2487240"/>
            <a:ext cx="4891680" cy="22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class</a:t>
            </a:r>
            <a:r>
              <a:rPr b="0" lang="en-US" sz="1000" spc="-1" strike="noStrike">
                <a:solidFill>
                  <a:srgbClr val="34d399"/>
                </a:solidFill>
                <a:latin typeface="Courier New"/>
                <a:ea typeface="Courier New"/>
              </a:rPr>
              <a:t> Employee:</a:t>
            </a:r>
            <a:endParaRPr b="0" lang="en-IN" sz="1000" spc="-1" strike="noStrike">
              <a:latin typeface="Arial"/>
            </a:endParaRPr>
          </a:p>
          <a:p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__init__(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, emp_name, department):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.emp_name = emp_name        # instance variable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.department = department    # instance variable</a:t>
            </a:r>
            <a:endParaRPr b="0" lang="en-IN" sz="1000" spc="-1" strike="noStrike">
              <a:latin typeface="Arial"/>
            </a:endParaRPr>
          </a:p>
          <a:p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emp1 = Employee(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'Alex'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, 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'Engineering'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)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emp2 = Employee(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'Jordan'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, 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'Marketing'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)</a:t>
            </a:r>
            <a:endParaRPr b="0" lang="en-IN" sz="1000" spc="-1" strike="noStrike">
              <a:latin typeface="Arial"/>
            </a:endParaRPr>
          </a:p>
          <a:p>
            <a:endParaRPr b="0" lang="en-IN" sz="1000" spc="-1" strike="noStrike">
              <a:latin typeface="Arial"/>
            </a:endParaRPr>
          </a:p>
          <a:p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In memory: TWO separate emp_name values exist</a:t>
            </a:r>
            <a:endParaRPr b="0" lang="en-IN" sz="1000" spc="-1" strike="noStrike">
              <a:latin typeface="Arial"/>
            </a:endParaRPr>
          </a:p>
          <a:p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emp1.emp_name = 'Alex'        emp2.emp_name = 'Jordan'</a:t>
            </a:r>
            <a:endParaRPr b="0" lang="en-IN" sz="1000" spc="-1" strike="noStrike">
              <a:latin typeface="Arial"/>
            </a:endParaRPr>
          </a:p>
          <a:p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emp1.department = 'Engineering'  emp2.department = 'Marketing'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</p:txBody>
      </p:sp>
      <p:sp>
        <p:nvSpPr>
          <p:cNvPr id="69" name="Shape 16"/>
          <p:cNvSpPr/>
          <p:nvPr/>
        </p:nvSpPr>
        <p:spPr>
          <a:xfrm>
            <a:off x="5486400" y="2212920"/>
            <a:ext cx="3474360" cy="260568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0" name="Text 17"/>
          <p:cNvSpPr/>
          <p:nvPr/>
        </p:nvSpPr>
        <p:spPr>
          <a:xfrm>
            <a:off x="5623560" y="2331720"/>
            <a:ext cx="320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38bdf8"/>
                </a:solidFill>
                <a:latin typeface="Calibri"/>
              </a:rPr>
              <a:t>The Key Rule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71" name="Text 18"/>
          <p:cNvSpPr/>
          <p:nvPr/>
        </p:nvSpPr>
        <p:spPr>
          <a:xfrm>
            <a:off x="5623560" y="2788920"/>
            <a:ext cx="320004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e2e8f0"/>
                </a:solidFill>
                <a:latin typeface="Calibri"/>
              </a:rPr>
              <a:t>Defined with self. inside __init__</a:t>
            </a:r>
            <a:endParaRPr b="0" lang="en-IN" sz="12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e2e8f0"/>
                </a:solidFill>
                <a:latin typeface="Calibri"/>
              </a:rPr>
              <a:t>Value is DIFFERENT for every object</a:t>
            </a:r>
            <a:endParaRPr b="0" lang="en-IN" sz="12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e2e8f0"/>
                </a:solidFill>
                <a:latin typeface="Calibri"/>
              </a:rPr>
              <a:t>Each object owns its own copy in RAM</a:t>
            </a:r>
            <a:endParaRPr b="0" lang="en-IN" sz="12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e2e8f0"/>
                </a:solidFill>
                <a:latin typeface="Calibri"/>
              </a:rPr>
              <a:t>One variable name → multiple values (one per object)</a:t>
            </a:r>
            <a:endParaRPr b="0" lang="en-IN" sz="12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e2e8f0"/>
                </a:solidFill>
                <a:latin typeface="Calibri"/>
              </a:rPr>
              <a:t>Most class attributes should be instance variables</a:t>
            </a:r>
            <a:endParaRPr b="0" lang="en-IN" sz="12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162032">
              <a:alpha val="80000"/>
            </a:srgbClr>
          </a:solidFill>
          <a:ln w="12700">
            <a:solidFill>
              <a:srgbClr val="16203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3" name="Text 1"/>
          <p:cNvSpPr/>
          <p:nvPr/>
        </p:nvSpPr>
        <p:spPr>
          <a:xfrm>
            <a:off x="274320" y="457200"/>
            <a:ext cx="22856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0" spc="-1" strike="noStrike">
                <a:solidFill>
                  <a:srgbClr val="38bdf8">
                    <a:alpha val="30000"/>
                  </a:srgbClr>
                </a:solidFill>
                <a:latin typeface="Calibri"/>
              </a:rPr>
              <a:t>06</a:t>
            </a:r>
            <a:endParaRPr b="0" lang="en-IN" sz="13000" spc="-1" strike="noStrike">
              <a:latin typeface="Arial"/>
            </a:endParaRPr>
          </a:p>
        </p:txBody>
      </p:sp>
      <p:sp>
        <p:nvSpPr>
          <p:cNvPr id="74" name="Shape 2"/>
          <p:cNvSpPr/>
          <p:nvPr/>
        </p:nvSpPr>
        <p:spPr>
          <a:xfrm>
            <a:off x="1005840" y="1645920"/>
            <a:ext cx="7131960" cy="543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5" name="Text 3"/>
          <p:cNvSpPr/>
          <p:nvPr/>
        </p:nvSpPr>
        <p:spPr>
          <a:xfrm>
            <a:off x="1005840" y="1783080"/>
            <a:ext cx="77720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200" spc="-1" strike="noStrike">
                <a:solidFill>
                  <a:srgbClr val="ffffff"/>
                </a:solidFill>
                <a:latin typeface="Calibri"/>
              </a:rPr>
              <a:t>Collections of Objects</a:t>
            </a:r>
            <a:endParaRPr b="0" lang="en-IN" sz="4200" spc="-1" strike="noStrike">
              <a:latin typeface="Arial"/>
            </a:endParaRPr>
          </a:p>
        </p:txBody>
      </p:sp>
      <p:sp>
        <p:nvSpPr>
          <p:cNvPr id="76" name="Text 4"/>
          <p:cNvSpPr/>
          <p:nvPr/>
        </p:nvSpPr>
        <p:spPr>
          <a:xfrm>
            <a:off x="1005840" y="3200400"/>
            <a:ext cx="77720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94a3b8"/>
                </a:solidFill>
                <a:latin typeface="Calibri"/>
              </a:rPr>
              <a:t>Objects inside lists and dictionaries — normal Python data structures</a:t>
            </a:r>
            <a:endParaRPr b="0" lang="en-IN" sz="17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0"/>
          <p:cNvSpPr/>
          <p:nvPr/>
        </p:nvSpPr>
        <p:spPr>
          <a:xfrm>
            <a:off x="0" y="0"/>
            <a:ext cx="63720" cy="5143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8" name="Shape 1"/>
          <p:cNvSpPr/>
          <p:nvPr/>
        </p:nvSpPr>
        <p:spPr>
          <a:xfrm>
            <a:off x="0" y="0"/>
            <a:ext cx="9143640" cy="712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9" name="Text 2"/>
          <p:cNvSpPr/>
          <p:nvPr/>
        </p:nvSpPr>
        <p:spPr>
          <a:xfrm>
            <a:off x="182880" y="0"/>
            <a:ext cx="71319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Collections – Objects in Lists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80" name="Shape 3"/>
          <p:cNvSpPr/>
          <p:nvPr/>
        </p:nvSpPr>
        <p:spPr>
          <a:xfrm>
            <a:off x="7589520" y="109800"/>
            <a:ext cx="1371240" cy="4752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1" name="Text 4"/>
          <p:cNvSpPr/>
          <p:nvPr/>
        </p:nvSpPr>
        <p:spPr>
          <a:xfrm>
            <a:off x="7589520" y="109800"/>
            <a:ext cx="13712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172a"/>
                </a:solidFill>
                <a:latin typeface="Calibri"/>
              </a:rPr>
              <a:t>Section 06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82" name="Shape 5"/>
          <p:cNvSpPr/>
          <p:nvPr/>
        </p:nvSpPr>
        <p:spPr>
          <a:xfrm>
            <a:off x="182880" y="804600"/>
            <a:ext cx="5217120" cy="4595400"/>
          </a:xfrm>
          <a:prstGeom prst="rect">
            <a:avLst/>
          </a:prstGeom>
          <a:solidFill>
            <a:srgbClr val="0d1117"/>
          </a:solidFill>
          <a:ln w="19050">
            <a:solidFill>
              <a:srgbClr val="2d374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3" name="Shape 6"/>
          <p:cNvSpPr/>
          <p:nvPr/>
        </p:nvSpPr>
        <p:spPr>
          <a:xfrm>
            <a:off x="182880" y="804600"/>
            <a:ext cx="5211720" cy="2556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4" name="Shape 7"/>
          <p:cNvSpPr/>
          <p:nvPr/>
        </p:nvSpPr>
        <p:spPr>
          <a:xfrm>
            <a:off x="292680" y="868680"/>
            <a:ext cx="109440" cy="109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5" name="Shape 8"/>
          <p:cNvSpPr/>
          <p:nvPr/>
        </p:nvSpPr>
        <p:spPr>
          <a:xfrm>
            <a:off x="475560" y="868680"/>
            <a:ext cx="109440" cy="109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6" name="Shape 9"/>
          <p:cNvSpPr/>
          <p:nvPr/>
        </p:nvSpPr>
        <p:spPr>
          <a:xfrm>
            <a:off x="658440" y="868680"/>
            <a:ext cx="109440" cy="1094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7" name="Text 10"/>
          <p:cNvSpPr/>
          <p:nvPr/>
        </p:nvSpPr>
        <p:spPr>
          <a:xfrm>
            <a:off x="182880" y="822960"/>
            <a:ext cx="5120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</a:rPr>
              <a:t>collections_demo.py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88" name="Text 11"/>
          <p:cNvSpPr/>
          <p:nvPr/>
        </p:nvSpPr>
        <p:spPr>
          <a:xfrm>
            <a:off x="292680" y="1078920"/>
            <a:ext cx="4983120" cy="37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class</a:t>
            </a:r>
            <a:r>
              <a:rPr b="0" lang="en-US" sz="1000" spc="-1" strike="noStrike">
                <a:solidFill>
                  <a:srgbClr val="34d399"/>
                </a:solidFill>
                <a:latin typeface="Courier New"/>
                <a:ea typeface="Courier New"/>
              </a:rPr>
              <a:t> Student:</a:t>
            </a:r>
            <a:endParaRPr b="0" lang="en-IN" sz="1000" spc="-1" strike="noStrike">
              <a:latin typeface="Arial"/>
            </a:endParaRPr>
          </a:p>
          <a:p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__init__(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, full_name, gpa):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.full_name = full_name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.gpa = gpa</a:t>
            </a:r>
            <a:endParaRPr b="0" lang="en-IN" sz="1000" spc="-1" strike="noStrike">
              <a:latin typeface="Arial"/>
            </a:endParaRPr>
          </a:p>
          <a:p>
            <a:endParaRPr b="0" lang="en-IN" sz="1000" spc="-1" strike="noStrike">
              <a:latin typeface="Arial"/>
            </a:endParaRPr>
          </a:p>
          <a:p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--- List of Student objects ---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roster = [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Student(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'Alice'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, </a:t>
            </a:r>
            <a:r>
              <a:rPr b="0" lang="en-US" sz="1000" spc="-1" strike="noStrike">
                <a:solidFill>
                  <a:srgbClr val="fca5a5"/>
                </a:solidFill>
                <a:latin typeface="Courier New"/>
                <a:ea typeface="Courier New"/>
              </a:rPr>
              <a:t>3.9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),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Student(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'Bob'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,   </a:t>
            </a:r>
            <a:r>
              <a:rPr b="0" lang="en-US" sz="1000" spc="-1" strike="noStrike">
                <a:solidFill>
                  <a:srgbClr val="fca5a5"/>
                </a:solidFill>
                <a:latin typeface="Courier New"/>
                <a:ea typeface="Courier New"/>
              </a:rPr>
              <a:t>3.5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),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Student(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'Clara'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, </a:t>
            </a:r>
            <a:r>
              <a:rPr b="0" lang="en-US" sz="1000" spc="-1" strike="noStrike">
                <a:solidFill>
                  <a:srgbClr val="fca5a5"/>
                </a:solidFill>
                <a:latin typeface="Courier New"/>
                <a:ea typeface="Courier New"/>
              </a:rPr>
              <a:t>3.7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),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]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--- Iterating ---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for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s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in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roster: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print</a:t>
            </a:r>
            <a:r>
              <a:rPr b="0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(s.full_name, '-&gt;', s.gpa)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Output: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Alice -&gt; 3.9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Bob   -&gt; 3.5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Clara -&gt; 3.7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--- Indexing ---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print(roster[</a:t>
            </a:r>
            <a:r>
              <a:rPr b="0" lang="en-US" sz="1000" spc="-1" strike="noStrike">
                <a:solidFill>
                  <a:srgbClr val="fca5a5"/>
                </a:solidFill>
                <a:latin typeface="Courier New"/>
                <a:ea typeface="Courier New"/>
              </a:rPr>
              <a:t>0</a:t>
            </a:r>
            <a:r>
              <a:rPr b="0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].full_name)   # Alice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--- Filtering ---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honour_roll = [s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for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s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in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roster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if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s.gpa &gt; </a:t>
            </a:r>
            <a:r>
              <a:rPr b="0" lang="en-US" sz="1000" spc="-1" strike="noStrike">
                <a:solidFill>
                  <a:srgbClr val="fca5a5"/>
                </a:solidFill>
                <a:latin typeface="Courier New"/>
                <a:ea typeface="Courier New"/>
              </a:rPr>
              <a:t>3.6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]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</p:txBody>
      </p:sp>
      <p:sp>
        <p:nvSpPr>
          <p:cNvPr id="89" name="Shape 12"/>
          <p:cNvSpPr/>
          <p:nvPr/>
        </p:nvSpPr>
        <p:spPr>
          <a:xfrm>
            <a:off x="5577840" y="804600"/>
            <a:ext cx="3422160" cy="433908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0" name="Text 13"/>
          <p:cNvSpPr/>
          <p:nvPr/>
        </p:nvSpPr>
        <p:spPr>
          <a:xfrm>
            <a:off x="5715000" y="896040"/>
            <a:ext cx="3108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38bdf8"/>
                </a:solidFill>
                <a:latin typeface="Calibri"/>
              </a:rPr>
              <a:t>Key Facts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91" name="Text 14"/>
          <p:cNvSpPr/>
          <p:nvPr/>
        </p:nvSpPr>
        <p:spPr>
          <a:xfrm>
            <a:off x="5715000" y="1325880"/>
            <a:ext cx="3108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34d399"/>
                </a:solidFill>
                <a:latin typeface="Calibri"/>
              </a:rPr>
              <a:t>Normal Python list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2" name="Text 15"/>
          <p:cNvSpPr/>
          <p:nvPr/>
        </p:nvSpPr>
        <p:spPr>
          <a:xfrm>
            <a:off x="5715000" y="1581840"/>
            <a:ext cx="3108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alibri"/>
              </a:rPr>
              <a:t>Store objects exactly like you'd store integers or strings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93" name="Text 16"/>
          <p:cNvSpPr/>
          <p:nvPr/>
        </p:nvSpPr>
        <p:spPr>
          <a:xfrm>
            <a:off x="5715000" y="2103120"/>
            <a:ext cx="3108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34d399"/>
                </a:solidFill>
                <a:latin typeface="Calibri"/>
              </a:rPr>
              <a:t>Iteration works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4" name="Text 17"/>
          <p:cNvSpPr/>
          <p:nvPr/>
        </p:nvSpPr>
        <p:spPr>
          <a:xfrm>
            <a:off x="5715000" y="2359080"/>
            <a:ext cx="3108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alibri"/>
              </a:rPr>
              <a:t>for s in roster: — access any attribute via dot notation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95" name="Text 18"/>
          <p:cNvSpPr/>
          <p:nvPr/>
        </p:nvSpPr>
        <p:spPr>
          <a:xfrm>
            <a:off x="5715000" y="2880360"/>
            <a:ext cx="3108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34d399"/>
                </a:solidFill>
                <a:latin typeface="Calibri"/>
              </a:rPr>
              <a:t>Indexing works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6" name="Text 19"/>
          <p:cNvSpPr/>
          <p:nvPr/>
        </p:nvSpPr>
        <p:spPr>
          <a:xfrm>
            <a:off x="5715000" y="3136320"/>
            <a:ext cx="3108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alibri"/>
              </a:rPr>
              <a:t>roster[0].full_name gets the first object's name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97" name="Text 20"/>
          <p:cNvSpPr/>
          <p:nvPr/>
        </p:nvSpPr>
        <p:spPr>
          <a:xfrm>
            <a:off x="5715000" y="3657600"/>
            <a:ext cx="3108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34d399"/>
                </a:solidFill>
                <a:latin typeface="Calibri"/>
              </a:rPr>
              <a:t>List comprehension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8" name="Text 21"/>
          <p:cNvSpPr/>
          <p:nvPr/>
        </p:nvSpPr>
        <p:spPr>
          <a:xfrm>
            <a:off x="5715000" y="3913560"/>
            <a:ext cx="3108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alibri"/>
              </a:rPr>
              <a:t>Filter, transform, or build new lists of objects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99" name="Text 22"/>
          <p:cNvSpPr/>
          <p:nvPr/>
        </p:nvSpPr>
        <p:spPr>
          <a:xfrm>
            <a:off x="5715000" y="4434840"/>
            <a:ext cx="3108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34d399"/>
                </a:solidFill>
                <a:latin typeface="Calibri"/>
              </a:rPr>
              <a:t>All list methods apply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00" name="Text 23"/>
          <p:cNvSpPr/>
          <p:nvPr/>
        </p:nvSpPr>
        <p:spPr>
          <a:xfrm>
            <a:off x="5715000" y="4690800"/>
            <a:ext cx="3108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alibri"/>
              </a:rPr>
              <a:t>.append(), .sort(), len() all work the same way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0"/>
          <p:cNvSpPr/>
          <p:nvPr/>
        </p:nvSpPr>
        <p:spPr>
          <a:xfrm>
            <a:off x="0" y="0"/>
            <a:ext cx="63720" cy="5143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2" name="Shape 1"/>
          <p:cNvSpPr/>
          <p:nvPr/>
        </p:nvSpPr>
        <p:spPr>
          <a:xfrm>
            <a:off x="0" y="0"/>
            <a:ext cx="9143640" cy="712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Text 2"/>
          <p:cNvSpPr/>
          <p:nvPr/>
        </p:nvSpPr>
        <p:spPr>
          <a:xfrm>
            <a:off x="182880" y="0"/>
            <a:ext cx="71319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Collections – Objects in Dictionaries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04" name="Shape 3"/>
          <p:cNvSpPr/>
          <p:nvPr/>
        </p:nvSpPr>
        <p:spPr>
          <a:xfrm>
            <a:off x="7589520" y="109800"/>
            <a:ext cx="1371240" cy="4752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5" name="Text 4"/>
          <p:cNvSpPr/>
          <p:nvPr/>
        </p:nvSpPr>
        <p:spPr>
          <a:xfrm>
            <a:off x="7589520" y="109800"/>
            <a:ext cx="13712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172a"/>
                </a:solidFill>
                <a:latin typeface="Calibri"/>
              </a:rPr>
              <a:t>Section 06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06" name="Shape 5"/>
          <p:cNvSpPr/>
          <p:nvPr/>
        </p:nvSpPr>
        <p:spPr>
          <a:xfrm>
            <a:off x="182880" y="804600"/>
            <a:ext cx="5303160" cy="4068720"/>
          </a:xfrm>
          <a:prstGeom prst="rect">
            <a:avLst/>
          </a:prstGeom>
          <a:solidFill>
            <a:srgbClr val="0d1117"/>
          </a:solidFill>
          <a:ln w="19050">
            <a:solidFill>
              <a:srgbClr val="2d374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7" name="Shape 6"/>
          <p:cNvSpPr/>
          <p:nvPr/>
        </p:nvSpPr>
        <p:spPr>
          <a:xfrm>
            <a:off x="182880" y="804600"/>
            <a:ext cx="5303160" cy="2556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Shape 7"/>
          <p:cNvSpPr/>
          <p:nvPr/>
        </p:nvSpPr>
        <p:spPr>
          <a:xfrm>
            <a:off x="292680" y="868680"/>
            <a:ext cx="109440" cy="109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9" name="Shape 8"/>
          <p:cNvSpPr/>
          <p:nvPr/>
        </p:nvSpPr>
        <p:spPr>
          <a:xfrm>
            <a:off x="475560" y="868680"/>
            <a:ext cx="109440" cy="109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0" name="Shape 9"/>
          <p:cNvSpPr/>
          <p:nvPr/>
        </p:nvSpPr>
        <p:spPr>
          <a:xfrm>
            <a:off x="658440" y="868680"/>
            <a:ext cx="109440" cy="1094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1" name="Text 10"/>
          <p:cNvSpPr/>
          <p:nvPr/>
        </p:nvSpPr>
        <p:spPr>
          <a:xfrm>
            <a:off x="182880" y="822960"/>
            <a:ext cx="52117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</a:rPr>
              <a:t>dict_objects.py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12" name="Text 11"/>
          <p:cNvSpPr/>
          <p:nvPr/>
        </p:nvSpPr>
        <p:spPr>
          <a:xfrm>
            <a:off x="292680" y="1078920"/>
            <a:ext cx="5074560" cy="37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--- Dict of Student objects ---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student_db = {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'STU001'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: Student(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'Alice'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, </a:t>
            </a:r>
            <a:r>
              <a:rPr b="0" lang="en-US" sz="1000" spc="-1" strike="noStrike">
                <a:solidFill>
                  <a:srgbClr val="fca5a5"/>
                </a:solidFill>
                <a:latin typeface="Courier New"/>
                <a:ea typeface="Courier New"/>
              </a:rPr>
              <a:t>3.9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),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'STU002'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: Student(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'Bob'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,   </a:t>
            </a:r>
            <a:r>
              <a:rPr b="0" lang="en-US" sz="1000" spc="-1" strike="noStrike">
                <a:solidFill>
                  <a:srgbClr val="fca5a5"/>
                </a:solidFill>
                <a:latin typeface="Courier New"/>
                <a:ea typeface="Courier New"/>
              </a:rPr>
              <a:t>3.5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),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'STU003'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: Student(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'Clara'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, </a:t>
            </a:r>
            <a:r>
              <a:rPr b="0" lang="en-US" sz="1000" spc="-1" strike="noStrike">
                <a:solidFill>
                  <a:srgbClr val="fca5a5"/>
                </a:solidFill>
                <a:latin typeface="Courier New"/>
                <a:ea typeface="Courier New"/>
              </a:rPr>
              <a:t>3.7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),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}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--- Key lookup ---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print(student_db[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'STU001'</a:t>
            </a:r>
            <a:r>
              <a:rPr b="0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].full_name)   # Alice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--- Iterate with .items() ---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for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student_id, student_obj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in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student_db.items():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print</a:t>
            </a:r>
            <a:r>
              <a:rPr b="0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(f'ID: {student_id} | Name: {student_obj.full_name} | GPA: {student_obj.gpa}')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Output: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ID: STU001 | Name: Alice | GPA: 3.9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ID: STU002 | Name: Bob   | GPA: 3.5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ID: STU003 | Name: Clara | GPA: 3.7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--- Dynamic addition ---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student_db[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'STU004'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] = Student(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'Derek'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, </a:t>
            </a:r>
            <a:r>
              <a:rPr b="0" lang="en-US" sz="1000" spc="-1" strike="noStrike">
                <a:solidFill>
                  <a:srgbClr val="fca5a5"/>
                </a:solidFill>
                <a:latin typeface="Courier New"/>
                <a:ea typeface="Courier New"/>
              </a:rPr>
              <a:t>3.8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13" name="Shape 12"/>
          <p:cNvSpPr/>
          <p:nvPr/>
        </p:nvSpPr>
        <p:spPr>
          <a:xfrm>
            <a:off x="5669280" y="804600"/>
            <a:ext cx="3291480" cy="406872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4" name="Text 13"/>
          <p:cNvSpPr/>
          <p:nvPr/>
        </p:nvSpPr>
        <p:spPr>
          <a:xfrm>
            <a:off x="5806440" y="896040"/>
            <a:ext cx="3017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59e0b"/>
                </a:solidFill>
                <a:latin typeface="Calibri"/>
              </a:rPr>
              <a:t>Why Use a Dict?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15" name="Text 14"/>
          <p:cNvSpPr/>
          <p:nvPr/>
        </p:nvSpPr>
        <p:spPr>
          <a:xfrm>
            <a:off x="5806440" y="1371600"/>
            <a:ext cx="3017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38bdf8"/>
                </a:solidFill>
                <a:latin typeface="Calibri"/>
              </a:rPr>
              <a:t>Named access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6" name="Text 15"/>
          <p:cNvSpPr/>
          <p:nvPr/>
        </p:nvSpPr>
        <p:spPr>
          <a:xfrm>
            <a:off x="5806440" y="1627560"/>
            <a:ext cx="30171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e2e8f0"/>
                </a:solidFill>
                <a:latin typeface="Calibri"/>
              </a:rPr>
              <a:t>Look up any student by ID — faster than searching a list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17" name="Text 16"/>
          <p:cNvSpPr/>
          <p:nvPr/>
        </p:nvSpPr>
        <p:spPr>
          <a:xfrm>
            <a:off x="5806440" y="2331720"/>
            <a:ext cx="3017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38bdf8"/>
                </a:solidFill>
                <a:latin typeface="Calibri"/>
              </a:rPr>
              <a:t>.items() unpacking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8" name="Text 17"/>
          <p:cNvSpPr/>
          <p:nvPr/>
        </p:nvSpPr>
        <p:spPr>
          <a:xfrm>
            <a:off x="5806440" y="2587680"/>
            <a:ext cx="30171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e2e8f0"/>
                </a:solidFill>
                <a:latin typeface="Calibri"/>
              </a:rPr>
              <a:t>Get both key and object in one step during iteration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19" name="Text 18"/>
          <p:cNvSpPr/>
          <p:nvPr/>
        </p:nvSpPr>
        <p:spPr>
          <a:xfrm>
            <a:off x="5806440" y="3291840"/>
            <a:ext cx="3017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38bdf8"/>
                </a:solidFill>
                <a:latin typeface="Calibri"/>
              </a:rPr>
              <a:t>Real-world pattern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20" name="Text 19"/>
          <p:cNvSpPr/>
          <p:nvPr/>
        </p:nvSpPr>
        <p:spPr>
          <a:xfrm>
            <a:off x="5806440" y="3547800"/>
            <a:ext cx="30171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e2e8f0"/>
                </a:solidFill>
                <a:latin typeface="Calibri"/>
              </a:rPr>
              <a:t>Employee DB, product catalogue, user registry — all use this pattern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21" name="Text 20"/>
          <p:cNvSpPr/>
          <p:nvPr/>
        </p:nvSpPr>
        <p:spPr>
          <a:xfrm>
            <a:off x="5806440" y="4251960"/>
            <a:ext cx="3017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38bdf8"/>
                </a:solidFill>
                <a:latin typeface="Calibri"/>
              </a:rPr>
              <a:t>Homework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22" name="Text 21"/>
          <p:cNvSpPr/>
          <p:nvPr/>
        </p:nvSpPr>
        <p:spPr>
          <a:xfrm>
            <a:off x="5806440" y="4507920"/>
            <a:ext cx="30171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e2e8f0"/>
                </a:solidFill>
                <a:latin typeface="Calibri"/>
              </a:rPr>
              <a:t>Try storing objects in sets — requires implementing __hash__ on the class!</a:t>
            </a:r>
            <a:endParaRPr b="0" lang="en-IN" sz="11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162032">
              <a:alpha val="80000"/>
            </a:srgbClr>
          </a:solidFill>
          <a:ln w="12700">
            <a:solidFill>
              <a:srgbClr val="16203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4" name="Text 1"/>
          <p:cNvSpPr/>
          <p:nvPr/>
        </p:nvSpPr>
        <p:spPr>
          <a:xfrm>
            <a:off x="274320" y="457200"/>
            <a:ext cx="22856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0" spc="-1" strike="noStrike">
                <a:solidFill>
                  <a:srgbClr val="38bdf8">
                    <a:alpha val="30000"/>
                  </a:srgbClr>
                </a:solidFill>
                <a:latin typeface="Calibri"/>
              </a:rPr>
              <a:t>07</a:t>
            </a:r>
            <a:endParaRPr b="0" lang="en-IN" sz="13000" spc="-1" strike="noStrike">
              <a:latin typeface="Arial"/>
            </a:endParaRPr>
          </a:p>
        </p:txBody>
      </p:sp>
      <p:sp>
        <p:nvSpPr>
          <p:cNvPr id="125" name="Shape 2"/>
          <p:cNvSpPr/>
          <p:nvPr/>
        </p:nvSpPr>
        <p:spPr>
          <a:xfrm>
            <a:off x="1005840" y="1645920"/>
            <a:ext cx="7131960" cy="543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Text 3"/>
          <p:cNvSpPr/>
          <p:nvPr/>
        </p:nvSpPr>
        <p:spPr>
          <a:xfrm>
            <a:off x="1005840" y="1783080"/>
            <a:ext cx="77720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200" spc="-1" strike="noStrike">
                <a:solidFill>
                  <a:srgbClr val="ffffff"/>
                </a:solidFill>
                <a:latin typeface="Calibri"/>
              </a:rPr>
              <a:t>Static Variables</a:t>
            </a:r>
            <a:endParaRPr b="0" lang="en-IN" sz="4200" spc="-1" strike="noStrike">
              <a:latin typeface="Arial"/>
            </a:endParaRPr>
          </a:p>
        </p:txBody>
      </p:sp>
      <p:sp>
        <p:nvSpPr>
          <p:cNvPr id="127" name="Text 4"/>
          <p:cNvSpPr/>
          <p:nvPr/>
        </p:nvSpPr>
        <p:spPr>
          <a:xfrm>
            <a:off x="1005840" y="3200400"/>
            <a:ext cx="77720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94a3b8"/>
                </a:solidFill>
                <a:latin typeface="Calibri"/>
              </a:rPr>
              <a:t>Shared across all objects · defined at class level, not in __init__</a:t>
            </a:r>
            <a:endParaRPr b="0" lang="en-IN" sz="17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hape 0"/>
          <p:cNvSpPr/>
          <p:nvPr/>
        </p:nvSpPr>
        <p:spPr>
          <a:xfrm>
            <a:off x="0" y="0"/>
            <a:ext cx="63720" cy="5143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9" name="Shape 1"/>
          <p:cNvSpPr/>
          <p:nvPr/>
        </p:nvSpPr>
        <p:spPr>
          <a:xfrm>
            <a:off x="0" y="0"/>
            <a:ext cx="9143640" cy="712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0" name="Text 2"/>
          <p:cNvSpPr/>
          <p:nvPr/>
        </p:nvSpPr>
        <p:spPr>
          <a:xfrm>
            <a:off x="182880" y="0"/>
            <a:ext cx="71319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Static Variables – The Problem &amp; Solution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31" name="Shape 3"/>
          <p:cNvSpPr/>
          <p:nvPr/>
        </p:nvSpPr>
        <p:spPr>
          <a:xfrm>
            <a:off x="7589520" y="109800"/>
            <a:ext cx="1371240" cy="4752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2" name="Text 4"/>
          <p:cNvSpPr/>
          <p:nvPr/>
        </p:nvSpPr>
        <p:spPr>
          <a:xfrm>
            <a:off x="7589520" y="109800"/>
            <a:ext cx="13712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172a"/>
                </a:solidFill>
                <a:latin typeface="Calibri"/>
              </a:rPr>
              <a:t>Section 07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33" name="Shape 5"/>
          <p:cNvSpPr/>
          <p:nvPr/>
        </p:nvSpPr>
        <p:spPr>
          <a:xfrm>
            <a:off x="182880" y="804600"/>
            <a:ext cx="4205880" cy="4023000"/>
          </a:xfrm>
          <a:prstGeom prst="rect">
            <a:avLst/>
          </a:prstGeom>
          <a:solidFill>
            <a:srgbClr val="1f0b0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4" name="Shape 6"/>
          <p:cNvSpPr/>
          <p:nvPr/>
        </p:nvSpPr>
        <p:spPr>
          <a:xfrm>
            <a:off x="182880" y="804600"/>
            <a:ext cx="4205880" cy="543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Text 7"/>
          <p:cNvSpPr/>
          <p:nvPr/>
        </p:nvSpPr>
        <p:spPr>
          <a:xfrm>
            <a:off x="320040" y="896040"/>
            <a:ext cx="3931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199" strike="noStrike">
                <a:solidFill>
                  <a:srgbClr val="f87171"/>
                </a:solidFill>
                <a:latin typeface="Calibri"/>
              </a:rPr>
              <a:t>THE PROBLEM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36" name="Text 8"/>
          <p:cNvSpPr/>
          <p:nvPr/>
        </p:nvSpPr>
        <p:spPr>
          <a:xfrm>
            <a:off x="320040" y="1207080"/>
            <a:ext cx="3931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e2e8f0"/>
                </a:solidFill>
                <a:latin typeface="Calibri"/>
              </a:rPr>
              <a:t>You want each BankMachine object to have a unique customer ID (1, 2, 3, ...). Using an instance variable fails: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37" name="Shape 9"/>
          <p:cNvSpPr/>
          <p:nvPr/>
        </p:nvSpPr>
        <p:spPr>
          <a:xfrm>
            <a:off x="320040" y="1828800"/>
            <a:ext cx="3931560" cy="2605680"/>
          </a:xfrm>
          <a:prstGeom prst="rect">
            <a:avLst/>
          </a:prstGeom>
          <a:solidFill>
            <a:srgbClr val="0d1117"/>
          </a:solidFill>
          <a:ln w="19050">
            <a:solidFill>
              <a:srgbClr val="2d374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Text 10"/>
          <p:cNvSpPr/>
          <p:nvPr/>
        </p:nvSpPr>
        <p:spPr>
          <a:xfrm>
            <a:off x="429840" y="1883520"/>
            <a:ext cx="3748680" cy="249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class</a:t>
            </a:r>
            <a:r>
              <a:rPr b="0" lang="en-US" sz="1000" spc="-1" strike="noStrike">
                <a:solidFill>
                  <a:srgbClr val="34d399"/>
                </a:solidFill>
                <a:latin typeface="Courier New"/>
                <a:ea typeface="Courier New"/>
              </a:rPr>
              <a:t> BankMachine:</a:t>
            </a:r>
            <a:endParaRPr b="0" lang="en-IN" sz="1000" spc="-1" strike="noStrike">
              <a:latin typeface="Arial"/>
            </a:endParaRPr>
          </a:p>
          <a:p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__init__(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):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.cust_id = </a:t>
            </a:r>
            <a:r>
              <a:rPr b="0" lang="en-US" sz="1000" spc="-1" strike="noStrike">
                <a:solidFill>
                  <a:srgbClr val="f87171"/>
                </a:solidFill>
                <a:latin typeface="Courier New"/>
                <a:ea typeface="Courier New"/>
              </a:rPr>
              <a:t>1   # EVERY object starts at 1!</a:t>
            </a:r>
            <a:endParaRPr b="0" lang="en-IN" sz="1000" spc="-1" strike="noStrike">
              <a:latin typeface="Arial"/>
            </a:endParaRPr>
          </a:p>
          <a:p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m1 = BankMachine()  # cust_id = 1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f87171"/>
                </a:solidFill>
                <a:latin typeface="Courier New"/>
                <a:ea typeface="Courier New"/>
              </a:rPr>
              <a:t>m2 = BankMachine()  # cust_id = 1  ???</a:t>
            </a:r>
            <a:endParaRPr b="0" lang="en-IN" sz="1000" spc="-1" strike="noStrike">
              <a:latin typeface="Arial"/>
            </a:endParaRPr>
          </a:p>
          <a:p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Instance variable = unique per object</a:t>
            </a:r>
            <a:endParaRPr b="0" lang="en-IN" sz="1000" spc="-1" strike="noStrike">
              <a:latin typeface="Arial"/>
            </a:endParaRPr>
          </a:p>
          <a:p>
            <a:r>
              <a:rPr b="0" i="1" lang="en-US" sz="1000" spc="-1" strike="noStrike">
                <a:solidFill>
                  <a:srgbClr val="f87171"/>
                </a:solidFill>
                <a:latin typeface="Courier New"/>
                <a:ea typeface="Courier New"/>
              </a:rPr>
              <a:t># No shared counter exists!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</p:txBody>
      </p:sp>
      <p:sp>
        <p:nvSpPr>
          <p:cNvPr id="139" name="Shape 11"/>
          <p:cNvSpPr/>
          <p:nvPr/>
        </p:nvSpPr>
        <p:spPr>
          <a:xfrm>
            <a:off x="320040" y="1828800"/>
            <a:ext cx="3931560" cy="22824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0" name="Shape 12"/>
          <p:cNvSpPr/>
          <p:nvPr/>
        </p:nvSpPr>
        <p:spPr>
          <a:xfrm>
            <a:off x="429840" y="1874520"/>
            <a:ext cx="100080" cy="10008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1" name="Shape 13"/>
          <p:cNvSpPr/>
          <p:nvPr/>
        </p:nvSpPr>
        <p:spPr>
          <a:xfrm>
            <a:off x="612720" y="1874520"/>
            <a:ext cx="100080" cy="10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2" name="Shape 14"/>
          <p:cNvSpPr/>
          <p:nvPr/>
        </p:nvSpPr>
        <p:spPr>
          <a:xfrm>
            <a:off x="795600" y="1874520"/>
            <a:ext cx="100080" cy="10008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3" name="Shape 15"/>
          <p:cNvSpPr/>
          <p:nvPr/>
        </p:nvSpPr>
        <p:spPr>
          <a:xfrm>
            <a:off x="4572000" y="804600"/>
            <a:ext cx="4388760" cy="4023000"/>
          </a:xfrm>
          <a:prstGeom prst="rect">
            <a:avLst/>
          </a:prstGeom>
          <a:solidFill>
            <a:srgbClr val="0b1f12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4" name="Shape 16"/>
          <p:cNvSpPr/>
          <p:nvPr/>
        </p:nvSpPr>
        <p:spPr>
          <a:xfrm>
            <a:off x="4572000" y="804600"/>
            <a:ext cx="4388760" cy="543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5" name="Text 17"/>
          <p:cNvSpPr/>
          <p:nvPr/>
        </p:nvSpPr>
        <p:spPr>
          <a:xfrm>
            <a:off x="4709160" y="89604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97" strike="noStrike">
                <a:solidFill>
                  <a:srgbClr val="34d399"/>
                </a:solidFill>
                <a:latin typeface="Calibri"/>
              </a:rPr>
              <a:t>THE SOLUTION: Static Variable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46" name="Text 18"/>
          <p:cNvSpPr/>
          <p:nvPr/>
        </p:nvSpPr>
        <p:spPr>
          <a:xfrm>
            <a:off x="4709160" y="1207080"/>
            <a:ext cx="4114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e2e8f0"/>
                </a:solidFill>
                <a:latin typeface="Calibri"/>
              </a:rPr>
              <a:t>Define the counter at CLASS level — outside any method. It is shared by ALL objects: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47" name="Shape 19"/>
          <p:cNvSpPr/>
          <p:nvPr/>
        </p:nvSpPr>
        <p:spPr>
          <a:xfrm>
            <a:off x="4709160" y="1828800"/>
            <a:ext cx="4114440" cy="2605680"/>
          </a:xfrm>
          <a:prstGeom prst="rect">
            <a:avLst/>
          </a:prstGeom>
          <a:solidFill>
            <a:srgbClr val="0d1117"/>
          </a:solidFill>
          <a:ln w="19050">
            <a:solidFill>
              <a:srgbClr val="2d374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8" name="Shape 20"/>
          <p:cNvSpPr/>
          <p:nvPr/>
        </p:nvSpPr>
        <p:spPr>
          <a:xfrm>
            <a:off x="4709160" y="1828800"/>
            <a:ext cx="4114440" cy="22824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9" name="Shape 21"/>
          <p:cNvSpPr/>
          <p:nvPr/>
        </p:nvSpPr>
        <p:spPr>
          <a:xfrm>
            <a:off x="4818960" y="1883520"/>
            <a:ext cx="100080" cy="10008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0" name="Shape 22"/>
          <p:cNvSpPr/>
          <p:nvPr/>
        </p:nvSpPr>
        <p:spPr>
          <a:xfrm>
            <a:off x="5001840" y="1883520"/>
            <a:ext cx="100080" cy="10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1" name="Shape 23"/>
          <p:cNvSpPr/>
          <p:nvPr/>
        </p:nvSpPr>
        <p:spPr>
          <a:xfrm>
            <a:off x="5184720" y="1883520"/>
            <a:ext cx="100080" cy="10008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2" name="Text 24"/>
          <p:cNvSpPr/>
          <p:nvPr/>
        </p:nvSpPr>
        <p:spPr>
          <a:xfrm>
            <a:off x="4818960" y="2084760"/>
            <a:ext cx="3931560" cy="230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class</a:t>
            </a:r>
            <a:r>
              <a:rPr b="0" lang="en-US" sz="1000" spc="-1" strike="noStrike">
                <a:solidFill>
                  <a:srgbClr val="34d399"/>
                </a:solidFill>
                <a:latin typeface="Courier New"/>
                <a:ea typeface="Courier New"/>
              </a:rPr>
              <a:t> BankMachine:</a:t>
            </a:r>
            <a:endParaRPr b="0" lang="en-IN" sz="1000" spc="-1" strike="noStrike">
              <a:latin typeface="Arial"/>
            </a:endParaRPr>
          </a:p>
          <a:p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    </a:t>
            </a: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Static variable — OUTSIDE __init__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cust_counter = </a:t>
            </a:r>
            <a:r>
              <a:rPr b="0" lang="en-US" sz="1000" spc="-1" strike="noStrike">
                <a:solidFill>
                  <a:srgbClr val="34d399"/>
                </a:solidFill>
                <a:latin typeface="Courier New"/>
                <a:ea typeface="Courier New"/>
              </a:rPr>
              <a:t>1   # Shared by all instances</a:t>
            </a:r>
            <a:endParaRPr b="0" lang="en-IN" sz="1000" spc="-1" strike="noStrike">
              <a:latin typeface="Arial"/>
            </a:endParaRPr>
          </a:p>
          <a:p>
            <a:endParaRPr b="0" lang="en-IN" sz="1000" spc="-1" strike="noStrike">
              <a:latin typeface="Arial"/>
            </a:endParaRPr>
          </a:p>
          <a:p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__init__(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):</a:t>
            </a:r>
            <a:endParaRPr b="0" lang="en-IN" sz="1000" spc="-1" strike="noStrike">
              <a:latin typeface="Arial"/>
            </a:endParaRPr>
          </a:p>
          <a:p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        </a:t>
            </a: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Assign current count as this obj's ID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.cust_id = BankMachine.cust_counter</a:t>
            </a:r>
            <a:endParaRPr b="0" lang="en-IN" sz="1000" spc="-1" strike="noStrike">
              <a:latin typeface="Arial"/>
            </a:endParaRPr>
          </a:p>
          <a:p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        </a:t>
            </a: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Increment for next object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BankMachine.cust_counter += </a:t>
            </a:r>
            <a:r>
              <a:rPr b="0" lang="en-US" sz="1000" spc="-1" strike="noStrike">
                <a:solidFill>
                  <a:srgbClr val="fca5a5"/>
                </a:solidFill>
                <a:latin typeface="Courier New"/>
                <a:ea typeface="Courier New"/>
              </a:rPr>
              <a:t>1</a:t>
            </a:r>
            <a:endParaRPr b="0" lang="en-IN" sz="1000" spc="-1" strike="noStrike">
              <a:latin typeface="Arial"/>
            </a:endParaRPr>
          </a:p>
          <a:p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m1 = BankMachine()  # cust_id = 1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m2 = BankMachine()  # cust_id = 2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34d399"/>
                </a:solidFill>
                <a:latin typeface="Courier New"/>
                <a:ea typeface="Courier New"/>
              </a:rPr>
              <a:t>m3 = BankMachine()  # cust_id = 3</a:t>
            </a:r>
            <a:endParaRPr b="0" lang="en-IN" sz="1000" spc="-1" strike="noStrike">
              <a:latin typeface="Arial"/>
            </a:endParaRPr>
          </a:p>
          <a:p>
            <a:r>
              <a:rPr b="0" i="1" lang="en-US" sz="1000" spc="-1" strike="noStrike">
                <a:solidFill>
                  <a:srgbClr val="34d399"/>
                </a:solidFill>
                <a:latin typeface="Courier New"/>
                <a:ea typeface="Courier New"/>
              </a:rPr>
              <a:t># Works perfectly!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hape 0"/>
          <p:cNvSpPr/>
          <p:nvPr/>
        </p:nvSpPr>
        <p:spPr>
          <a:xfrm>
            <a:off x="0" y="0"/>
            <a:ext cx="63720" cy="5143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4" name="Shape 1"/>
          <p:cNvSpPr/>
          <p:nvPr/>
        </p:nvSpPr>
        <p:spPr>
          <a:xfrm>
            <a:off x="0" y="0"/>
            <a:ext cx="9143640" cy="712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5" name="Text 2"/>
          <p:cNvSpPr/>
          <p:nvPr/>
        </p:nvSpPr>
        <p:spPr>
          <a:xfrm>
            <a:off x="182880" y="0"/>
            <a:ext cx="71319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Instance Variables vs Static Variables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56" name="Shape 3"/>
          <p:cNvSpPr/>
          <p:nvPr/>
        </p:nvSpPr>
        <p:spPr>
          <a:xfrm>
            <a:off x="7589520" y="109800"/>
            <a:ext cx="1371240" cy="4752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7" name="Text 4"/>
          <p:cNvSpPr/>
          <p:nvPr/>
        </p:nvSpPr>
        <p:spPr>
          <a:xfrm>
            <a:off x="7589520" y="109800"/>
            <a:ext cx="13712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172a"/>
                </a:solidFill>
                <a:latin typeface="Calibri"/>
              </a:rPr>
              <a:t>Section 07</a:t>
            </a:r>
            <a:endParaRPr b="0" lang="en-IN" sz="1100" spc="-1" strike="noStrike">
              <a:latin typeface="Arial"/>
            </a:endParaRPr>
          </a:p>
        </p:txBody>
      </p:sp>
      <p:graphicFrame>
        <p:nvGraphicFramePr>
          <p:cNvPr id="158" name="Table 0"/>
          <p:cNvGraphicFramePr/>
          <p:nvPr/>
        </p:nvGraphicFramePr>
        <p:xfrm>
          <a:off x="182880" y="868680"/>
          <a:ext cx="8777880" cy="3474360"/>
        </p:xfrm>
        <a:graphic>
          <a:graphicData uri="http://schemas.openxmlformats.org/drawingml/2006/table">
            <a:tbl>
              <a:tblPr/>
              <a:tblGrid>
                <a:gridCol w="2194560"/>
                <a:gridCol w="3291840"/>
                <a:gridCol w="3291840"/>
              </a:tblGrid>
              <a:tr h="578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Feature</a:t>
                      </a:r>
                      <a:endParaRPr b="0" lang="en-IN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300" spc="-1" strike="noStrike">
                          <a:solidFill>
                            <a:srgbClr val="38bdf8"/>
                          </a:solidFill>
                          <a:latin typeface="Calibri"/>
                        </a:rPr>
                        <a:t>Instance Variable</a:t>
                      </a:r>
                      <a:endParaRPr b="0" lang="en-IN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0c2a3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300" spc="-1" strike="noStrike">
                          <a:solidFill>
                            <a:srgbClr val="34d399"/>
                          </a:solidFill>
                          <a:latin typeface="Calibri"/>
                        </a:rPr>
                        <a:t>Static Variable</a:t>
                      </a:r>
                      <a:endParaRPr b="0" lang="en-IN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0a1f12"/>
                    </a:solidFill>
                  </a:tcPr>
                </a:tc>
              </a:tr>
              <a:tr h="578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f59e0b"/>
                          </a:solidFill>
                          <a:latin typeface="Calibri"/>
                        </a:rPr>
                        <a:t>Where defined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e2e8f0"/>
                          </a:solidFill>
                          <a:latin typeface="Calibri"/>
                        </a:rPr>
                        <a:t>Inside __init__ with self.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e2e8f0"/>
                          </a:solidFill>
                          <a:latin typeface="Calibri"/>
                        </a:rPr>
                        <a:t>Inside the class, OUTSIDE any method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</a:tr>
              <a:tr h="578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f59e0b"/>
                          </a:solidFill>
                          <a:latin typeface="Calibri"/>
                        </a:rPr>
                        <a:t>Value per object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e2e8f0"/>
                          </a:solidFill>
                          <a:latin typeface="Calibri"/>
                        </a:rPr>
                        <a:t>UNIQUE — each object has its own value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e2e8f0"/>
                          </a:solidFill>
                          <a:latin typeface="Calibri"/>
                        </a:rPr>
                        <a:t>SHARED — same value across all objects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</a:tr>
              <a:tr h="578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f59e0b"/>
                          </a:solidFill>
                          <a:latin typeface="Calibri"/>
                        </a:rPr>
                        <a:t>Access syntax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e2e8f0"/>
                          </a:solidFill>
                          <a:latin typeface="Calibri"/>
                        </a:rPr>
                        <a:t>self.variable_name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e2e8f0"/>
                          </a:solidFill>
                          <a:latin typeface="Calibri"/>
                        </a:rPr>
                        <a:t>ClassName.variable_name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</a:tr>
              <a:tr h="578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f59e0b"/>
                          </a:solidFill>
                          <a:latin typeface="Calibri"/>
                        </a:rPr>
                        <a:t>When to use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e2e8f0"/>
                          </a:solidFill>
                          <a:latin typeface="Calibri"/>
                        </a:rPr>
                        <a:t>For data unique to each object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e2e8f0"/>
                          </a:solidFill>
                          <a:latin typeface="Calibri"/>
                        </a:rPr>
                        <a:t>For data that belongs to the class itself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</a:tr>
              <a:tr h="5799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f59e0b"/>
                          </a:solidFill>
                          <a:latin typeface="Calibri"/>
                        </a:rPr>
                        <a:t>Example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e2e8f0"/>
                          </a:solidFill>
                          <a:latin typeface="Calibri"/>
                        </a:rPr>
                        <a:t>emp_name, account_balance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e2e8f0"/>
                          </a:solidFill>
                          <a:latin typeface="Calibri"/>
                        </a:rPr>
                        <a:t>cust_counter, bank_code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59" name="Shape 5"/>
          <p:cNvSpPr/>
          <p:nvPr/>
        </p:nvSpPr>
        <p:spPr>
          <a:xfrm>
            <a:off x="182880" y="4462200"/>
            <a:ext cx="4160160" cy="54828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0" name="Text 6"/>
          <p:cNvSpPr/>
          <p:nvPr/>
        </p:nvSpPr>
        <p:spPr>
          <a:xfrm>
            <a:off x="320040" y="4526280"/>
            <a:ext cx="3931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e2e8f0"/>
                </a:solidFill>
                <a:latin typeface="Courier New"/>
                <a:ea typeface="Courier New"/>
              </a:rPr>
              <a:t>STATIC example: BankMachine.ifsc_code = 'HDFC001'  — same for every machine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61" name="Shape 7"/>
          <p:cNvSpPr/>
          <p:nvPr/>
        </p:nvSpPr>
        <p:spPr>
          <a:xfrm>
            <a:off x="4572000" y="4462200"/>
            <a:ext cx="4388760" cy="54828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2" name="Text 8"/>
          <p:cNvSpPr/>
          <p:nvPr/>
        </p:nvSpPr>
        <p:spPr>
          <a:xfrm>
            <a:off x="4709160" y="4526280"/>
            <a:ext cx="41144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e2e8f0"/>
                </a:solidFill>
                <a:latin typeface="Courier New"/>
                <a:ea typeface="Courier New"/>
              </a:rPr>
              <a:t>INSTANCE example: self.account_balance = 0  — unique per account holder</a:t>
            </a:r>
            <a:endParaRPr b="0" lang="en-IN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162032">
              <a:alpha val="80000"/>
            </a:srgbClr>
          </a:solidFill>
          <a:ln w="12700">
            <a:solidFill>
              <a:srgbClr val="16203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4" name="Text 1"/>
          <p:cNvSpPr/>
          <p:nvPr/>
        </p:nvSpPr>
        <p:spPr>
          <a:xfrm>
            <a:off x="274320" y="457200"/>
            <a:ext cx="22856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0" spc="-1" strike="noStrike">
                <a:solidFill>
                  <a:srgbClr val="38bdf8">
                    <a:alpha val="30000"/>
                  </a:srgbClr>
                </a:solidFill>
                <a:latin typeface="Calibri"/>
              </a:rPr>
              <a:t>08</a:t>
            </a:r>
            <a:endParaRPr b="0" lang="en-IN" sz="13000" spc="-1" strike="noStrike">
              <a:latin typeface="Arial"/>
            </a:endParaRPr>
          </a:p>
        </p:txBody>
      </p:sp>
      <p:sp>
        <p:nvSpPr>
          <p:cNvPr id="165" name="Shape 2"/>
          <p:cNvSpPr/>
          <p:nvPr/>
        </p:nvSpPr>
        <p:spPr>
          <a:xfrm>
            <a:off x="1005840" y="1645920"/>
            <a:ext cx="7131960" cy="543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6" name="Text 3"/>
          <p:cNvSpPr/>
          <p:nvPr/>
        </p:nvSpPr>
        <p:spPr>
          <a:xfrm>
            <a:off x="1005840" y="1783080"/>
            <a:ext cx="77720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200" spc="-1" strike="noStrike">
                <a:solidFill>
                  <a:srgbClr val="ffffff"/>
                </a:solidFill>
                <a:latin typeface="Calibri"/>
              </a:rPr>
              <a:t>Static Methods</a:t>
            </a:r>
            <a:endParaRPr b="0" lang="en-IN" sz="4200" spc="-1" strike="noStrike">
              <a:latin typeface="Arial"/>
            </a:endParaRPr>
          </a:p>
        </p:txBody>
      </p:sp>
      <p:sp>
        <p:nvSpPr>
          <p:cNvPr id="167" name="Text 4"/>
          <p:cNvSpPr/>
          <p:nvPr/>
        </p:nvSpPr>
        <p:spPr>
          <a:xfrm>
            <a:off x="1005840" y="3200400"/>
            <a:ext cx="77720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94a3b8"/>
                </a:solidFill>
                <a:latin typeface="Calibri"/>
              </a:rPr>
              <a:t>@staticmethod — utility functions that don't need a specific object</a:t>
            </a:r>
            <a:endParaRPr b="0" lang="en-IN" sz="17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0"/>
          <p:cNvSpPr/>
          <p:nvPr/>
        </p:nvSpPr>
        <p:spPr>
          <a:xfrm>
            <a:off x="0" y="0"/>
            <a:ext cx="63720" cy="5143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9" name="Shape 1"/>
          <p:cNvSpPr/>
          <p:nvPr/>
        </p:nvSpPr>
        <p:spPr>
          <a:xfrm>
            <a:off x="0" y="0"/>
            <a:ext cx="9143640" cy="712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0" name="Text 2"/>
          <p:cNvSpPr/>
          <p:nvPr/>
        </p:nvSpPr>
        <p:spPr>
          <a:xfrm>
            <a:off x="182880" y="0"/>
            <a:ext cx="71319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Static Methods – @staticmethod Decorator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71" name="Shape 3"/>
          <p:cNvSpPr/>
          <p:nvPr/>
        </p:nvSpPr>
        <p:spPr>
          <a:xfrm>
            <a:off x="7589520" y="109800"/>
            <a:ext cx="1371240" cy="4752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2" name="Text 4"/>
          <p:cNvSpPr/>
          <p:nvPr/>
        </p:nvSpPr>
        <p:spPr>
          <a:xfrm>
            <a:off x="7589520" y="109800"/>
            <a:ext cx="13712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172a"/>
                </a:solidFill>
                <a:latin typeface="Calibri"/>
              </a:rPr>
              <a:t>Section 08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73" name="Shape 5"/>
          <p:cNvSpPr/>
          <p:nvPr/>
        </p:nvSpPr>
        <p:spPr>
          <a:xfrm>
            <a:off x="182880" y="804600"/>
            <a:ext cx="2834280" cy="107856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4" name="Shape 6"/>
          <p:cNvSpPr/>
          <p:nvPr/>
        </p:nvSpPr>
        <p:spPr>
          <a:xfrm>
            <a:off x="182880" y="804600"/>
            <a:ext cx="2834280" cy="543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5" name="Text 7"/>
          <p:cNvSpPr/>
          <p:nvPr/>
        </p:nvSpPr>
        <p:spPr>
          <a:xfrm>
            <a:off x="320040" y="896040"/>
            <a:ext cx="2559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38bdf8"/>
                </a:solidFill>
                <a:latin typeface="Calibri"/>
              </a:rPr>
              <a:t>No self Parameter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76" name="Text 8"/>
          <p:cNvSpPr/>
          <p:nvPr/>
        </p:nvSpPr>
        <p:spPr>
          <a:xfrm>
            <a:off x="320040" y="1261800"/>
            <a:ext cx="2559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e2e8f0"/>
                </a:solidFill>
                <a:latin typeface="Calibri"/>
              </a:rPr>
              <a:t>Static methods don't receive the current object. They can't access instance variables.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77" name="Shape 9"/>
          <p:cNvSpPr/>
          <p:nvPr/>
        </p:nvSpPr>
        <p:spPr>
          <a:xfrm>
            <a:off x="3154680" y="804600"/>
            <a:ext cx="2834280" cy="107856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8" name="Shape 10"/>
          <p:cNvSpPr/>
          <p:nvPr/>
        </p:nvSpPr>
        <p:spPr>
          <a:xfrm>
            <a:off x="3154680" y="804600"/>
            <a:ext cx="2834280" cy="5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9" name="Text 11"/>
          <p:cNvSpPr/>
          <p:nvPr/>
        </p:nvSpPr>
        <p:spPr>
          <a:xfrm>
            <a:off x="3291840" y="896040"/>
            <a:ext cx="2559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59e0b"/>
                </a:solidFill>
                <a:latin typeface="Calibri"/>
              </a:rPr>
              <a:t>@staticmethod Decorator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80" name="Text 12"/>
          <p:cNvSpPr/>
          <p:nvPr/>
        </p:nvSpPr>
        <p:spPr>
          <a:xfrm>
            <a:off x="3291840" y="1261800"/>
            <a:ext cx="2559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e2e8f0"/>
                </a:solidFill>
                <a:latin typeface="Calibri"/>
              </a:rPr>
              <a:t>Mark the method with @staticmethod above def. This tells Python it's a utility function.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81" name="Shape 13"/>
          <p:cNvSpPr/>
          <p:nvPr/>
        </p:nvSpPr>
        <p:spPr>
          <a:xfrm>
            <a:off x="6126480" y="804600"/>
            <a:ext cx="2834280" cy="107856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2" name="Shape 14"/>
          <p:cNvSpPr/>
          <p:nvPr/>
        </p:nvSpPr>
        <p:spPr>
          <a:xfrm>
            <a:off x="6126480" y="804600"/>
            <a:ext cx="2834280" cy="543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3" name="Text 15"/>
          <p:cNvSpPr/>
          <p:nvPr/>
        </p:nvSpPr>
        <p:spPr>
          <a:xfrm>
            <a:off x="6263640" y="896040"/>
            <a:ext cx="2559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34d399"/>
                </a:solidFill>
                <a:latin typeface="Calibri"/>
              </a:rPr>
              <a:t>Call via ClassName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84" name="Text 16"/>
          <p:cNvSpPr/>
          <p:nvPr/>
        </p:nvSpPr>
        <p:spPr>
          <a:xfrm>
            <a:off x="6263640" y="1261800"/>
            <a:ext cx="2559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e2e8f0"/>
                </a:solidFill>
                <a:latin typeface="Calibri"/>
              </a:rPr>
              <a:t>Call as BankMachine.get_total_customers() — no object needed at all.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85" name="Shape 17"/>
          <p:cNvSpPr/>
          <p:nvPr/>
        </p:nvSpPr>
        <p:spPr>
          <a:xfrm>
            <a:off x="182880" y="1974960"/>
            <a:ext cx="5577120" cy="3785040"/>
          </a:xfrm>
          <a:prstGeom prst="rect">
            <a:avLst/>
          </a:prstGeom>
          <a:solidFill>
            <a:srgbClr val="0d1117"/>
          </a:solidFill>
          <a:ln w="19050">
            <a:solidFill>
              <a:srgbClr val="2d374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6" name="Shape 18"/>
          <p:cNvSpPr/>
          <p:nvPr/>
        </p:nvSpPr>
        <p:spPr>
          <a:xfrm>
            <a:off x="182880" y="1974960"/>
            <a:ext cx="5668920" cy="2556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7" name="Shape 19"/>
          <p:cNvSpPr/>
          <p:nvPr/>
        </p:nvSpPr>
        <p:spPr>
          <a:xfrm>
            <a:off x="292680" y="2039040"/>
            <a:ext cx="109440" cy="109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8" name="Shape 20"/>
          <p:cNvSpPr/>
          <p:nvPr/>
        </p:nvSpPr>
        <p:spPr>
          <a:xfrm>
            <a:off x="475560" y="2039040"/>
            <a:ext cx="109440" cy="109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9" name="Shape 21"/>
          <p:cNvSpPr/>
          <p:nvPr/>
        </p:nvSpPr>
        <p:spPr>
          <a:xfrm>
            <a:off x="658440" y="2039040"/>
            <a:ext cx="109440" cy="1094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0" name="Text 22"/>
          <p:cNvSpPr/>
          <p:nvPr/>
        </p:nvSpPr>
        <p:spPr>
          <a:xfrm>
            <a:off x="182880" y="1993320"/>
            <a:ext cx="5577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</a:rPr>
              <a:t>static_methods.py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91" name="Text 23"/>
          <p:cNvSpPr/>
          <p:nvPr/>
        </p:nvSpPr>
        <p:spPr>
          <a:xfrm>
            <a:off x="292680" y="2249280"/>
            <a:ext cx="5440320" cy="253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class</a:t>
            </a:r>
            <a:r>
              <a:rPr b="0" lang="en-US" sz="1000" spc="-1" strike="noStrike">
                <a:solidFill>
                  <a:srgbClr val="34d399"/>
                </a:solidFill>
                <a:latin typeface="Courier New"/>
                <a:ea typeface="Courier New"/>
              </a:rPr>
              <a:t> BankMachine: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cust_counter = </a:t>
            </a:r>
            <a:r>
              <a:rPr b="0" lang="en-US" sz="1000" spc="-1" strike="noStrike">
                <a:solidFill>
                  <a:srgbClr val="34d399"/>
                </a:solidFill>
                <a:latin typeface="Courier New"/>
                <a:ea typeface="Courier New"/>
              </a:rPr>
              <a:t>1   # Static variable</a:t>
            </a:r>
            <a:endParaRPr b="0" lang="en-IN" sz="1000" spc="-1" strike="noStrike">
              <a:latin typeface="Arial"/>
            </a:endParaRPr>
          </a:p>
          <a:p>
            <a:endParaRPr b="0" lang="en-IN" sz="1000" spc="-1" strike="noStrike">
              <a:latin typeface="Arial"/>
            </a:endParaRPr>
          </a:p>
          <a:p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__init__(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):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.cust_id = BankMachine.cust_counter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BankMachine.cust_counter += </a:t>
            </a:r>
            <a:r>
              <a:rPr b="0" lang="en-US" sz="1000" spc="-1" strike="noStrike">
                <a:solidFill>
                  <a:srgbClr val="fca5a5"/>
                </a:solidFill>
                <a:latin typeface="Courier New"/>
                <a:ea typeface="Courier New"/>
              </a:rPr>
              <a:t>1</a:t>
            </a:r>
            <a:endParaRPr b="0" lang="en-IN" sz="1000" spc="-1" strike="noStrike">
              <a:latin typeface="Arial"/>
            </a:endParaRPr>
          </a:p>
          <a:p>
            <a:endParaRPr b="0" lang="en-IN" sz="1000" spc="-1" strike="noStrike">
              <a:latin typeface="Arial"/>
            </a:endParaRPr>
          </a:p>
          <a:p>
            <a:r>
              <a:rPr b="1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    </a:t>
            </a:r>
            <a:r>
              <a:rPr b="1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@staticmethod</a:t>
            </a:r>
            <a:endParaRPr b="0" lang="en-IN" sz="1000" spc="-1" strike="noStrike">
              <a:latin typeface="Arial"/>
            </a:endParaRPr>
          </a:p>
          <a:p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get_total_customers():   # no self!</a:t>
            </a:r>
            <a:endParaRPr b="0" lang="en-IN" sz="1000" spc="-1" strike="noStrike">
              <a:latin typeface="Arial"/>
            </a:endParaRPr>
          </a:p>
          <a:p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return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BankMachine.cust_counter - </a:t>
            </a:r>
            <a:r>
              <a:rPr b="0" lang="en-US" sz="1000" spc="-1" strike="noStrike">
                <a:solidFill>
                  <a:srgbClr val="fca5a5"/>
                </a:solidFill>
                <a:latin typeface="Courier New"/>
                <a:ea typeface="Courier New"/>
              </a:rPr>
              <a:t>1</a:t>
            </a:r>
            <a:endParaRPr b="0" lang="en-IN" sz="1000" spc="-1" strike="noStrike">
              <a:latin typeface="Arial"/>
            </a:endParaRPr>
          </a:p>
          <a:p>
            <a:endParaRPr b="0" lang="en-IN" sz="1000" spc="-1" strike="noStrike">
              <a:latin typeface="Arial"/>
            </a:endParaRPr>
          </a:p>
          <a:p>
            <a:r>
              <a:rPr b="1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    </a:t>
            </a:r>
            <a:r>
              <a:rPr b="1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@staticmethod</a:t>
            </a:r>
            <a:endParaRPr b="0" lang="en-IN" sz="1000" spc="-1" strike="noStrike">
              <a:latin typeface="Arial"/>
            </a:endParaRPr>
          </a:p>
          <a:p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validate_pin_format(pin_str):   # utility</a:t>
            </a:r>
            <a:endParaRPr b="0" lang="en-IN" sz="1000" spc="-1" strike="noStrike">
              <a:latin typeface="Arial"/>
            </a:endParaRPr>
          </a:p>
          <a:p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return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pin_str.isdigit()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and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len(pin_str) == </a:t>
            </a:r>
            <a:r>
              <a:rPr b="0" lang="en-US" sz="1000" spc="-1" strike="noStrike">
                <a:solidFill>
                  <a:srgbClr val="fca5a5"/>
                </a:solidFill>
                <a:latin typeface="Courier New"/>
                <a:ea typeface="Courier New"/>
              </a:rPr>
              <a:t>4</a:t>
            </a:r>
            <a:endParaRPr b="0" lang="en-IN" sz="1000" spc="-1" strike="noStrike">
              <a:latin typeface="Arial"/>
            </a:endParaRPr>
          </a:p>
          <a:p>
            <a:endParaRPr b="0" lang="en-IN" sz="1000" spc="-1" strike="noStrike">
              <a:latin typeface="Arial"/>
            </a:endParaRPr>
          </a:p>
          <a:p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--- Calling static methods ---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m1 = BankMachine()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m2 = BankMachine()</a:t>
            </a:r>
            <a:endParaRPr b="0" lang="en-IN" sz="1000" spc="-1" strike="noStrike">
              <a:latin typeface="Arial"/>
            </a:endParaRPr>
          </a:p>
          <a:p>
            <a:endParaRPr b="0" lang="en-IN" sz="1000" spc="-1" strike="noStrike">
              <a:latin typeface="Arial"/>
            </a:endParaRPr>
          </a:p>
          <a:p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Call via class name (recommended)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print</a:t>
            </a:r>
            <a:r>
              <a:rPr b="0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(BankMachine.get_total_customers())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34d399"/>
                </a:solidFill>
                <a:latin typeface="Courier New"/>
                <a:ea typeface="Courier New"/>
              </a:rPr>
              <a:t># Output: 2</a:t>
            </a:r>
            <a:endParaRPr b="0" lang="en-IN" sz="1000" spc="-1" strike="noStrike">
              <a:latin typeface="Arial"/>
            </a:endParaRPr>
          </a:p>
          <a:p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print(BankMachine.validate_pin_format(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'4523'</a:t>
            </a:r>
            <a:r>
              <a:rPr b="0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))  # True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print(BankMachine.validate_pin_format(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'ab12'</a:t>
            </a:r>
            <a:r>
              <a:rPr b="0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))  # False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</p:txBody>
      </p:sp>
      <p:sp>
        <p:nvSpPr>
          <p:cNvPr id="192" name="Shape 24"/>
          <p:cNvSpPr/>
          <p:nvPr/>
        </p:nvSpPr>
        <p:spPr>
          <a:xfrm>
            <a:off x="6035040" y="1974960"/>
            <a:ext cx="2925720" cy="288000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93" name="Text 25"/>
          <p:cNvSpPr/>
          <p:nvPr/>
        </p:nvSpPr>
        <p:spPr>
          <a:xfrm>
            <a:off x="6172200" y="2084760"/>
            <a:ext cx="26514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38bdf8"/>
                </a:solidFill>
                <a:latin typeface="Calibri"/>
              </a:rPr>
              <a:t>When to Use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38bdf8"/>
                </a:solidFill>
                <a:latin typeface="Calibri"/>
              </a:rPr>
              <a:t>Static Methods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94" name="Text 26"/>
          <p:cNvSpPr/>
          <p:nvPr/>
        </p:nvSpPr>
        <p:spPr>
          <a:xfrm>
            <a:off x="6172200" y="2743200"/>
            <a:ext cx="265140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e2e8f0"/>
                </a:solidFill>
                <a:latin typeface="Calibri"/>
              </a:rPr>
              <a:t>Utility/helper functions that belong to the class conceptually but don't need any specific object's data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e2e8f0"/>
                </a:solidFill>
                <a:latin typeface="Calibri"/>
              </a:rPr>
              <a:t>Accessing or returning static variable values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e2e8f0"/>
                </a:solidFill>
                <a:latin typeface="Calibri"/>
              </a:rPr>
              <a:t>Validation functions (check PIN format, validate email, etc.)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e2e8f0"/>
                </a:solidFill>
                <a:latin typeface="Calibri"/>
              </a:rPr>
              <a:t>Factory-style methods that create objects in special ways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hape 0"/>
          <p:cNvSpPr/>
          <p:nvPr/>
        </p:nvSpPr>
        <p:spPr>
          <a:xfrm>
            <a:off x="0" y="0"/>
            <a:ext cx="63720" cy="5143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6" name="Shape 1"/>
          <p:cNvSpPr/>
          <p:nvPr/>
        </p:nvSpPr>
        <p:spPr>
          <a:xfrm>
            <a:off x="0" y="0"/>
            <a:ext cx="9143640" cy="712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7" name="Text 2"/>
          <p:cNvSpPr/>
          <p:nvPr/>
        </p:nvSpPr>
        <p:spPr>
          <a:xfrm>
            <a:off x="182880" y="0"/>
            <a:ext cx="71319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Complete BankMachine Class – All Concepts Together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98" name="Shape 3"/>
          <p:cNvSpPr/>
          <p:nvPr/>
        </p:nvSpPr>
        <p:spPr>
          <a:xfrm>
            <a:off x="7589520" y="109800"/>
            <a:ext cx="1371240" cy="4752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99" name="Text 4"/>
          <p:cNvSpPr/>
          <p:nvPr/>
        </p:nvSpPr>
        <p:spPr>
          <a:xfrm>
            <a:off x="7589520" y="109800"/>
            <a:ext cx="13712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172a"/>
                </a:solidFill>
                <a:latin typeface="Calibri"/>
              </a:rPr>
              <a:t>Section 07 + 08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00" name="Text 5"/>
          <p:cNvSpPr/>
          <p:nvPr/>
        </p:nvSpPr>
        <p:spPr>
          <a:xfrm>
            <a:off x="182880" y="777240"/>
            <a:ext cx="8777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94a3b8"/>
                </a:solidFill>
                <a:latin typeface="Calibri"/>
              </a:rPr>
              <a:t>The final version combining: Private Variables · Getters/Setters · Static Variable · Static Method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01" name="Shape 6"/>
          <p:cNvSpPr/>
          <p:nvPr/>
        </p:nvSpPr>
        <p:spPr>
          <a:xfrm>
            <a:off x="182880" y="1207080"/>
            <a:ext cx="5037120" cy="4192920"/>
          </a:xfrm>
          <a:prstGeom prst="rect">
            <a:avLst/>
          </a:prstGeom>
          <a:solidFill>
            <a:srgbClr val="0d1117"/>
          </a:solidFill>
          <a:ln w="19050">
            <a:solidFill>
              <a:srgbClr val="2d374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2" name="Shape 7"/>
          <p:cNvSpPr/>
          <p:nvPr/>
        </p:nvSpPr>
        <p:spPr>
          <a:xfrm>
            <a:off x="182880" y="1207080"/>
            <a:ext cx="5028840" cy="2556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3" name="Shape 8"/>
          <p:cNvSpPr/>
          <p:nvPr/>
        </p:nvSpPr>
        <p:spPr>
          <a:xfrm>
            <a:off x="292680" y="1271160"/>
            <a:ext cx="109440" cy="109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4" name="Shape 9"/>
          <p:cNvSpPr/>
          <p:nvPr/>
        </p:nvSpPr>
        <p:spPr>
          <a:xfrm>
            <a:off x="475560" y="1271160"/>
            <a:ext cx="109440" cy="109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5" name="Shape 10"/>
          <p:cNvSpPr/>
          <p:nvPr/>
        </p:nvSpPr>
        <p:spPr>
          <a:xfrm>
            <a:off x="658440" y="1271160"/>
            <a:ext cx="109440" cy="1094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6" name="Text 11"/>
          <p:cNvSpPr/>
          <p:nvPr/>
        </p:nvSpPr>
        <p:spPr>
          <a:xfrm>
            <a:off x="182880" y="1225440"/>
            <a:ext cx="49374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</a:rPr>
              <a:t>bank_machine_final.py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07" name="Text 12"/>
          <p:cNvSpPr/>
          <p:nvPr/>
        </p:nvSpPr>
        <p:spPr>
          <a:xfrm>
            <a:off x="292680" y="1481400"/>
            <a:ext cx="4800240" cy="330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class</a:t>
            </a:r>
            <a:r>
              <a:rPr b="0" lang="en-US" sz="1000" spc="-1" strike="noStrike">
                <a:solidFill>
                  <a:srgbClr val="34d399"/>
                </a:solidFill>
                <a:latin typeface="Courier New"/>
                <a:ea typeface="Courier New"/>
              </a:rPr>
              <a:t> BankMachine:</a:t>
            </a:r>
            <a:endParaRPr b="0" lang="en-IN" sz="1000" spc="-1" strike="noStrike">
              <a:latin typeface="Arial"/>
            </a:endParaRPr>
          </a:p>
          <a:p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    </a:t>
            </a: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--- Static variable ---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cust_counter = </a:t>
            </a:r>
            <a:r>
              <a:rPr b="0" lang="en-US" sz="1000" spc="-1" strike="noStrike">
                <a:solidFill>
                  <a:srgbClr val="fca5a5"/>
                </a:solidFill>
                <a:latin typeface="Courier New"/>
                <a:ea typeface="Courier New"/>
              </a:rPr>
              <a:t>1</a:t>
            </a:r>
            <a:endParaRPr b="0" lang="en-IN" sz="1000" spc="-1" strike="noStrike">
              <a:latin typeface="Arial"/>
            </a:endParaRPr>
          </a:p>
          <a:p>
            <a:endParaRPr b="0" lang="en-IN" sz="1000" spc="-1" strike="noStrike">
              <a:latin typeface="Arial"/>
            </a:endParaRPr>
          </a:p>
          <a:p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__init__(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):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.__cust_id = BankMachine.cust_counter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BankMachine.cust_counter += </a:t>
            </a:r>
            <a:r>
              <a:rPr b="0" lang="en-US" sz="1000" spc="-1" strike="noStrike">
                <a:solidFill>
                  <a:srgbClr val="fca5a5"/>
                </a:solidFill>
                <a:latin typeface="Courier New"/>
                <a:ea typeface="Courier New"/>
              </a:rPr>
              <a:t>1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.__secret_pin = 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''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.__account_balance = </a:t>
            </a:r>
            <a:r>
              <a:rPr b="0" lang="en-US" sz="1000" spc="-1" strike="noStrike">
                <a:solidFill>
                  <a:srgbClr val="fca5a5"/>
                </a:solidFill>
                <a:latin typeface="Courier New"/>
                <a:ea typeface="Courier New"/>
              </a:rPr>
              <a:t>0</a:t>
            </a:r>
            <a:endParaRPr b="0" lang="en-IN" sz="1000" spc="-1" strike="noStrike">
              <a:latin typeface="Arial"/>
            </a:endParaRPr>
          </a:p>
          <a:p>
            <a:endParaRPr b="0" lang="en-IN" sz="1000" spc="-1" strike="noStrike">
              <a:latin typeface="Arial"/>
            </a:endParaRPr>
          </a:p>
          <a:p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    </a:t>
            </a: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--- Getter ---</a:t>
            </a:r>
            <a:endParaRPr b="0" lang="en-IN" sz="1000" spc="-1" strike="noStrike">
              <a:latin typeface="Arial"/>
            </a:endParaRPr>
          </a:p>
          <a:p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retrieve_balance(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):</a:t>
            </a:r>
            <a:endParaRPr b="0" lang="en-IN" sz="1000" spc="-1" strike="noStrike">
              <a:latin typeface="Arial"/>
            </a:endParaRPr>
          </a:p>
          <a:p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return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 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.__account_balance</a:t>
            </a:r>
            <a:endParaRPr b="0" lang="en-IN" sz="1000" spc="-1" strike="noStrike">
              <a:latin typeface="Arial"/>
            </a:endParaRPr>
          </a:p>
          <a:p>
            <a:endParaRPr b="0" lang="en-IN" sz="1000" spc="-1" strike="noStrike">
              <a:latin typeface="Arial"/>
            </a:endParaRPr>
          </a:p>
          <a:p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    </a:t>
            </a: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--- Setter with validation ---</a:t>
            </a:r>
            <a:endParaRPr b="0" lang="en-IN" sz="1000" spc="-1" strike="noStrike">
              <a:latin typeface="Arial"/>
            </a:endParaRPr>
          </a:p>
          <a:p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assign_balance(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, new_amount):</a:t>
            </a:r>
            <a:endParaRPr b="0" lang="en-IN" sz="1000" spc="-1" strike="noStrike">
              <a:latin typeface="Arial"/>
            </a:endParaRPr>
          </a:p>
          <a:p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if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type(new_amount) == 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int: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            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.__account_balance = new_amount</a:t>
            </a:r>
            <a:endParaRPr b="0" lang="en-IN" sz="1000" spc="-1" strike="noStrike">
              <a:latin typeface="Arial"/>
            </a:endParaRPr>
          </a:p>
          <a:p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else: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        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print</a:t>
            </a:r>
            <a:r>
              <a:rPr b="0" lang="en-US" sz="1000" spc="-1" strike="noStrike">
                <a:solidFill>
                  <a:srgbClr val="f87171"/>
                </a:solidFill>
                <a:latin typeface="Courier New"/>
                <a:ea typeface="Courier New"/>
              </a:rPr>
              <a:t>('Invalid: must be integer')</a:t>
            </a:r>
            <a:endParaRPr b="0" lang="en-IN" sz="1000" spc="-1" strike="noStrike">
              <a:latin typeface="Arial"/>
            </a:endParaRPr>
          </a:p>
          <a:p>
            <a:endParaRPr b="0" lang="en-IN" sz="1000" spc="-1" strike="noStrike">
              <a:latin typeface="Arial"/>
            </a:endParaRPr>
          </a:p>
          <a:p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    </a:t>
            </a: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--- Static method ---</a:t>
            </a:r>
            <a:endParaRPr b="0" lang="en-IN" sz="1000" spc="-1" strike="noStrike">
              <a:latin typeface="Arial"/>
            </a:endParaRPr>
          </a:p>
          <a:p>
            <a:r>
              <a:rPr b="1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    </a:t>
            </a:r>
            <a:r>
              <a:rPr b="1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@staticmethod</a:t>
            </a:r>
            <a:endParaRPr b="0" lang="en-IN" sz="1000" spc="-1" strike="noStrike">
              <a:latin typeface="Arial"/>
            </a:endParaRPr>
          </a:p>
          <a:p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get_total_customers():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return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BankMachine.cust_counter - </a:t>
            </a:r>
            <a:r>
              <a:rPr b="0" lang="en-US" sz="1000" spc="-1" strike="noStrike">
                <a:solidFill>
                  <a:srgbClr val="fca5a5"/>
                </a:solidFill>
                <a:latin typeface="Courier New"/>
                <a:ea typeface="Courier New"/>
              </a:rPr>
              <a:t>1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08" name="Shape 13"/>
          <p:cNvSpPr/>
          <p:nvPr/>
        </p:nvSpPr>
        <p:spPr>
          <a:xfrm>
            <a:off x="5394960" y="1207080"/>
            <a:ext cx="3565800" cy="65808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9" name="Shape 14"/>
          <p:cNvSpPr/>
          <p:nvPr/>
        </p:nvSpPr>
        <p:spPr>
          <a:xfrm>
            <a:off x="5394960" y="1207080"/>
            <a:ext cx="54360" cy="6580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0" name="Text 15"/>
          <p:cNvSpPr/>
          <p:nvPr/>
        </p:nvSpPr>
        <p:spPr>
          <a:xfrm>
            <a:off x="5541120" y="1252800"/>
            <a:ext cx="3337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34d399"/>
                </a:solidFill>
                <a:latin typeface="Calibri"/>
              </a:rPr>
              <a:t>Static Variable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11" name="Text 16"/>
          <p:cNvSpPr/>
          <p:nvPr/>
        </p:nvSpPr>
        <p:spPr>
          <a:xfrm>
            <a:off x="5541120" y="1517760"/>
            <a:ext cx="3337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</a:rPr>
              <a:t>cust_counter — shared, class-level counter for all machines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12" name="Shape 17"/>
          <p:cNvSpPr/>
          <p:nvPr/>
        </p:nvSpPr>
        <p:spPr>
          <a:xfrm>
            <a:off x="5394960" y="1938600"/>
            <a:ext cx="3565800" cy="65808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3" name="Shape 18"/>
          <p:cNvSpPr/>
          <p:nvPr/>
        </p:nvSpPr>
        <p:spPr>
          <a:xfrm>
            <a:off x="5394960" y="1938600"/>
            <a:ext cx="54360" cy="65808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4" name="Text 19"/>
          <p:cNvSpPr/>
          <p:nvPr/>
        </p:nvSpPr>
        <p:spPr>
          <a:xfrm>
            <a:off x="5541120" y="1984320"/>
            <a:ext cx="3337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87171"/>
                </a:solidFill>
                <a:latin typeface="Calibri"/>
              </a:rPr>
              <a:t>Private Variables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15" name="Text 20"/>
          <p:cNvSpPr/>
          <p:nvPr/>
        </p:nvSpPr>
        <p:spPr>
          <a:xfrm>
            <a:off x="5541120" y="2249280"/>
            <a:ext cx="3337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</a:rPr>
              <a:t>__cust_id, __secret_pin, __account_balance — hidden from outside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16" name="Shape 21"/>
          <p:cNvSpPr/>
          <p:nvPr/>
        </p:nvSpPr>
        <p:spPr>
          <a:xfrm>
            <a:off x="5394960" y="2670120"/>
            <a:ext cx="3565800" cy="65808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7" name="Shape 22"/>
          <p:cNvSpPr/>
          <p:nvPr/>
        </p:nvSpPr>
        <p:spPr>
          <a:xfrm>
            <a:off x="5394960" y="2670120"/>
            <a:ext cx="54360" cy="6580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8" name="Text 23"/>
          <p:cNvSpPr/>
          <p:nvPr/>
        </p:nvSpPr>
        <p:spPr>
          <a:xfrm>
            <a:off x="5541120" y="2715840"/>
            <a:ext cx="3337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38bdf8"/>
                </a:solidFill>
                <a:latin typeface="Calibri"/>
              </a:rPr>
              <a:t>Getter Method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19" name="Text 24"/>
          <p:cNvSpPr/>
          <p:nvPr/>
        </p:nvSpPr>
        <p:spPr>
          <a:xfrm>
            <a:off x="5541120" y="2980800"/>
            <a:ext cx="3337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</a:rPr>
              <a:t>retrieve_balance() — read-only access to private balance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20" name="Shape 25"/>
          <p:cNvSpPr/>
          <p:nvPr/>
        </p:nvSpPr>
        <p:spPr>
          <a:xfrm>
            <a:off x="5394960" y="3401640"/>
            <a:ext cx="3565800" cy="65808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21" name="Shape 26"/>
          <p:cNvSpPr/>
          <p:nvPr/>
        </p:nvSpPr>
        <p:spPr>
          <a:xfrm>
            <a:off x="5394960" y="3401640"/>
            <a:ext cx="54360" cy="658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2" name="Text 27"/>
          <p:cNvSpPr/>
          <p:nvPr/>
        </p:nvSpPr>
        <p:spPr>
          <a:xfrm>
            <a:off x="5541120" y="3447360"/>
            <a:ext cx="3337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59e0b"/>
                </a:solidFill>
                <a:latin typeface="Calibri"/>
              </a:rPr>
              <a:t>Setter + Validation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23" name="Text 28"/>
          <p:cNvSpPr/>
          <p:nvPr/>
        </p:nvSpPr>
        <p:spPr>
          <a:xfrm>
            <a:off x="5541120" y="3712320"/>
            <a:ext cx="3337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</a:rPr>
              <a:t>assign_balance() — only accepts integers, rejects invalid input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24" name="Shape 29"/>
          <p:cNvSpPr/>
          <p:nvPr/>
        </p:nvSpPr>
        <p:spPr>
          <a:xfrm>
            <a:off x="5394960" y="4133160"/>
            <a:ext cx="3565800" cy="65808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25" name="Shape 30"/>
          <p:cNvSpPr/>
          <p:nvPr/>
        </p:nvSpPr>
        <p:spPr>
          <a:xfrm>
            <a:off x="5394960" y="4133160"/>
            <a:ext cx="54360" cy="658080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6" name="Text 31"/>
          <p:cNvSpPr/>
          <p:nvPr/>
        </p:nvSpPr>
        <p:spPr>
          <a:xfrm>
            <a:off x="5541120" y="4178880"/>
            <a:ext cx="3337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c084fc"/>
                </a:solidFill>
                <a:latin typeface="Calibri"/>
              </a:rPr>
              <a:t>Static Method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27" name="Text 32"/>
          <p:cNvSpPr/>
          <p:nvPr/>
        </p:nvSpPr>
        <p:spPr>
          <a:xfrm>
            <a:off x="5541120" y="4443840"/>
            <a:ext cx="3337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</a:rPr>
              <a:t>get_total_customers() — no self, uses class-level data</a:t>
            </a:r>
            <a:endParaRPr b="0" lang="en-IN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Shape 0"/>
          <p:cNvSpPr/>
          <p:nvPr/>
        </p:nvSpPr>
        <p:spPr>
          <a:xfrm>
            <a:off x="0" y="0"/>
            <a:ext cx="63720" cy="5143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9" name="Shape 1"/>
          <p:cNvSpPr/>
          <p:nvPr/>
        </p:nvSpPr>
        <p:spPr>
          <a:xfrm>
            <a:off x="0" y="0"/>
            <a:ext cx="9143640" cy="712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0" name="Text 2"/>
          <p:cNvSpPr/>
          <p:nvPr/>
        </p:nvSpPr>
        <p:spPr>
          <a:xfrm>
            <a:off x="182880" y="0"/>
            <a:ext cx="71319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Instance vs Static – Methods Comparison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231" name="Shape 3"/>
          <p:cNvSpPr/>
          <p:nvPr/>
        </p:nvSpPr>
        <p:spPr>
          <a:xfrm>
            <a:off x="7589520" y="109800"/>
            <a:ext cx="1371240" cy="4752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32" name="Text 4"/>
          <p:cNvSpPr/>
          <p:nvPr/>
        </p:nvSpPr>
        <p:spPr>
          <a:xfrm>
            <a:off x="7589520" y="109800"/>
            <a:ext cx="13712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172a"/>
                </a:solidFill>
                <a:latin typeface="Calibri"/>
              </a:rPr>
              <a:t>Section 08</a:t>
            </a:r>
            <a:endParaRPr b="0" lang="en-IN" sz="1100" spc="-1" strike="noStrike">
              <a:latin typeface="Arial"/>
            </a:endParaRPr>
          </a:p>
        </p:txBody>
      </p:sp>
      <p:graphicFrame>
        <p:nvGraphicFramePr>
          <p:cNvPr id="233" name="Table 0"/>
          <p:cNvGraphicFramePr/>
          <p:nvPr/>
        </p:nvGraphicFramePr>
        <p:xfrm>
          <a:off x="182880" y="868680"/>
          <a:ext cx="8777880" cy="3794400"/>
        </p:xfrm>
        <a:graphic>
          <a:graphicData uri="http://schemas.openxmlformats.org/drawingml/2006/table">
            <a:tbl>
              <a:tblPr/>
              <a:tblGrid>
                <a:gridCol w="2560320"/>
                <a:gridCol w="3108960"/>
                <a:gridCol w="3108960"/>
              </a:tblGrid>
              <a:tr h="541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Feature</a:t>
                      </a:r>
                      <a:endParaRPr b="0" lang="en-IN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300" spc="-1" strike="noStrike">
                          <a:solidFill>
                            <a:srgbClr val="38bdf8"/>
                          </a:solidFill>
                          <a:latin typeface="Calibri"/>
                        </a:rPr>
                        <a:t>Regular Method</a:t>
                      </a:r>
                      <a:endParaRPr b="0" lang="en-IN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0c2a3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300" spc="-1" strike="noStrike">
                          <a:solidFill>
                            <a:srgbClr val="34d399"/>
                          </a:solidFill>
                          <a:latin typeface="Calibri"/>
                        </a:rPr>
                        <a:t>Static Method</a:t>
                      </a:r>
                      <a:endParaRPr b="0" lang="en-IN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0a1f12"/>
                    </a:solidFill>
                  </a:tcPr>
                </a:tc>
              </a:tr>
              <a:tr h="541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f59e0b"/>
                          </a:solidFill>
                          <a:latin typeface="Calibri"/>
                        </a:rPr>
                        <a:t>First parameter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e2e8f0"/>
                          </a:solidFill>
                          <a:latin typeface="Calibri"/>
                        </a:rPr>
                        <a:t>self (current object)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e2e8f0"/>
                          </a:solidFill>
                          <a:latin typeface="Calibri"/>
                        </a:rPr>
                        <a:t>None (no self)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</a:tr>
              <a:tr h="541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f59e0b"/>
                          </a:solidFill>
                          <a:latin typeface="Calibri"/>
                        </a:rPr>
                        <a:t>Can access instance vars?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7203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e2e8f0"/>
                          </a:solidFill>
                          <a:latin typeface="Calibri"/>
                        </a:rPr>
                        <a:t>YES — via self.variable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7203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e2e8f0"/>
                          </a:solidFill>
                          <a:latin typeface="Calibri"/>
                        </a:rPr>
                        <a:t>NO — no object reference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72034"/>
                    </a:solidFill>
                  </a:tcPr>
                </a:tc>
              </a:tr>
              <a:tr h="541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f59e0b"/>
                          </a:solidFill>
                          <a:latin typeface="Calibri"/>
                        </a:rPr>
                        <a:t>Can access static vars?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e2e8f0"/>
                          </a:solidFill>
                          <a:latin typeface="Calibri"/>
                        </a:rPr>
                        <a:t>YES — via ClassName.var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e2e8f0"/>
                          </a:solidFill>
                          <a:latin typeface="Calibri"/>
                        </a:rPr>
                        <a:t>YES — via ClassName.var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</a:tr>
              <a:tr h="541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f59e0b"/>
                          </a:solidFill>
                          <a:latin typeface="Calibri"/>
                        </a:rPr>
                        <a:t>Called via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7203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e2e8f0"/>
                          </a:solidFill>
                          <a:latin typeface="Calibri"/>
                        </a:rPr>
                        <a:t>object.method() or ClassName.method(obj)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7203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e2e8f0"/>
                          </a:solidFill>
                          <a:latin typeface="Calibri"/>
                        </a:rPr>
                        <a:t>ClassName.method()  (no object needed)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72034"/>
                    </a:solidFill>
                  </a:tcPr>
                </a:tc>
              </a:tr>
              <a:tr h="541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f59e0b"/>
                          </a:solidFill>
                          <a:latin typeface="Calibri"/>
                        </a:rPr>
                        <a:t>Decorator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e2e8f0"/>
                          </a:solidFill>
                          <a:latin typeface="Calibri"/>
                        </a:rPr>
                        <a:t>None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f59e0b"/>
                          </a:solidFill>
                          <a:latin typeface="Calibri"/>
                        </a:rPr>
                        <a:t>@staticmethod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</a:tr>
              <a:tr h="5436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f59e0b"/>
                          </a:solidFill>
                          <a:latin typeface="Calibri"/>
                        </a:rPr>
                        <a:t>Use case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7203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e2e8f0"/>
                          </a:solidFill>
                          <a:latin typeface="Calibri"/>
                        </a:rPr>
                        <a:t>Act on a specific object's data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7203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e2e8f0"/>
                          </a:solidFill>
                          <a:latin typeface="Calibri"/>
                        </a:rPr>
                        <a:t>Utility/helper, works on class-level data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72034"/>
                    </a:solidFill>
                  </a:tcPr>
                </a:tc>
              </a:tr>
            </a:tbl>
          </a:graphicData>
        </a:graphic>
      </p:graphicFrame>
      <p:sp>
        <p:nvSpPr>
          <p:cNvPr id="234" name="Shape 5"/>
          <p:cNvSpPr/>
          <p:nvPr/>
        </p:nvSpPr>
        <p:spPr>
          <a:xfrm>
            <a:off x="182880" y="4736520"/>
            <a:ext cx="8777880" cy="292320"/>
          </a:xfrm>
          <a:prstGeom prst="rect">
            <a:avLst/>
          </a:prstGeom>
          <a:solidFill>
            <a:srgbClr val="0c2a3a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5" name="Text 6"/>
          <p:cNvSpPr/>
          <p:nvPr/>
        </p:nvSpPr>
        <p:spPr>
          <a:xfrm>
            <a:off x="320040" y="4754880"/>
            <a:ext cx="8503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</a:rPr>
              <a:t>Decorator note: @staticmethod is a function decorator — a special Python annotation that changes how the method is registered. Decorators in-depth are covered in an advanced session.</a:t>
            </a:r>
            <a:endParaRPr b="0" lang="en-IN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Shape 0"/>
          <p:cNvSpPr/>
          <p:nvPr/>
        </p:nvSpPr>
        <p:spPr>
          <a:xfrm>
            <a:off x="0" y="0"/>
            <a:ext cx="63720" cy="5143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7" name="Shape 1"/>
          <p:cNvSpPr/>
          <p:nvPr/>
        </p:nvSpPr>
        <p:spPr>
          <a:xfrm>
            <a:off x="0" y="0"/>
            <a:ext cx="9143640" cy="712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8" name="Text 2"/>
          <p:cNvSpPr/>
          <p:nvPr/>
        </p:nvSpPr>
        <p:spPr>
          <a:xfrm>
            <a:off x="182880" y="0"/>
            <a:ext cx="71319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Complete Session Summary – OOP Session 8 Part 2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239" name="Shape 3"/>
          <p:cNvSpPr/>
          <p:nvPr/>
        </p:nvSpPr>
        <p:spPr>
          <a:xfrm>
            <a:off x="7589520" y="109800"/>
            <a:ext cx="1371240" cy="4752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40" name="Text 4"/>
          <p:cNvSpPr/>
          <p:nvPr/>
        </p:nvSpPr>
        <p:spPr>
          <a:xfrm>
            <a:off x="7589520" y="109800"/>
            <a:ext cx="13712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172a"/>
                </a:solidFill>
                <a:latin typeface="Calibri"/>
              </a:rPr>
              <a:t>All Topics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41" name="Shape 5"/>
          <p:cNvSpPr/>
          <p:nvPr/>
        </p:nvSpPr>
        <p:spPr>
          <a:xfrm>
            <a:off x="182880" y="841320"/>
            <a:ext cx="2102760" cy="191988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42" name="Shape 6"/>
          <p:cNvSpPr/>
          <p:nvPr/>
        </p:nvSpPr>
        <p:spPr>
          <a:xfrm>
            <a:off x="182880" y="841320"/>
            <a:ext cx="2102760" cy="543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3" name="Shape 7"/>
          <p:cNvSpPr/>
          <p:nvPr/>
        </p:nvSpPr>
        <p:spPr>
          <a:xfrm>
            <a:off x="274320" y="969120"/>
            <a:ext cx="383760" cy="38376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4" name="Text 8"/>
          <p:cNvSpPr/>
          <p:nvPr/>
        </p:nvSpPr>
        <p:spPr>
          <a:xfrm>
            <a:off x="274320" y="9691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01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45" name="Text 9"/>
          <p:cNvSpPr/>
          <p:nvPr/>
        </p:nvSpPr>
        <p:spPr>
          <a:xfrm>
            <a:off x="731520" y="1005840"/>
            <a:ext cx="1462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Coordinate Geometry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46" name="Text 10"/>
          <p:cNvSpPr/>
          <p:nvPr/>
        </p:nvSpPr>
        <p:spPr>
          <a:xfrm>
            <a:off x="292680" y="1481400"/>
            <a:ext cx="1919880" cy="116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</a:rPr>
              <a:t>Point &amp; Line classes · Object as method argument · Smart method reuse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47" name="Shape 11"/>
          <p:cNvSpPr/>
          <p:nvPr/>
        </p:nvSpPr>
        <p:spPr>
          <a:xfrm>
            <a:off x="2377440" y="841320"/>
            <a:ext cx="2102760" cy="191988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48" name="Shape 12"/>
          <p:cNvSpPr/>
          <p:nvPr/>
        </p:nvSpPr>
        <p:spPr>
          <a:xfrm>
            <a:off x="2377440" y="841320"/>
            <a:ext cx="2102760" cy="543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9" name="Shape 13"/>
          <p:cNvSpPr/>
          <p:nvPr/>
        </p:nvSpPr>
        <p:spPr>
          <a:xfrm>
            <a:off x="2468880" y="969120"/>
            <a:ext cx="383760" cy="38376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0" name="Text 14"/>
          <p:cNvSpPr/>
          <p:nvPr/>
        </p:nvSpPr>
        <p:spPr>
          <a:xfrm>
            <a:off x="2468880" y="9691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02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51" name="Text 15"/>
          <p:cNvSpPr/>
          <p:nvPr/>
        </p:nvSpPr>
        <p:spPr>
          <a:xfrm>
            <a:off x="2926080" y="1005840"/>
            <a:ext cx="1462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Reference Variables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52" name="Text 16"/>
          <p:cNvSpPr/>
          <p:nvPr/>
        </p:nvSpPr>
        <p:spPr>
          <a:xfrm>
            <a:off x="2487240" y="1481400"/>
            <a:ext cx="1919880" cy="116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</a:rPr>
              <a:t>p = address not object · Aliasing · id() proof · k=p no copy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53" name="Shape 17"/>
          <p:cNvSpPr/>
          <p:nvPr/>
        </p:nvSpPr>
        <p:spPr>
          <a:xfrm>
            <a:off x="4572000" y="841320"/>
            <a:ext cx="2102760" cy="191988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4" name="Shape 18"/>
          <p:cNvSpPr/>
          <p:nvPr/>
        </p:nvSpPr>
        <p:spPr>
          <a:xfrm>
            <a:off x="4572000" y="841320"/>
            <a:ext cx="2102760" cy="5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5" name="Shape 19"/>
          <p:cNvSpPr/>
          <p:nvPr/>
        </p:nvSpPr>
        <p:spPr>
          <a:xfrm>
            <a:off x="4663440" y="969120"/>
            <a:ext cx="383760" cy="383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6" name="Text 20"/>
          <p:cNvSpPr/>
          <p:nvPr/>
        </p:nvSpPr>
        <p:spPr>
          <a:xfrm>
            <a:off x="4663440" y="9691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03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57" name="Text 21"/>
          <p:cNvSpPr/>
          <p:nvPr/>
        </p:nvSpPr>
        <p:spPr>
          <a:xfrm>
            <a:off x="5120640" y="1005840"/>
            <a:ext cx="1462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Pass by Reference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58" name="Text 22"/>
          <p:cNvSpPr/>
          <p:nvPr/>
        </p:nvSpPr>
        <p:spPr>
          <a:xfrm>
            <a:off x="4681800" y="1481400"/>
            <a:ext cx="1919880" cy="116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</a:rPr>
              <a:t>Objects travel by reference · Same id() inside fn · Changes persist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59" name="Shape 23"/>
          <p:cNvSpPr/>
          <p:nvPr/>
        </p:nvSpPr>
        <p:spPr>
          <a:xfrm>
            <a:off x="6766560" y="841320"/>
            <a:ext cx="2102760" cy="191988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60" name="Shape 24"/>
          <p:cNvSpPr/>
          <p:nvPr/>
        </p:nvSpPr>
        <p:spPr>
          <a:xfrm>
            <a:off x="6766560" y="841320"/>
            <a:ext cx="2102760" cy="543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1" name="Shape 25"/>
          <p:cNvSpPr/>
          <p:nvPr/>
        </p:nvSpPr>
        <p:spPr>
          <a:xfrm>
            <a:off x="6858000" y="969120"/>
            <a:ext cx="383760" cy="38376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2" name="Text 26"/>
          <p:cNvSpPr/>
          <p:nvPr/>
        </p:nvSpPr>
        <p:spPr>
          <a:xfrm>
            <a:off x="6858000" y="9691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04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63" name="Text 27"/>
          <p:cNvSpPr/>
          <p:nvPr/>
        </p:nvSpPr>
        <p:spPr>
          <a:xfrm>
            <a:off x="7315200" y="1005840"/>
            <a:ext cx="1462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Object Mutability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64" name="Text 28"/>
          <p:cNvSpPr/>
          <p:nvPr/>
        </p:nvSpPr>
        <p:spPr>
          <a:xfrm>
            <a:off x="6876360" y="1481400"/>
            <a:ext cx="1919880" cy="116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</a:rPr>
              <a:t>User-defined = mutable · id() stable after change · Interview answer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65" name="Shape 29"/>
          <p:cNvSpPr/>
          <p:nvPr/>
        </p:nvSpPr>
        <p:spPr>
          <a:xfrm>
            <a:off x="182880" y="2944440"/>
            <a:ext cx="2102760" cy="191988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66" name="Shape 30"/>
          <p:cNvSpPr/>
          <p:nvPr/>
        </p:nvSpPr>
        <p:spPr>
          <a:xfrm>
            <a:off x="182880" y="2944440"/>
            <a:ext cx="2102760" cy="543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7" name="Shape 31"/>
          <p:cNvSpPr/>
          <p:nvPr/>
        </p:nvSpPr>
        <p:spPr>
          <a:xfrm>
            <a:off x="274320" y="3072240"/>
            <a:ext cx="383760" cy="38376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8" name="Text 32"/>
          <p:cNvSpPr/>
          <p:nvPr/>
        </p:nvSpPr>
        <p:spPr>
          <a:xfrm>
            <a:off x="274320" y="307224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05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69" name="Text 33"/>
          <p:cNvSpPr/>
          <p:nvPr/>
        </p:nvSpPr>
        <p:spPr>
          <a:xfrm>
            <a:off x="731520" y="3108960"/>
            <a:ext cx="1462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Encapsulation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70" name="Text 34"/>
          <p:cNvSpPr/>
          <p:nvPr/>
        </p:nvSpPr>
        <p:spPr>
          <a:xfrm>
            <a:off x="292680" y="3584520"/>
            <a:ext cx="1919880" cy="116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</a:rPr>
              <a:t>__ private · Name mangling · Getters/setters · Validation · Python philosophy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71" name="Shape 35"/>
          <p:cNvSpPr/>
          <p:nvPr/>
        </p:nvSpPr>
        <p:spPr>
          <a:xfrm>
            <a:off x="2377440" y="2944440"/>
            <a:ext cx="2102760" cy="191988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72" name="Shape 36"/>
          <p:cNvSpPr/>
          <p:nvPr/>
        </p:nvSpPr>
        <p:spPr>
          <a:xfrm>
            <a:off x="2377440" y="2944440"/>
            <a:ext cx="2102760" cy="543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3" name="Shape 37"/>
          <p:cNvSpPr/>
          <p:nvPr/>
        </p:nvSpPr>
        <p:spPr>
          <a:xfrm>
            <a:off x="2468880" y="3072240"/>
            <a:ext cx="383760" cy="38376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4" name="Text 38"/>
          <p:cNvSpPr/>
          <p:nvPr/>
        </p:nvSpPr>
        <p:spPr>
          <a:xfrm>
            <a:off x="2468880" y="307224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06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75" name="Text 39"/>
          <p:cNvSpPr/>
          <p:nvPr/>
        </p:nvSpPr>
        <p:spPr>
          <a:xfrm>
            <a:off x="2926080" y="3108960"/>
            <a:ext cx="1462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Collections of Objects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76" name="Text 40"/>
          <p:cNvSpPr/>
          <p:nvPr/>
        </p:nvSpPr>
        <p:spPr>
          <a:xfrm>
            <a:off x="2487240" y="3584520"/>
            <a:ext cx="1919880" cy="116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</a:rPr>
              <a:t>Objects in lists · Objects in dicts · Iteration with .items()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77" name="Shape 41"/>
          <p:cNvSpPr/>
          <p:nvPr/>
        </p:nvSpPr>
        <p:spPr>
          <a:xfrm>
            <a:off x="4572000" y="2944440"/>
            <a:ext cx="2102760" cy="191988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78" name="Shape 42"/>
          <p:cNvSpPr/>
          <p:nvPr/>
        </p:nvSpPr>
        <p:spPr>
          <a:xfrm>
            <a:off x="4572000" y="2944440"/>
            <a:ext cx="2102760" cy="5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9" name="Shape 43"/>
          <p:cNvSpPr/>
          <p:nvPr/>
        </p:nvSpPr>
        <p:spPr>
          <a:xfrm>
            <a:off x="4663440" y="3072240"/>
            <a:ext cx="383760" cy="383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0" name="Text 44"/>
          <p:cNvSpPr/>
          <p:nvPr/>
        </p:nvSpPr>
        <p:spPr>
          <a:xfrm>
            <a:off x="4663440" y="307224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07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81" name="Text 45"/>
          <p:cNvSpPr/>
          <p:nvPr/>
        </p:nvSpPr>
        <p:spPr>
          <a:xfrm>
            <a:off x="5120640" y="3108960"/>
            <a:ext cx="1462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Static Variables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82" name="Text 46"/>
          <p:cNvSpPr/>
          <p:nvPr/>
        </p:nvSpPr>
        <p:spPr>
          <a:xfrm>
            <a:off x="4681800" y="3584520"/>
            <a:ext cx="1919880" cy="116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</a:rPr>
              <a:t>Class-level · Shared by all · ClassName.var · Counter pattern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83" name="Shape 47"/>
          <p:cNvSpPr/>
          <p:nvPr/>
        </p:nvSpPr>
        <p:spPr>
          <a:xfrm>
            <a:off x="6766560" y="2944440"/>
            <a:ext cx="2102760" cy="191988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84" name="Shape 48"/>
          <p:cNvSpPr/>
          <p:nvPr/>
        </p:nvSpPr>
        <p:spPr>
          <a:xfrm>
            <a:off x="6766560" y="2944440"/>
            <a:ext cx="2102760" cy="543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5" name="Shape 49"/>
          <p:cNvSpPr/>
          <p:nvPr/>
        </p:nvSpPr>
        <p:spPr>
          <a:xfrm>
            <a:off x="6858000" y="3072240"/>
            <a:ext cx="383760" cy="38376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6" name="Text 50"/>
          <p:cNvSpPr/>
          <p:nvPr/>
        </p:nvSpPr>
        <p:spPr>
          <a:xfrm>
            <a:off x="6858000" y="307224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08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87" name="Text 51"/>
          <p:cNvSpPr/>
          <p:nvPr/>
        </p:nvSpPr>
        <p:spPr>
          <a:xfrm>
            <a:off x="7315200" y="3108960"/>
            <a:ext cx="1462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Static Methods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88" name="Text 52"/>
          <p:cNvSpPr/>
          <p:nvPr/>
        </p:nvSpPr>
        <p:spPr>
          <a:xfrm>
            <a:off x="6876360" y="3584520"/>
            <a:ext cx="1919880" cy="116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</a:rPr>
              <a:t>@staticmethod · No self · Call via ClassName · Utility functions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Shape 0"/>
          <p:cNvSpPr/>
          <p:nvPr/>
        </p:nvSpPr>
        <p:spPr>
          <a:xfrm>
            <a:off x="30240" y="-449640"/>
            <a:ext cx="9143640" cy="5143320"/>
          </a:xfrm>
          <a:prstGeom prst="rect">
            <a:avLst/>
          </a:prstGeom>
          <a:solidFill>
            <a:srgbClr val="0c1526"/>
          </a:solidFill>
          <a:ln w="12700">
            <a:solidFill>
              <a:srgbClr val="0c152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0" name="Shape 1"/>
          <p:cNvSpPr/>
          <p:nvPr/>
        </p:nvSpPr>
        <p:spPr>
          <a:xfrm>
            <a:off x="0" y="0"/>
            <a:ext cx="63720" cy="51433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1" name="Text 2"/>
          <p:cNvSpPr/>
          <p:nvPr/>
        </p:nvSpPr>
        <p:spPr>
          <a:xfrm>
            <a:off x="914400" y="36000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497" strike="noStrike">
                <a:solidFill>
                  <a:srgbClr val="34d399"/>
                </a:solidFill>
                <a:latin typeface="Calibri"/>
              </a:rPr>
              <a:t>NEXT SESSION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92" name="Text 3"/>
          <p:cNvSpPr/>
          <p:nvPr/>
        </p:nvSpPr>
        <p:spPr>
          <a:xfrm rot="21587400">
            <a:off x="910800" y="780840"/>
            <a:ext cx="73148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600" spc="-1" strike="noStrike">
                <a:solidFill>
                  <a:srgbClr val="ffffff"/>
                </a:solidFill>
                <a:latin typeface="Calibri"/>
              </a:rPr>
              <a:t>Remaining OOP Principles</a:t>
            </a:r>
            <a:endParaRPr b="0" lang="en-IN" sz="4600" spc="-1" strike="noStrike">
              <a:latin typeface="Arial"/>
            </a:endParaRPr>
          </a:p>
        </p:txBody>
      </p:sp>
      <p:sp>
        <p:nvSpPr>
          <p:cNvPr id="293" name="Shape 4"/>
          <p:cNvSpPr/>
          <p:nvPr/>
        </p:nvSpPr>
        <p:spPr>
          <a:xfrm>
            <a:off x="900000" y="2114640"/>
            <a:ext cx="7314840" cy="453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4" name="Text 5"/>
          <p:cNvSpPr/>
          <p:nvPr/>
        </p:nvSpPr>
        <p:spPr>
          <a:xfrm>
            <a:off x="914400" y="2240280"/>
            <a:ext cx="319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38bdf8"/>
                </a:solidFill>
                <a:latin typeface="Calibri"/>
              </a:rPr>
              <a:t>→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95" name="Text 6"/>
          <p:cNvSpPr/>
          <p:nvPr/>
        </p:nvSpPr>
        <p:spPr>
          <a:xfrm>
            <a:off x="1298520" y="2240280"/>
            <a:ext cx="2011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</a:rPr>
              <a:t>Inheritance</a:t>
            </a:r>
            <a:endParaRPr b="0" lang="en-IN" sz="1700" spc="-1" strike="noStrike">
              <a:latin typeface="Arial"/>
            </a:endParaRPr>
          </a:p>
        </p:txBody>
      </p:sp>
      <p:sp>
        <p:nvSpPr>
          <p:cNvPr id="296" name="Text 7"/>
          <p:cNvSpPr/>
          <p:nvPr/>
        </p:nvSpPr>
        <p:spPr>
          <a:xfrm>
            <a:off x="3474720" y="2277000"/>
            <a:ext cx="5028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94a3b8"/>
                </a:solidFill>
                <a:latin typeface="Calibri"/>
              </a:rPr>
              <a:t>Derive new classes from existing ones to share code and extend behaviour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97" name="Text 8"/>
          <p:cNvSpPr/>
          <p:nvPr/>
        </p:nvSpPr>
        <p:spPr>
          <a:xfrm>
            <a:off x="914400" y="3108960"/>
            <a:ext cx="319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38bdf8"/>
                </a:solidFill>
                <a:latin typeface="Calibri"/>
              </a:rPr>
              <a:t>→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98" name="Text 9"/>
          <p:cNvSpPr/>
          <p:nvPr/>
        </p:nvSpPr>
        <p:spPr>
          <a:xfrm>
            <a:off x="1298520" y="3108960"/>
            <a:ext cx="2011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</a:rPr>
              <a:t>Polymorphism</a:t>
            </a:r>
            <a:endParaRPr b="0" lang="en-IN" sz="1700" spc="-1" strike="noStrike">
              <a:latin typeface="Arial"/>
            </a:endParaRPr>
          </a:p>
        </p:txBody>
      </p:sp>
      <p:sp>
        <p:nvSpPr>
          <p:cNvPr id="299" name="Text 10"/>
          <p:cNvSpPr/>
          <p:nvPr/>
        </p:nvSpPr>
        <p:spPr>
          <a:xfrm>
            <a:off x="3474720" y="3145680"/>
            <a:ext cx="5028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94a3b8"/>
                </a:solidFill>
                <a:latin typeface="Calibri"/>
              </a:rPr>
              <a:t>One interface, many implementations — method overriding and duck typing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00" name="Text 11"/>
          <p:cNvSpPr/>
          <p:nvPr/>
        </p:nvSpPr>
        <p:spPr>
          <a:xfrm>
            <a:off x="914400" y="3977640"/>
            <a:ext cx="319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38bdf8"/>
                </a:solidFill>
                <a:latin typeface="Calibri"/>
              </a:rPr>
              <a:t>→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301" name="Text 12"/>
          <p:cNvSpPr/>
          <p:nvPr/>
        </p:nvSpPr>
        <p:spPr>
          <a:xfrm>
            <a:off x="1298520" y="3977640"/>
            <a:ext cx="2011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</a:rPr>
              <a:t>Abstraction</a:t>
            </a:r>
            <a:endParaRPr b="0" lang="en-IN" sz="1700" spc="-1" strike="noStrike">
              <a:latin typeface="Arial"/>
            </a:endParaRPr>
          </a:p>
        </p:txBody>
      </p:sp>
      <p:sp>
        <p:nvSpPr>
          <p:cNvPr id="302" name="Text 13"/>
          <p:cNvSpPr/>
          <p:nvPr/>
        </p:nvSpPr>
        <p:spPr>
          <a:xfrm>
            <a:off x="3474720" y="4014360"/>
            <a:ext cx="5028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94a3b8"/>
                </a:solidFill>
                <a:latin typeface="Calibri"/>
              </a:rPr>
              <a:t>Hide implementation details; expose only what's necessary via abstract classes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03" name="Text 14"/>
          <p:cNvSpPr/>
          <p:nvPr/>
        </p:nvSpPr>
        <p:spPr>
          <a:xfrm>
            <a:off x="914400" y="4709160"/>
            <a:ext cx="777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</a:rPr>
              <a:t>Python OOP  ·  Session 8 Part 2  ·  All concepts covered · Variables renamed for copyright compliance</a:t>
            </a:r>
            <a:endParaRPr b="0" lang="en-IN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2026-02-21T17:54:13Z</dcterms:created>
  <dc:creator>PptxGenJS</dc:creator>
  <dc:description/>
  <dc:language>en-IN</dc:language>
  <cp:lastModifiedBy/>
  <dcterms:modified xsi:type="dcterms:W3CDTF">2026-03-03T09:23:17Z</dcterms:modified>
  <cp:revision>4</cp:revision>
  <dc:subject>PptxGenJS Presentation</dc:subject>
  <dc:title>Python OOP – Part 2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14</vt:i4>
  </property>
  <property fmtid="{D5CDD505-2E9C-101B-9397-08002B2CF9AE}" pid="3" name="PresentationFormat">
    <vt:lpwstr>On-screen Show (16:9)</vt:lpwstr>
  </property>
  <property fmtid="{D5CDD505-2E9C-101B-9397-08002B2CF9AE}" pid="4" name="Slides">
    <vt:i4>14</vt:i4>
  </property>
</Properties>
</file>