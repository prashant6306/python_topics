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6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1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7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13.xml.rels" ContentType="application/vnd.openxmlformats-package.relationships+xml"/>
  <Override PartName="/ppt/slides/_rels/slide16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9.xml.rels" ContentType="application/vnd.openxmlformats-package.relationships+xml"/>
  <Override PartName="/ppt/slides/_rels/slide14.xml.rels" ContentType="application/vnd.openxmlformats-package.relationships+xml"/>
  <Override PartName="/ppt/slides/_rels/slide11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_rels/slide6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4400" spc="-1" strike="noStrike">
                <a:latin typeface="Arial"/>
              </a:rPr>
              <a:t>Click to move the slide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2000" spc="-1" strike="noStrike">
                <a:latin typeface="Arial"/>
              </a:rPr>
              <a:t>Click to edit the notes format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1400" spc="-1" strike="noStrike">
                <a:latin typeface="Times New Roman"/>
              </a:rPr>
              <a:t>&lt;header&gt;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6283BCEF-C42C-4EA0-9072-FCCCD1E52D9A}" type="slidenum">
              <a:rPr b="0" lang="en-IN" sz="1400" spc="-1" strike="noStrike">
                <a:latin typeface="Times New Roman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41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8C96B99-6513-4C5E-82E6-C8A514494FBB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44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98DA754-D29F-492B-B38E-1E5B75F83E0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47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B69E9E8-23AB-4E76-9CAC-E79B811266A6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50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9C5E849-58FC-49B4-B27C-817E2F661576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53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A943302-A596-49C5-A261-71843AF2767A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56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86DD15D-0E5D-4734-B9C1-C5CE3225409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59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6BA9371-E69F-4AC4-AD6B-369CA2A5E4B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62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3276AFE-C519-4668-8728-24E2C5998381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65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FE2B086-2E9C-4CCF-A9BD-521B6A555440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68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DB64617-CAD2-44F7-89F0-6BF71067AB00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71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9A23FF5-14DA-4ECB-89C4-A7561778354A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74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7379923-E244-4CF8-BA07-D373DE7ACFB5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77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4A42AA7-8474-4451-BB56-573B16DF5186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80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E8BAF46-79CF-47D7-A6C1-DA36B05A140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83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3168F4A-EF0D-4DBD-AE9C-5CD3F0172860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86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F516738-F4AE-4A27-A08A-E412477D3229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4400" spc="-1" strike="noStrike">
                <a:latin typeface="Arial"/>
              </a:rPr>
              <a:t>Click to edit the title text format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Click to edit the outline text format</a:t>
            </a:r>
            <a:endParaRPr b="0" lang="en-IN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latin typeface="Arial"/>
              </a:rPr>
              <a:t>Second Outline Level</a:t>
            </a:r>
            <a:endParaRPr b="0" lang="en-IN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latin typeface="Arial"/>
              </a:rPr>
              <a:t>Third Outline Level</a:t>
            </a:r>
            <a:endParaRPr b="0" lang="en-IN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latin typeface="Arial"/>
              </a:rPr>
              <a:t>Fourth Outline Level</a:t>
            </a:r>
            <a:endParaRPr b="0" lang="en-IN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Fifth Outline Level</a:t>
            </a:r>
            <a:endParaRPr b="0" lang="en-IN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Sixth Outline Level</a:t>
            </a:r>
            <a:endParaRPr b="0" lang="en-IN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Seventh Outline Level</a:t>
            </a:r>
            <a:endParaRPr b="0" lang="en-IN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0"/>
          <p:cNvSpPr/>
          <p:nvPr/>
        </p:nvSpPr>
        <p:spPr>
          <a:xfrm>
            <a:off x="0" y="0"/>
            <a:ext cx="9143280" cy="514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Shape 1"/>
          <p:cNvSpPr/>
          <p:nvPr/>
        </p:nvSpPr>
        <p:spPr>
          <a:xfrm>
            <a:off x="6858000" y="-1097280"/>
            <a:ext cx="3656880" cy="3656880"/>
          </a:xfrm>
          <a:prstGeom prst="ellipse">
            <a:avLst/>
          </a:prstGeom>
          <a:solidFill>
            <a:srgbClr val="0077b6">
              <a:alpha val="30000"/>
            </a:srgbClr>
          </a:solidFill>
          <a:ln w="12700">
            <a:solidFill>
              <a:srgbClr val="0077b6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" name="Shape 2"/>
          <p:cNvSpPr/>
          <p:nvPr/>
        </p:nvSpPr>
        <p:spPr>
          <a:xfrm>
            <a:off x="7498080" y="-457200"/>
            <a:ext cx="2285280" cy="2285280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Shape 3"/>
          <p:cNvSpPr/>
          <p:nvPr/>
        </p:nvSpPr>
        <p:spPr>
          <a:xfrm>
            <a:off x="-914400" y="3657600"/>
            <a:ext cx="2742480" cy="2742480"/>
          </a:xfrm>
          <a:prstGeom prst="ellipse">
            <a:avLst/>
          </a:prstGeom>
          <a:solidFill>
            <a:srgbClr val="0077b6">
              <a:alpha val="25000"/>
            </a:srgbClr>
          </a:solidFill>
          <a:ln w="12700">
            <a:solidFill>
              <a:srgbClr val="0077b6">
                <a:alpha val="2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8" name="Shape 5"/>
          <p:cNvSpPr/>
          <p:nvPr/>
        </p:nvSpPr>
        <p:spPr>
          <a:xfrm>
            <a:off x="640080" y="1097280"/>
            <a:ext cx="2010960" cy="346680"/>
          </a:xfrm>
          <a:prstGeom prst="rect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9" name="Text 6"/>
          <p:cNvSpPr/>
          <p:nvPr/>
        </p:nvSpPr>
        <p:spPr>
          <a:xfrm>
            <a:off x="640080" y="1097280"/>
            <a:ext cx="20109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Calibri"/>
                <a:ea typeface="DejaVu Sans"/>
              </a:rPr>
              <a:t>COMPREHENSIVE GUIDE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50" name="Text 7"/>
          <p:cNvSpPr/>
          <p:nvPr/>
        </p:nvSpPr>
        <p:spPr>
          <a:xfrm>
            <a:off x="640080" y="1554480"/>
            <a:ext cx="731448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5400" spc="-1" strike="noStrike">
                <a:solidFill>
                  <a:srgbClr val="ffffff"/>
                </a:solidFill>
                <a:latin typeface="Calibri"/>
                <a:ea typeface="Calibri"/>
              </a:rPr>
              <a:t>LangChain</a:t>
            </a:r>
            <a:endParaRPr b="0" lang="en-IN" sz="5400" spc="-1" strike="noStrike">
              <a:latin typeface="Arial"/>
            </a:endParaRPr>
          </a:p>
        </p:txBody>
      </p:sp>
      <p:sp>
        <p:nvSpPr>
          <p:cNvPr id="51" name="Text 8"/>
          <p:cNvSpPr/>
          <p:nvPr/>
        </p:nvSpPr>
        <p:spPr>
          <a:xfrm>
            <a:off x="640080" y="2331720"/>
            <a:ext cx="731448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5400" spc="-1" strike="noStrike">
                <a:solidFill>
                  <a:srgbClr val="00b4d8"/>
                </a:solidFill>
                <a:latin typeface="Calibri"/>
                <a:ea typeface="Calibri"/>
              </a:rPr>
              <a:t>Models</a:t>
            </a:r>
            <a:endParaRPr b="0" lang="en-IN" sz="5400" spc="-1" strike="noStrike">
              <a:latin typeface="Arial"/>
            </a:endParaRPr>
          </a:p>
        </p:txBody>
      </p:sp>
      <p:sp>
        <p:nvSpPr>
          <p:cNvPr id="52" name="Text 9"/>
          <p:cNvSpPr/>
          <p:nvPr/>
        </p:nvSpPr>
        <p:spPr>
          <a:xfrm>
            <a:off x="640080" y="3200400"/>
            <a:ext cx="7314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e8f4f8"/>
                </a:solidFill>
                <a:latin typeface="Calibri"/>
                <a:ea typeface="Calibri"/>
              </a:rPr>
              <a:t>Language &amp; Embedding Models for AI Applications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53" name="Shape 10"/>
          <p:cNvSpPr/>
          <p:nvPr/>
        </p:nvSpPr>
        <p:spPr>
          <a:xfrm>
            <a:off x="640080" y="3931920"/>
            <a:ext cx="3199680" cy="5479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4" name="Text 11"/>
          <p:cNvSpPr/>
          <p:nvPr/>
        </p:nvSpPr>
        <p:spPr>
          <a:xfrm>
            <a:off x="640080" y="3931920"/>
            <a:ext cx="31996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DejaVu Sans"/>
              </a:rPr>
              <a:t>PART 1  |  Understanding Models &amp; Setup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77b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0"/>
          <p:cNvSpPr/>
          <p:nvPr/>
        </p:nvSpPr>
        <p:spPr>
          <a:xfrm>
            <a:off x="0" y="0"/>
            <a:ext cx="9143280" cy="51429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6" name="Shape 1"/>
          <p:cNvSpPr/>
          <p:nvPr/>
        </p:nvSpPr>
        <p:spPr>
          <a:xfrm>
            <a:off x="5486400" y="914400"/>
            <a:ext cx="4571280" cy="4571280"/>
          </a:xfrm>
          <a:prstGeom prst="ellipse">
            <a:avLst/>
          </a:prstGeom>
          <a:solidFill>
            <a:srgbClr val="0a1628">
              <a:alpha val="20000"/>
            </a:srgbClr>
          </a:solidFill>
          <a:ln w="12700">
            <a:solidFill>
              <a:srgbClr val="0a1628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Shape 2"/>
          <p:cNvSpPr/>
          <p:nvPr/>
        </p:nvSpPr>
        <p:spPr>
          <a:xfrm>
            <a:off x="640080" y="1645920"/>
            <a:ext cx="109080" cy="1645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8" name="Text 3"/>
          <p:cNvSpPr/>
          <p:nvPr/>
        </p:nvSpPr>
        <p:spPr>
          <a:xfrm>
            <a:off x="914400" y="1554480"/>
            <a:ext cx="64000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e8f4f8"/>
                </a:solidFill>
                <a:latin typeface="Calibri"/>
                <a:ea typeface="Calibri"/>
              </a:rPr>
              <a:t>Part 1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59" name="Text 4"/>
          <p:cNvSpPr/>
          <p:nvPr/>
        </p:nvSpPr>
        <p:spPr>
          <a:xfrm>
            <a:off x="914400" y="2011680"/>
            <a:ext cx="7314480" cy="13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5200" spc="-1" strike="noStrike">
                <a:solidFill>
                  <a:srgbClr val="ffffff"/>
                </a:solidFill>
                <a:latin typeface="Calibri"/>
                <a:ea typeface="Calibri"/>
              </a:rPr>
              <a:t>Understanding</a:t>
            </a:r>
            <a:endParaRPr b="0" lang="en-IN" sz="5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5200" spc="-1" strike="noStrike">
                <a:solidFill>
                  <a:srgbClr val="ffffff"/>
                </a:solidFill>
                <a:latin typeface="Calibri"/>
                <a:ea typeface="Calibri"/>
              </a:rPr>
              <a:t>Models</a:t>
            </a:r>
            <a:endParaRPr b="0" lang="en-IN" sz="5200" spc="-1" strike="noStrike">
              <a:latin typeface="Arial"/>
            </a:endParaRPr>
          </a:p>
        </p:txBody>
      </p:sp>
      <p:sp>
        <p:nvSpPr>
          <p:cNvPr id="60" name="Text 5"/>
          <p:cNvSpPr/>
          <p:nvPr/>
        </p:nvSpPr>
        <p:spPr>
          <a:xfrm>
            <a:off x="914400" y="3657600"/>
            <a:ext cx="7314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e8f4f8"/>
                </a:solidFill>
                <a:latin typeface="Calibri"/>
                <a:ea typeface="Calibri"/>
              </a:rPr>
              <a:t>What models are, categories, and how LangChain unifies them</a:t>
            </a:r>
            <a:endParaRPr b="0" lang="en-IN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0"/>
          <p:cNvSpPr/>
          <p:nvPr/>
        </p:nvSpPr>
        <p:spPr>
          <a:xfrm>
            <a:off x="0" y="0"/>
            <a:ext cx="163800" cy="51429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2" name="Shape 1"/>
          <p:cNvSpPr/>
          <p:nvPr/>
        </p:nvSpPr>
        <p:spPr>
          <a:xfrm>
            <a:off x="0" y="0"/>
            <a:ext cx="9143280" cy="10051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3" name="Text 2"/>
          <p:cNvSpPr/>
          <p:nvPr/>
        </p:nvSpPr>
        <p:spPr>
          <a:xfrm>
            <a:off x="365760" y="137160"/>
            <a:ext cx="82288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What are Models in LangChain?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64" name="Shape 3"/>
          <p:cNvSpPr/>
          <p:nvPr/>
        </p:nvSpPr>
        <p:spPr>
          <a:xfrm>
            <a:off x="320040" y="1234440"/>
            <a:ext cx="4159800" cy="1462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5" name="Shape 4"/>
          <p:cNvSpPr/>
          <p:nvPr/>
        </p:nvSpPr>
        <p:spPr>
          <a:xfrm>
            <a:off x="320040" y="1234440"/>
            <a:ext cx="109080" cy="14623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6" name="Text 5"/>
          <p:cNvSpPr/>
          <p:nvPr/>
        </p:nvSpPr>
        <p:spPr>
          <a:xfrm>
            <a:off x="548640" y="1435680"/>
            <a:ext cx="3748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1a2e3d"/>
                </a:solidFill>
                <a:latin typeface="Calibri"/>
                <a:ea typeface="Calibri"/>
              </a:rPr>
              <a:t>Unified Interface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67" name="Text 6"/>
          <p:cNvSpPr/>
          <p:nvPr/>
        </p:nvSpPr>
        <p:spPr>
          <a:xfrm>
            <a:off x="548640" y="1801440"/>
            <a:ext cx="37483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c4a5c"/>
                </a:solidFill>
                <a:latin typeface="Calibri"/>
                <a:ea typeface="Calibri"/>
              </a:rPr>
              <a:t>Single consistent API across all AI providers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68" name="Shape 7"/>
          <p:cNvSpPr/>
          <p:nvPr/>
        </p:nvSpPr>
        <p:spPr>
          <a:xfrm>
            <a:off x="4709160" y="1234440"/>
            <a:ext cx="4159800" cy="1462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9" name="Shape 8"/>
          <p:cNvSpPr/>
          <p:nvPr/>
        </p:nvSpPr>
        <p:spPr>
          <a:xfrm>
            <a:off x="4709160" y="1234440"/>
            <a:ext cx="109080" cy="1462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0" name="Text 9"/>
          <p:cNvSpPr/>
          <p:nvPr/>
        </p:nvSpPr>
        <p:spPr>
          <a:xfrm>
            <a:off x="4937760" y="1435680"/>
            <a:ext cx="3748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1a2e3d"/>
                </a:solidFill>
                <a:latin typeface="Calibri"/>
                <a:ea typeface="Calibri"/>
              </a:rPr>
              <a:t>Solves Inconsistency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71" name="Text 10"/>
          <p:cNvSpPr/>
          <p:nvPr/>
        </p:nvSpPr>
        <p:spPr>
          <a:xfrm>
            <a:off x="4937760" y="1801440"/>
            <a:ext cx="37483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c4a5c"/>
                </a:solidFill>
                <a:latin typeface="Calibri"/>
                <a:ea typeface="Calibri"/>
              </a:rPr>
              <a:t>Normalizes differences between provider APIs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72" name="Shape 11"/>
          <p:cNvSpPr/>
          <p:nvPr/>
        </p:nvSpPr>
        <p:spPr>
          <a:xfrm>
            <a:off x="320040" y="2926080"/>
            <a:ext cx="4159800" cy="1462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3" name="Shape 12"/>
          <p:cNvSpPr/>
          <p:nvPr/>
        </p:nvSpPr>
        <p:spPr>
          <a:xfrm>
            <a:off x="320040" y="2926080"/>
            <a:ext cx="109080" cy="146232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4" name="Text 13"/>
          <p:cNvSpPr/>
          <p:nvPr/>
        </p:nvSpPr>
        <p:spPr>
          <a:xfrm>
            <a:off x="548640" y="3127320"/>
            <a:ext cx="3748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1a2e3d"/>
                </a:solidFill>
                <a:latin typeface="Calibri"/>
                <a:ea typeface="Calibri"/>
              </a:rPr>
              <a:t>Two Categories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75" name="Text 14"/>
          <p:cNvSpPr/>
          <p:nvPr/>
        </p:nvSpPr>
        <p:spPr>
          <a:xfrm>
            <a:off x="548640" y="3493080"/>
            <a:ext cx="37483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c4a5c"/>
                </a:solidFill>
                <a:latin typeface="Calibri"/>
                <a:ea typeface="Calibri"/>
              </a:rPr>
              <a:t>Language Models (text) + Embedding Models (vectors)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76" name="Shape 15"/>
          <p:cNvSpPr/>
          <p:nvPr/>
        </p:nvSpPr>
        <p:spPr>
          <a:xfrm>
            <a:off x="4709160" y="2926080"/>
            <a:ext cx="4159800" cy="1462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7" name="Shape 16"/>
          <p:cNvSpPr/>
          <p:nvPr/>
        </p:nvSpPr>
        <p:spPr>
          <a:xfrm>
            <a:off x="4709160" y="2926080"/>
            <a:ext cx="109080" cy="14623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8" name="Text 17"/>
          <p:cNvSpPr/>
          <p:nvPr/>
        </p:nvSpPr>
        <p:spPr>
          <a:xfrm>
            <a:off x="4937760" y="3127320"/>
            <a:ext cx="3748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1a2e3d"/>
                </a:solidFill>
                <a:latin typeface="Calibri"/>
                <a:ea typeface="Calibri"/>
              </a:rPr>
              <a:t>Easy Switching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79" name="Text 18"/>
          <p:cNvSpPr/>
          <p:nvPr/>
        </p:nvSpPr>
        <p:spPr>
          <a:xfrm>
            <a:off x="4937760" y="3493080"/>
            <a:ext cx="37483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c4a5c"/>
                </a:solidFill>
                <a:latin typeface="Calibri"/>
                <a:ea typeface="Calibri"/>
              </a:rPr>
              <a:t>Change providers with minimal code changes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hape 0"/>
          <p:cNvSpPr/>
          <p:nvPr/>
        </p:nvSpPr>
        <p:spPr>
          <a:xfrm>
            <a:off x="0" y="0"/>
            <a:ext cx="163800" cy="514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1" name="Shape 1"/>
          <p:cNvSpPr/>
          <p:nvPr/>
        </p:nvSpPr>
        <p:spPr>
          <a:xfrm>
            <a:off x="0" y="0"/>
            <a:ext cx="9143280" cy="1005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2" name="Text 2"/>
          <p:cNvSpPr/>
          <p:nvPr/>
        </p:nvSpPr>
        <p:spPr>
          <a:xfrm>
            <a:off x="365760" y="137160"/>
            <a:ext cx="82288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Two Main Model Categories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83" name="Shape 3"/>
          <p:cNvSpPr/>
          <p:nvPr/>
        </p:nvSpPr>
        <p:spPr>
          <a:xfrm>
            <a:off x="320040" y="1143000"/>
            <a:ext cx="4022640" cy="34740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4" name="Text 4"/>
          <p:cNvSpPr/>
          <p:nvPr/>
        </p:nvSpPr>
        <p:spPr>
          <a:xfrm>
            <a:off x="320040" y="1143000"/>
            <a:ext cx="6393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DejaVu Sans"/>
              </a:rPr>
              <a:t>1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85" name="Text 5"/>
          <p:cNvSpPr/>
          <p:nvPr/>
        </p:nvSpPr>
        <p:spPr>
          <a:xfrm>
            <a:off x="320040" y="1783080"/>
            <a:ext cx="402264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  <a:ea typeface="Calibri"/>
              </a:rPr>
              <a:t>Language Models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86" name="Shape 6"/>
          <p:cNvSpPr/>
          <p:nvPr/>
        </p:nvSpPr>
        <p:spPr>
          <a:xfrm>
            <a:off x="548640" y="2331720"/>
            <a:ext cx="3565440" cy="36000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7" name="Text 7"/>
          <p:cNvSpPr/>
          <p:nvPr/>
        </p:nvSpPr>
        <p:spPr>
          <a:xfrm>
            <a:off x="548640" y="2468880"/>
            <a:ext cx="3565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Input: </a:t>
            </a:r>
            <a:r>
              <a:rPr b="0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Text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Output: </a:t>
            </a:r>
            <a:r>
              <a:rPr b="0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Text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300" spc="-1" strike="noStrike">
              <a:latin typeface="Arial"/>
            </a:endParaRPr>
          </a:p>
        </p:txBody>
      </p:sp>
      <p:sp>
        <p:nvSpPr>
          <p:cNvPr id="88" name="Text 8"/>
          <p:cNvSpPr/>
          <p:nvPr/>
        </p:nvSpPr>
        <p:spPr>
          <a:xfrm>
            <a:off x="548640" y="3154680"/>
            <a:ext cx="35654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e8f4f8"/>
                </a:solidFill>
                <a:latin typeface="Calibri"/>
                <a:ea typeface="Calibri"/>
              </a:rPr>
              <a:t>Subtypes: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89" name="Shape 9"/>
          <p:cNvSpPr/>
          <p:nvPr/>
        </p:nvSpPr>
        <p:spPr>
          <a:xfrm>
            <a:off x="548640" y="3520440"/>
            <a:ext cx="3565440" cy="410760"/>
          </a:xfrm>
          <a:prstGeom prst="rect">
            <a:avLst/>
          </a:prstGeom>
          <a:solidFill>
            <a:srgbClr val="0a1628">
              <a:alpha val="40000"/>
            </a:srgbClr>
          </a:solidFill>
          <a:ln w="12700">
            <a:solidFill>
              <a:srgbClr val="ffffff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0" name="Text 10"/>
          <p:cNvSpPr/>
          <p:nvPr/>
        </p:nvSpPr>
        <p:spPr>
          <a:xfrm>
            <a:off x="548640" y="3520440"/>
            <a:ext cx="356544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e8f4f8"/>
                </a:solidFill>
                <a:latin typeface="Calibri"/>
                <a:ea typeface="DejaVu Sans"/>
              </a:rPr>
              <a:t>LLMs (Legacy)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91" name="Shape 11"/>
          <p:cNvSpPr/>
          <p:nvPr/>
        </p:nvSpPr>
        <p:spPr>
          <a:xfrm>
            <a:off x="548640" y="4005000"/>
            <a:ext cx="3565440" cy="410760"/>
          </a:xfrm>
          <a:prstGeom prst="rect">
            <a:avLst/>
          </a:prstGeom>
          <a:solidFill>
            <a:srgbClr val="00b4d8">
              <a:alpha val="70000"/>
            </a:srgbClr>
          </a:solidFill>
          <a:ln w="12700">
            <a:solidFill>
              <a:srgbClr val="ffffff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2" name="Text 12"/>
          <p:cNvSpPr/>
          <p:nvPr/>
        </p:nvSpPr>
        <p:spPr>
          <a:xfrm>
            <a:off x="548640" y="4005000"/>
            <a:ext cx="356544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DejaVu Sans"/>
              </a:rPr>
              <a:t>Chat Models (Modern ✓)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93" name="Shape 13"/>
          <p:cNvSpPr/>
          <p:nvPr/>
        </p:nvSpPr>
        <p:spPr>
          <a:xfrm>
            <a:off x="4800600" y="1143000"/>
            <a:ext cx="4022640" cy="3474000"/>
          </a:xfrm>
          <a:prstGeom prst="rect">
            <a:avLst/>
          </a:prstGeom>
          <a:solidFill>
            <a:srgbClr val="2c4a5c"/>
          </a:solidFill>
          <a:ln w="12700">
            <a:solidFill>
              <a:srgbClr val="2c4a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4" name="Text 14"/>
          <p:cNvSpPr/>
          <p:nvPr/>
        </p:nvSpPr>
        <p:spPr>
          <a:xfrm>
            <a:off x="4800600" y="1143000"/>
            <a:ext cx="6393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DejaVu Sans"/>
              </a:rPr>
              <a:t>2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95" name="Text 15"/>
          <p:cNvSpPr/>
          <p:nvPr/>
        </p:nvSpPr>
        <p:spPr>
          <a:xfrm>
            <a:off x="4800600" y="1783080"/>
            <a:ext cx="402264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  <a:ea typeface="Calibri"/>
              </a:rPr>
              <a:t>Embedding Models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96" name="Shape 16"/>
          <p:cNvSpPr/>
          <p:nvPr/>
        </p:nvSpPr>
        <p:spPr>
          <a:xfrm>
            <a:off x="5029200" y="2331720"/>
            <a:ext cx="3565440" cy="36000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7" name="Text 17"/>
          <p:cNvSpPr/>
          <p:nvPr/>
        </p:nvSpPr>
        <p:spPr>
          <a:xfrm>
            <a:off x="5029200" y="2468880"/>
            <a:ext cx="3565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Input: </a:t>
            </a:r>
            <a:r>
              <a:rPr b="0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Text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Output: </a:t>
            </a:r>
            <a:r>
              <a:rPr b="0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Numerical Vectors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98" name="Text 18"/>
          <p:cNvSpPr/>
          <p:nvPr/>
        </p:nvSpPr>
        <p:spPr>
          <a:xfrm>
            <a:off x="5029200" y="3154680"/>
            <a:ext cx="3565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e8f4f8"/>
                </a:solidFill>
                <a:latin typeface="Calibri"/>
                <a:ea typeface="Calibri"/>
              </a:rPr>
              <a:t>Captures semantic meaning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e8f4f8"/>
                </a:solidFill>
                <a:latin typeface="Calibri"/>
                <a:ea typeface="Calibri"/>
              </a:rPr>
              <a:t>for similarity search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99" name="Shape 19"/>
          <p:cNvSpPr/>
          <p:nvPr/>
        </p:nvSpPr>
        <p:spPr>
          <a:xfrm>
            <a:off x="5029200" y="3840480"/>
            <a:ext cx="3565440" cy="547920"/>
          </a:xfrm>
          <a:prstGeom prst="rect">
            <a:avLst/>
          </a:prstGeom>
          <a:solidFill>
            <a:srgbClr val="00b4d8">
              <a:alpha val="60000"/>
            </a:srgbClr>
          </a:solidFill>
          <a:ln w="12700">
            <a:solidFill>
              <a:srgbClr val="ffffff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0" name="Text 20"/>
          <p:cNvSpPr/>
          <p:nvPr/>
        </p:nvSpPr>
        <p:spPr>
          <a:xfrm>
            <a:off x="5029200" y="3840480"/>
            <a:ext cx="35654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DejaVu Sans"/>
              </a:rPr>
              <a:t>Used in RAG &amp; Semantic Search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0"/>
          <p:cNvSpPr/>
          <p:nvPr/>
        </p:nvSpPr>
        <p:spPr>
          <a:xfrm>
            <a:off x="0" y="0"/>
            <a:ext cx="163800" cy="51429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2" name="Shape 1"/>
          <p:cNvSpPr/>
          <p:nvPr/>
        </p:nvSpPr>
        <p:spPr>
          <a:xfrm>
            <a:off x="0" y="0"/>
            <a:ext cx="9143280" cy="10051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3" name="Text 2"/>
          <p:cNvSpPr/>
          <p:nvPr/>
        </p:nvSpPr>
        <p:spPr>
          <a:xfrm>
            <a:off x="365760" y="137160"/>
            <a:ext cx="82288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Language Models Overview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104" name="Shape 3"/>
          <p:cNvSpPr/>
          <p:nvPr/>
        </p:nvSpPr>
        <p:spPr>
          <a:xfrm>
            <a:off x="457200" y="1188720"/>
            <a:ext cx="2285280" cy="10051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5" name="Text 4"/>
          <p:cNvSpPr/>
          <p:nvPr/>
        </p:nvSpPr>
        <p:spPr>
          <a:xfrm>
            <a:off x="457200" y="1188720"/>
            <a:ext cx="228528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DejaVu Sans"/>
              </a:rPr>
              <a:t>TEXT INPUT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06" name="Shape 5"/>
          <p:cNvSpPr/>
          <p:nvPr/>
        </p:nvSpPr>
        <p:spPr>
          <a:xfrm>
            <a:off x="2834640" y="1627560"/>
            <a:ext cx="1188000" cy="127440"/>
          </a:xfrm>
          <a:prstGeom prst="rect">
            <a:avLst/>
          </a:prstGeom>
          <a:solidFill>
            <a:srgbClr val="5f8099"/>
          </a:solidFill>
          <a:ln w="12700">
            <a:solidFill>
              <a:srgbClr val="5f809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7" name="Text 6"/>
          <p:cNvSpPr/>
          <p:nvPr/>
        </p:nvSpPr>
        <p:spPr>
          <a:xfrm>
            <a:off x="3840480" y="1417320"/>
            <a:ext cx="3650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5f8099"/>
                </a:solidFill>
                <a:latin typeface="Calibri"/>
                <a:ea typeface="DejaVu Sans"/>
              </a:rPr>
              <a:t>→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108" name="Shape 7"/>
          <p:cNvSpPr/>
          <p:nvPr/>
        </p:nvSpPr>
        <p:spPr>
          <a:xfrm>
            <a:off x="4114800" y="1188720"/>
            <a:ext cx="2285280" cy="1005120"/>
          </a:xfrm>
          <a:prstGeom prst="rect">
            <a:avLst/>
          </a:prstGeom>
          <a:solidFill>
            <a:srgbClr val="0a1628"/>
          </a:solidFill>
          <a:ln w="254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9" name="Text 8"/>
          <p:cNvSpPr/>
          <p:nvPr/>
        </p:nvSpPr>
        <p:spPr>
          <a:xfrm>
            <a:off x="4114800" y="1188720"/>
            <a:ext cx="228528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0b4d8"/>
                </a:solidFill>
                <a:latin typeface="Calibri"/>
                <a:ea typeface="DejaVu Sans"/>
              </a:rPr>
              <a:t>LANGUAGE</a:t>
            </a:r>
            <a:endParaRPr b="0" lang="en-IN" sz="13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0b4d8"/>
                </a:solidFill>
                <a:latin typeface="Calibri"/>
                <a:ea typeface="DejaVu Sans"/>
              </a:rPr>
              <a:t>MODEL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10" name="Text 9"/>
          <p:cNvSpPr/>
          <p:nvPr/>
        </p:nvSpPr>
        <p:spPr>
          <a:xfrm>
            <a:off x="6492240" y="1417320"/>
            <a:ext cx="3650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5f8099"/>
                </a:solidFill>
                <a:latin typeface="Calibri"/>
                <a:ea typeface="DejaVu Sans"/>
              </a:rPr>
              <a:t>→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111" name="Shape 10"/>
          <p:cNvSpPr/>
          <p:nvPr/>
        </p:nvSpPr>
        <p:spPr>
          <a:xfrm>
            <a:off x="6858000" y="1188720"/>
            <a:ext cx="1828080" cy="10051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2" name="Text 11"/>
          <p:cNvSpPr/>
          <p:nvPr/>
        </p:nvSpPr>
        <p:spPr>
          <a:xfrm>
            <a:off x="6858000" y="1188720"/>
            <a:ext cx="182808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DejaVu Sans"/>
              </a:rPr>
              <a:t>TEXT OUTPUT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13" name="Shape 12"/>
          <p:cNvSpPr/>
          <p:nvPr/>
        </p:nvSpPr>
        <p:spPr>
          <a:xfrm>
            <a:off x="457200" y="2423160"/>
            <a:ext cx="8228880" cy="593640"/>
          </a:xfrm>
          <a:prstGeom prst="rect">
            <a:avLst/>
          </a:prstGeom>
          <a:solidFill>
            <a:srgbClr val="0d1117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4" name="Text 13"/>
          <p:cNvSpPr/>
          <p:nvPr/>
        </p:nvSpPr>
        <p:spPr>
          <a:xfrm>
            <a:off x="457200" y="2423160"/>
            <a:ext cx="82288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1520" rIns="101520" tIns="101520" bIns="10152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79c0ff"/>
                </a:solidFill>
                <a:latin typeface="Consolas"/>
                <a:ea typeface="Consolas"/>
              </a:rPr>
              <a:t>Input: </a:t>
            </a:r>
            <a:r>
              <a:rPr b="0" lang="en-US" sz="1300" spc="-1" strike="noStrike">
                <a:solidFill>
                  <a:srgbClr val="ffd166"/>
                </a:solidFill>
                <a:latin typeface="Consolas"/>
                <a:ea typeface="Consolas"/>
              </a:rPr>
              <a:t>"What is the capital of India?"</a:t>
            </a:r>
            <a:r>
              <a:rPr b="0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  →  </a:t>
            </a:r>
            <a:r>
              <a:rPr b="1" lang="en-US" sz="1300" spc="-1" strike="noStrike">
                <a:solidFill>
                  <a:srgbClr val="79c0ff"/>
                </a:solidFill>
                <a:latin typeface="Consolas"/>
                <a:ea typeface="Consolas"/>
              </a:rPr>
              <a:t>Output: </a:t>
            </a:r>
            <a:r>
              <a:rPr b="0" lang="en-US" sz="1300" spc="-1" strike="noStrike">
                <a:solidFill>
                  <a:srgbClr val="06d6a0"/>
                </a:solidFill>
                <a:latin typeface="Consolas"/>
                <a:ea typeface="Consolas"/>
              </a:rPr>
              <a:t>"New Delhi"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15" name="Text 14"/>
          <p:cNvSpPr/>
          <p:nvPr/>
        </p:nvSpPr>
        <p:spPr>
          <a:xfrm>
            <a:off x="457200" y="320040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1a2e3d"/>
                </a:solidFill>
                <a:latin typeface="Calibri"/>
                <a:ea typeface="DejaVu Sans"/>
              </a:rPr>
              <a:t>Two Subtypes: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16" name="Shape 15"/>
          <p:cNvSpPr/>
          <p:nvPr/>
        </p:nvSpPr>
        <p:spPr>
          <a:xfrm>
            <a:off x="457200" y="3566160"/>
            <a:ext cx="3931200" cy="118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17" name="Shape 16"/>
          <p:cNvSpPr/>
          <p:nvPr/>
        </p:nvSpPr>
        <p:spPr>
          <a:xfrm>
            <a:off x="457200" y="3566160"/>
            <a:ext cx="109080" cy="11880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8" name="Text 17"/>
          <p:cNvSpPr/>
          <p:nvPr/>
        </p:nvSpPr>
        <p:spPr>
          <a:xfrm>
            <a:off x="685800" y="3630240"/>
            <a:ext cx="35654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a2e3d"/>
                </a:solidFill>
                <a:latin typeface="Calibri"/>
                <a:ea typeface="DejaVu Sans"/>
              </a:rPr>
              <a:t>LLMs (Large Language Models)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19" name="Text 18"/>
          <p:cNvSpPr/>
          <p:nvPr/>
        </p:nvSpPr>
        <p:spPr>
          <a:xfrm>
            <a:off x="685800" y="3977640"/>
            <a:ext cx="3565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4a5c"/>
                </a:solidFill>
                <a:latin typeface="Calibri"/>
                <a:ea typeface="DejaVu Sans"/>
              </a:rPr>
              <a:t>Legacy — String in, String out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4a5c"/>
                </a:solidFill>
                <a:latin typeface="Calibri"/>
                <a:ea typeface="DejaVu Sans"/>
              </a:rPr>
              <a:t>⚠️ </a:t>
            </a:r>
            <a:r>
              <a:rPr b="0" lang="en-US" sz="1100" spc="-1" strike="noStrike">
                <a:solidFill>
                  <a:srgbClr val="2c4a5c"/>
                </a:solidFill>
                <a:latin typeface="Calibri"/>
                <a:ea typeface="DejaVu Sans"/>
              </a:rPr>
              <a:t>Deprecated in LangChain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20" name="Shape 19"/>
          <p:cNvSpPr/>
          <p:nvPr/>
        </p:nvSpPr>
        <p:spPr>
          <a:xfrm>
            <a:off x="4754880" y="3566160"/>
            <a:ext cx="3931200" cy="118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21" name="Shape 20"/>
          <p:cNvSpPr/>
          <p:nvPr/>
        </p:nvSpPr>
        <p:spPr>
          <a:xfrm>
            <a:off x="4754880" y="3566160"/>
            <a:ext cx="109080" cy="11880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2" name="Text 21"/>
          <p:cNvSpPr/>
          <p:nvPr/>
        </p:nvSpPr>
        <p:spPr>
          <a:xfrm>
            <a:off x="4983480" y="3630240"/>
            <a:ext cx="35654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a2e3d"/>
                </a:solidFill>
                <a:latin typeface="Calibri"/>
                <a:ea typeface="DejaVu Sans"/>
              </a:rPr>
              <a:t>Chat Models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23" name="Text 22"/>
          <p:cNvSpPr/>
          <p:nvPr/>
        </p:nvSpPr>
        <p:spPr>
          <a:xfrm>
            <a:off x="4983480" y="3977640"/>
            <a:ext cx="3565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4a5c"/>
                </a:solidFill>
                <a:latin typeface="Calibri"/>
                <a:ea typeface="DejaVu Sans"/>
              </a:rPr>
              <a:t>Modern Standard — Multi-turn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4a5c"/>
                </a:solidFill>
                <a:latin typeface="Calibri"/>
                <a:ea typeface="DejaVu Sans"/>
              </a:rPr>
              <a:t>✓ </a:t>
            </a:r>
            <a:r>
              <a:rPr b="0" lang="en-US" sz="1100" spc="-1" strike="noStrike">
                <a:solidFill>
                  <a:srgbClr val="2c4a5c"/>
                </a:solidFill>
                <a:latin typeface="Calibri"/>
                <a:ea typeface="DejaVu Sans"/>
              </a:rPr>
              <a:t>Current industry standard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Shape 0"/>
          <p:cNvSpPr/>
          <p:nvPr/>
        </p:nvSpPr>
        <p:spPr>
          <a:xfrm>
            <a:off x="0" y="0"/>
            <a:ext cx="163800" cy="514296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5" name="Shape 1"/>
          <p:cNvSpPr/>
          <p:nvPr/>
        </p:nvSpPr>
        <p:spPr>
          <a:xfrm>
            <a:off x="0" y="0"/>
            <a:ext cx="9143280" cy="1005120"/>
          </a:xfrm>
          <a:prstGeom prst="rect">
            <a:avLst/>
          </a:prstGeom>
          <a:solidFill>
            <a:srgbClr val="1a2e3d"/>
          </a:solidFill>
          <a:ln w="12700">
            <a:solidFill>
              <a:srgbClr val="1a2e3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6" name="Text 2"/>
          <p:cNvSpPr/>
          <p:nvPr/>
        </p:nvSpPr>
        <p:spPr>
          <a:xfrm>
            <a:off x="365760" y="137160"/>
            <a:ext cx="82288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LLMs (Large Language Models)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127" name="Shape 3"/>
          <p:cNvSpPr/>
          <p:nvPr/>
        </p:nvSpPr>
        <p:spPr>
          <a:xfrm>
            <a:off x="320040" y="1097280"/>
            <a:ext cx="8503200" cy="593640"/>
          </a:xfrm>
          <a:prstGeom prst="rect">
            <a:avLst/>
          </a:prstGeom>
          <a:solidFill>
            <a:srgbClr val="ffb703">
              <a:alpha val="85000"/>
            </a:srgbClr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8" name="Text 4"/>
          <p:cNvSpPr/>
          <p:nvPr/>
        </p:nvSpPr>
        <p:spPr>
          <a:xfrm>
            <a:off x="320040" y="1097280"/>
            <a:ext cx="850320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a2e3d"/>
                </a:solidFill>
                <a:latin typeface="Calibri"/>
                <a:ea typeface="DejaVu Sans"/>
              </a:rPr>
              <a:t>⚠️  </a:t>
            </a:r>
            <a:r>
              <a:rPr b="1" lang="en-US" sz="1300" spc="-1" strike="noStrike">
                <a:solidFill>
                  <a:srgbClr val="1a2e3d"/>
                </a:solidFill>
                <a:latin typeface="Calibri"/>
                <a:ea typeface="DejaVu Sans"/>
              </a:rPr>
              <a:t>STATUS: DEPRECATED in LangChain — Use Chat Models for new projects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29" name="Shape 5"/>
          <p:cNvSpPr/>
          <p:nvPr/>
        </p:nvSpPr>
        <p:spPr>
          <a:xfrm>
            <a:off x="320040" y="1874520"/>
            <a:ext cx="2696760" cy="1233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30" name="Text 6"/>
          <p:cNvSpPr/>
          <p:nvPr/>
        </p:nvSpPr>
        <p:spPr>
          <a:xfrm>
            <a:off x="457200" y="1938600"/>
            <a:ext cx="24681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5f8099"/>
                </a:solidFill>
                <a:latin typeface="Calibri"/>
                <a:ea typeface="DejaVu Sans"/>
              </a:rPr>
              <a:t>Purpose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31" name="Text 7"/>
          <p:cNvSpPr/>
          <p:nvPr/>
        </p:nvSpPr>
        <p:spPr>
          <a:xfrm>
            <a:off x="457200" y="2286000"/>
            <a:ext cx="24681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a2e3d"/>
                </a:solidFill>
                <a:latin typeface="Calibri"/>
                <a:ea typeface="DejaVu Sans"/>
              </a:rPr>
              <a:t>General-purpose NLP tasks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32" name="Shape 8"/>
          <p:cNvSpPr/>
          <p:nvPr/>
        </p:nvSpPr>
        <p:spPr>
          <a:xfrm>
            <a:off x="3246120" y="1874520"/>
            <a:ext cx="2696760" cy="1233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33" name="Text 9"/>
          <p:cNvSpPr/>
          <p:nvPr/>
        </p:nvSpPr>
        <p:spPr>
          <a:xfrm>
            <a:off x="3383280" y="1938600"/>
            <a:ext cx="24681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5f8099"/>
                </a:solidFill>
                <a:latin typeface="Calibri"/>
                <a:ea typeface="DejaVu Sans"/>
              </a:rPr>
              <a:t>Pattern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34" name="Text 10"/>
          <p:cNvSpPr/>
          <p:nvPr/>
        </p:nvSpPr>
        <p:spPr>
          <a:xfrm>
            <a:off x="3383280" y="2286000"/>
            <a:ext cx="24681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a2e3d"/>
                </a:solidFill>
                <a:latin typeface="Calibri"/>
                <a:ea typeface="DejaVu Sans"/>
              </a:rPr>
              <a:t>String input → String output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35" name="Shape 11"/>
          <p:cNvSpPr/>
          <p:nvPr/>
        </p:nvSpPr>
        <p:spPr>
          <a:xfrm>
            <a:off x="6172200" y="1874520"/>
            <a:ext cx="2696760" cy="1233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36" name="Text 12"/>
          <p:cNvSpPr/>
          <p:nvPr/>
        </p:nvSpPr>
        <p:spPr>
          <a:xfrm>
            <a:off x="6309360" y="1938600"/>
            <a:ext cx="24681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5f8099"/>
                </a:solidFill>
                <a:latin typeface="Calibri"/>
                <a:ea typeface="DejaVu Sans"/>
              </a:rPr>
              <a:t>Examples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37" name="Text 13"/>
          <p:cNvSpPr/>
          <p:nvPr/>
        </p:nvSpPr>
        <p:spPr>
          <a:xfrm>
            <a:off x="6309360" y="2286000"/>
            <a:ext cx="24681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a2e3d"/>
                </a:solidFill>
                <a:latin typeface="Calibri"/>
                <a:ea typeface="DejaVu Sans"/>
              </a:rPr>
              <a:t>GPT-3, GPT-3.5 (older)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38" name="Text 14"/>
          <p:cNvSpPr/>
          <p:nvPr/>
        </p:nvSpPr>
        <p:spPr>
          <a:xfrm>
            <a:off x="320040" y="329184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1a2e3d"/>
                </a:solidFill>
                <a:latin typeface="Calibri"/>
                <a:ea typeface="DejaVu Sans"/>
              </a:rPr>
              <a:t>Use Cases: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39" name="Shape 15"/>
          <p:cNvSpPr/>
          <p:nvPr/>
        </p:nvSpPr>
        <p:spPr>
          <a:xfrm>
            <a:off x="320040" y="3703320"/>
            <a:ext cx="1965240" cy="639360"/>
          </a:xfrm>
          <a:prstGeom prst="rect">
            <a:avLst/>
          </a:prstGeom>
          <a:solidFill>
            <a:srgbClr val="1a2e3d"/>
          </a:solidFill>
          <a:ln w="12700">
            <a:solidFill>
              <a:srgbClr val="1a2e3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0" name="Text 16"/>
          <p:cNvSpPr/>
          <p:nvPr/>
        </p:nvSpPr>
        <p:spPr>
          <a:xfrm>
            <a:off x="320040" y="3703320"/>
            <a:ext cx="19652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DejaVu Sans"/>
              </a:rPr>
              <a:t>Summarization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41" name="Shape 17"/>
          <p:cNvSpPr/>
          <p:nvPr/>
        </p:nvSpPr>
        <p:spPr>
          <a:xfrm>
            <a:off x="2468880" y="3703320"/>
            <a:ext cx="1965240" cy="639360"/>
          </a:xfrm>
          <a:prstGeom prst="rect">
            <a:avLst/>
          </a:prstGeom>
          <a:solidFill>
            <a:srgbClr val="1a2e3d"/>
          </a:solidFill>
          <a:ln w="12700">
            <a:solidFill>
              <a:srgbClr val="1a2e3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2" name="Text 18"/>
          <p:cNvSpPr/>
          <p:nvPr/>
        </p:nvSpPr>
        <p:spPr>
          <a:xfrm>
            <a:off x="2468880" y="3703320"/>
            <a:ext cx="19652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DejaVu Sans"/>
              </a:rPr>
              <a:t>Translation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43" name="Shape 19"/>
          <p:cNvSpPr/>
          <p:nvPr/>
        </p:nvSpPr>
        <p:spPr>
          <a:xfrm>
            <a:off x="4617720" y="3703320"/>
            <a:ext cx="1965240" cy="639360"/>
          </a:xfrm>
          <a:prstGeom prst="rect">
            <a:avLst/>
          </a:prstGeom>
          <a:solidFill>
            <a:srgbClr val="1a2e3d"/>
          </a:solidFill>
          <a:ln w="12700">
            <a:solidFill>
              <a:srgbClr val="1a2e3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4" name="Text 20"/>
          <p:cNvSpPr/>
          <p:nvPr/>
        </p:nvSpPr>
        <p:spPr>
          <a:xfrm>
            <a:off x="4617720" y="3703320"/>
            <a:ext cx="19652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DejaVu Sans"/>
              </a:rPr>
              <a:t>Q&amp;A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45" name="Shape 21"/>
          <p:cNvSpPr/>
          <p:nvPr/>
        </p:nvSpPr>
        <p:spPr>
          <a:xfrm>
            <a:off x="6766560" y="3703320"/>
            <a:ext cx="1965240" cy="639360"/>
          </a:xfrm>
          <a:prstGeom prst="rect">
            <a:avLst/>
          </a:prstGeom>
          <a:solidFill>
            <a:srgbClr val="1a2e3d"/>
          </a:solidFill>
          <a:ln w="12700">
            <a:solidFill>
              <a:srgbClr val="1a2e3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6" name="Text 22"/>
          <p:cNvSpPr/>
          <p:nvPr/>
        </p:nvSpPr>
        <p:spPr>
          <a:xfrm>
            <a:off x="6766560" y="3703320"/>
            <a:ext cx="19652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DejaVu Sans"/>
              </a:rPr>
              <a:t>Code Generation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47" name="Shape 23"/>
          <p:cNvSpPr/>
          <p:nvPr/>
        </p:nvSpPr>
        <p:spPr>
          <a:xfrm>
            <a:off x="320040" y="4462200"/>
            <a:ext cx="8503200" cy="456480"/>
          </a:xfrm>
          <a:prstGeom prst="rect">
            <a:avLst/>
          </a:prstGeom>
          <a:solidFill>
            <a:srgbClr val="ef476f">
              <a:alpha val="20000"/>
            </a:srgbClr>
          </a:solidFill>
          <a:ln w="12700">
            <a:solidFill>
              <a:srgbClr val="ef476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8" name="Text 24"/>
          <p:cNvSpPr/>
          <p:nvPr/>
        </p:nvSpPr>
        <p:spPr>
          <a:xfrm>
            <a:off x="320040" y="4462200"/>
            <a:ext cx="85032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ef476f"/>
                </a:solidFill>
                <a:latin typeface="Calibri"/>
                <a:ea typeface="DejaVu Sans"/>
              </a:rPr>
              <a:t>Recommendation: Migrate to Chat Models for all new projects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Shape 0"/>
          <p:cNvSpPr/>
          <p:nvPr/>
        </p:nvSpPr>
        <p:spPr>
          <a:xfrm>
            <a:off x="0" y="0"/>
            <a:ext cx="163800" cy="514296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0" name="Shape 1"/>
          <p:cNvSpPr/>
          <p:nvPr/>
        </p:nvSpPr>
        <p:spPr>
          <a:xfrm>
            <a:off x="0" y="0"/>
            <a:ext cx="9143280" cy="10051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1" name="Text 2"/>
          <p:cNvSpPr/>
          <p:nvPr/>
        </p:nvSpPr>
        <p:spPr>
          <a:xfrm>
            <a:off x="365760" y="137160"/>
            <a:ext cx="82288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Chat Models — Modern Approach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152" name="Shape 3"/>
          <p:cNvSpPr/>
          <p:nvPr/>
        </p:nvSpPr>
        <p:spPr>
          <a:xfrm>
            <a:off x="320040" y="1097280"/>
            <a:ext cx="8503200" cy="547920"/>
          </a:xfrm>
          <a:prstGeom prst="rect">
            <a:avLst/>
          </a:prstGeom>
          <a:solidFill>
            <a:srgbClr val="06d6a0">
              <a:alpha val="85000"/>
            </a:srgbClr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3" name="Text 4"/>
          <p:cNvSpPr/>
          <p:nvPr/>
        </p:nvSpPr>
        <p:spPr>
          <a:xfrm>
            <a:off x="320040" y="1097280"/>
            <a:ext cx="850320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a2e3d"/>
                </a:solidFill>
                <a:latin typeface="Calibri"/>
                <a:ea typeface="DejaVu Sans"/>
              </a:rPr>
              <a:t>✓  </a:t>
            </a:r>
            <a:r>
              <a:rPr b="1" lang="en-US" sz="1300" spc="-1" strike="noStrike">
                <a:solidFill>
                  <a:srgbClr val="1a2e3d"/>
                </a:solidFill>
                <a:latin typeface="Calibri"/>
                <a:ea typeface="DejaVu Sans"/>
              </a:rPr>
              <a:t>CURRENT INDUSTRY STANDARD — Recommended for all new projects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54" name="Shape 5"/>
          <p:cNvSpPr/>
          <p:nvPr/>
        </p:nvSpPr>
        <p:spPr>
          <a:xfrm>
            <a:off x="320040" y="1810440"/>
            <a:ext cx="4159800" cy="1279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55" name="Shape 6"/>
          <p:cNvSpPr/>
          <p:nvPr/>
        </p:nvSpPr>
        <p:spPr>
          <a:xfrm>
            <a:off x="320040" y="1810440"/>
            <a:ext cx="109080" cy="127944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6" name="Text 7"/>
          <p:cNvSpPr/>
          <p:nvPr/>
        </p:nvSpPr>
        <p:spPr>
          <a:xfrm>
            <a:off x="548640" y="1974960"/>
            <a:ext cx="3748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1a2e3d"/>
                </a:solidFill>
                <a:latin typeface="Calibri"/>
                <a:ea typeface="DejaVu Sans"/>
              </a:rPr>
              <a:t>Conversational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57" name="Text 8"/>
          <p:cNvSpPr/>
          <p:nvPr/>
        </p:nvSpPr>
        <p:spPr>
          <a:xfrm>
            <a:off x="548640" y="2340720"/>
            <a:ext cx="374832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4a5c"/>
                </a:solidFill>
                <a:latin typeface="Calibri"/>
                <a:ea typeface="DejaVu Sans"/>
              </a:rPr>
              <a:t>Specialized for multi-turn dialogue interactions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58" name="Shape 9"/>
          <p:cNvSpPr/>
          <p:nvPr/>
        </p:nvSpPr>
        <p:spPr>
          <a:xfrm>
            <a:off x="4709160" y="1810440"/>
            <a:ext cx="4159800" cy="1279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59" name="Shape 10"/>
          <p:cNvSpPr/>
          <p:nvPr/>
        </p:nvSpPr>
        <p:spPr>
          <a:xfrm>
            <a:off x="4709160" y="1810440"/>
            <a:ext cx="109080" cy="1279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0" name="Text 11"/>
          <p:cNvSpPr/>
          <p:nvPr/>
        </p:nvSpPr>
        <p:spPr>
          <a:xfrm>
            <a:off x="4937760" y="1974960"/>
            <a:ext cx="3748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1a2e3d"/>
                </a:solidFill>
                <a:latin typeface="Calibri"/>
                <a:ea typeface="DejaVu Sans"/>
              </a:rPr>
              <a:t>Context-Aware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61" name="Text 12"/>
          <p:cNvSpPr/>
          <p:nvPr/>
        </p:nvSpPr>
        <p:spPr>
          <a:xfrm>
            <a:off x="4937760" y="2340720"/>
            <a:ext cx="374832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4a5c"/>
                </a:solidFill>
                <a:latin typeface="Calibri"/>
                <a:ea typeface="DejaVu Sans"/>
              </a:rPr>
              <a:t>Maintains conversation history across turns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62" name="Shape 13"/>
          <p:cNvSpPr/>
          <p:nvPr/>
        </p:nvSpPr>
        <p:spPr>
          <a:xfrm>
            <a:off x="320040" y="3273480"/>
            <a:ext cx="4159800" cy="1279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63" name="Shape 14"/>
          <p:cNvSpPr/>
          <p:nvPr/>
        </p:nvSpPr>
        <p:spPr>
          <a:xfrm>
            <a:off x="320040" y="3273480"/>
            <a:ext cx="109080" cy="127944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4" name="Text 15"/>
          <p:cNvSpPr/>
          <p:nvPr/>
        </p:nvSpPr>
        <p:spPr>
          <a:xfrm>
            <a:off x="548640" y="3438000"/>
            <a:ext cx="3748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1a2e3d"/>
                </a:solidFill>
                <a:latin typeface="Calibri"/>
                <a:ea typeface="DejaVu Sans"/>
              </a:rPr>
              <a:t>Role Support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65" name="Text 16"/>
          <p:cNvSpPr/>
          <p:nvPr/>
        </p:nvSpPr>
        <p:spPr>
          <a:xfrm>
            <a:off x="548640" y="3803760"/>
            <a:ext cx="374832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4a5c"/>
                </a:solidFill>
                <a:latin typeface="Calibri"/>
                <a:ea typeface="DejaVu Sans"/>
              </a:rPr>
              <a:t>System / User / Assistant message roles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66" name="Shape 17"/>
          <p:cNvSpPr/>
          <p:nvPr/>
        </p:nvSpPr>
        <p:spPr>
          <a:xfrm>
            <a:off x="4709160" y="3273480"/>
            <a:ext cx="4159800" cy="1279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67" name="Shape 18"/>
          <p:cNvSpPr/>
          <p:nvPr/>
        </p:nvSpPr>
        <p:spPr>
          <a:xfrm>
            <a:off x="4709160" y="3273480"/>
            <a:ext cx="109080" cy="12794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8" name="Text 19"/>
          <p:cNvSpPr/>
          <p:nvPr/>
        </p:nvSpPr>
        <p:spPr>
          <a:xfrm>
            <a:off x="4937760" y="3438000"/>
            <a:ext cx="3748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1a2e3d"/>
                </a:solidFill>
                <a:latin typeface="Calibri"/>
                <a:ea typeface="DejaVu Sans"/>
              </a:rPr>
              <a:t>RLHF Trained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69" name="Text 20"/>
          <p:cNvSpPr/>
          <p:nvPr/>
        </p:nvSpPr>
        <p:spPr>
          <a:xfrm>
            <a:off x="4937760" y="3803760"/>
            <a:ext cx="374832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4a5c"/>
                </a:solidFill>
                <a:latin typeface="Calibri"/>
                <a:ea typeface="DejaVu Sans"/>
              </a:rPr>
              <a:t>Fine-tuned with reinforcement learning from human feedback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70" name="Shape 21"/>
          <p:cNvSpPr/>
          <p:nvPr/>
        </p:nvSpPr>
        <p:spPr>
          <a:xfrm>
            <a:off x="320040" y="4663440"/>
            <a:ext cx="8503200" cy="3466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1" name="Text 22"/>
          <p:cNvSpPr/>
          <p:nvPr/>
        </p:nvSpPr>
        <p:spPr>
          <a:xfrm>
            <a:off x="320040" y="4663440"/>
            <a:ext cx="85032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DejaVu Sans"/>
              </a:rPr>
              <a:t>Examples: GPT-4  •  Claude 3.5  •  Gemini  •  Llama 3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Shape 0"/>
          <p:cNvSpPr/>
          <p:nvPr/>
        </p:nvSpPr>
        <p:spPr>
          <a:xfrm>
            <a:off x="0" y="0"/>
            <a:ext cx="163800" cy="514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3" name="Shape 1"/>
          <p:cNvSpPr/>
          <p:nvPr/>
        </p:nvSpPr>
        <p:spPr>
          <a:xfrm>
            <a:off x="0" y="0"/>
            <a:ext cx="9143280" cy="9136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4" name="Text 2"/>
          <p:cNvSpPr/>
          <p:nvPr/>
        </p:nvSpPr>
        <p:spPr>
          <a:xfrm>
            <a:off x="365760" y="109800"/>
            <a:ext cx="822888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LLMs vs Chat Models Comparison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75" name="Shape 3"/>
          <p:cNvSpPr/>
          <p:nvPr/>
        </p:nvSpPr>
        <p:spPr>
          <a:xfrm>
            <a:off x="320040" y="1024200"/>
            <a:ext cx="2193840" cy="456480"/>
          </a:xfrm>
          <a:prstGeom prst="rect">
            <a:avLst/>
          </a:prstGeom>
          <a:solidFill>
            <a:srgbClr val="2c4a5c"/>
          </a:solidFill>
          <a:ln w="12700">
            <a:solidFill>
              <a:srgbClr val="2c4a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6" name="Text 4"/>
          <p:cNvSpPr/>
          <p:nvPr/>
        </p:nvSpPr>
        <p:spPr>
          <a:xfrm>
            <a:off x="320040" y="1024200"/>
            <a:ext cx="21938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DejaVu Sans"/>
              </a:rPr>
              <a:t>Aspect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77" name="Shape 5"/>
          <p:cNvSpPr/>
          <p:nvPr/>
        </p:nvSpPr>
        <p:spPr>
          <a:xfrm>
            <a:off x="2606040" y="1024200"/>
            <a:ext cx="2925360" cy="45648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8" name="Text 6"/>
          <p:cNvSpPr/>
          <p:nvPr/>
        </p:nvSpPr>
        <p:spPr>
          <a:xfrm>
            <a:off x="2606040" y="1024200"/>
            <a:ext cx="29253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DejaVu Sans"/>
              </a:rPr>
              <a:t>LLMs (Legacy)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79" name="Shape 7"/>
          <p:cNvSpPr/>
          <p:nvPr/>
        </p:nvSpPr>
        <p:spPr>
          <a:xfrm>
            <a:off x="5532120" y="1024200"/>
            <a:ext cx="2925360" cy="45648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0" name="Text 8"/>
          <p:cNvSpPr/>
          <p:nvPr/>
        </p:nvSpPr>
        <p:spPr>
          <a:xfrm>
            <a:off x="5532120" y="1024200"/>
            <a:ext cx="29253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DejaVu Sans"/>
              </a:rPr>
              <a:t>Chat Models ✓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81" name="Shape 9"/>
          <p:cNvSpPr/>
          <p:nvPr/>
        </p:nvSpPr>
        <p:spPr>
          <a:xfrm>
            <a:off x="320040" y="1508760"/>
            <a:ext cx="2193840" cy="44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2" name="Text 10"/>
          <p:cNvSpPr/>
          <p:nvPr/>
        </p:nvSpPr>
        <p:spPr>
          <a:xfrm>
            <a:off x="411480" y="1508760"/>
            <a:ext cx="2010960" cy="4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1a2e3d"/>
                </a:solidFill>
                <a:latin typeface="Calibri"/>
                <a:ea typeface="DejaVu Sans"/>
              </a:rPr>
              <a:t>Purpose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83" name="Shape 11"/>
          <p:cNvSpPr/>
          <p:nvPr/>
        </p:nvSpPr>
        <p:spPr>
          <a:xfrm>
            <a:off x="2606040" y="1508760"/>
            <a:ext cx="2925360" cy="44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4" name="Text 12"/>
          <p:cNvSpPr/>
          <p:nvPr/>
        </p:nvSpPr>
        <p:spPr>
          <a:xfrm>
            <a:off x="2697480" y="1508760"/>
            <a:ext cx="2742480" cy="4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a2e3d"/>
                </a:solidFill>
                <a:latin typeface="Calibri"/>
                <a:ea typeface="DejaVu Sans"/>
              </a:rPr>
              <a:t>General tasks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85" name="Shape 13"/>
          <p:cNvSpPr/>
          <p:nvPr/>
        </p:nvSpPr>
        <p:spPr>
          <a:xfrm>
            <a:off x="5532120" y="1508760"/>
            <a:ext cx="2925360" cy="44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6" name="Text 14"/>
          <p:cNvSpPr/>
          <p:nvPr/>
        </p:nvSpPr>
        <p:spPr>
          <a:xfrm>
            <a:off x="5623560" y="1508760"/>
            <a:ext cx="2742480" cy="4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a2e3d"/>
                </a:solidFill>
                <a:latin typeface="Calibri"/>
                <a:ea typeface="DejaVu Sans"/>
              </a:rPr>
              <a:t>Conversations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87" name="Shape 15"/>
          <p:cNvSpPr/>
          <p:nvPr/>
        </p:nvSpPr>
        <p:spPr>
          <a:xfrm>
            <a:off x="320040" y="1984320"/>
            <a:ext cx="2193840" cy="447480"/>
          </a:xfrm>
          <a:prstGeom prst="rect">
            <a:avLst/>
          </a:prstGeom>
          <a:solidFill>
            <a:srgbClr val="f5f8fa"/>
          </a:solidFill>
          <a:ln w="12700">
            <a:solidFill>
              <a:srgbClr val="e0e8e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8" name="Text 16"/>
          <p:cNvSpPr/>
          <p:nvPr/>
        </p:nvSpPr>
        <p:spPr>
          <a:xfrm>
            <a:off x="411480" y="1984320"/>
            <a:ext cx="2010960" cy="4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1a2e3d"/>
                </a:solidFill>
                <a:latin typeface="Calibri"/>
                <a:ea typeface="DejaVu Sans"/>
              </a:rPr>
              <a:t>Training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89" name="Shape 17"/>
          <p:cNvSpPr/>
          <p:nvPr/>
        </p:nvSpPr>
        <p:spPr>
          <a:xfrm>
            <a:off x="2606040" y="1984320"/>
            <a:ext cx="2925360" cy="447480"/>
          </a:xfrm>
          <a:prstGeom prst="rect">
            <a:avLst/>
          </a:prstGeom>
          <a:solidFill>
            <a:srgbClr val="f5f8fa"/>
          </a:solidFill>
          <a:ln w="12700">
            <a:solidFill>
              <a:srgbClr val="e0e8e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0" name="Text 18"/>
          <p:cNvSpPr/>
          <p:nvPr/>
        </p:nvSpPr>
        <p:spPr>
          <a:xfrm>
            <a:off x="2697480" y="1984320"/>
            <a:ext cx="2742480" cy="4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a2e3d"/>
                </a:solidFill>
                <a:latin typeface="Calibri"/>
                <a:ea typeface="DejaVu Sans"/>
              </a:rPr>
              <a:t>General text corpus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91" name="Shape 19"/>
          <p:cNvSpPr/>
          <p:nvPr/>
        </p:nvSpPr>
        <p:spPr>
          <a:xfrm>
            <a:off x="5532120" y="1984320"/>
            <a:ext cx="2925360" cy="447480"/>
          </a:xfrm>
          <a:prstGeom prst="rect">
            <a:avLst/>
          </a:prstGeom>
          <a:solidFill>
            <a:srgbClr val="f5f8fa"/>
          </a:solidFill>
          <a:ln w="12700">
            <a:solidFill>
              <a:srgbClr val="e0e8e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2" name="Text 20"/>
          <p:cNvSpPr/>
          <p:nvPr/>
        </p:nvSpPr>
        <p:spPr>
          <a:xfrm>
            <a:off x="5623560" y="1984320"/>
            <a:ext cx="2742480" cy="4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a2e3d"/>
                </a:solidFill>
                <a:latin typeface="Calibri"/>
                <a:ea typeface="DejaVu Sans"/>
              </a:rPr>
              <a:t>+ Conversational tuning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93" name="Shape 21"/>
          <p:cNvSpPr/>
          <p:nvPr/>
        </p:nvSpPr>
        <p:spPr>
          <a:xfrm>
            <a:off x="320040" y="2459880"/>
            <a:ext cx="2193840" cy="44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4" name="Text 22"/>
          <p:cNvSpPr/>
          <p:nvPr/>
        </p:nvSpPr>
        <p:spPr>
          <a:xfrm>
            <a:off x="411480" y="2459880"/>
            <a:ext cx="2010960" cy="4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1a2e3d"/>
                </a:solidFill>
                <a:latin typeface="Calibri"/>
                <a:ea typeface="DejaVu Sans"/>
              </a:rPr>
              <a:t>Memory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95" name="Shape 23"/>
          <p:cNvSpPr/>
          <p:nvPr/>
        </p:nvSpPr>
        <p:spPr>
          <a:xfrm>
            <a:off x="2606040" y="2459880"/>
            <a:ext cx="2925360" cy="44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6" name="Text 24"/>
          <p:cNvSpPr/>
          <p:nvPr/>
        </p:nvSpPr>
        <p:spPr>
          <a:xfrm>
            <a:off x="2697480" y="2459880"/>
            <a:ext cx="2742480" cy="4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a2e3d"/>
                </a:solidFill>
                <a:latin typeface="Calibri"/>
                <a:ea typeface="DejaVu Sans"/>
              </a:rPr>
              <a:t>No context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97" name="Shape 25"/>
          <p:cNvSpPr/>
          <p:nvPr/>
        </p:nvSpPr>
        <p:spPr>
          <a:xfrm>
            <a:off x="5532120" y="2459880"/>
            <a:ext cx="2925360" cy="44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8" name="Text 26"/>
          <p:cNvSpPr/>
          <p:nvPr/>
        </p:nvSpPr>
        <p:spPr>
          <a:xfrm>
            <a:off x="5623560" y="2459880"/>
            <a:ext cx="2742480" cy="4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a2e3d"/>
                </a:solidFill>
                <a:latin typeface="Calibri"/>
                <a:ea typeface="DejaVu Sans"/>
              </a:rPr>
              <a:t>Maintains history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99" name="Shape 27"/>
          <p:cNvSpPr/>
          <p:nvPr/>
        </p:nvSpPr>
        <p:spPr>
          <a:xfrm>
            <a:off x="320040" y="2935080"/>
            <a:ext cx="2193840" cy="447480"/>
          </a:xfrm>
          <a:prstGeom prst="rect">
            <a:avLst/>
          </a:prstGeom>
          <a:solidFill>
            <a:srgbClr val="f5f8fa"/>
          </a:solidFill>
          <a:ln w="12700">
            <a:solidFill>
              <a:srgbClr val="e0e8e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0" name="Text 28"/>
          <p:cNvSpPr/>
          <p:nvPr/>
        </p:nvSpPr>
        <p:spPr>
          <a:xfrm>
            <a:off x="411480" y="2935080"/>
            <a:ext cx="2010960" cy="4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1a2e3d"/>
                </a:solidFill>
                <a:latin typeface="Calibri"/>
                <a:ea typeface="DejaVu Sans"/>
              </a:rPr>
              <a:t>Role Support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01" name="Shape 29"/>
          <p:cNvSpPr/>
          <p:nvPr/>
        </p:nvSpPr>
        <p:spPr>
          <a:xfrm>
            <a:off x="2606040" y="2935080"/>
            <a:ext cx="2925360" cy="447480"/>
          </a:xfrm>
          <a:prstGeom prst="rect">
            <a:avLst/>
          </a:prstGeom>
          <a:solidFill>
            <a:srgbClr val="f5f8fa"/>
          </a:solidFill>
          <a:ln w="12700">
            <a:solidFill>
              <a:srgbClr val="e0e8e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2" name="Text 30"/>
          <p:cNvSpPr/>
          <p:nvPr/>
        </p:nvSpPr>
        <p:spPr>
          <a:xfrm>
            <a:off x="2697480" y="2935080"/>
            <a:ext cx="2742480" cy="4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a2e3d"/>
                </a:solidFill>
                <a:latin typeface="Calibri"/>
                <a:ea typeface="DejaVu Sans"/>
              </a:rPr>
              <a:t>Not available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03" name="Shape 31"/>
          <p:cNvSpPr/>
          <p:nvPr/>
        </p:nvSpPr>
        <p:spPr>
          <a:xfrm>
            <a:off x="5532120" y="2935080"/>
            <a:ext cx="2925360" cy="447480"/>
          </a:xfrm>
          <a:prstGeom prst="rect">
            <a:avLst/>
          </a:prstGeom>
          <a:solidFill>
            <a:srgbClr val="f5f8fa"/>
          </a:solidFill>
          <a:ln w="12700">
            <a:solidFill>
              <a:srgbClr val="e0e8e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4" name="Text 32"/>
          <p:cNvSpPr/>
          <p:nvPr/>
        </p:nvSpPr>
        <p:spPr>
          <a:xfrm>
            <a:off x="5623560" y="2935080"/>
            <a:ext cx="2742480" cy="4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a2e3d"/>
                </a:solidFill>
                <a:latin typeface="Calibri"/>
                <a:ea typeface="DejaVu Sans"/>
              </a:rPr>
              <a:t>System/User/Assistant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05" name="Shape 33"/>
          <p:cNvSpPr/>
          <p:nvPr/>
        </p:nvSpPr>
        <p:spPr>
          <a:xfrm>
            <a:off x="320040" y="3410640"/>
            <a:ext cx="2193840" cy="44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6" name="Text 34"/>
          <p:cNvSpPr/>
          <p:nvPr/>
        </p:nvSpPr>
        <p:spPr>
          <a:xfrm>
            <a:off x="411480" y="3410640"/>
            <a:ext cx="2010960" cy="4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1a2e3d"/>
                </a:solidFill>
                <a:latin typeface="Calibri"/>
                <a:ea typeface="DejaVu Sans"/>
              </a:rPr>
              <a:t>Examples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07" name="Shape 35"/>
          <p:cNvSpPr/>
          <p:nvPr/>
        </p:nvSpPr>
        <p:spPr>
          <a:xfrm>
            <a:off x="2606040" y="3410640"/>
            <a:ext cx="2925360" cy="44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8" name="Text 36"/>
          <p:cNvSpPr/>
          <p:nvPr/>
        </p:nvSpPr>
        <p:spPr>
          <a:xfrm>
            <a:off x="2697480" y="3410640"/>
            <a:ext cx="2742480" cy="4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a2e3d"/>
                </a:solidFill>
                <a:latin typeface="Calibri"/>
                <a:ea typeface="DejaVu Sans"/>
              </a:rPr>
              <a:t>GPT-3, GPT-3.5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09" name="Shape 37"/>
          <p:cNvSpPr/>
          <p:nvPr/>
        </p:nvSpPr>
        <p:spPr>
          <a:xfrm>
            <a:off x="5532120" y="3410640"/>
            <a:ext cx="2925360" cy="44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0" name="Text 38"/>
          <p:cNvSpPr/>
          <p:nvPr/>
        </p:nvSpPr>
        <p:spPr>
          <a:xfrm>
            <a:off x="5623560" y="3410640"/>
            <a:ext cx="2742480" cy="4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a2e3d"/>
                </a:solidFill>
                <a:latin typeface="Calibri"/>
                <a:ea typeface="DejaVu Sans"/>
              </a:rPr>
              <a:t>GPT-4, Claude, Gemini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11" name="Shape 39"/>
          <p:cNvSpPr/>
          <p:nvPr/>
        </p:nvSpPr>
        <p:spPr>
          <a:xfrm>
            <a:off x="320040" y="3886200"/>
            <a:ext cx="2193840" cy="447480"/>
          </a:xfrm>
          <a:prstGeom prst="rect">
            <a:avLst/>
          </a:prstGeom>
          <a:solidFill>
            <a:srgbClr val="f5f8fa"/>
          </a:solidFill>
          <a:ln w="12700">
            <a:solidFill>
              <a:srgbClr val="e0e8e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2" name="Text 40"/>
          <p:cNvSpPr/>
          <p:nvPr/>
        </p:nvSpPr>
        <p:spPr>
          <a:xfrm>
            <a:off x="411480" y="3886200"/>
            <a:ext cx="2010960" cy="4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1a2e3d"/>
                </a:solidFill>
                <a:latin typeface="Calibri"/>
                <a:ea typeface="DejaVu Sans"/>
              </a:rPr>
              <a:t>Status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13" name="Shape 41"/>
          <p:cNvSpPr/>
          <p:nvPr/>
        </p:nvSpPr>
        <p:spPr>
          <a:xfrm>
            <a:off x="2606040" y="3886200"/>
            <a:ext cx="2925360" cy="447480"/>
          </a:xfrm>
          <a:prstGeom prst="rect">
            <a:avLst/>
          </a:prstGeom>
          <a:solidFill>
            <a:srgbClr val="f5f8fa"/>
          </a:solidFill>
          <a:ln w="12700">
            <a:solidFill>
              <a:srgbClr val="e0e8e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4" name="Text 42"/>
          <p:cNvSpPr/>
          <p:nvPr/>
        </p:nvSpPr>
        <p:spPr>
          <a:xfrm>
            <a:off x="2697480" y="3886200"/>
            <a:ext cx="2742480" cy="4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f476f"/>
                </a:solidFill>
                <a:latin typeface="Calibri"/>
                <a:ea typeface="DejaVu Sans"/>
              </a:rPr>
              <a:t>Deprecated ⚠️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15" name="Shape 43"/>
          <p:cNvSpPr/>
          <p:nvPr/>
        </p:nvSpPr>
        <p:spPr>
          <a:xfrm>
            <a:off x="5532120" y="3886200"/>
            <a:ext cx="2925360" cy="447480"/>
          </a:xfrm>
          <a:prstGeom prst="rect">
            <a:avLst/>
          </a:prstGeom>
          <a:solidFill>
            <a:srgbClr val="f5f8fa"/>
          </a:solidFill>
          <a:ln w="12700">
            <a:solidFill>
              <a:srgbClr val="e0e8e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6" name="Text 44"/>
          <p:cNvSpPr/>
          <p:nvPr/>
        </p:nvSpPr>
        <p:spPr>
          <a:xfrm>
            <a:off x="5623560" y="3886200"/>
            <a:ext cx="2742480" cy="4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d6a0"/>
                </a:solidFill>
                <a:latin typeface="Calibri"/>
                <a:ea typeface="DejaVu Sans"/>
              </a:rPr>
              <a:t>Recommended ✓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17" name="Shape 45"/>
          <p:cNvSpPr/>
          <p:nvPr/>
        </p:nvSpPr>
        <p:spPr>
          <a:xfrm>
            <a:off x="320040" y="4361760"/>
            <a:ext cx="2193840" cy="44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8" name="Text 46"/>
          <p:cNvSpPr/>
          <p:nvPr/>
        </p:nvSpPr>
        <p:spPr>
          <a:xfrm>
            <a:off x="411480" y="4361760"/>
            <a:ext cx="2010960" cy="4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1a2e3d"/>
                </a:solidFill>
                <a:latin typeface="Calibri"/>
                <a:ea typeface="DejaVu Sans"/>
              </a:rPr>
              <a:t>Use Cases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19" name="Shape 47"/>
          <p:cNvSpPr/>
          <p:nvPr/>
        </p:nvSpPr>
        <p:spPr>
          <a:xfrm>
            <a:off x="2606040" y="4361760"/>
            <a:ext cx="2925360" cy="44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0" name="Text 48"/>
          <p:cNvSpPr/>
          <p:nvPr/>
        </p:nvSpPr>
        <p:spPr>
          <a:xfrm>
            <a:off x="2697480" y="4361760"/>
            <a:ext cx="2742480" cy="4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a2e3d"/>
                </a:solidFill>
                <a:latin typeface="Calibri"/>
                <a:ea typeface="DejaVu Sans"/>
              </a:rPr>
              <a:t>One-off generation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21" name="Shape 49"/>
          <p:cNvSpPr/>
          <p:nvPr/>
        </p:nvSpPr>
        <p:spPr>
          <a:xfrm>
            <a:off x="5532120" y="4361760"/>
            <a:ext cx="2925360" cy="44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2" name="Text 50"/>
          <p:cNvSpPr/>
          <p:nvPr/>
        </p:nvSpPr>
        <p:spPr>
          <a:xfrm>
            <a:off x="5623560" y="4361760"/>
            <a:ext cx="2742480" cy="4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a2e3d"/>
                </a:solidFill>
                <a:latin typeface="Calibri"/>
                <a:ea typeface="DejaVu Sans"/>
              </a:rPr>
              <a:t>Interactive apps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Shape 0"/>
          <p:cNvSpPr/>
          <p:nvPr/>
        </p:nvSpPr>
        <p:spPr>
          <a:xfrm>
            <a:off x="0" y="0"/>
            <a:ext cx="9143280" cy="514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4" name="Shape 1"/>
          <p:cNvSpPr/>
          <p:nvPr/>
        </p:nvSpPr>
        <p:spPr>
          <a:xfrm>
            <a:off x="6400800" y="-914400"/>
            <a:ext cx="4571280" cy="4571280"/>
          </a:xfrm>
          <a:prstGeom prst="ellipse">
            <a:avLst/>
          </a:prstGeom>
          <a:solidFill>
            <a:srgbClr val="0077b6">
              <a:alpha val="20000"/>
            </a:srgbClr>
          </a:solidFill>
          <a:ln w="12700">
            <a:solidFill>
              <a:srgbClr val="0077b6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5" name="Shape 2"/>
          <p:cNvSpPr/>
          <p:nvPr/>
        </p:nvSpPr>
        <p:spPr>
          <a:xfrm>
            <a:off x="640080" y="1645920"/>
            <a:ext cx="109080" cy="1645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6" name="Text 3"/>
          <p:cNvSpPr/>
          <p:nvPr/>
        </p:nvSpPr>
        <p:spPr>
          <a:xfrm>
            <a:off x="914400" y="1554480"/>
            <a:ext cx="64000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5f8099"/>
                </a:solidFill>
                <a:latin typeface="Calibri"/>
                <a:ea typeface="Calibri"/>
              </a:rPr>
              <a:t>Part 2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227" name="Text 4"/>
          <p:cNvSpPr/>
          <p:nvPr/>
        </p:nvSpPr>
        <p:spPr>
          <a:xfrm>
            <a:off x="914400" y="2011680"/>
            <a:ext cx="7314480" cy="13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5200" spc="-1" strike="noStrike">
                <a:solidFill>
                  <a:srgbClr val="ffffff"/>
                </a:solidFill>
                <a:latin typeface="Calibri"/>
                <a:ea typeface="Calibri"/>
              </a:rPr>
              <a:t>Environment</a:t>
            </a:r>
            <a:endParaRPr b="0" lang="en-IN" sz="5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5200" spc="-1" strike="noStrike">
                <a:solidFill>
                  <a:srgbClr val="ffffff"/>
                </a:solidFill>
                <a:latin typeface="Calibri"/>
                <a:ea typeface="Calibri"/>
              </a:rPr>
              <a:t>Setup</a:t>
            </a:r>
            <a:endParaRPr b="0" lang="en-IN" sz="5200" spc="-1" strike="noStrike">
              <a:latin typeface="Arial"/>
            </a:endParaRPr>
          </a:p>
        </p:txBody>
      </p:sp>
      <p:sp>
        <p:nvSpPr>
          <p:cNvPr id="228" name="Text 5"/>
          <p:cNvSpPr/>
          <p:nvPr/>
        </p:nvSpPr>
        <p:spPr>
          <a:xfrm>
            <a:off x="914400" y="3657600"/>
            <a:ext cx="7314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e8f4f8"/>
                </a:solidFill>
                <a:latin typeface="Calibri"/>
                <a:ea typeface="DejaVu Sans"/>
              </a:rPr>
              <a:t>Installing packages, managing API keys, configuring your dev environment</a:t>
            </a:r>
            <a:endParaRPr b="0" lang="en-IN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Shape 0"/>
          <p:cNvSpPr/>
          <p:nvPr/>
        </p:nvSpPr>
        <p:spPr>
          <a:xfrm>
            <a:off x="0" y="0"/>
            <a:ext cx="163800" cy="51429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0" name="Shape 1"/>
          <p:cNvSpPr/>
          <p:nvPr/>
        </p:nvSpPr>
        <p:spPr>
          <a:xfrm>
            <a:off x="0" y="0"/>
            <a:ext cx="9143280" cy="9136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1" name="Text 2"/>
          <p:cNvSpPr/>
          <p:nvPr/>
        </p:nvSpPr>
        <p:spPr>
          <a:xfrm>
            <a:off x="365760" y="109800"/>
            <a:ext cx="822888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Development Environment Setup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232" name="Shape 3"/>
          <p:cNvSpPr/>
          <p:nvPr/>
        </p:nvSpPr>
        <p:spPr>
          <a:xfrm>
            <a:off x="320040" y="1051560"/>
            <a:ext cx="8503200" cy="803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33" name="Shape 4"/>
          <p:cNvSpPr/>
          <p:nvPr/>
        </p:nvSpPr>
        <p:spPr>
          <a:xfrm>
            <a:off x="411480" y="1143000"/>
            <a:ext cx="593640" cy="59364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4" name="Text 5"/>
          <p:cNvSpPr/>
          <p:nvPr/>
        </p:nvSpPr>
        <p:spPr>
          <a:xfrm>
            <a:off x="411480" y="1143000"/>
            <a:ext cx="59364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DejaVu Sans"/>
              </a:rPr>
              <a:t>1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235" name="Text 6"/>
          <p:cNvSpPr/>
          <p:nvPr/>
        </p:nvSpPr>
        <p:spPr>
          <a:xfrm>
            <a:off x="1143000" y="1124640"/>
            <a:ext cx="74973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a2e3d"/>
                </a:solidFill>
                <a:latin typeface="Calibri"/>
                <a:ea typeface="DejaVu Sans"/>
              </a:rPr>
              <a:t>Create virtual environment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36" name="Text 7"/>
          <p:cNvSpPr/>
          <p:nvPr/>
        </p:nvSpPr>
        <p:spPr>
          <a:xfrm>
            <a:off x="1143000" y="1435680"/>
            <a:ext cx="74973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4a5c"/>
                </a:solidFill>
                <a:latin typeface="Calibri"/>
                <a:ea typeface="DejaVu Sans"/>
              </a:rPr>
              <a:t>Isolate your project dependencies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37" name="Shape 8"/>
          <p:cNvSpPr/>
          <p:nvPr/>
        </p:nvSpPr>
        <p:spPr>
          <a:xfrm>
            <a:off x="320040" y="2020680"/>
            <a:ext cx="8503200" cy="803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38" name="Shape 9"/>
          <p:cNvSpPr/>
          <p:nvPr/>
        </p:nvSpPr>
        <p:spPr>
          <a:xfrm>
            <a:off x="411480" y="2112120"/>
            <a:ext cx="593640" cy="59364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9" name="Text 10"/>
          <p:cNvSpPr/>
          <p:nvPr/>
        </p:nvSpPr>
        <p:spPr>
          <a:xfrm>
            <a:off x="411480" y="2112120"/>
            <a:ext cx="59364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DejaVu Sans"/>
              </a:rPr>
              <a:t>2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240" name="Text 11"/>
          <p:cNvSpPr/>
          <p:nvPr/>
        </p:nvSpPr>
        <p:spPr>
          <a:xfrm>
            <a:off x="1143000" y="2094120"/>
            <a:ext cx="74973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a2e3d"/>
                </a:solidFill>
                <a:latin typeface="Calibri"/>
                <a:ea typeface="DejaVu Sans"/>
              </a:rPr>
              <a:t>Install required packages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41" name="Text 12"/>
          <p:cNvSpPr/>
          <p:nvPr/>
        </p:nvSpPr>
        <p:spPr>
          <a:xfrm>
            <a:off x="1143000" y="2404800"/>
            <a:ext cx="74973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4a5c"/>
                </a:solidFill>
                <a:latin typeface="Calibri"/>
                <a:ea typeface="DejaVu Sans"/>
              </a:rPr>
              <a:t>langchain, langchain-core, langchain-openai, langchain-anthropic, langchain-google-genai, langchain-huggingface, python-dotenv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42" name="Shape 13"/>
          <p:cNvSpPr/>
          <p:nvPr/>
        </p:nvSpPr>
        <p:spPr>
          <a:xfrm>
            <a:off x="320040" y="2990160"/>
            <a:ext cx="8503200" cy="803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43" name="Shape 14"/>
          <p:cNvSpPr/>
          <p:nvPr/>
        </p:nvSpPr>
        <p:spPr>
          <a:xfrm>
            <a:off x="411480" y="3081600"/>
            <a:ext cx="593640" cy="59364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4" name="Text 15"/>
          <p:cNvSpPr/>
          <p:nvPr/>
        </p:nvSpPr>
        <p:spPr>
          <a:xfrm>
            <a:off x="411480" y="3081600"/>
            <a:ext cx="59364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DejaVu Sans"/>
              </a:rPr>
              <a:t>3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245" name="Text 16"/>
          <p:cNvSpPr/>
          <p:nvPr/>
        </p:nvSpPr>
        <p:spPr>
          <a:xfrm>
            <a:off x="1143000" y="3063240"/>
            <a:ext cx="74973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a2e3d"/>
                </a:solidFill>
                <a:latin typeface="Calibri"/>
                <a:ea typeface="DejaVu Sans"/>
              </a:rPr>
              <a:t>Set up .env file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46" name="Text 17"/>
          <p:cNvSpPr/>
          <p:nvPr/>
        </p:nvSpPr>
        <p:spPr>
          <a:xfrm>
            <a:off x="1143000" y="3374280"/>
            <a:ext cx="74973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4a5c"/>
                </a:solidFill>
                <a:latin typeface="Calibri"/>
                <a:ea typeface="DejaVu Sans"/>
              </a:rPr>
              <a:t>Store API keys securely (never hardcode!)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47" name="Shape 18"/>
          <p:cNvSpPr/>
          <p:nvPr/>
        </p:nvSpPr>
        <p:spPr>
          <a:xfrm>
            <a:off x="320040" y="3959280"/>
            <a:ext cx="8503200" cy="803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48" name="Shape 19"/>
          <p:cNvSpPr/>
          <p:nvPr/>
        </p:nvSpPr>
        <p:spPr>
          <a:xfrm>
            <a:off x="411480" y="4050720"/>
            <a:ext cx="593640" cy="59364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9" name="Text 20"/>
          <p:cNvSpPr/>
          <p:nvPr/>
        </p:nvSpPr>
        <p:spPr>
          <a:xfrm>
            <a:off x="411480" y="4050720"/>
            <a:ext cx="59364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DejaVu Sans"/>
              </a:rPr>
              <a:t>4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250" name="Text 21"/>
          <p:cNvSpPr/>
          <p:nvPr/>
        </p:nvSpPr>
        <p:spPr>
          <a:xfrm>
            <a:off x="1143000" y="4032360"/>
            <a:ext cx="74973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a2e3d"/>
                </a:solidFill>
                <a:latin typeface="Calibri"/>
                <a:ea typeface="DejaVu Sans"/>
              </a:rPr>
              <a:t>Verify installation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51" name="Text 22"/>
          <p:cNvSpPr/>
          <p:nvPr/>
        </p:nvSpPr>
        <p:spPr>
          <a:xfrm>
            <a:off x="1143000" y="4343400"/>
            <a:ext cx="74973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4a5c"/>
                </a:solidFill>
                <a:latin typeface="Calibri"/>
                <a:ea typeface="DejaVu Sans"/>
              </a:rPr>
              <a:t>Import langchain_core and check version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Shape 0"/>
          <p:cNvSpPr/>
          <p:nvPr/>
        </p:nvSpPr>
        <p:spPr>
          <a:xfrm>
            <a:off x="0" y="0"/>
            <a:ext cx="163800" cy="514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3" name="Shape 1"/>
          <p:cNvSpPr/>
          <p:nvPr/>
        </p:nvSpPr>
        <p:spPr>
          <a:xfrm>
            <a:off x="0" y="0"/>
            <a:ext cx="9143280" cy="913680"/>
          </a:xfrm>
          <a:prstGeom prst="rect">
            <a:avLst/>
          </a:prstGeom>
          <a:solidFill>
            <a:srgbClr val="070d14"/>
          </a:solidFill>
          <a:ln w="12700">
            <a:solidFill>
              <a:srgbClr val="070d1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4" name="Text 2"/>
          <p:cNvSpPr/>
          <p:nvPr/>
        </p:nvSpPr>
        <p:spPr>
          <a:xfrm>
            <a:off x="365760" y="109800"/>
            <a:ext cx="822888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Environment Setup Commands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255" name="Shape 3"/>
          <p:cNvSpPr/>
          <p:nvPr/>
        </p:nvSpPr>
        <p:spPr>
          <a:xfrm>
            <a:off x="320040" y="1005840"/>
            <a:ext cx="5485680" cy="38397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6" name="Text 4"/>
          <p:cNvSpPr/>
          <p:nvPr/>
        </p:nvSpPr>
        <p:spPr>
          <a:xfrm>
            <a:off x="457200" y="1097280"/>
            <a:ext cx="5302800" cy="365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050" spc="-1" strike="noStrike">
                <a:solidFill>
                  <a:srgbClr val="6b7280"/>
                </a:solidFill>
                <a:latin typeface="Consolas"/>
                <a:ea typeface="Consolas"/>
              </a:rPr>
              <a:t># Create virtual environment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79c0ff"/>
                </a:solidFill>
                <a:latin typeface="Consolas"/>
                <a:ea typeface="Consolas"/>
              </a:rPr>
              <a:t>python -m venv env_langchain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fffff"/>
                </a:solidFill>
                <a:latin typeface="Consolas"/>
                <a:ea typeface="Consolas"/>
              </a:rPr>
              <a:t> 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b7280"/>
                </a:solidFill>
                <a:latin typeface="Consolas"/>
                <a:ea typeface="Consolas"/>
              </a:rPr>
              <a:t># Activate (Windows)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79c0ff"/>
                </a:solidFill>
                <a:latin typeface="Consolas"/>
                <a:ea typeface="Consolas"/>
              </a:rPr>
              <a:t>env_langchain\Scripts\activate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fffff"/>
                </a:solidFill>
                <a:latin typeface="Consolas"/>
                <a:ea typeface="Consolas"/>
              </a:rPr>
              <a:t> 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b7280"/>
                </a:solidFill>
                <a:latin typeface="Consolas"/>
                <a:ea typeface="Consolas"/>
              </a:rPr>
              <a:t># Activate (Linux/Mac)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79c0ff"/>
                </a:solidFill>
                <a:latin typeface="Consolas"/>
                <a:ea typeface="Consolas"/>
              </a:rPr>
              <a:t>source env_langchain/bin/activate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fffff"/>
                </a:solidFill>
                <a:latin typeface="Consolas"/>
                <a:ea typeface="Consolas"/>
              </a:rPr>
              <a:t> 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b7280"/>
                </a:solidFill>
                <a:latin typeface="Consolas"/>
                <a:ea typeface="Consolas"/>
              </a:rPr>
              <a:t># Install dependencies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fd166"/>
                </a:solidFill>
                <a:latin typeface="Consolas"/>
                <a:ea typeface="Consolas"/>
              </a:rPr>
              <a:t>pip install langchain langchain-openai langchain-anthropic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fd166"/>
                </a:solidFill>
                <a:latin typeface="Consolas"/>
                <a:ea typeface="Consolas"/>
              </a:rPr>
              <a:t>pip install langchain-google-genai python-dotenv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57" name="Shape 5"/>
          <p:cNvSpPr/>
          <p:nvPr/>
        </p:nvSpPr>
        <p:spPr>
          <a:xfrm>
            <a:off x="6035040" y="1005840"/>
            <a:ext cx="2833920" cy="1370880"/>
          </a:xfrm>
          <a:prstGeom prst="rect">
            <a:avLst/>
          </a:prstGeom>
          <a:solidFill>
            <a:srgbClr val="0d1117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8" name="Text 6"/>
          <p:cNvSpPr/>
          <p:nvPr/>
        </p:nvSpPr>
        <p:spPr>
          <a:xfrm>
            <a:off x="6035040" y="1005840"/>
            <a:ext cx="28339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06d6a0"/>
                </a:solidFill>
                <a:latin typeface="Calibri"/>
                <a:ea typeface="DejaVu Sans"/>
              </a:rPr>
              <a:t>OUTPUT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59" name="Text 7"/>
          <p:cNvSpPr/>
          <p:nvPr/>
        </p:nvSpPr>
        <p:spPr>
          <a:xfrm>
            <a:off x="6126480" y="1417320"/>
            <a:ext cx="27424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6d6a0"/>
                </a:solidFill>
                <a:latin typeface="Consolas"/>
                <a:ea typeface="Consolas"/>
              </a:rPr>
              <a:t>0.3.18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60" name="Shape 8"/>
          <p:cNvSpPr/>
          <p:nvPr/>
        </p:nvSpPr>
        <p:spPr>
          <a:xfrm>
            <a:off x="6035040" y="2560320"/>
            <a:ext cx="2833920" cy="1645200"/>
          </a:xfrm>
          <a:prstGeom prst="rect">
            <a:avLst/>
          </a:prstGeom>
          <a:solidFill>
            <a:srgbClr val="0d1117"/>
          </a:solidFill>
          <a:ln w="12700">
            <a:solidFill>
              <a:srgbClr val="79c0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1" name="Text 9"/>
          <p:cNvSpPr/>
          <p:nvPr/>
        </p:nvSpPr>
        <p:spPr>
          <a:xfrm>
            <a:off x="6035040" y="2560320"/>
            <a:ext cx="28339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79c0ff"/>
                </a:solidFill>
                <a:latin typeface="Calibri"/>
                <a:ea typeface="DejaVu Sans"/>
              </a:rPr>
              <a:t>VERIFY: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62" name="Text 10"/>
          <p:cNvSpPr/>
          <p:nvPr/>
        </p:nvSpPr>
        <p:spPr>
          <a:xfrm>
            <a:off x="6126480" y="2944440"/>
            <a:ext cx="274248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fd166"/>
                </a:solidFill>
                <a:latin typeface="Consolas"/>
                <a:ea typeface="Consolas"/>
              </a:rPr>
              <a:t>import langchain_core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fd166"/>
                </a:solidFill>
                <a:latin typeface="Consolas"/>
                <a:ea typeface="Consolas"/>
              </a:rPr>
              <a:t>print(langchain_core.__version__)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Shape 0"/>
          <p:cNvSpPr/>
          <p:nvPr/>
        </p:nvSpPr>
        <p:spPr>
          <a:xfrm>
            <a:off x="0" y="0"/>
            <a:ext cx="163800" cy="514296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4" name="Shape 1"/>
          <p:cNvSpPr/>
          <p:nvPr/>
        </p:nvSpPr>
        <p:spPr>
          <a:xfrm>
            <a:off x="0" y="0"/>
            <a:ext cx="9143280" cy="913680"/>
          </a:xfrm>
          <a:prstGeom prst="rect">
            <a:avLst/>
          </a:prstGeom>
          <a:solidFill>
            <a:srgbClr val="1a2e3d"/>
          </a:solidFill>
          <a:ln w="12700">
            <a:solidFill>
              <a:srgbClr val="1a2e3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5" name="Text 2"/>
          <p:cNvSpPr/>
          <p:nvPr/>
        </p:nvSpPr>
        <p:spPr>
          <a:xfrm>
            <a:off x="365760" y="109800"/>
            <a:ext cx="822888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API Key Management — Best Practices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266" name="Shape 3"/>
          <p:cNvSpPr/>
          <p:nvPr/>
        </p:nvSpPr>
        <p:spPr>
          <a:xfrm>
            <a:off x="320040" y="1005840"/>
            <a:ext cx="8503200" cy="547920"/>
          </a:xfrm>
          <a:prstGeom prst="rect">
            <a:avLst/>
          </a:prstGeom>
          <a:solidFill>
            <a:srgbClr val="ef476f">
              <a:alpha val="90000"/>
            </a:srgbClr>
          </a:solidFill>
          <a:ln w="12700">
            <a:solidFill>
              <a:srgbClr val="ef476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7" name="Text 4"/>
          <p:cNvSpPr/>
          <p:nvPr/>
        </p:nvSpPr>
        <p:spPr>
          <a:xfrm>
            <a:off x="320040" y="1005840"/>
            <a:ext cx="850320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DejaVu Sans"/>
              </a:rPr>
              <a:t>⚠️  </a:t>
            </a: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DejaVu Sans"/>
              </a:rPr>
              <a:t>NEVER hardcode API keys in your source code — Always use .env files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68" name="Shape 5"/>
          <p:cNvSpPr/>
          <p:nvPr/>
        </p:nvSpPr>
        <p:spPr>
          <a:xfrm>
            <a:off x="320040" y="1719000"/>
            <a:ext cx="4159800" cy="822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69" name="Shape 6"/>
          <p:cNvSpPr/>
          <p:nvPr/>
        </p:nvSpPr>
        <p:spPr>
          <a:xfrm>
            <a:off x="320040" y="1719000"/>
            <a:ext cx="109080" cy="82224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0" name="Text 7"/>
          <p:cNvSpPr/>
          <p:nvPr/>
        </p:nvSpPr>
        <p:spPr>
          <a:xfrm>
            <a:off x="548640" y="1792080"/>
            <a:ext cx="3748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a2e3d"/>
                </a:solidFill>
                <a:latin typeface="Consolas"/>
                <a:ea typeface="Consolas"/>
              </a:rPr>
              <a:t>OPENAI_API_KEY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71" name="Text 8"/>
          <p:cNvSpPr/>
          <p:nvPr/>
        </p:nvSpPr>
        <p:spPr>
          <a:xfrm>
            <a:off x="548640" y="2157840"/>
            <a:ext cx="3748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5f8099"/>
                </a:solidFill>
                <a:latin typeface="Calibri"/>
                <a:ea typeface="DejaVu Sans"/>
              </a:rPr>
              <a:t>OpenAI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72" name="Shape 9"/>
          <p:cNvSpPr/>
          <p:nvPr/>
        </p:nvSpPr>
        <p:spPr>
          <a:xfrm>
            <a:off x="4709160" y="1719000"/>
            <a:ext cx="4159800" cy="822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73" name="Shape 10"/>
          <p:cNvSpPr/>
          <p:nvPr/>
        </p:nvSpPr>
        <p:spPr>
          <a:xfrm>
            <a:off x="4709160" y="1719000"/>
            <a:ext cx="109080" cy="822240"/>
          </a:xfrm>
          <a:prstGeom prst="rect">
            <a:avLst/>
          </a:prstGeom>
          <a:solidFill>
            <a:srgbClr val="2c4a5c"/>
          </a:solidFill>
          <a:ln w="12700">
            <a:solidFill>
              <a:srgbClr val="2c4a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4" name="Text 11"/>
          <p:cNvSpPr/>
          <p:nvPr/>
        </p:nvSpPr>
        <p:spPr>
          <a:xfrm>
            <a:off x="4937760" y="1792080"/>
            <a:ext cx="3748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a2e3d"/>
                </a:solidFill>
                <a:latin typeface="Consolas"/>
                <a:ea typeface="Consolas"/>
              </a:rPr>
              <a:t>ANTHROPIC_API_KEY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75" name="Text 12"/>
          <p:cNvSpPr/>
          <p:nvPr/>
        </p:nvSpPr>
        <p:spPr>
          <a:xfrm>
            <a:off x="4937760" y="2157840"/>
            <a:ext cx="3748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5f8099"/>
                </a:solidFill>
                <a:latin typeface="Calibri"/>
                <a:ea typeface="DejaVu Sans"/>
              </a:rPr>
              <a:t>Anthropic / Claude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76" name="Shape 13"/>
          <p:cNvSpPr/>
          <p:nvPr/>
        </p:nvSpPr>
        <p:spPr>
          <a:xfrm>
            <a:off x="320040" y="2724840"/>
            <a:ext cx="4159800" cy="822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77" name="Shape 14"/>
          <p:cNvSpPr/>
          <p:nvPr/>
        </p:nvSpPr>
        <p:spPr>
          <a:xfrm>
            <a:off x="320040" y="2724840"/>
            <a:ext cx="109080" cy="8222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8" name="Text 15"/>
          <p:cNvSpPr/>
          <p:nvPr/>
        </p:nvSpPr>
        <p:spPr>
          <a:xfrm>
            <a:off x="548640" y="2797920"/>
            <a:ext cx="3748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a2e3d"/>
                </a:solidFill>
                <a:latin typeface="Consolas"/>
                <a:ea typeface="Consolas"/>
              </a:rPr>
              <a:t>GOOGLE_API_KEY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79" name="Text 16"/>
          <p:cNvSpPr/>
          <p:nvPr/>
        </p:nvSpPr>
        <p:spPr>
          <a:xfrm>
            <a:off x="548640" y="3163680"/>
            <a:ext cx="3748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5f8099"/>
                </a:solidFill>
                <a:latin typeface="Calibri"/>
                <a:ea typeface="DejaVu Sans"/>
              </a:rPr>
              <a:t>Google Gemini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80" name="Shape 17"/>
          <p:cNvSpPr/>
          <p:nvPr/>
        </p:nvSpPr>
        <p:spPr>
          <a:xfrm>
            <a:off x="4709160" y="2724840"/>
            <a:ext cx="4159800" cy="822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81" name="Shape 18"/>
          <p:cNvSpPr/>
          <p:nvPr/>
        </p:nvSpPr>
        <p:spPr>
          <a:xfrm>
            <a:off x="4709160" y="2724840"/>
            <a:ext cx="109080" cy="82224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2" name="Text 19"/>
          <p:cNvSpPr/>
          <p:nvPr/>
        </p:nvSpPr>
        <p:spPr>
          <a:xfrm>
            <a:off x="4937760" y="2797920"/>
            <a:ext cx="3748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a2e3d"/>
                </a:solidFill>
                <a:latin typeface="Consolas"/>
                <a:ea typeface="Consolas"/>
              </a:rPr>
              <a:t>HUGGINGFACEHUB_ACCESS_TOKEN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83" name="Text 20"/>
          <p:cNvSpPr/>
          <p:nvPr/>
        </p:nvSpPr>
        <p:spPr>
          <a:xfrm>
            <a:off x="4937760" y="3163680"/>
            <a:ext cx="3748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5f8099"/>
                </a:solidFill>
                <a:latin typeface="Calibri"/>
                <a:ea typeface="DejaVu Sans"/>
              </a:rPr>
              <a:t>HuggingFace Hub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84" name="Shape 21"/>
          <p:cNvSpPr/>
          <p:nvPr/>
        </p:nvSpPr>
        <p:spPr>
          <a:xfrm>
            <a:off x="320040" y="3858840"/>
            <a:ext cx="8503200" cy="1005120"/>
          </a:xfrm>
          <a:prstGeom prst="rect">
            <a:avLst/>
          </a:prstGeom>
          <a:solidFill>
            <a:srgbClr val="0d1117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5" name="Text 22"/>
          <p:cNvSpPr/>
          <p:nvPr/>
        </p:nvSpPr>
        <p:spPr>
          <a:xfrm>
            <a:off x="457200" y="3858840"/>
            <a:ext cx="822888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6d6a0"/>
                </a:solidFill>
                <a:latin typeface="Calibri"/>
                <a:ea typeface="DejaVu Sans"/>
              </a:rPr>
              <a:t>✓  </a:t>
            </a:r>
            <a:r>
              <a:rPr b="0" lang="en-US" sz="1200" spc="-1" strike="noStrike">
                <a:solidFill>
                  <a:srgbClr val="e8f4f8"/>
                </a:solidFill>
                <a:latin typeface="Calibri"/>
                <a:ea typeface="DejaVu Sans"/>
              </a:rPr>
              <a:t>Add .env to .gitignore  </a:t>
            </a:r>
            <a:r>
              <a:rPr b="1" lang="en-US" sz="1200" spc="-1" strike="noStrike">
                <a:solidFill>
                  <a:srgbClr val="06d6a0"/>
                </a:solidFill>
                <a:latin typeface="Calibri"/>
                <a:ea typeface="DejaVu Sans"/>
              </a:rPr>
              <a:t>✓  </a:t>
            </a:r>
            <a:r>
              <a:rPr b="0" lang="en-US" sz="1200" spc="-1" strike="noStrike">
                <a:solidFill>
                  <a:srgbClr val="e8f4f8"/>
                </a:solidFill>
                <a:latin typeface="Calibri"/>
                <a:ea typeface="DejaVu Sans"/>
              </a:rPr>
              <a:t>Load with: </a:t>
            </a:r>
            <a:r>
              <a:rPr b="0" lang="en-US" sz="1200" spc="-1" strike="noStrike">
                <a:solidFill>
                  <a:srgbClr val="79c0ff"/>
                </a:solidFill>
                <a:latin typeface="Consolas"/>
                <a:ea typeface="Consolas"/>
              </a:rPr>
              <a:t>load_dotenv()</a:t>
            </a:r>
            <a:r>
              <a:rPr b="1" lang="en-US" sz="1200" spc="-1" strike="noStrike">
                <a:solidFill>
                  <a:srgbClr val="06d6a0"/>
                </a:solidFill>
                <a:latin typeface="Calibri"/>
                <a:ea typeface="Consolas"/>
              </a:rPr>
              <a:t>  ✓  </a:t>
            </a:r>
            <a:r>
              <a:rPr b="0" lang="en-US" sz="1200" spc="-1" strike="noStrike">
                <a:solidFill>
                  <a:srgbClr val="e8f4f8"/>
                </a:solidFill>
                <a:latin typeface="Calibri"/>
                <a:ea typeface="Consolas"/>
              </a:rPr>
              <a:t>Never commit secrets to git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Shape 0"/>
          <p:cNvSpPr/>
          <p:nvPr/>
        </p:nvSpPr>
        <p:spPr>
          <a:xfrm>
            <a:off x="0" y="0"/>
            <a:ext cx="163800" cy="51429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7" name="Shape 1"/>
          <p:cNvSpPr/>
          <p:nvPr/>
        </p:nvSpPr>
        <p:spPr>
          <a:xfrm>
            <a:off x="0" y="0"/>
            <a:ext cx="9143280" cy="913680"/>
          </a:xfrm>
          <a:prstGeom prst="rect">
            <a:avLst/>
          </a:prstGeom>
          <a:solidFill>
            <a:srgbClr val="070d14"/>
          </a:solidFill>
          <a:ln w="12700">
            <a:solidFill>
              <a:srgbClr val="070d1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8" name="Text 2"/>
          <p:cNvSpPr/>
          <p:nvPr/>
        </p:nvSpPr>
        <p:spPr>
          <a:xfrm>
            <a:off x="365760" y="109800"/>
            <a:ext cx="822888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Loading API Keys from .env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289" name="Shape 3"/>
          <p:cNvSpPr/>
          <p:nvPr/>
        </p:nvSpPr>
        <p:spPr>
          <a:xfrm>
            <a:off x="320040" y="720000"/>
            <a:ext cx="5619600" cy="442332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0" name="Text 4"/>
          <p:cNvSpPr/>
          <p:nvPr/>
        </p:nvSpPr>
        <p:spPr>
          <a:xfrm>
            <a:off x="457200" y="1097280"/>
            <a:ext cx="5485680" cy="365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050" spc="-1" strike="noStrike">
                <a:solidFill>
                  <a:srgbClr val="6b7280"/>
                </a:solidFill>
                <a:latin typeface="Consolas"/>
                <a:ea typeface="Consolas"/>
              </a:rPr>
              <a:t># .env file contents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b7280"/>
                </a:solidFill>
                <a:latin typeface="Consolas"/>
                <a:ea typeface="Consolas"/>
              </a:rPr>
              <a:t># OPENAI_API_KEY=sk-proj-abc123...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b7280"/>
                </a:solidFill>
                <a:latin typeface="Consolas"/>
                <a:ea typeface="Consolas"/>
              </a:rPr>
              <a:t># ANTHROPIC_API_KEY=sk-ant-xyz789...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b7280"/>
                </a:solidFill>
                <a:latin typeface="Consolas"/>
                <a:ea typeface="Consolas"/>
              </a:rPr>
              <a:t># GOOGLE_API_KEY=AIza123...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79c0ff"/>
                </a:solidFill>
                <a:latin typeface="Consolas"/>
                <a:ea typeface="Consolas"/>
              </a:rPr>
              <a:t>from dotenv import load_dotenv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79c0ff"/>
                </a:solidFill>
                <a:latin typeface="Consolas"/>
                <a:ea typeface="Consolas"/>
              </a:rPr>
              <a:t>import os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fffff"/>
                </a:solidFill>
                <a:latin typeface="Consolas"/>
                <a:ea typeface="Consolas"/>
              </a:rPr>
              <a:t> </a:t>
            </a:r>
            <a:r>
              <a:rPr b="0" lang="en-US" sz="1050" spc="-1" strike="noStrike">
                <a:solidFill>
                  <a:srgbClr val="6b7280"/>
                </a:solidFill>
                <a:latin typeface="Consolas"/>
                <a:ea typeface="Consolas"/>
              </a:rPr>
              <a:t># Load environment variables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fd166"/>
                </a:solidFill>
                <a:latin typeface="Consolas"/>
                <a:ea typeface="Consolas"/>
              </a:rPr>
              <a:t>load_dotenv()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fffff"/>
                </a:solidFill>
                <a:latin typeface="Consolas"/>
                <a:ea typeface="Consolas"/>
              </a:rPr>
              <a:t> </a:t>
            </a:r>
            <a:r>
              <a:rPr b="0" lang="en-US" sz="1050" spc="-1" strike="noStrike">
                <a:solidFill>
                  <a:srgbClr val="6b7280"/>
                </a:solidFill>
                <a:latin typeface="Consolas"/>
                <a:ea typeface="Consolas"/>
              </a:rPr>
              <a:t># Access keys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79c0ff"/>
                </a:solidFill>
                <a:latin typeface="Consolas"/>
                <a:ea typeface="Consolas"/>
              </a:rPr>
              <a:t>api_key = os.getenv('OPENAI_API_KEY')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79c0ff"/>
                </a:solidFill>
                <a:latin typeface="Consolas"/>
                <a:ea typeface="Consolas"/>
              </a:rPr>
              <a:t>print(f"Key loaded: {api_key[:10]}...")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91" name="Shape 5"/>
          <p:cNvSpPr/>
          <p:nvPr/>
        </p:nvSpPr>
        <p:spPr>
          <a:xfrm>
            <a:off x="6126480" y="1005840"/>
            <a:ext cx="2742480" cy="1370880"/>
          </a:xfrm>
          <a:prstGeom prst="rect">
            <a:avLst/>
          </a:prstGeom>
          <a:solidFill>
            <a:srgbClr val="0d1117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2" name="Text 6"/>
          <p:cNvSpPr/>
          <p:nvPr/>
        </p:nvSpPr>
        <p:spPr>
          <a:xfrm>
            <a:off x="6126480" y="1005840"/>
            <a:ext cx="27424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06d6a0"/>
                </a:solidFill>
                <a:latin typeface="Calibri"/>
                <a:ea typeface="DejaVu Sans"/>
              </a:rPr>
              <a:t>OUTPUT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93" name="Text 7"/>
          <p:cNvSpPr/>
          <p:nvPr/>
        </p:nvSpPr>
        <p:spPr>
          <a:xfrm>
            <a:off x="6217920" y="1417320"/>
            <a:ext cx="25596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6d6a0"/>
                </a:solidFill>
                <a:latin typeface="Consolas"/>
                <a:ea typeface="Consolas"/>
              </a:rPr>
              <a:t>Key loaded: sk-proj-ab...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94" name="Shape 8"/>
          <p:cNvSpPr/>
          <p:nvPr/>
        </p:nvSpPr>
        <p:spPr>
          <a:xfrm>
            <a:off x="6126480" y="2560320"/>
            <a:ext cx="2742480" cy="2285280"/>
          </a:xfrm>
          <a:prstGeom prst="rect">
            <a:avLst/>
          </a:prstGeom>
          <a:solidFill>
            <a:srgbClr val="0d1117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5" name="Text 9"/>
          <p:cNvSpPr/>
          <p:nvPr/>
        </p:nvSpPr>
        <p:spPr>
          <a:xfrm>
            <a:off x="6126480" y="2560320"/>
            <a:ext cx="2742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fb703"/>
                </a:solidFill>
                <a:latin typeface="Calibri"/>
                <a:ea typeface="DejaVu Sans"/>
              </a:rPr>
              <a:t>SECURITY TIPS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96" name="Text 10"/>
          <p:cNvSpPr/>
          <p:nvPr/>
        </p:nvSpPr>
        <p:spPr>
          <a:xfrm>
            <a:off x="6263640" y="2999160"/>
            <a:ext cx="25138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8f4f8"/>
                </a:solidFill>
                <a:latin typeface="Calibri"/>
                <a:ea typeface="DejaVu Sans"/>
              </a:rPr>
              <a:t>• </a:t>
            </a:r>
            <a:r>
              <a:rPr b="0" lang="en-US" sz="1100" spc="-1" strike="noStrike">
                <a:solidFill>
                  <a:srgbClr val="e8f4f8"/>
                </a:solidFill>
                <a:latin typeface="Calibri"/>
                <a:ea typeface="DejaVu Sans"/>
              </a:rPr>
              <a:t>Never commit .env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97" name="Text 11"/>
          <p:cNvSpPr/>
          <p:nvPr/>
        </p:nvSpPr>
        <p:spPr>
          <a:xfrm>
            <a:off x="6263640" y="3438000"/>
            <a:ext cx="25138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8f4f8"/>
                </a:solidFill>
                <a:latin typeface="Calibri"/>
                <a:ea typeface="DejaVu Sans"/>
              </a:rPr>
              <a:t>• </a:t>
            </a:r>
            <a:r>
              <a:rPr b="0" lang="en-US" sz="1100" spc="-1" strike="noStrike">
                <a:solidFill>
                  <a:srgbClr val="e8f4f8"/>
                </a:solidFill>
                <a:latin typeface="Calibri"/>
                <a:ea typeface="DejaVu Sans"/>
              </a:rPr>
              <a:t>Add to .gitignore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98" name="Text 12"/>
          <p:cNvSpPr/>
          <p:nvPr/>
        </p:nvSpPr>
        <p:spPr>
          <a:xfrm>
            <a:off x="6263640" y="3877200"/>
            <a:ext cx="25138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8f4f8"/>
                </a:solidFill>
                <a:latin typeface="Calibri"/>
                <a:ea typeface="DejaVu Sans"/>
              </a:rPr>
              <a:t>• </a:t>
            </a:r>
            <a:r>
              <a:rPr b="0" lang="en-US" sz="1100" spc="-1" strike="noStrike">
                <a:solidFill>
                  <a:srgbClr val="e8f4f8"/>
                </a:solidFill>
                <a:latin typeface="Calibri"/>
                <a:ea typeface="DejaVu Sans"/>
              </a:rPr>
              <a:t>Use env variables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99" name="Text 13"/>
          <p:cNvSpPr/>
          <p:nvPr/>
        </p:nvSpPr>
        <p:spPr>
          <a:xfrm>
            <a:off x="6263640" y="4316040"/>
            <a:ext cx="25138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8f4f8"/>
                </a:solidFill>
                <a:latin typeface="Calibri"/>
                <a:ea typeface="DejaVu Sans"/>
              </a:rPr>
              <a:t>• </a:t>
            </a:r>
            <a:r>
              <a:rPr b="0" lang="en-US" sz="1100" spc="-1" strike="noStrike">
                <a:solidFill>
                  <a:srgbClr val="e8f4f8"/>
                </a:solidFill>
                <a:latin typeface="Calibri"/>
                <a:ea typeface="DejaVu Sans"/>
              </a:rPr>
              <a:t>Rotate keys regularly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b4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Shape 0"/>
          <p:cNvSpPr/>
          <p:nvPr/>
        </p:nvSpPr>
        <p:spPr>
          <a:xfrm>
            <a:off x="0" y="0"/>
            <a:ext cx="9143280" cy="514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1" name="Shape 1"/>
          <p:cNvSpPr/>
          <p:nvPr/>
        </p:nvSpPr>
        <p:spPr>
          <a:xfrm>
            <a:off x="-914400" y="1828800"/>
            <a:ext cx="4571280" cy="4571280"/>
          </a:xfrm>
          <a:prstGeom prst="ellipse">
            <a:avLst/>
          </a:prstGeom>
          <a:solidFill>
            <a:srgbClr val="0a1628">
              <a:alpha val="25000"/>
            </a:srgbClr>
          </a:solidFill>
          <a:ln w="12700">
            <a:solidFill>
              <a:srgbClr val="0a1628">
                <a:alpha val="2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2" name="Shape 2"/>
          <p:cNvSpPr/>
          <p:nvPr/>
        </p:nvSpPr>
        <p:spPr>
          <a:xfrm>
            <a:off x="6858000" y="-457200"/>
            <a:ext cx="3656880" cy="365688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3" name="Shape 3"/>
          <p:cNvSpPr/>
          <p:nvPr/>
        </p:nvSpPr>
        <p:spPr>
          <a:xfrm>
            <a:off x="640080" y="1645920"/>
            <a:ext cx="109080" cy="1645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4" name="Text 4"/>
          <p:cNvSpPr/>
          <p:nvPr/>
        </p:nvSpPr>
        <p:spPr>
          <a:xfrm>
            <a:off x="914400" y="1554480"/>
            <a:ext cx="64000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e8f4f8"/>
                </a:solidFill>
                <a:latin typeface="Calibri"/>
                <a:ea typeface="DejaVu Sans"/>
              </a:rPr>
              <a:t>Part 3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305" name="Text 5"/>
          <p:cNvSpPr/>
          <p:nvPr/>
        </p:nvSpPr>
        <p:spPr>
          <a:xfrm>
            <a:off x="914400" y="2011680"/>
            <a:ext cx="7314480" cy="13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Calibri"/>
                <a:ea typeface="Calibri"/>
              </a:rPr>
              <a:t>Working with</a:t>
            </a:r>
            <a:endParaRPr b="0" lang="en-IN" sz="4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Calibri"/>
                <a:ea typeface="Calibri"/>
              </a:rPr>
              <a:t>Language Models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306" name="Text 6"/>
          <p:cNvSpPr/>
          <p:nvPr/>
        </p:nvSpPr>
        <p:spPr>
          <a:xfrm>
            <a:off x="914400" y="3657600"/>
            <a:ext cx="7314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e8f4f8"/>
                </a:solidFill>
                <a:latin typeface="Calibri"/>
                <a:ea typeface="DejaVu Sans"/>
              </a:rPr>
              <a:t>Hands-on with OpenAI, Anthropic, and Google models</a:t>
            </a:r>
            <a:endParaRPr b="0" lang="en-IN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Shape 0"/>
          <p:cNvSpPr/>
          <p:nvPr/>
        </p:nvSpPr>
        <p:spPr>
          <a:xfrm>
            <a:off x="0" y="0"/>
            <a:ext cx="163800" cy="514296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8" name="Shape 1"/>
          <p:cNvSpPr/>
          <p:nvPr/>
        </p:nvSpPr>
        <p:spPr>
          <a:xfrm>
            <a:off x="0" y="0"/>
            <a:ext cx="9143280" cy="913680"/>
          </a:xfrm>
          <a:prstGeom prst="rect">
            <a:avLst/>
          </a:prstGeom>
          <a:solidFill>
            <a:srgbClr val="070d14"/>
          </a:solidFill>
          <a:ln w="12700">
            <a:solidFill>
              <a:srgbClr val="070d1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9" name="Text 2"/>
          <p:cNvSpPr/>
          <p:nvPr/>
        </p:nvSpPr>
        <p:spPr>
          <a:xfrm>
            <a:off x="365760" y="109800"/>
            <a:ext cx="822888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LLM Implementation (Legacy)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310" name="Shape 3"/>
          <p:cNvSpPr/>
          <p:nvPr/>
        </p:nvSpPr>
        <p:spPr>
          <a:xfrm>
            <a:off x="320040" y="1005840"/>
            <a:ext cx="3199680" cy="383400"/>
          </a:xfrm>
          <a:prstGeom prst="rect">
            <a:avLst/>
          </a:prstGeom>
          <a:solidFill>
            <a:srgbClr val="ffb703">
              <a:alpha val="80000"/>
            </a:srgbClr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1" name="Text 4"/>
          <p:cNvSpPr/>
          <p:nvPr/>
        </p:nvSpPr>
        <p:spPr>
          <a:xfrm>
            <a:off x="320040" y="1005840"/>
            <a:ext cx="319968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b703"/>
                </a:solidFill>
                <a:latin typeface="Calibri"/>
                <a:ea typeface="DejaVu Sans"/>
              </a:rPr>
              <a:t>⚠️ </a:t>
            </a:r>
            <a:r>
              <a:rPr b="1" lang="en-US" sz="1100" spc="-1" strike="noStrike">
                <a:solidFill>
                  <a:srgbClr val="ffb703"/>
                </a:solidFill>
                <a:latin typeface="Calibri"/>
                <a:ea typeface="DejaVu Sans"/>
              </a:rPr>
              <a:t>Legacy / Deprecated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12" name="Shape 5"/>
          <p:cNvSpPr/>
          <p:nvPr/>
        </p:nvSpPr>
        <p:spPr>
          <a:xfrm>
            <a:off x="320040" y="1481400"/>
            <a:ext cx="5668560" cy="34740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3" name="Text 6"/>
          <p:cNvSpPr/>
          <p:nvPr/>
        </p:nvSpPr>
        <p:spPr>
          <a:xfrm>
            <a:off x="457200" y="1572840"/>
            <a:ext cx="5485680" cy="329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79c0ff"/>
                </a:solidFill>
                <a:latin typeface="Consolas"/>
                <a:ea typeface="Consolas"/>
              </a:rPr>
              <a:t>from langchain_openai import OpenAI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79c0ff"/>
                </a:solidFill>
                <a:latin typeface="Consolas"/>
                <a:ea typeface="Consolas"/>
              </a:rPr>
              <a:t>from dotenv import load_dotenv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 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fd166"/>
                </a:solidFill>
                <a:latin typeface="Consolas"/>
                <a:ea typeface="Consolas"/>
              </a:rPr>
              <a:t>load_dotenv()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 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6b7280"/>
                </a:solidFill>
                <a:latin typeface="Consolas"/>
                <a:ea typeface="Consolas"/>
              </a:rPr>
              <a:t># Initialize LLM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79c0ff"/>
                </a:solidFill>
                <a:latin typeface="Consolas"/>
                <a:ea typeface="Consolas"/>
              </a:rPr>
              <a:t>llm = OpenAI(model="gpt-3.5-turbo-instruct")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 </a:t>
            </a:r>
            <a:r>
              <a:rPr b="0" lang="en-US" sz="1100" spc="-1" strike="noStrike">
                <a:solidFill>
                  <a:srgbClr val="6b7280"/>
                </a:solidFill>
                <a:latin typeface="Consolas"/>
                <a:ea typeface="Consolas"/>
              </a:rPr>
              <a:t># Invoke model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fd166"/>
                </a:solidFill>
                <a:latin typeface="Consolas"/>
                <a:ea typeface="Consolas"/>
              </a:rPr>
              <a:t>prompt = "What is the capital of France?"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79c0ff"/>
                </a:solidFill>
                <a:latin typeface="Consolas"/>
                <a:ea typeface="Consolas"/>
              </a:rPr>
              <a:t>result = llm.invoke(prompt)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 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79c0ff"/>
                </a:solidFill>
                <a:latin typeface="Consolas"/>
                <a:ea typeface="Consolas"/>
              </a:rPr>
              <a:t>print(result)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14" name="Shape 7"/>
          <p:cNvSpPr/>
          <p:nvPr/>
        </p:nvSpPr>
        <p:spPr>
          <a:xfrm>
            <a:off x="6126480" y="1481400"/>
            <a:ext cx="2742480" cy="1096560"/>
          </a:xfrm>
          <a:prstGeom prst="rect">
            <a:avLst/>
          </a:prstGeom>
          <a:solidFill>
            <a:srgbClr val="0d1117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5" name="Text 8"/>
          <p:cNvSpPr/>
          <p:nvPr/>
        </p:nvSpPr>
        <p:spPr>
          <a:xfrm>
            <a:off x="6126480" y="1481400"/>
            <a:ext cx="27424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06d6a0"/>
                </a:solidFill>
                <a:latin typeface="Calibri"/>
                <a:ea typeface="DejaVu Sans"/>
              </a:rPr>
              <a:t>OUTPUT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316" name="Text 9"/>
          <p:cNvSpPr/>
          <p:nvPr/>
        </p:nvSpPr>
        <p:spPr>
          <a:xfrm>
            <a:off x="6217920" y="1828800"/>
            <a:ext cx="255960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6d6a0"/>
                </a:solidFill>
                <a:latin typeface="Consolas"/>
                <a:ea typeface="Consolas"/>
              </a:rPr>
              <a:t>The capital of France is Paris.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17" name="Shape 10"/>
          <p:cNvSpPr/>
          <p:nvPr/>
        </p:nvSpPr>
        <p:spPr>
          <a:xfrm>
            <a:off x="6126480" y="2743200"/>
            <a:ext cx="2742480" cy="2193840"/>
          </a:xfrm>
          <a:prstGeom prst="rect">
            <a:avLst/>
          </a:prstGeom>
          <a:solidFill>
            <a:srgbClr val="0d1117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8" name="Text 11"/>
          <p:cNvSpPr/>
          <p:nvPr/>
        </p:nvSpPr>
        <p:spPr>
          <a:xfrm>
            <a:off x="6126480" y="2743200"/>
            <a:ext cx="27424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fb703"/>
                </a:solidFill>
                <a:latin typeface="Calibri"/>
                <a:ea typeface="DejaVu Sans"/>
              </a:rPr>
              <a:t>KEY NOTES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19" name="Text 12"/>
          <p:cNvSpPr/>
          <p:nvPr/>
        </p:nvSpPr>
        <p:spPr>
          <a:xfrm>
            <a:off x="6263640" y="3154680"/>
            <a:ext cx="25138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8f4f8"/>
                </a:solidFill>
                <a:latin typeface="Calibri"/>
                <a:ea typeface="DejaVu Sans"/>
              </a:rPr>
              <a:t>• </a:t>
            </a:r>
            <a:r>
              <a:rPr b="0" lang="en-US" sz="1100" spc="-1" strike="noStrike">
                <a:solidFill>
                  <a:srgbClr val="e8f4f8"/>
                </a:solidFill>
                <a:latin typeface="Calibri"/>
                <a:ea typeface="DejaVu Sans"/>
              </a:rPr>
              <a:t>String → String pattern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20" name="Text 13"/>
          <p:cNvSpPr/>
          <p:nvPr/>
        </p:nvSpPr>
        <p:spPr>
          <a:xfrm>
            <a:off x="6263640" y="3575160"/>
            <a:ext cx="25138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8f4f8"/>
                </a:solidFill>
                <a:latin typeface="Calibri"/>
                <a:ea typeface="DejaVu Sans"/>
              </a:rPr>
              <a:t>• </a:t>
            </a:r>
            <a:r>
              <a:rPr b="0" lang="en-US" sz="1100" spc="-1" strike="noStrike">
                <a:solidFill>
                  <a:srgbClr val="e8f4f8"/>
                </a:solidFill>
                <a:latin typeface="Calibri"/>
                <a:ea typeface="DejaVu Sans"/>
              </a:rPr>
              <a:t>gpt-3.5-turbo-instruct model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21" name="Text 14"/>
          <p:cNvSpPr/>
          <p:nvPr/>
        </p:nvSpPr>
        <p:spPr>
          <a:xfrm>
            <a:off x="6263640" y="3996000"/>
            <a:ext cx="25138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8f4f8"/>
                </a:solidFill>
                <a:latin typeface="Calibri"/>
                <a:ea typeface="DejaVu Sans"/>
              </a:rPr>
              <a:t>• </a:t>
            </a:r>
            <a:r>
              <a:rPr b="0" lang="en-US" sz="1100" spc="-1" strike="noStrike">
                <a:solidFill>
                  <a:srgbClr val="e8f4f8"/>
                </a:solidFill>
                <a:latin typeface="Calibri"/>
                <a:ea typeface="DejaVu Sans"/>
              </a:rPr>
              <a:t>Deprecated API class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22" name="Text 15"/>
          <p:cNvSpPr/>
          <p:nvPr/>
        </p:nvSpPr>
        <p:spPr>
          <a:xfrm>
            <a:off x="6263640" y="4416480"/>
            <a:ext cx="25138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8f4f8"/>
                </a:solidFill>
                <a:latin typeface="Calibri"/>
                <a:ea typeface="DejaVu Sans"/>
              </a:rPr>
              <a:t>• </a:t>
            </a:r>
            <a:r>
              <a:rPr b="0" lang="en-US" sz="1100" spc="-1" strike="noStrike">
                <a:solidFill>
                  <a:srgbClr val="e8f4f8"/>
                </a:solidFill>
                <a:latin typeface="Calibri"/>
                <a:ea typeface="DejaVu Sans"/>
              </a:rPr>
              <a:t>Migrate to ChatOpenAI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Shape 0"/>
          <p:cNvSpPr/>
          <p:nvPr/>
        </p:nvSpPr>
        <p:spPr>
          <a:xfrm>
            <a:off x="0" y="0"/>
            <a:ext cx="163800" cy="51429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4" name="Shape 1"/>
          <p:cNvSpPr/>
          <p:nvPr/>
        </p:nvSpPr>
        <p:spPr>
          <a:xfrm>
            <a:off x="0" y="0"/>
            <a:ext cx="9143280" cy="913680"/>
          </a:xfrm>
          <a:prstGeom prst="rect">
            <a:avLst/>
          </a:prstGeom>
          <a:solidFill>
            <a:srgbClr val="070d14"/>
          </a:solidFill>
          <a:ln w="12700">
            <a:solidFill>
              <a:srgbClr val="070d1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5" name="Text 2"/>
          <p:cNvSpPr/>
          <p:nvPr/>
        </p:nvSpPr>
        <p:spPr>
          <a:xfrm>
            <a:off x="365760" y="109800"/>
            <a:ext cx="822888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Chat Model — OpenAI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326" name="Shape 3"/>
          <p:cNvSpPr/>
          <p:nvPr/>
        </p:nvSpPr>
        <p:spPr>
          <a:xfrm>
            <a:off x="320040" y="1005840"/>
            <a:ext cx="2285280" cy="383400"/>
          </a:xfrm>
          <a:prstGeom prst="rect">
            <a:avLst/>
          </a:prstGeom>
          <a:solidFill>
            <a:srgbClr val="06d6a0">
              <a:alpha val="80000"/>
            </a:srgbClr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7" name="Text 4"/>
          <p:cNvSpPr/>
          <p:nvPr/>
        </p:nvSpPr>
        <p:spPr>
          <a:xfrm>
            <a:off x="320040" y="1005840"/>
            <a:ext cx="228528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6d6a0"/>
                </a:solidFill>
                <a:latin typeface="Calibri"/>
                <a:ea typeface="DejaVu Sans"/>
              </a:rPr>
              <a:t>✓ </a:t>
            </a:r>
            <a:r>
              <a:rPr b="1" lang="en-US" sz="1100" spc="-1" strike="noStrike">
                <a:solidFill>
                  <a:srgbClr val="06d6a0"/>
                </a:solidFill>
                <a:latin typeface="Calibri"/>
                <a:ea typeface="DejaVu Sans"/>
              </a:rPr>
              <a:t>Modern Standard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28" name="Shape 5"/>
          <p:cNvSpPr/>
          <p:nvPr/>
        </p:nvSpPr>
        <p:spPr>
          <a:xfrm>
            <a:off x="320040" y="1481400"/>
            <a:ext cx="5668560" cy="34740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9" name="Text 6"/>
          <p:cNvSpPr/>
          <p:nvPr/>
        </p:nvSpPr>
        <p:spPr>
          <a:xfrm>
            <a:off x="457200" y="1572840"/>
            <a:ext cx="5485680" cy="329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79c0ff"/>
                </a:solidFill>
                <a:latin typeface="Consolas"/>
                <a:ea typeface="Consolas"/>
              </a:rPr>
              <a:t>from langchain_openai import ChatOpenAI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79c0ff"/>
                </a:solidFill>
                <a:latin typeface="Consolas"/>
                <a:ea typeface="Consolas"/>
              </a:rPr>
              <a:t>from dotenv import load_dotenv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 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fd166"/>
                </a:solidFill>
                <a:latin typeface="Consolas"/>
                <a:ea typeface="Consolas"/>
              </a:rPr>
              <a:t>load_dotenv()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 </a:t>
            </a:r>
            <a:r>
              <a:rPr b="0" lang="en-US" sz="1100" spc="-1" strike="noStrike">
                <a:solidFill>
                  <a:srgbClr val="6b7280"/>
                </a:solidFill>
                <a:latin typeface="Consolas"/>
                <a:ea typeface="Consolas"/>
              </a:rPr>
              <a:t># Initialize chat model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79c0ff"/>
                </a:solidFill>
                <a:latin typeface="Consolas"/>
                <a:ea typeface="Consolas"/>
              </a:rPr>
              <a:t>chat = ChatOpenAI(model="gpt-4o")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 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6b7280"/>
                </a:solidFill>
                <a:latin typeface="Consolas"/>
                <a:ea typeface="Consolas"/>
              </a:rPr>
              <a:t># Invoke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fd166"/>
                </a:solidFill>
                <a:latin typeface="Consolas"/>
                <a:ea typeface="Consolas"/>
              </a:rPr>
              <a:t>query = "What is the capital of France?"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79c0ff"/>
                </a:solidFill>
                <a:latin typeface="Consolas"/>
                <a:ea typeface="Consolas"/>
              </a:rPr>
              <a:t>response = chat.invoke(query)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 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6b7280"/>
                </a:solidFill>
                <a:latin typeface="Consolas"/>
                <a:ea typeface="Consolas"/>
              </a:rPr>
              <a:t># Extract content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79c0ff"/>
                </a:solidFill>
                <a:latin typeface="Consolas"/>
                <a:ea typeface="Consolas"/>
              </a:rPr>
              <a:t>print(response.content)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30" name="Shape 7"/>
          <p:cNvSpPr/>
          <p:nvPr/>
        </p:nvSpPr>
        <p:spPr>
          <a:xfrm>
            <a:off x="6126480" y="1481400"/>
            <a:ext cx="2742480" cy="1096560"/>
          </a:xfrm>
          <a:prstGeom prst="rect">
            <a:avLst/>
          </a:prstGeom>
          <a:solidFill>
            <a:srgbClr val="0d1117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1" name="Text 8"/>
          <p:cNvSpPr/>
          <p:nvPr/>
        </p:nvSpPr>
        <p:spPr>
          <a:xfrm>
            <a:off x="6126480" y="1481400"/>
            <a:ext cx="27424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06d6a0"/>
                </a:solidFill>
                <a:latin typeface="Calibri"/>
                <a:ea typeface="DejaVu Sans"/>
              </a:rPr>
              <a:t>OUTPUT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332" name="Text 9"/>
          <p:cNvSpPr/>
          <p:nvPr/>
        </p:nvSpPr>
        <p:spPr>
          <a:xfrm>
            <a:off x="6217920" y="1828800"/>
            <a:ext cx="255960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6d6a0"/>
                </a:solidFill>
                <a:latin typeface="Consolas"/>
                <a:ea typeface="Consolas"/>
              </a:rPr>
              <a:t>The capital of France is Paris.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33" name="Shape 10"/>
          <p:cNvSpPr/>
          <p:nvPr/>
        </p:nvSpPr>
        <p:spPr>
          <a:xfrm>
            <a:off x="6126480" y="2743200"/>
            <a:ext cx="2742480" cy="2193840"/>
          </a:xfrm>
          <a:prstGeom prst="rect">
            <a:avLst/>
          </a:prstGeom>
          <a:solidFill>
            <a:srgbClr val="0d1117"/>
          </a:solidFill>
          <a:ln w="12700">
            <a:solidFill>
              <a:srgbClr val="0077b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4" name="Text 11"/>
          <p:cNvSpPr/>
          <p:nvPr/>
        </p:nvSpPr>
        <p:spPr>
          <a:xfrm>
            <a:off x="6126480" y="2743200"/>
            <a:ext cx="27424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0077b6"/>
                </a:solidFill>
                <a:latin typeface="Calibri"/>
                <a:ea typeface="DejaVu Sans"/>
              </a:rPr>
              <a:t>KEY NOTES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35" name="Text 12"/>
          <p:cNvSpPr/>
          <p:nvPr/>
        </p:nvSpPr>
        <p:spPr>
          <a:xfrm>
            <a:off x="6263640" y="3154680"/>
            <a:ext cx="25138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8f4f8"/>
                </a:solidFill>
                <a:latin typeface="Calibri"/>
                <a:ea typeface="DejaVu Sans"/>
              </a:rPr>
              <a:t>• </a:t>
            </a:r>
            <a:r>
              <a:rPr b="0" lang="en-US" sz="1100" spc="-1" strike="noStrike">
                <a:solidFill>
                  <a:srgbClr val="e8f4f8"/>
                </a:solidFill>
                <a:latin typeface="Calibri"/>
                <a:ea typeface="DejaVu Sans"/>
              </a:rPr>
              <a:t>Use ChatOpenAI class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36" name="Text 13"/>
          <p:cNvSpPr/>
          <p:nvPr/>
        </p:nvSpPr>
        <p:spPr>
          <a:xfrm>
            <a:off x="6263640" y="3575160"/>
            <a:ext cx="25138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8f4f8"/>
                </a:solidFill>
                <a:latin typeface="Calibri"/>
                <a:ea typeface="DejaVu Sans"/>
              </a:rPr>
              <a:t>• </a:t>
            </a:r>
            <a:r>
              <a:rPr b="0" lang="en-US" sz="1100" spc="-1" strike="noStrike">
                <a:solidFill>
                  <a:srgbClr val="e8f4f8"/>
                </a:solidFill>
                <a:latin typeface="Calibri"/>
                <a:ea typeface="DejaVu Sans"/>
              </a:rPr>
              <a:t>model='gpt-4o'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37" name="Text 14"/>
          <p:cNvSpPr/>
          <p:nvPr/>
        </p:nvSpPr>
        <p:spPr>
          <a:xfrm>
            <a:off x="6263640" y="3996000"/>
            <a:ext cx="25138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8f4f8"/>
                </a:solidFill>
                <a:latin typeface="Calibri"/>
                <a:ea typeface="DejaVu Sans"/>
              </a:rPr>
              <a:t>• </a:t>
            </a:r>
            <a:r>
              <a:rPr b="0" lang="en-US" sz="1100" spc="-1" strike="noStrike">
                <a:solidFill>
                  <a:srgbClr val="e8f4f8"/>
                </a:solidFill>
                <a:latin typeface="Calibri"/>
                <a:ea typeface="DejaVu Sans"/>
              </a:rPr>
              <a:t>Returns AIMessage obj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38" name="Text 15"/>
          <p:cNvSpPr/>
          <p:nvPr/>
        </p:nvSpPr>
        <p:spPr>
          <a:xfrm>
            <a:off x="6263640" y="4416480"/>
            <a:ext cx="25138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8f4f8"/>
                </a:solidFill>
                <a:latin typeface="Calibri"/>
                <a:ea typeface="DejaVu Sans"/>
              </a:rPr>
              <a:t>• </a:t>
            </a:r>
            <a:r>
              <a:rPr b="0" lang="en-US" sz="1100" spc="-1" strike="noStrike">
                <a:solidFill>
                  <a:srgbClr val="e8f4f8"/>
                </a:solidFill>
                <a:latin typeface="Calibri"/>
                <a:ea typeface="DejaVu Sans"/>
              </a:rPr>
              <a:t>.content for text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Application>LibreOffice/7.3.7.2$Linux_X86_64 LibreOffice_project/30$Build-2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2026-03-12T15:47:41Z</dcterms:created>
  <dc:creator>PptxGenJS</dc:creator>
  <dc:description/>
  <dc:language>en-IN</dc:language>
  <cp:lastModifiedBy/>
  <dcterms:modified xsi:type="dcterms:W3CDTF">2026-03-14T10:53:20Z</dcterms:modified>
  <cp:revision>5</cp:revision>
  <dc:subject>PptxGenJS Presentation</dc:subject>
  <dc:title>LangChain Models - Part 1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17</vt:i4>
  </property>
  <property fmtid="{D5CDD505-2E9C-101B-9397-08002B2CF9AE}" pid="3" name="PresentationFormat">
    <vt:lpwstr>On-screen Show (16:9)</vt:lpwstr>
  </property>
  <property fmtid="{D5CDD505-2E9C-101B-9397-08002B2CF9AE}" pid="4" name="Slides">
    <vt:i4>17</vt:i4>
  </property>
</Properties>
</file>