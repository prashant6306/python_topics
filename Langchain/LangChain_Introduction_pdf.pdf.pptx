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F861ACA-FAF4-4877-8B22-B79102BBA69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D7DE64-C6DF-4C62-9516-10D3517852A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FB0059-D9AA-4FE6-93F2-AE86ED7AA2C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1D8172-4C5F-4CF7-A763-281D99E6CA2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8DDBAF-7C41-4A19-9DE6-44652FD696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D081C4-8FA3-4EE5-92BF-EC8FDFBE6A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350A4F-02F3-4092-B779-82D927FFED0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791152-25C2-4DEE-91E5-D57DD02B09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440" cy="30823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440" cy="359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7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CA11D8-0AE4-4134-8F9C-06A47F8384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3"/>
          <p:cNvSpPr/>
          <p:nvPr/>
        </p:nvSpPr>
        <p:spPr>
          <a:xfrm>
            <a:off x="457200" y="2011680"/>
            <a:ext cx="8225640" cy="72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Introduction to LangChain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457200" y="2834640"/>
            <a:ext cx="822564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a90e2"/>
                </a:solidFill>
                <a:latin typeface="Arial"/>
                <a:ea typeface="Arial"/>
              </a:rPr>
              <a:t>Building LLM-Powered Applications Made Easy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457200" y="4389120"/>
            <a:ext cx="822564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Lesson 1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1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LC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731520" y="1097280"/>
            <a:ext cx="7677000" cy="727560"/>
          </a:xfrm>
          <a:prstGeom prst="rect">
            <a:avLst/>
          </a:prstGeom>
          <a:solidFill>
            <a:srgbClr val="fff4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3"/>
          <p:cNvSpPr/>
          <p:nvPr/>
        </p:nvSpPr>
        <p:spPr>
          <a:xfrm>
            <a:off x="914400" y="118872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2c3e50"/>
                </a:solidFill>
                <a:latin typeface="Calibri"/>
                <a:ea typeface="DejaVu Sans"/>
              </a:rPr>
              <a:t>LangChain is an open-source framework for building applications powered by Large Language Models (LLMs)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731520" y="2103120"/>
            <a:ext cx="767700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Calibri"/>
                <a:ea typeface="DejaVu Sans"/>
              </a:rPr>
              <a:t>Key Concept: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If you want to build any LLM-based application, LangChain is the framework that helps you orchestrate all the components, manage data flow, and simplify development.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31520" y="3383280"/>
            <a:ext cx="767700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39c12"/>
                </a:solidFill>
                <a:latin typeface="Calibri"/>
                <a:ea typeface="DejaVu Sans"/>
              </a:rPr>
              <a:t>To truly understand LangChain, we must first understand: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097280" y="3749040"/>
            <a:ext cx="7179840" cy="12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2c3e5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Why it was needed in the first place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c3e5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What problems it solves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c3e5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How it makes LLM application development easier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20000" y="277200"/>
            <a:ext cx="52506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e3a5f"/>
                </a:solidFill>
                <a:latin typeface="Calibri"/>
                <a:ea typeface="DejaVu Sans"/>
              </a:rPr>
              <a:t>What is LangChain?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34"/>
          <p:cNvSpPr/>
          <p:nvPr/>
        </p:nvSpPr>
        <p:spPr>
          <a:xfrm>
            <a:off x="97200" y="3735360"/>
            <a:ext cx="8539200" cy="13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38"/>
          <p:cNvSpPr/>
          <p:nvPr/>
        </p:nvSpPr>
        <p:spPr>
          <a:xfrm>
            <a:off x="551520" y="231264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Aptos"/>
              </a:rPr>
              <a:t>The Brain needs two capabilities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1.NLU (Natural Language Understanding)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Understand the query properly in any language (English, Hindi, etc.)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Comprehend text/queries accurately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2.Context-Aware Text Generation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The Brain's job: Understand the query and extract the answer from the given documents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 relevant answers based on the provided pages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Aptos"/>
              </a:rPr>
              <a:t>Final Output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: The Brain reads the pages, extracts the what is linear regression, generates text, and provides the final answer.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" name="Text 42"/>
          <p:cNvSpPr/>
          <p:nvPr/>
        </p:nvSpPr>
        <p:spPr>
          <a:xfrm>
            <a:off x="551520" y="260532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43"/>
          <p:cNvSpPr/>
          <p:nvPr/>
        </p:nvSpPr>
        <p:spPr>
          <a:xfrm>
            <a:off x="551520" y="289800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4"/>
          <p:cNvSpPr/>
          <p:nvPr/>
        </p:nvSpPr>
        <p:spPr>
          <a:xfrm>
            <a:off x="551520" y="348300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45"/>
          <p:cNvSpPr/>
          <p:nvPr/>
        </p:nvSpPr>
        <p:spPr>
          <a:xfrm>
            <a:off x="551520" y="377568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7"/>
          <p:cNvSpPr/>
          <p:nvPr/>
        </p:nvSpPr>
        <p:spPr>
          <a:xfrm>
            <a:off x="551520" y="465336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48"/>
          <p:cNvSpPr/>
          <p:nvPr/>
        </p:nvSpPr>
        <p:spPr>
          <a:xfrm>
            <a:off x="551520" y="4946040"/>
            <a:ext cx="77684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49"/>
          <p:cNvSpPr/>
          <p:nvPr/>
        </p:nvSpPr>
        <p:spPr>
          <a:xfrm>
            <a:off x="277200" y="148968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543960" y="277200"/>
            <a:ext cx="57549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e3a5f"/>
                </a:solidFill>
                <a:latin typeface="Calibri"/>
                <a:ea typeface="Aptos"/>
              </a:rPr>
              <a:t>The Brain Component (LLM)</a:t>
            </a: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Aptos"/>
              </a:rPr>
              <a:t>  </a:t>
            </a:r>
            <a:endParaRPr b="0" lang="en-IN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📊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457200" y="27432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Complete Detailed System Flow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731520" y="1097280"/>
            <a:ext cx="316080" cy="316080"/>
          </a:xfrm>
          <a:prstGeom prst="ellipse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4"/>
          <p:cNvSpPr/>
          <p:nvPr/>
        </p:nvSpPr>
        <p:spPr>
          <a:xfrm>
            <a:off x="731520" y="10972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1188720" y="10972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PDF Upload &amp; Storage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1188720" y="12618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User uploads PDF → Store in cloud (AWS S3, GCP)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731520" y="1554480"/>
            <a:ext cx="316080" cy="316080"/>
          </a:xfrm>
          <a:prstGeom prst="ellipse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8"/>
          <p:cNvSpPr/>
          <p:nvPr/>
        </p:nvSpPr>
        <p:spPr>
          <a:xfrm>
            <a:off x="731520" y="15544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1188720" y="15544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Document Loading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1188720" y="17190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Use Document Loader to bring PDF into system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731520" y="2011680"/>
            <a:ext cx="316080" cy="31608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2"/>
          <p:cNvSpPr/>
          <p:nvPr/>
        </p:nvSpPr>
        <p:spPr>
          <a:xfrm>
            <a:off x="731520" y="20116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1188720" y="20116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Text Splitting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1188720" y="21762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Divide PDF into chunks (by pages, chapters, or paragraphs)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731520" y="2468880"/>
            <a:ext cx="316080" cy="316080"/>
          </a:xfrm>
          <a:prstGeom prst="ellipse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6"/>
          <p:cNvSpPr/>
          <p:nvPr/>
        </p:nvSpPr>
        <p:spPr>
          <a:xfrm>
            <a:off x="731520" y="24688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1188720" y="24688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Generate Embeddings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1188720" y="26334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Convert each chunk to vector using Embedding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19"/>
          <p:cNvSpPr/>
          <p:nvPr/>
        </p:nvSpPr>
        <p:spPr>
          <a:xfrm>
            <a:off x="731520" y="2926080"/>
            <a:ext cx="316080" cy="31608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0"/>
          <p:cNvSpPr/>
          <p:nvPr/>
        </p:nvSpPr>
        <p:spPr>
          <a:xfrm>
            <a:off x="731520" y="29260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21"/>
          <p:cNvSpPr/>
          <p:nvPr/>
        </p:nvSpPr>
        <p:spPr>
          <a:xfrm>
            <a:off x="1188720" y="29260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Store in Database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1188720" y="30906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Save embeddings in vector database for future queries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23"/>
          <p:cNvSpPr/>
          <p:nvPr/>
        </p:nvSpPr>
        <p:spPr>
          <a:xfrm>
            <a:off x="731520" y="3383280"/>
            <a:ext cx="316080" cy="316080"/>
          </a:xfrm>
          <a:prstGeom prst="ellipse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4"/>
          <p:cNvSpPr/>
          <p:nvPr/>
        </p:nvSpPr>
        <p:spPr>
          <a:xfrm>
            <a:off x="731520" y="33832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Text 25"/>
          <p:cNvSpPr/>
          <p:nvPr/>
        </p:nvSpPr>
        <p:spPr>
          <a:xfrm>
            <a:off x="1188720" y="33832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Query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1188720" y="35478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Convert user query to embedding → Find similar vectors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Shape 27"/>
          <p:cNvSpPr/>
          <p:nvPr/>
        </p:nvSpPr>
        <p:spPr>
          <a:xfrm>
            <a:off x="731520" y="3840480"/>
            <a:ext cx="316080" cy="316080"/>
          </a:xfrm>
          <a:prstGeom prst="ellipse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8"/>
          <p:cNvSpPr/>
          <p:nvPr/>
        </p:nvSpPr>
        <p:spPr>
          <a:xfrm>
            <a:off x="731520" y="38404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1188720" y="3840480"/>
            <a:ext cx="319644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LLM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1188720" y="4005000"/>
            <a:ext cx="72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1920" bIns="1519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Send query + relevant pages to LLM → Generate answer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77400" y="47160"/>
            <a:ext cx="8922240" cy="497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⚡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27432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Challenges in Building This System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731520" y="1097280"/>
            <a:ext cx="7677000" cy="118476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4"/>
          <p:cNvSpPr/>
          <p:nvPr/>
        </p:nvSpPr>
        <p:spPr>
          <a:xfrm>
            <a:off x="914400" y="118872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a90e2"/>
                </a:solidFill>
                <a:latin typeface="Calibri"/>
                <a:ea typeface="DejaVu Sans"/>
              </a:rPr>
              <a:t>Challenge #1: Building the Brain (SOLVED ✓)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097280" y="1554480"/>
            <a:ext cx="712836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Problem: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Need NLU + context-aware text generation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Solution: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LLMs (GPT, Claude, Gemini) provide both capabilities out-of-the-box!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731520" y="2377440"/>
            <a:ext cx="7677000" cy="1184760"/>
          </a:xfrm>
          <a:prstGeom prst="rect">
            <a:avLst/>
          </a:prstGeom>
          <a:solidFill>
            <a:srgbClr val="f3e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7"/>
          <p:cNvSpPr/>
          <p:nvPr/>
        </p:nvSpPr>
        <p:spPr>
          <a:xfrm>
            <a:off x="914400" y="246888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9b59b6"/>
                </a:solidFill>
                <a:latin typeface="Calibri"/>
                <a:ea typeface="DejaVu Sans"/>
              </a:rPr>
              <a:t>Challenge #2: Computation (SOLVED ✓)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1097280" y="2834640"/>
            <a:ext cx="712836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Problem: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Hosting heavy LLMs is expensive and complex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Solution: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Use LLM APIs (OpenAI, Anthropic, Google) - pay-as-you-go model!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731520" y="3657600"/>
            <a:ext cx="7677000" cy="118476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0"/>
          <p:cNvSpPr/>
          <p:nvPr/>
        </p:nvSpPr>
        <p:spPr>
          <a:xfrm>
            <a:off x="914400" y="374904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39c12"/>
                </a:solidFill>
                <a:latin typeface="Calibri"/>
                <a:ea typeface="DejaVu Sans"/>
              </a:rPr>
              <a:t>Challenge #3: Orchestration (WHERE LANGCHAIN HELPS! 🎯)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097280" y="4114800"/>
            <a:ext cx="712836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Problem: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Connecting 5+ components (S3, embeddings, DB, LLM, etc.) is complex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Solution: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LangChain provides plug-and-play interfaces for all components!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✨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57200" y="27432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Key Benefits of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731520" y="1097280"/>
            <a:ext cx="7677000" cy="81900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4"/>
          <p:cNvSpPr/>
          <p:nvPr/>
        </p:nvSpPr>
        <p:spPr>
          <a:xfrm>
            <a:off x="914400" y="118872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1. Chains Concept 🔗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914400" y="1463040"/>
            <a:ext cx="731124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Create workflows of any complexity. Output of one component automatically becomes input of the next. Build parallel or conditional chains easily.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731520" y="2057400"/>
            <a:ext cx="7677000" cy="81900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7"/>
          <p:cNvSpPr/>
          <p:nvPr/>
        </p:nvSpPr>
        <p:spPr>
          <a:xfrm>
            <a:off x="914400" y="214884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2. Model Agnostic Development 🔄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914400" y="2423160"/>
            <a:ext cx="731124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Switch between OpenAI, Google Gemini, Anthropic Claude with just 2 lines of code. Focus on logic, not implementation details.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731520" y="3017520"/>
            <a:ext cx="7677000" cy="81900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0"/>
          <p:cNvSpPr/>
          <p:nvPr/>
        </p:nvSpPr>
        <p:spPr>
          <a:xfrm>
            <a:off x="914400" y="310896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3. Complete Ecosystem 📦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731520" y="3977640"/>
            <a:ext cx="7677000" cy="81900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3"/>
          <p:cNvSpPr/>
          <p:nvPr/>
        </p:nvSpPr>
        <p:spPr>
          <a:xfrm>
            <a:off x="914400" y="406908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4. Memory &amp; State Handling 🧠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914400" y="4343400"/>
            <a:ext cx="731124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Maintains conversation context automatically. Users can reference previous queries without repeating information.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035720" y="3336480"/>
            <a:ext cx="7372800" cy="4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50+ document loaders, text splitters, embedding models, and databases. Every component you need is available with built-in interfaces.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🚀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57200" y="27432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What Can You Build with LangChain?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731520" y="1097280"/>
            <a:ext cx="69120" cy="636120"/>
          </a:xfrm>
          <a:prstGeom prst="rect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914400" y="114300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Conversational Chatbots 💬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914400" y="138996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Build AI customer service agents that understand context and provide solutions. Most popular use case!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731520" y="1828800"/>
            <a:ext cx="69120" cy="63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7"/>
          <p:cNvSpPr/>
          <p:nvPr/>
        </p:nvSpPr>
        <p:spPr>
          <a:xfrm>
            <a:off x="914400" y="187452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AI Knowledge Assistants 📚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914400" y="212148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Create chatbots trained on your company's data. Answer questions about courses, documentation, or internal knowledge.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731520" y="2560320"/>
            <a:ext cx="69120" cy="63612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0"/>
          <p:cNvSpPr/>
          <p:nvPr/>
        </p:nvSpPr>
        <p:spPr>
          <a:xfrm>
            <a:off x="914400" y="260604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AI Agents (Chatbots on Steroids) 🤖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914400" y="285300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Not just talk, but take actions! Book flights, schedule meetings, execute tasks autonomously.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731520" y="3291840"/>
            <a:ext cx="69120" cy="63612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3"/>
          <p:cNvSpPr/>
          <p:nvPr/>
        </p:nvSpPr>
        <p:spPr>
          <a:xfrm>
            <a:off x="914400" y="333756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Workflow Automation ⚙️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914400" y="358452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Automate personal, professional, or company-level workflows using LLM intelligence.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731520" y="4023360"/>
            <a:ext cx="69120" cy="636120"/>
          </a:xfrm>
          <a:prstGeom prst="rect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6"/>
          <p:cNvSpPr/>
          <p:nvPr/>
        </p:nvSpPr>
        <p:spPr>
          <a:xfrm>
            <a:off x="914400" y="406908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Summarization &amp; Research Tools 📝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914400" y="431604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Process large documents, generate summaries, answer questions - perfect for research and analysis.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"/>
          <p:cNvSpPr/>
          <p:nvPr/>
        </p:nvSpPr>
        <p:spPr>
          <a:xfrm>
            <a:off x="8046720" y="274320"/>
            <a:ext cx="7275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🔀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457200" y="274320"/>
            <a:ext cx="73112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Popular Alternatives to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720000" y="1260000"/>
            <a:ext cx="7725600" cy="114840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4"/>
          <p:cNvSpPr/>
          <p:nvPr/>
        </p:nvSpPr>
        <p:spPr>
          <a:xfrm>
            <a:off x="914400" y="128016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a90e2"/>
                </a:solidFill>
                <a:latin typeface="Calibri"/>
                <a:ea typeface="DejaVu Sans"/>
              </a:rPr>
              <a:t>LlamaIndex (formerly GPT Index)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788760" y="1620000"/>
            <a:ext cx="71283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Very popular framework - sometimes more popular than LangChain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Specializes in data indexing and retrieval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Great for building RAG (Retrieval-Augmented Generation) applications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720000" y="2700000"/>
            <a:ext cx="7677000" cy="1077120"/>
          </a:xfrm>
          <a:prstGeom prst="rect">
            <a:avLst/>
          </a:prstGeom>
          <a:solidFill>
            <a:srgbClr val="f3e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7"/>
          <p:cNvSpPr/>
          <p:nvPr/>
        </p:nvSpPr>
        <p:spPr>
          <a:xfrm>
            <a:off x="914400" y="2468880"/>
            <a:ext cx="7311240" cy="2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9b59b6"/>
                </a:solidFill>
                <a:latin typeface="Calibri"/>
                <a:ea typeface="DejaVu Sans"/>
              </a:rPr>
              <a:t>Haystack by deepset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1097280" y="2834640"/>
            <a:ext cx="712836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Production-ready framework for building search systems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Strong focus on enterprise applications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Excellent for semantic search and question-answering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780120" y="3949560"/>
            <a:ext cx="7677000" cy="72756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0"/>
          <p:cNvSpPr/>
          <p:nvPr/>
        </p:nvSpPr>
        <p:spPr>
          <a:xfrm>
            <a:off x="914400" y="3749040"/>
            <a:ext cx="731124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39c12"/>
                </a:solidFill>
                <a:latin typeface="Calibri"/>
                <a:ea typeface="DejaVu Sans"/>
              </a:rPr>
              <a:t>Choosing the Right Framework: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914400" y="4023360"/>
            <a:ext cx="731124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Decision depends on: pricing, specific use case, ease of use, and team familiarity. All three are excellent choices for building LLM applications!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457200" y="274320"/>
            <a:ext cx="8225640" cy="5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Key Takeaways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731520" y="1097280"/>
            <a:ext cx="316080" cy="316080"/>
          </a:xfrm>
          <a:prstGeom prst="rect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"/>
          <p:cNvSpPr/>
          <p:nvPr/>
        </p:nvSpPr>
        <p:spPr>
          <a:xfrm>
            <a:off x="731520" y="10972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1188720" y="114300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LangChain is an open-source framework for building LLM-powered applications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731520" y="1481400"/>
            <a:ext cx="316080" cy="3160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5"/>
          <p:cNvSpPr/>
          <p:nvPr/>
        </p:nvSpPr>
        <p:spPr>
          <a:xfrm>
            <a:off x="731520" y="148140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1188720" y="152712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It solves the orchestration challenge of connecting multiple components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731520" y="1865520"/>
            <a:ext cx="316080" cy="3160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8"/>
          <p:cNvSpPr/>
          <p:nvPr/>
        </p:nvSpPr>
        <p:spPr>
          <a:xfrm>
            <a:off x="731520" y="186552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1188720" y="191124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Semantic search is more efficient than keyword search for finding relevant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731520" y="2249280"/>
            <a:ext cx="316080" cy="3160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1"/>
          <p:cNvSpPr/>
          <p:nvPr/>
        </p:nvSpPr>
        <p:spPr>
          <a:xfrm>
            <a:off x="731520" y="224928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1188720" y="229500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Major challenges (Brain, Computation) are solved by LLMs and APIs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731520" y="2633400"/>
            <a:ext cx="316080" cy="316080"/>
          </a:xfrm>
          <a:prstGeom prst="rect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4"/>
          <p:cNvSpPr/>
          <p:nvPr/>
        </p:nvSpPr>
        <p:spPr>
          <a:xfrm>
            <a:off x="731520" y="263340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1188720" y="267912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LangChain provides chains, model-agnostic development, and complete ecosystem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731520" y="3017520"/>
            <a:ext cx="316080" cy="3160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7"/>
          <p:cNvSpPr/>
          <p:nvPr/>
        </p:nvSpPr>
        <p:spPr>
          <a:xfrm>
            <a:off x="731520" y="301752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1188720" y="306324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Use cases: Chatbots, Knowledge Assistants, AI Agents, Automation, Research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731520" y="3401640"/>
            <a:ext cx="316080" cy="316080"/>
          </a:xfrm>
          <a:prstGeom prst="rect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0"/>
          <p:cNvSpPr/>
          <p:nvPr/>
        </p:nvSpPr>
        <p:spPr>
          <a:xfrm>
            <a:off x="731520" y="340164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" name="Text 21"/>
          <p:cNvSpPr/>
          <p:nvPr/>
        </p:nvSpPr>
        <p:spPr>
          <a:xfrm>
            <a:off x="1188720" y="344736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Alternatives include LlamaIndex and Haystack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731520" y="3785760"/>
            <a:ext cx="316080" cy="316080"/>
          </a:xfrm>
          <a:prstGeom prst="rect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3"/>
          <p:cNvSpPr/>
          <p:nvPr/>
        </p:nvSpPr>
        <p:spPr>
          <a:xfrm>
            <a:off x="731520" y="3785760"/>
            <a:ext cx="3160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1188720" y="3831480"/>
            <a:ext cx="72198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Future looks bright for LLM-based applications - LangChain will play a key role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2026-02-10T02:43:37Z</dcterms:created>
  <dc:creator>AI Training</dc:creator>
  <dc:description/>
  <dc:language>en-IN</dc:language>
  <cp:lastModifiedBy/>
  <dcterms:modified xsi:type="dcterms:W3CDTF">2026-03-13T20:57:45Z</dcterms:modified>
  <cp:revision>29</cp:revision>
  <dc:subject>PptxGenJS Presentation</dc:subject>
  <dc:title>LangChain for Beginners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