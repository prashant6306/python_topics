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D27B0B3-1D45-49A5-A9D7-97274931B57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D97A37-B853-44E0-AF5A-51BC7174C5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FA0479-F499-425B-8AED-FC2A92CF22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199275-48E8-4562-8E00-21C5712766B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C15534-45D1-49F7-9D5D-7A6695C8011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D2538E-8177-464A-82AE-535A2CB819C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C4FF71-E406-4076-AEE5-1FAD9C6A976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312529-1D58-44F2-8448-B1BDCA5664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BA68E4-2E77-48C7-A86A-5A75AEDD1C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c</a:t>
            </a:r>
            <a:r>
              <a:rPr b="0" lang="en-IN" sz="4400" spc="-1" strike="noStrike">
                <a:latin typeface="Arial"/>
              </a:rPr>
              <a:t>k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d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h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i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l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e</a:t>
            </a:r>
            <a:r>
              <a:rPr b="0" lang="en-IN" sz="4400" spc="-1" strike="noStrike">
                <a:latin typeface="Arial"/>
              </a:rPr>
              <a:t>x</a:t>
            </a:r>
            <a:r>
              <a:rPr b="0" lang="en-IN" sz="4400" spc="-1" strike="noStrike">
                <a:latin typeface="Arial"/>
              </a:rPr>
              <a:t>t</a:t>
            </a:r>
            <a:r>
              <a:rPr b="0" lang="en-IN" sz="4400" spc="-1" strike="noStrike">
                <a:latin typeface="Arial"/>
              </a:rPr>
              <a:t> </a:t>
            </a:r>
            <a:r>
              <a:rPr b="0" lang="en-IN" sz="4400" spc="-1" strike="noStrike">
                <a:latin typeface="Arial"/>
              </a:rPr>
              <a:t>f</a:t>
            </a:r>
            <a:r>
              <a:rPr b="0" lang="en-IN" sz="4400" spc="-1" strike="noStrike">
                <a:latin typeface="Arial"/>
              </a:rPr>
              <a:t>o</a:t>
            </a:r>
            <a:r>
              <a:rPr b="0" lang="en-IN" sz="4400" spc="-1" strike="noStrike">
                <a:latin typeface="Arial"/>
              </a:rPr>
              <a:t>r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a</a:t>
            </a:r>
            <a:r>
              <a:rPr b="0" lang="en-IN" sz="4400" spc="-1" strike="noStrike">
                <a:latin typeface="Arial"/>
              </a:rPr>
              <a:t>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3"/>
          <p:cNvSpPr/>
          <p:nvPr/>
        </p:nvSpPr>
        <p:spPr>
          <a:xfrm>
            <a:off x="457200" y="2011680"/>
            <a:ext cx="8226000" cy="72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"/>
                <a:ea typeface="Arial"/>
              </a:rPr>
              <a:t>Introduction to LangChain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457200" y="2834640"/>
            <a:ext cx="822600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4a90e2"/>
                </a:solidFill>
                <a:latin typeface="Arial"/>
                <a:ea typeface="Arial"/>
              </a:rPr>
              <a:t>Building LLM-Powered Applications Made Easy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457200" y="4389120"/>
            <a:ext cx="82260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Lesson 1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0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1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LC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9" name="Shape 2"/>
          <p:cNvSpPr/>
          <p:nvPr/>
        </p:nvSpPr>
        <p:spPr>
          <a:xfrm>
            <a:off x="731520" y="1097280"/>
            <a:ext cx="7677360" cy="727920"/>
          </a:xfrm>
          <a:prstGeom prst="rect">
            <a:avLst/>
          </a:prstGeom>
          <a:solidFill>
            <a:srgbClr val="fff4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3"/>
          <p:cNvSpPr/>
          <p:nvPr/>
        </p:nvSpPr>
        <p:spPr>
          <a:xfrm>
            <a:off x="914400" y="1188720"/>
            <a:ext cx="731160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2c3e50"/>
                </a:solidFill>
                <a:latin typeface="Calibri"/>
                <a:ea typeface="DejaVu Sans"/>
              </a:rPr>
              <a:t>LangChain is an open-source framework for building applications powered by Large Language Models (LLMs)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731520" y="2103120"/>
            <a:ext cx="7677360" cy="10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3a5f"/>
                </a:solidFill>
                <a:latin typeface="Calibri"/>
                <a:ea typeface="DejaVu Sans"/>
              </a:rPr>
              <a:t>Key Concept: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If you want to build any LLM-based application, LangChain is the framework that helps you orchestrate all the components, manage data flow, and simplify development.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731520" y="3383280"/>
            <a:ext cx="76773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39c12"/>
                </a:solidFill>
                <a:latin typeface="Calibri"/>
                <a:ea typeface="DejaVu Sans"/>
              </a:rPr>
              <a:t>To truly understand LangChain, we must first understand: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097280" y="3749040"/>
            <a:ext cx="7180200" cy="12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2c3e50"/>
              </a:buClr>
              <a:buFont typeface="Symbol"/>
              <a:buChar char=""/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Why it was needed in the first place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c3e5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What problems it solves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2c3e5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2c3e50"/>
                </a:solidFill>
                <a:latin typeface="Calibri"/>
                <a:ea typeface="DejaVu Sans"/>
              </a:rPr>
              <a:t>How it makes LLM application development easier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720000" y="277200"/>
            <a:ext cx="525096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1e3a5f"/>
                </a:solidFill>
                <a:latin typeface="Calibri"/>
                <a:ea typeface="DejaVu Sans"/>
              </a:rPr>
              <a:t>What is LangChain?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34"/>
          <p:cNvSpPr/>
          <p:nvPr/>
        </p:nvSpPr>
        <p:spPr>
          <a:xfrm>
            <a:off x="97200" y="3735360"/>
            <a:ext cx="8539560" cy="13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38"/>
          <p:cNvSpPr/>
          <p:nvPr/>
        </p:nvSpPr>
        <p:spPr>
          <a:xfrm>
            <a:off x="551520" y="2312640"/>
            <a:ext cx="77688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Aptos"/>
              </a:rPr>
              <a:t>The Brain needs two capabilities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1.NLU (Natural Language Understanding)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Understand the query properly in any language (English, Hindi, etc.)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Comprehend text/queries accurately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2.Context-Aware Text Generation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The Brain's job: Understand the query and extract the answer from the given documents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Generate relevant answers based on the provided pages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  <a:ea typeface="Aptos"/>
              </a:rPr>
              <a:t>Final Output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: The Brain reads the pages, extracts the what is linear regression, generates text, and provides the final answer.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7" name="Text 42"/>
          <p:cNvSpPr/>
          <p:nvPr/>
        </p:nvSpPr>
        <p:spPr>
          <a:xfrm>
            <a:off x="551520" y="2605320"/>
            <a:ext cx="77688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43"/>
          <p:cNvSpPr/>
          <p:nvPr/>
        </p:nvSpPr>
        <p:spPr>
          <a:xfrm>
            <a:off x="551520" y="2898000"/>
            <a:ext cx="77688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4"/>
          <p:cNvSpPr/>
          <p:nvPr/>
        </p:nvSpPr>
        <p:spPr>
          <a:xfrm>
            <a:off x="551520" y="3483000"/>
            <a:ext cx="77688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45"/>
          <p:cNvSpPr/>
          <p:nvPr/>
        </p:nvSpPr>
        <p:spPr>
          <a:xfrm>
            <a:off x="551520" y="3775680"/>
            <a:ext cx="77688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47"/>
          <p:cNvSpPr/>
          <p:nvPr/>
        </p:nvSpPr>
        <p:spPr>
          <a:xfrm>
            <a:off x="551520" y="4653360"/>
            <a:ext cx="77688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48"/>
          <p:cNvSpPr/>
          <p:nvPr/>
        </p:nvSpPr>
        <p:spPr>
          <a:xfrm>
            <a:off x="551520" y="4946040"/>
            <a:ext cx="77688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49"/>
          <p:cNvSpPr/>
          <p:nvPr/>
        </p:nvSpPr>
        <p:spPr>
          <a:xfrm>
            <a:off x="277200" y="1489680"/>
            <a:ext cx="731160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"/>
          <p:cNvSpPr/>
          <p:nvPr/>
        </p:nvSpPr>
        <p:spPr>
          <a:xfrm>
            <a:off x="543960" y="277200"/>
            <a:ext cx="5755320" cy="6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1e3a5f"/>
                </a:solidFill>
                <a:latin typeface="Calibri"/>
                <a:ea typeface="Aptos"/>
              </a:rPr>
              <a:t>The Brain Component (LLM)</a:t>
            </a: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Aptos"/>
              </a:rPr>
              <a:t>  </a:t>
            </a:r>
            <a:endParaRPr b="0" lang="en-IN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📊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457200" y="274320"/>
            <a:ext cx="731160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Complete Detailed System Flow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731520" y="1097280"/>
            <a:ext cx="316440" cy="316440"/>
          </a:xfrm>
          <a:prstGeom prst="ellipse">
            <a:avLst/>
          </a:prstGeom>
          <a:solidFill>
            <a:srgbClr val="f1c4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4"/>
          <p:cNvSpPr/>
          <p:nvPr/>
        </p:nvSpPr>
        <p:spPr>
          <a:xfrm>
            <a:off x="731520" y="109728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1188720" y="1097280"/>
            <a:ext cx="31968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PDF Upload &amp; Storage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1188720" y="1261800"/>
            <a:ext cx="72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2640" bIns="1526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User uploads PDF → Store in cloud (AWS S3, GCP)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731520" y="1554480"/>
            <a:ext cx="316440" cy="316440"/>
          </a:xfrm>
          <a:prstGeom prst="ellipse">
            <a:avLst/>
          </a:prstGeom>
          <a:solidFill>
            <a:srgbClr val="4a90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8"/>
          <p:cNvSpPr/>
          <p:nvPr/>
        </p:nvSpPr>
        <p:spPr>
          <a:xfrm>
            <a:off x="731520" y="155448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1188720" y="1554480"/>
            <a:ext cx="31968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Document Loading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1188720" y="1719000"/>
            <a:ext cx="72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2640" bIns="1526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Use Document Loader to bring PDF into system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731520" y="2011680"/>
            <a:ext cx="316440" cy="31644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2"/>
          <p:cNvSpPr/>
          <p:nvPr/>
        </p:nvSpPr>
        <p:spPr>
          <a:xfrm>
            <a:off x="731520" y="201168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1188720" y="2011680"/>
            <a:ext cx="31968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Text Splitting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1188720" y="2176200"/>
            <a:ext cx="72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2640" bIns="1526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Divide PDF into chunks (by pages, chapters, or paragraphs)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0" name="Shape 15"/>
          <p:cNvSpPr/>
          <p:nvPr/>
        </p:nvSpPr>
        <p:spPr>
          <a:xfrm>
            <a:off x="731520" y="2468880"/>
            <a:ext cx="316440" cy="316440"/>
          </a:xfrm>
          <a:prstGeom prst="ellipse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16"/>
          <p:cNvSpPr/>
          <p:nvPr/>
        </p:nvSpPr>
        <p:spPr>
          <a:xfrm>
            <a:off x="731520" y="246888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1188720" y="2468880"/>
            <a:ext cx="31968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Generate Embeddings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Text 18"/>
          <p:cNvSpPr/>
          <p:nvPr/>
        </p:nvSpPr>
        <p:spPr>
          <a:xfrm>
            <a:off x="1188720" y="2633400"/>
            <a:ext cx="72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2640" bIns="1526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Convert each chunk to vector using Embedding Model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4" name="Shape 19"/>
          <p:cNvSpPr/>
          <p:nvPr/>
        </p:nvSpPr>
        <p:spPr>
          <a:xfrm>
            <a:off x="731520" y="2926080"/>
            <a:ext cx="316440" cy="316440"/>
          </a:xfrm>
          <a:prstGeom prst="ellipse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0"/>
          <p:cNvSpPr/>
          <p:nvPr/>
        </p:nvSpPr>
        <p:spPr>
          <a:xfrm>
            <a:off x="731520" y="292608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6" name="Text 21"/>
          <p:cNvSpPr/>
          <p:nvPr/>
        </p:nvSpPr>
        <p:spPr>
          <a:xfrm>
            <a:off x="1188720" y="2926080"/>
            <a:ext cx="31968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Store in Database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 22"/>
          <p:cNvSpPr/>
          <p:nvPr/>
        </p:nvSpPr>
        <p:spPr>
          <a:xfrm>
            <a:off x="1188720" y="3090600"/>
            <a:ext cx="72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2640" bIns="1526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Save embeddings in vector database for future queries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Shape 23"/>
          <p:cNvSpPr/>
          <p:nvPr/>
        </p:nvSpPr>
        <p:spPr>
          <a:xfrm>
            <a:off x="731520" y="3383280"/>
            <a:ext cx="316440" cy="316440"/>
          </a:xfrm>
          <a:prstGeom prst="ellipse">
            <a:avLst/>
          </a:prstGeom>
          <a:solidFill>
            <a:srgbClr val="16a0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24"/>
          <p:cNvSpPr/>
          <p:nvPr/>
        </p:nvSpPr>
        <p:spPr>
          <a:xfrm>
            <a:off x="731520" y="338328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Text 25"/>
          <p:cNvSpPr/>
          <p:nvPr/>
        </p:nvSpPr>
        <p:spPr>
          <a:xfrm>
            <a:off x="1188720" y="3383280"/>
            <a:ext cx="31968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Query Processing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" name="Text 26"/>
          <p:cNvSpPr/>
          <p:nvPr/>
        </p:nvSpPr>
        <p:spPr>
          <a:xfrm>
            <a:off x="1188720" y="3547800"/>
            <a:ext cx="72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2640" bIns="1526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Convert user query to embedding → Find similar vectors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Shape 27"/>
          <p:cNvSpPr/>
          <p:nvPr/>
        </p:nvSpPr>
        <p:spPr>
          <a:xfrm>
            <a:off x="731520" y="3840480"/>
            <a:ext cx="316440" cy="316440"/>
          </a:xfrm>
          <a:prstGeom prst="ellipse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28"/>
          <p:cNvSpPr/>
          <p:nvPr/>
        </p:nvSpPr>
        <p:spPr>
          <a:xfrm>
            <a:off x="731520" y="384048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7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4" name="Text 29"/>
          <p:cNvSpPr/>
          <p:nvPr/>
        </p:nvSpPr>
        <p:spPr>
          <a:xfrm>
            <a:off x="1188720" y="3840480"/>
            <a:ext cx="31968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1280" bIns="161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3a5f"/>
                </a:solidFill>
                <a:latin typeface="Calibri"/>
                <a:ea typeface="DejaVu Sans"/>
              </a:rPr>
              <a:t>LLM Processing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Text 30"/>
          <p:cNvSpPr/>
          <p:nvPr/>
        </p:nvSpPr>
        <p:spPr>
          <a:xfrm>
            <a:off x="1188720" y="4005000"/>
            <a:ext cx="7220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52640" bIns="15264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DejaVu Sans"/>
              </a:rPr>
              <a:t>Send query + relevant pages to LLM → Generate answer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77400" y="47160"/>
            <a:ext cx="8922600" cy="497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⚡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457200" y="274320"/>
            <a:ext cx="731160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Challenges in Building This System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731520" y="1097280"/>
            <a:ext cx="7677360" cy="118512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4"/>
          <p:cNvSpPr/>
          <p:nvPr/>
        </p:nvSpPr>
        <p:spPr>
          <a:xfrm>
            <a:off x="914400" y="118872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4a90e2"/>
                </a:solidFill>
                <a:latin typeface="Calibri"/>
                <a:ea typeface="DejaVu Sans"/>
              </a:rPr>
              <a:t>Challenge #1: Building the Brain (SOLVED ✓)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1097280" y="1554480"/>
            <a:ext cx="712872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Problem: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Need NLU + context-aware text generation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Solution: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LLMs (GPT, Claude, Gemini) provide both capabilities out-of-the-box!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731520" y="2377440"/>
            <a:ext cx="7677360" cy="1185120"/>
          </a:xfrm>
          <a:prstGeom prst="rect">
            <a:avLst/>
          </a:prstGeom>
          <a:solidFill>
            <a:srgbClr val="f3e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7"/>
          <p:cNvSpPr/>
          <p:nvPr/>
        </p:nvSpPr>
        <p:spPr>
          <a:xfrm>
            <a:off x="914400" y="246888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9b59b6"/>
                </a:solidFill>
                <a:latin typeface="Calibri"/>
                <a:ea typeface="DejaVu Sans"/>
              </a:rPr>
              <a:t>Challenge #2: Computation (SOLVED ✓)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1097280" y="2834640"/>
            <a:ext cx="712872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Problem: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Hosting heavy LLMs is expensive and complex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Solution: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Use LLM APIs (OpenAI, Anthropic, Google) - pay-as-you-go model!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731520" y="3657600"/>
            <a:ext cx="7677360" cy="1185120"/>
          </a:xfrm>
          <a:prstGeom prst="rect">
            <a:avLst/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0"/>
          <p:cNvSpPr/>
          <p:nvPr/>
        </p:nvSpPr>
        <p:spPr>
          <a:xfrm>
            <a:off x="914400" y="374904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39c12"/>
                </a:solidFill>
                <a:latin typeface="Calibri"/>
                <a:ea typeface="DejaVu Sans"/>
              </a:rPr>
              <a:t>Challenge #3: Orchestration (WHERE LANGCHAIN HELPS! 🎯)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1097280" y="4114800"/>
            <a:ext cx="712872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Problem: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Connecting 5+ components (S3, embeddings, DB, LLM, etc.) is complex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Solution: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LangChain provides plug-and-play interfaces for all components!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1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✨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457200" y="274320"/>
            <a:ext cx="731160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Key Benefits of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731520" y="1097280"/>
            <a:ext cx="7677360" cy="81936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4"/>
          <p:cNvSpPr/>
          <p:nvPr/>
        </p:nvSpPr>
        <p:spPr>
          <a:xfrm>
            <a:off x="914400" y="118872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1. Chains Concept 🔗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914400" y="1463040"/>
            <a:ext cx="73116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Create workflows of any complexity. Output of one component automatically becomes input of the next. Build parallel or conditional chains easily.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731520" y="2057400"/>
            <a:ext cx="7677360" cy="81936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7"/>
          <p:cNvSpPr/>
          <p:nvPr/>
        </p:nvSpPr>
        <p:spPr>
          <a:xfrm>
            <a:off x="914400" y="214884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2. Model Agnostic Development 🔄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914400" y="2423160"/>
            <a:ext cx="73116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Switch between OpenAI, Google Gemini, Anthropic Claude with just 2 lines of code. Focus on logic, not implementation details.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731520" y="3017520"/>
            <a:ext cx="7677360" cy="81936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0"/>
          <p:cNvSpPr/>
          <p:nvPr/>
        </p:nvSpPr>
        <p:spPr>
          <a:xfrm>
            <a:off x="914400" y="310896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3. Complete Ecosystem 📦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731520" y="3977640"/>
            <a:ext cx="7677360" cy="819360"/>
          </a:xfrm>
          <a:prstGeom prst="rect">
            <a:avLst/>
          </a:prstGeom>
          <a:solidFill>
            <a:srgbClr val="ecf0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3"/>
          <p:cNvSpPr/>
          <p:nvPr/>
        </p:nvSpPr>
        <p:spPr>
          <a:xfrm>
            <a:off x="914400" y="406908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4. Memory &amp; State Handling 🧠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914400" y="4343400"/>
            <a:ext cx="731160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Maintains conversation context automatically. Users can reference previous queries without repeating information.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035720" y="3336480"/>
            <a:ext cx="737316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50+ document loaders, text splitters, embedding models, and databases. Every component you need is available with built-in interfaces.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🚀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457200" y="274320"/>
            <a:ext cx="731160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What Can You Build with LangChain?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731520" y="1097280"/>
            <a:ext cx="69480" cy="636480"/>
          </a:xfrm>
          <a:prstGeom prst="rect">
            <a:avLst/>
          </a:prstGeom>
          <a:solidFill>
            <a:srgbClr val="4a90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4"/>
          <p:cNvSpPr/>
          <p:nvPr/>
        </p:nvSpPr>
        <p:spPr>
          <a:xfrm>
            <a:off x="914400" y="114300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Conversational Chatbots 💬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914400" y="138996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Build AI customer service agents that understand context and provide solutions. Most popular use case!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731520" y="1828800"/>
            <a:ext cx="69480" cy="6364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7"/>
          <p:cNvSpPr/>
          <p:nvPr/>
        </p:nvSpPr>
        <p:spPr>
          <a:xfrm>
            <a:off x="914400" y="187452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AI Knowledge Assistants 📚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914400" y="212148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Create chatbots trained on your company's data. Answer questions about courses, documentation, or internal knowledge.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731520" y="2560320"/>
            <a:ext cx="69480" cy="63648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10"/>
          <p:cNvSpPr/>
          <p:nvPr/>
        </p:nvSpPr>
        <p:spPr>
          <a:xfrm>
            <a:off x="914400" y="260604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AI Agents (Chatbots on Steroids) 🤖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914400" y="285300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Not just talk, but take actions! Book flights, schedule meetings, execute tasks autonomously.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731520" y="3291840"/>
            <a:ext cx="69480" cy="63648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13"/>
          <p:cNvSpPr/>
          <p:nvPr/>
        </p:nvSpPr>
        <p:spPr>
          <a:xfrm>
            <a:off x="914400" y="333756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Workflow Automation ⚙️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914400" y="358452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Automate personal, professional, or company-level workflows using LLM intelligence.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731520" y="4023360"/>
            <a:ext cx="69480" cy="636480"/>
          </a:xfrm>
          <a:prstGeom prst="rect">
            <a:avLst/>
          </a:prstGeom>
          <a:solidFill>
            <a:srgbClr val="16a0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16"/>
          <p:cNvSpPr/>
          <p:nvPr/>
        </p:nvSpPr>
        <p:spPr>
          <a:xfrm>
            <a:off x="914400" y="406908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3a5f"/>
                </a:solidFill>
                <a:latin typeface="Calibri"/>
                <a:ea typeface="DejaVu Sans"/>
              </a:rPr>
              <a:t>Summarization &amp; Research Tools 📝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914400" y="431604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Process large documents, generate summaries, answer questions - perfect for research and analysis.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solidFill>
            <a:srgbClr val="16a0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"/>
          <p:cNvSpPr/>
          <p:nvPr/>
        </p:nvSpPr>
        <p:spPr>
          <a:xfrm>
            <a:off x="8046720" y="274320"/>
            <a:ext cx="72792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  <a:ea typeface="DejaVu Sans"/>
              </a:rPr>
              <a:t>🔀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457200" y="274320"/>
            <a:ext cx="731160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Popular Alternatives to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720000" y="1260000"/>
            <a:ext cx="7725960" cy="114876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4"/>
          <p:cNvSpPr/>
          <p:nvPr/>
        </p:nvSpPr>
        <p:spPr>
          <a:xfrm>
            <a:off x="914400" y="128016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4a90e2"/>
                </a:solidFill>
                <a:latin typeface="Calibri"/>
                <a:ea typeface="DejaVu Sans"/>
              </a:rPr>
              <a:t>LlamaIndex (formerly GPT Index)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788760" y="1620000"/>
            <a:ext cx="712872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Very popular framework - sometimes more popular than LangChain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Specializes in data indexing and retrieval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Great for building RAG (Retrieval-Augmented Generation) applications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720000" y="2700000"/>
            <a:ext cx="7677360" cy="1077480"/>
          </a:xfrm>
          <a:prstGeom prst="rect">
            <a:avLst/>
          </a:prstGeom>
          <a:solidFill>
            <a:srgbClr val="f3e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7"/>
          <p:cNvSpPr/>
          <p:nvPr/>
        </p:nvSpPr>
        <p:spPr>
          <a:xfrm>
            <a:off x="914400" y="2468880"/>
            <a:ext cx="731160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9b59b6"/>
                </a:solidFill>
                <a:latin typeface="Calibri"/>
                <a:ea typeface="DejaVu Sans"/>
              </a:rPr>
              <a:t>Haystack by deepset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1097280" y="2834640"/>
            <a:ext cx="712872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Production-ready framework for building search systems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Strong focus on enterprise applications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DejaVu Sans"/>
              </a:rPr>
              <a:t>Excellent for semantic search and question-answering systems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Shape 9"/>
          <p:cNvSpPr/>
          <p:nvPr/>
        </p:nvSpPr>
        <p:spPr>
          <a:xfrm>
            <a:off x="780120" y="3949560"/>
            <a:ext cx="7677360" cy="727920"/>
          </a:xfrm>
          <a:prstGeom prst="rect">
            <a:avLst/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0"/>
          <p:cNvSpPr/>
          <p:nvPr/>
        </p:nvSpPr>
        <p:spPr>
          <a:xfrm>
            <a:off x="914400" y="3749040"/>
            <a:ext cx="73116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39c12"/>
                </a:solidFill>
                <a:latin typeface="Calibri"/>
                <a:ea typeface="DejaVu Sans"/>
              </a:rPr>
              <a:t>Choosing the Right Framework: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914400" y="4023360"/>
            <a:ext cx="731160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Decision depends on: pricing, specific use case, ease of use, and team familiarity. All three are excellent choices for building LLM applications!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457200" y="274320"/>
            <a:ext cx="822600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Calibri"/>
                <a:ea typeface="DejaVu Sans"/>
              </a:rPr>
              <a:t>Key Takeaways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731520" y="1097280"/>
            <a:ext cx="316440" cy="316440"/>
          </a:xfrm>
          <a:prstGeom prst="rect">
            <a:avLst/>
          </a:prstGeom>
          <a:solidFill>
            <a:srgbClr val="4a90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"/>
          <p:cNvSpPr/>
          <p:nvPr/>
        </p:nvSpPr>
        <p:spPr>
          <a:xfrm>
            <a:off x="731520" y="109728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1188720" y="1143000"/>
            <a:ext cx="7220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LangChain is an open-source framework for building LLM-powered applications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8" name="Shape 4"/>
          <p:cNvSpPr/>
          <p:nvPr/>
        </p:nvSpPr>
        <p:spPr>
          <a:xfrm>
            <a:off x="731520" y="1481400"/>
            <a:ext cx="316440" cy="3164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5"/>
          <p:cNvSpPr/>
          <p:nvPr/>
        </p:nvSpPr>
        <p:spPr>
          <a:xfrm>
            <a:off x="731520" y="148140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1188720" y="1527120"/>
            <a:ext cx="7220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It solves the orchestration challenge of connecting multiple components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731520" y="1865520"/>
            <a:ext cx="316440" cy="31644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8"/>
          <p:cNvSpPr/>
          <p:nvPr/>
        </p:nvSpPr>
        <p:spPr>
          <a:xfrm>
            <a:off x="731520" y="186552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1188720" y="1911240"/>
            <a:ext cx="7220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Semantic search is more efficient than keyword search for finding relevant content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731520" y="2249280"/>
            <a:ext cx="316440" cy="31644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1"/>
          <p:cNvSpPr/>
          <p:nvPr/>
        </p:nvSpPr>
        <p:spPr>
          <a:xfrm>
            <a:off x="731520" y="224928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1188720" y="2295000"/>
            <a:ext cx="7220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Major challenges (Brain, Computation) are solved by LLMs and APIs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731520" y="2633400"/>
            <a:ext cx="316440" cy="316440"/>
          </a:xfrm>
          <a:prstGeom prst="rect">
            <a:avLst/>
          </a:prstGeom>
          <a:solidFill>
            <a:srgbClr val="16a08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4"/>
          <p:cNvSpPr/>
          <p:nvPr/>
        </p:nvSpPr>
        <p:spPr>
          <a:xfrm>
            <a:off x="731520" y="263340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1188720" y="2679120"/>
            <a:ext cx="7220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LangChain provides chains, model-agnostic development, and complete ecosystem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0" name="Shape 16"/>
          <p:cNvSpPr/>
          <p:nvPr/>
        </p:nvSpPr>
        <p:spPr>
          <a:xfrm>
            <a:off x="731520" y="3017520"/>
            <a:ext cx="316440" cy="3164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7"/>
          <p:cNvSpPr/>
          <p:nvPr/>
        </p:nvSpPr>
        <p:spPr>
          <a:xfrm>
            <a:off x="731520" y="301752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1188720" y="3063240"/>
            <a:ext cx="7220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Use cases: Chatbots, Knowledge Assistants, AI Agents, Automation, Research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Shape 19"/>
          <p:cNvSpPr/>
          <p:nvPr/>
        </p:nvSpPr>
        <p:spPr>
          <a:xfrm>
            <a:off x="731520" y="3401640"/>
            <a:ext cx="316440" cy="316440"/>
          </a:xfrm>
          <a:prstGeom prst="rect">
            <a:avLst/>
          </a:prstGeom>
          <a:solidFill>
            <a:srgbClr val="f1c4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20"/>
          <p:cNvSpPr/>
          <p:nvPr/>
        </p:nvSpPr>
        <p:spPr>
          <a:xfrm>
            <a:off x="731520" y="340164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5" name="Text 21"/>
          <p:cNvSpPr/>
          <p:nvPr/>
        </p:nvSpPr>
        <p:spPr>
          <a:xfrm>
            <a:off x="1188720" y="3447360"/>
            <a:ext cx="7220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Alternatives include LlamaIndex and Haystack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6" name="Shape 22"/>
          <p:cNvSpPr/>
          <p:nvPr/>
        </p:nvSpPr>
        <p:spPr>
          <a:xfrm>
            <a:off x="731520" y="3785760"/>
            <a:ext cx="316440" cy="316440"/>
          </a:xfrm>
          <a:prstGeom prst="rect">
            <a:avLst/>
          </a:prstGeom>
          <a:solidFill>
            <a:srgbClr val="4a90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23"/>
          <p:cNvSpPr/>
          <p:nvPr/>
        </p:nvSpPr>
        <p:spPr>
          <a:xfrm>
            <a:off x="731520" y="3785760"/>
            <a:ext cx="31644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8" name="Text 24"/>
          <p:cNvSpPr/>
          <p:nvPr/>
        </p:nvSpPr>
        <p:spPr>
          <a:xfrm>
            <a:off x="1188720" y="3831480"/>
            <a:ext cx="722016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DejaVu Sans"/>
              </a:rPr>
              <a:t>Future looks bright for LLM-based applications - LangChain will play a key role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2026-02-10T02:43:37Z</dcterms:created>
  <dc:creator>AI Training</dc:creator>
  <dc:description/>
  <dc:language>en-IN</dc:language>
  <cp:lastModifiedBy/>
  <dcterms:modified xsi:type="dcterms:W3CDTF">2026-03-13T20:57:45Z</dcterms:modified>
  <cp:revision>29</cp:revision>
  <dc:subject>PptxGenJS Presentation</dc:subject>
  <dc:title>LangChain for Beginners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