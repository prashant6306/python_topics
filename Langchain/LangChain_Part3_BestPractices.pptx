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2D1B5E">
              <a:alpha val="40000"/>
            </a:srgbClr>
          </a:solidFill>
          <a:ln w="12700">
            <a:solidFill>
              <a:srgbClr val="2D1B5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73152" cy="73152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57200"/>
            <a:ext cx="73152" cy="73152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457200"/>
            <a:ext cx="73152" cy="73152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457200"/>
            <a:ext cx="73152" cy="73152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822960"/>
            <a:ext cx="73152" cy="73152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822960"/>
            <a:ext cx="73152" cy="73152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822960"/>
            <a:ext cx="73152" cy="73152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822960"/>
            <a:ext cx="73152" cy="73152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188720"/>
            <a:ext cx="73152" cy="73152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1188720"/>
            <a:ext cx="73152" cy="73152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1188720"/>
            <a:ext cx="73152" cy="73152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1188720"/>
            <a:ext cx="73152" cy="73152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0040"/>
            <a:ext cx="20116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 3 OF 3  •  FINAL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80467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640080" y="1517904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640080" y="2304288"/>
            <a:ext cx="7772400" cy="50292"/>
          </a:xfrm>
          <a:prstGeom prst="rect">
            <a:avLst/>
          </a:prstGeom>
          <a:solidFill>
            <a:srgbClr val="A78BFA">
              <a:alpha val="5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423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9FE"/>
                </a:solidFill>
              </a:rPr>
              <a:t>Vector Databases  •  RAG Pipeline  •  Best Practices  •  Model Selection  •  Cost Management  •  Next Steps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017520"/>
            <a:ext cx="2286000" cy="502920"/>
          </a:xfrm>
          <a:prstGeom prst="rect">
            <a:avLst/>
          </a:prstGeom>
          <a:solidFill>
            <a:srgbClr val="2D1B5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E9FE"/>
                </a:solidFill>
              </a:rPr>
              <a:t>Slides 38 – 50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017520"/>
            <a:ext cx="2286000" cy="502920"/>
          </a:xfrm>
          <a:prstGeom prst="rect">
            <a:avLst/>
          </a:prstGeom>
          <a:solidFill>
            <a:srgbClr val="2D1B5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E9FE"/>
                </a:solidFill>
              </a:rPr>
              <a:t>Parts 6 – 7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3017520"/>
            <a:ext cx="2286000" cy="502920"/>
          </a:xfrm>
          <a:prstGeom prst="rect">
            <a:avLst/>
          </a:prstGeom>
          <a:solidFill>
            <a:srgbClr val="2D1B5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E9FE"/>
                </a:solidFill>
              </a:rPr>
              <a:t>Production Ready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— Why Needed?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023360" cy="2286000"/>
          </a:xfrm>
          <a:prstGeom prst="rect">
            <a:avLst/>
          </a:prstGeom>
          <a:solidFill>
            <a:srgbClr val="F43F5E">
              <a:alpha val="9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Re-generating embeddings for every query is: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• Expensive (costs API tokens)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• Slow (network latency)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• Wasteful (same docs embedded repeatedly)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• Unscalable (docs grow over time)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24128"/>
            <a:ext cx="4023360" cy="228600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241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  THE 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Vector Database: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• Generate embeddings ONCE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• Store for indefinite reuse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• Efficient similarity 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• Scales to millions of docs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4564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Popular Vector Databases: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886200"/>
            <a:ext cx="1965960" cy="73152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886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Pinecone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14600" y="3886200"/>
            <a:ext cx="1965960" cy="73152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886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Chroma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3886200"/>
            <a:ext cx="1965960" cy="7315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886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FAISS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03720" y="3886200"/>
            <a:ext cx="1965960" cy="73152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886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Weaviate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4736592"/>
            <a:ext cx="8503920" cy="320040"/>
          </a:xfrm>
          <a:prstGeom prst="rect">
            <a:avLst/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7365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Critical for production RAG systems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Process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25296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252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1338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Generate Doc Embeddings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5361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B9A"/>
                </a:solidFill>
              </a:rPr>
              <a:t>ONE TIME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2412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25296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252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77840" y="11338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Store in Vector 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5361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B9A"/>
                </a:solidFill>
              </a:rPr>
              <a:t>Persistent storage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1214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578608"/>
            <a:ext cx="594360" cy="5943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786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4871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User Submits Query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907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B9A"/>
                </a:solidFill>
              </a:rPr>
              <a:t>Natural language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64408" y="23774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55848" y="2578608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25786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41648" y="24871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Embed the Query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41648" y="2907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B9A"/>
                </a:solidFill>
              </a:rPr>
              <a:t>Same embedding model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08776" y="23774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0216" y="2578608"/>
            <a:ext cx="594360" cy="5943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0216" y="25786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86016" y="24871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Search Vector DB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86016" y="2907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B9A"/>
                </a:solidFill>
              </a:rPr>
              <a:t>Find similar vectors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0" y="3493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↓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0040" y="373075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3931920"/>
            <a:ext cx="658368" cy="6583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931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8872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Retrieve Docs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88720" y="424281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B9A"/>
                </a:solidFill>
              </a:rPr>
              <a:t>Top-k results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73075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393192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931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57784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LLM Generates Answer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77840" y="424281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B9A"/>
                </a:solidFill>
              </a:rPr>
              <a:t>Context-grounded response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36576" cy="51435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36576" cy="51435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0"/>
            <a:ext cx="36576" cy="51435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0"/>
            <a:ext cx="36576" cy="51435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45920"/>
            <a:ext cx="10972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54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D6B9A"/>
                </a:solidFill>
              </a:rPr>
              <a:t>Part 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Tips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FE"/>
                </a:solidFill>
              </a:rPr>
              <a:t>Production guidance, model selection, cost management, and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Best Practices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0241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Use Chat Models (not LLMs) for all new projects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09344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68249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160934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Store API keys in environment variables — never hardcode!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26771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194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Set temperature based on task: 0 for factual, 1.2+ for creative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779776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85292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277977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Use max_completion_tokens for production cost control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364992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43814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3649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Cache embeddings in vector databases for reuse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950208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402336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95020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Test with open-source models before scaling to expensive APIs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535424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460857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608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" y="453542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Monitor API usage and costs in production dashboards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Guide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🔢 Factual Tasks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B9A"/>
                </a:solidFill>
              </a:rPr>
              <a:t>Code generation, math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14600" y="1170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17520" y="1170432"/>
            <a:ext cx="13716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170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temp: 0 – 0.3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62272" y="1170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56048" y="1133856"/>
            <a:ext cx="3749040" cy="457200"/>
          </a:xfrm>
          <a:prstGeom prst="rect">
            <a:avLst/>
          </a:prstGeom>
          <a:solidFill>
            <a:srgbClr val="1A0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1338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GPT-4 or Claude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1901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💬 General Q&amp;A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2494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B9A"/>
                </a:solidFill>
              </a:rPr>
              <a:t>Answering questions, summaries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14600" y="19751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017520" y="1975104"/>
            <a:ext cx="1371600" cy="38404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19751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temp: 0.5 – 0.7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62272" y="19751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56048" y="1938528"/>
            <a:ext cx="3749040" cy="457200"/>
          </a:xfrm>
          <a:prstGeom prst="rect">
            <a:avLst/>
          </a:prstGeom>
          <a:solidFill>
            <a:srgbClr val="1A0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9385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Any Chat Model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633472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27066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✍️ Creative Writing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0540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B9A"/>
                </a:solidFill>
              </a:rPr>
              <a:t>Stories, marketing copy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14600" y="27797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017520" y="2779776"/>
            <a:ext cx="1371600" cy="38404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27797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temp: 0.9 – 1.2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62272" y="27797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956048" y="2743200"/>
            <a:ext cx="3749040" cy="457200"/>
          </a:xfrm>
          <a:prstGeom prst="rect">
            <a:avLst/>
          </a:prstGeom>
          <a:solidFill>
            <a:srgbClr val="1A0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2743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GPT-4 or Claude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438144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35112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💰 Cost-Sensitive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38587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B9A"/>
                </a:solidFill>
              </a:rPr>
              <a:t>High-volume, budget projects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14600" y="3584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017520" y="3584448"/>
            <a:ext cx="1371600" cy="38404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35844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temp: Varies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62272" y="3584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956048" y="3547872"/>
            <a:ext cx="3749040" cy="457200"/>
          </a:xfrm>
          <a:prstGeom prst="rect">
            <a:avLst/>
          </a:prstGeom>
          <a:solidFill>
            <a:srgbClr val="1A0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5478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GPT-3.5 / Open-Source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" y="4242816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5720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🔒 Privacy Required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46634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6B9A"/>
                </a:solidFill>
              </a:rPr>
              <a:t>Sensitive data, HIPAA, GDPR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3017520" y="4389120"/>
            <a:ext cx="1371600" cy="38404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4389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temp: Varies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62272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956048" y="4352544"/>
            <a:ext cx="3749040" cy="457200"/>
          </a:xfrm>
          <a:prstGeom prst="rect">
            <a:avLst/>
          </a:prstGeom>
          <a:solidFill>
            <a:srgbClr val="1A0A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56048" y="43525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Local Open-Source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Common Code Pattern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3035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Standard pattern - works across ALL providers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Import provider-specific class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Initialize model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ChatOpenAI(model="gpt-4o")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Invoke with prompt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model.invoke("Your prompt here")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Extract content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response.content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60720" y="1005840"/>
            <a:ext cx="310896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005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SAME PATTERN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WORKS FOR ALL: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70448" y="1691640"/>
            <a:ext cx="2880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61888" y="16916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OpenAI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61888" y="1993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ChatOpenAI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70448" y="2459736"/>
            <a:ext cx="2880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1888" y="245973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Anthropic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61888" y="2761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ChatAnthropic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70448" y="3227832"/>
            <a:ext cx="2880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32278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Google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61888" y="3529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ChatGoogleGenerativeAI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70448" y="3995928"/>
            <a:ext cx="2880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1888" y="39959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HuggingFace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61888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ChatHuggingFace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&amp; Solutions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834640" cy="713232"/>
          </a:xfrm>
          <a:prstGeom prst="rect">
            <a:avLst/>
          </a:prstGeom>
          <a:solidFill>
            <a:srgbClr val="F43F5E">
              <a:alpha val="8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❌  API key error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024128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03320" y="1024128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✓  Check .env file and variable names match exactly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28800"/>
            <a:ext cx="2834640" cy="713232"/>
          </a:xfrm>
          <a:prstGeom prst="rect">
            <a:avLst/>
          </a:prstGeom>
          <a:solidFill>
            <a:srgbClr val="F43F5E">
              <a:alpha val="8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❌  Module not found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82880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1828800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✓  Verify all dependencies are installed: pip install ...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633472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33472"/>
            <a:ext cx="2834640" cy="71323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33472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❌  Rate limit exceeded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63347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03320" y="2633472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✓  Implement retry logic with backoff or upgrade tier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438144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438144"/>
            <a:ext cx="2834640" cy="71323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38144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❌  Slow local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43814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03320" y="3438144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✓  Use a smaller model or switch to cloud 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242816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242816"/>
            <a:ext cx="2834640" cy="713232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42816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❌  Inconsistent outputs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424281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D6B9A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03320" y="4242816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✓  Lower temperature value (try 0 – 0.3 range)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OpenAI Model Tiers (per million tokens):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GPT-4o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15087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B9A"/>
                </a:solidFill>
              </a:rPr>
              <a:t>Best Quality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55064"/>
            <a:ext cx="32004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150876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$$$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16712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16712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GPT-3.5 Turbo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16712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B9A"/>
                </a:solidFill>
              </a:rPr>
              <a:t>Good Quality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313432"/>
            <a:ext cx="2171700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2260" y="216712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$$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2825496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82549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Embeddings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282549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B9A"/>
                </a:solidFill>
              </a:rPr>
              <a:t>Very Low Cost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2971800"/>
            <a:ext cx="11430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282549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$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" y="35478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Cost Reduction Strategies: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977640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9776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💡  Use max_completion_tokens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977640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39776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💡  Cache repeated queries in vector DB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526280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45262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💡  Choose appropriate model for task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4526280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45262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💡  Monitor usage with provider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Advanced Topics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109728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435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</a:rPr>
              <a:t>🔗 Chains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Sequential LLM operations — build pipelines that link multiple calls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78992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78992"/>
            <a:ext cx="10972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435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</a:rPr>
              <a:t>🤖 Agents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6733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Dynamic tool selection and autonomous reasoning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42032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542032"/>
            <a:ext cx="109728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066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</a:rPr>
              <a:t>🧠 Memory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1363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Conversation history persistence across sessions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542032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542032"/>
            <a:ext cx="10972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7066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</a:rPr>
              <a:t>🗄️ Vector Stores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31363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Chroma, Pinecone, FAISS integration for production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14600" y="4005072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14600" y="4005072"/>
            <a:ext cx="109728" cy="8412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40690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🔍 RAG Systems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0" y="44165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Full Retrieval-Augmented Generation pipelines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Official Documentation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9144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544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LangChain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8379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</a:rPr>
              <a:t>docs.langchain.com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58568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58568"/>
            <a:ext cx="9144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3042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OpenAI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587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</a:rPr>
              <a:t>platform.openai.com/docs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08376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08376"/>
            <a:ext cx="91440" cy="640080"/>
          </a:xfrm>
          <a:prstGeom prst="rect">
            <a:avLst/>
          </a:prstGeom>
          <a:solidFill>
            <a:srgbClr val="6D6B9A"/>
          </a:solidFill>
          <a:ln w="12700">
            <a:solidFill>
              <a:srgbClr val="6D6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0540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Anthropic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3375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D6B9A"/>
                </a:solidFill>
              </a:rPr>
              <a:t>docs.anthropic.com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58184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758184"/>
            <a:ext cx="9144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8039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Google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4087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</a:rPr>
              <a:t>ai.google.dev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10241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Community &amp; Repositories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150876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508760"/>
            <a:ext cx="9144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5727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🤗 Hugging Face Models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10912" y="18928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huggingface.co/models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33172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2331720"/>
            <a:ext cx="9144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3957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💬 LangChain Discord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10912" y="2715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</a:rPr>
              <a:t>discord.gg/langchain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154680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154680"/>
            <a:ext cx="91440" cy="713232"/>
          </a:xfrm>
          <a:prstGeom prst="rect">
            <a:avLst/>
          </a:prstGeom>
          <a:solidFill>
            <a:srgbClr val="6D6B9A"/>
          </a:solidFill>
          <a:ln w="12700">
            <a:solidFill>
              <a:srgbClr val="6D6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2186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⭐ LangChain GitHub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10912" y="35387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D6B9A"/>
                </a:solidFill>
              </a:rPr>
              <a:t>github.com/langchain-ai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4069080"/>
            <a:ext cx="4023360" cy="73152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0690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9FE"/>
                </a:solidFill>
              </a:rPr>
              <a:t>Pro Tip: Start with the official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DE9FE"/>
                </a:solidFill>
              </a:rPr>
              <a:t>LangChain docs — they are excellent!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10972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✓  LangChain provides a unified interface — same pattern across ALL providers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09344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09344"/>
            <a:ext cx="10972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934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✓  Chat Models are the current standard — not LLMs (those are deprecated)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194560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94560"/>
            <a:ext cx="10972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94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✓  Multiple providers: OpenAI, Anthropic, Google, HuggingFace — all supported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779776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79776"/>
            <a:ext cx="10972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7977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✓  Embeddings enable semantic search, similarity matching, and RAG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364992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364992"/>
            <a:ext cx="109728" cy="5029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649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✓  Temperature controls creativity — 0 for facts, 1.2+ for creative tasks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950208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950208"/>
            <a:ext cx="109728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502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✓  Vector databases are essential for production — cache embeddings!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535424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535424"/>
            <a:ext cx="10972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3542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✓  Start with APIs, scale to local deployment for privacy or cost savings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 Project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566928"/>
          </a:xfrm>
          <a:prstGeom prst="rect">
            <a:avLst/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Project: Build a Simple Semantic Search Application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719072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2336" y="178308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17465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Create Document Collection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74650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Define a set of text documents to search through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2336" y="2350008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23134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Generate Embeddings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31343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Use OpenAIEmbeddings to embed all documents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52928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2336" y="2916936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7824" y="28803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Accept User Queries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2880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Get natural language input from the user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419856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02336" y="3483864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34472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Find Similar Docs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20440" y="344728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Calculate cosine similarity vs all document vectors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986784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02336" y="405079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7824" y="40142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Display Results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20440" y="401421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Show matched documents with similarity scores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645152"/>
            <a:ext cx="4023360" cy="34747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6451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Extension: Add Chroma vector database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4645152"/>
            <a:ext cx="4023360" cy="347472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6451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Advanced: Build full RAG chatbot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914400"/>
            <a:ext cx="6400800" cy="64008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2D1B5E">
              <a:alpha val="30000"/>
            </a:srgbClr>
          </a:solidFill>
          <a:ln w="12700">
            <a:solidFill>
              <a:srgbClr val="2D1B5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772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2743200" y="1920240"/>
            <a:ext cx="365760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1645920" cy="548640"/>
          </a:xfrm>
          <a:prstGeom prst="rect">
            <a:avLst/>
          </a:prstGeom>
          <a:solidFill>
            <a:srgbClr val="4C1D9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2880360"/>
            <a:ext cx="1645920" cy="548640"/>
          </a:xfrm>
          <a:prstGeom prst="rect">
            <a:avLst/>
          </a:prstGeom>
          <a:solidFill>
            <a:srgbClr val="4C1D9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Embeddings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1645920" cy="548640"/>
          </a:xfrm>
          <a:prstGeom prst="rect">
            <a:avLst/>
          </a:prstGeom>
          <a:solidFill>
            <a:srgbClr val="4C1D9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880360"/>
            <a:ext cx="1645920" cy="548640"/>
          </a:xfrm>
          <a:prstGeom prst="rect">
            <a:avLst/>
          </a:prstGeom>
          <a:solidFill>
            <a:srgbClr val="4C1D9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 Practices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9FE"/>
                </a:solidFill>
              </a:rPr>
              <a:t>LangChain Models — Complete Guide  •  3 Parts  •  50 Slides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Models - Part 3</dc:title>
  <dc:subject>PptxGenJS Presentation</dc:subject>
  <dc:creator>PptxGenJS</dc:creator>
  <cp:lastModifiedBy>PptxGenJS</cp:lastModifiedBy>
  <cp:revision>1</cp:revision>
  <dcterms:created xsi:type="dcterms:W3CDTF">2026-03-12T15:54:17Z</dcterms:created>
  <dcterms:modified xsi:type="dcterms:W3CDTF">2026-03-12T15:54:17Z</dcterms:modified>
</cp:coreProperties>
</file>