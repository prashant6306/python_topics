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5B26849-55E0-4C09-97D4-8184DE12004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66EE0E-D796-4BCE-A073-418DA35D14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422991-AB2F-4D48-AC22-58720568AF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9EC892-6458-442F-9F8D-04B9B1110F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A9C960-54FE-4CAF-B7A9-0548E55792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DFDB73-CBC9-4B7D-B1B4-E17BE30A8A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17E1D8-133F-4F58-8B81-54DE71BDE6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2E73E6-5986-4BC4-9E0B-91D7B88870E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86B335-A6FD-4A83-AA7A-606FEE3F6EC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0FCF41-EB9F-423E-A730-4773D159A2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A0B27DE-33C8-45DE-A8C3-EF4F7AB1BDF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6B422E-DF9F-447D-BE10-688EA8E3BC8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D89BF2-BDA4-4D65-9976-DA90E31449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661B54-9E5D-456A-AE9D-70074B41CB4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8C461D-13B2-471E-98A0-8946D095AE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08D583-BE17-4FA7-A4EA-3AC01A03472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37D0E8-A5DE-4B57-B150-1AC1158357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942D7B-F8C0-4B59-8072-CB6CE79AE0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502920" y="173736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Georgia"/>
                <a:ea typeface="Georgia"/>
              </a:rPr>
              <a:t>Python Sets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02920" y="33375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4caf50"/>
                </a:solidFill>
                <a:latin typeface="Calibri"/>
                <a:ea typeface="Calibri"/>
              </a:rPr>
              <a:t>Part 2 – Operations, Conversions, Aliasing, Cloning &amp; Operators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02920" y="6217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baf82"/>
                </a:solidFill>
                <a:latin typeface="Calibri"/>
                <a:ea typeface="Calibri"/>
              </a:rPr>
              <a:t>Mutability • Conversion • Aliasing • Cloning • 'in' • 'is' • Comparison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●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Basic Set Operations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①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Mutability — Sets are Mutable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Like lists — elements can be added or removed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Sets are mutable like lists. After creating a set you can add or remove elements — but you cannot change (reassign) an existing element directly.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365760" y="1737360"/>
            <a:ext cx="4205880" cy="48459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5"/>
          <p:cNvSpPr/>
          <p:nvPr/>
        </p:nvSpPr>
        <p:spPr>
          <a:xfrm>
            <a:off x="365760" y="1737360"/>
            <a:ext cx="4205880" cy="438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6"/>
          <p:cNvSpPr/>
          <p:nvPr/>
        </p:nvSpPr>
        <p:spPr>
          <a:xfrm>
            <a:off x="530280" y="1801440"/>
            <a:ext cx="38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Georgia"/>
                <a:ea typeface="Georgia"/>
              </a:rPr>
              <a:t>Sets CAN do ✓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94360" y="23043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✓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add() — add a new element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94360" y="27799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✓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remove() — remove an element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594360" y="32551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✓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Mutable after creation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94360" y="37306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✓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Size can grow or shrink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530280" y="4297680"/>
            <a:ext cx="3876840" cy="1243080"/>
          </a:xfrm>
          <a:prstGeom prst="rect">
            <a:avLst/>
          </a:prstGeom>
          <a:solidFill>
            <a:srgbClr val="0d1f12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2"/>
          <p:cNvSpPr/>
          <p:nvPr/>
        </p:nvSpPr>
        <p:spPr>
          <a:xfrm>
            <a:off x="694800" y="4389120"/>
            <a:ext cx="365724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data = {10, 20, 30}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data.add(40)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print(data)  # {10, 20, 30, 40}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4754880" y="1737360"/>
            <a:ext cx="4205880" cy="4845960"/>
          </a:xfrm>
          <a:prstGeom prst="rect">
            <a:avLst/>
          </a:prstGeom>
          <a:solidFill>
            <a:srgbClr val="fff0f5"/>
          </a:solidFill>
          <a:ln w="254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14"/>
          <p:cNvSpPr/>
          <p:nvPr/>
        </p:nvSpPr>
        <p:spPr>
          <a:xfrm>
            <a:off x="4754880" y="1737360"/>
            <a:ext cx="4205880" cy="43848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5"/>
          <p:cNvSpPr/>
          <p:nvPr/>
        </p:nvSpPr>
        <p:spPr>
          <a:xfrm>
            <a:off x="4919400" y="1801440"/>
            <a:ext cx="38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Georgia"/>
                <a:ea typeface="Georgia"/>
              </a:rPr>
              <a:t>Sets CANNOT do ✗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4983480" y="23043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✗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Cannot change element by index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4983480" y="27799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✗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No data[0] = 99 (no indexing)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4983480" y="32551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✗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No slicing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4983480" y="37306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✗ 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Cannot reassign individual items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4919400" y="4297680"/>
            <a:ext cx="3876840" cy="1243080"/>
          </a:xfrm>
          <a:prstGeom prst="rect">
            <a:avLst/>
          </a:prstGeom>
          <a:solidFill>
            <a:srgbClr val="0d1f12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21"/>
          <p:cNvSpPr/>
          <p:nvPr/>
        </p:nvSpPr>
        <p:spPr>
          <a:xfrm>
            <a:off x="5083920" y="4389120"/>
            <a:ext cx="365724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data = {10, 20, 30}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# data[0] = 99  → TypeError!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# Sets have no index access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365760" y="6675120"/>
            <a:ext cx="8412120" cy="54828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3"/>
          <p:cNvSpPr/>
          <p:nvPr/>
        </p:nvSpPr>
        <p:spPr>
          <a:xfrm>
            <a:off x="594360" y="678492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②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Sets can add elements and remove elements — but individual elements cannot be changed by index since sets have no positional indexing.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②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Conversions to Set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Converting Other Types → Set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Use set() conversion 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Use the set() function to convert any iterable — string, list, tuple, dictionary, or range — into a set.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365760" y="1591200"/>
            <a:ext cx="8412120" cy="4752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5"/>
          <p:cNvSpPr/>
          <p:nvPr/>
        </p:nvSpPr>
        <p:spPr>
          <a:xfrm>
            <a:off x="640080" y="17006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3a2a"/>
                </a:solidFill>
                <a:latin typeface="Consolas"/>
                <a:ea typeface="Consolas"/>
              </a:rPr>
              <a:t>Syntax:   converted_set  =  set( iterable_object 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365760" y="2194560"/>
            <a:ext cx="8412120" cy="255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7"/>
          <p:cNvSpPr/>
          <p:nvPr/>
        </p:nvSpPr>
        <p:spPr>
          <a:xfrm>
            <a:off x="548640" y="2231280"/>
            <a:ext cx="8046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i) String → Set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365760" y="2523600"/>
            <a:ext cx="8412120" cy="9140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9"/>
          <p:cNvSpPr/>
          <p:nvPr/>
        </p:nvSpPr>
        <p:spPr>
          <a:xfrm>
            <a:off x="530280" y="263340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word = "hello"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char_set = set(word)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print(char_set)   # {'h', 'e', 'l', 'o'}  ← duplicate 'l' removed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365760" y="3547800"/>
            <a:ext cx="8412120" cy="25560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1"/>
          <p:cNvSpPr/>
          <p:nvPr/>
        </p:nvSpPr>
        <p:spPr>
          <a:xfrm>
            <a:off x="548640" y="3584520"/>
            <a:ext cx="8046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ii) Tuple → Set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0" name="Shape 12"/>
          <p:cNvSpPr/>
          <p:nvPr/>
        </p:nvSpPr>
        <p:spPr>
          <a:xfrm>
            <a:off x="365760" y="3877200"/>
            <a:ext cx="8412120" cy="8042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3"/>
          <p:cNvSpPr/>
          <p:nvPr/>
        </p:nvSpPr>
        <p:spPr>
          <a:xfrm>
            <a:off x="530280" y="3986640"/>
            <a:ext cx="8083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nums = (1, 2, 3)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result = set(nums)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print(result)     # {1, 2, 3}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365760" y="4791600"/>
            <a:ext cx="8412120" cy="255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15"/>
          <p:cNvSpPr/>
          <p:nvPr/>
        </p:nvSpPr>
        <p:spPr>
          <a:xfrm>
            <a:off x="548640" y="4827960"/>
            <a:ext cx="8046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iii) List → Set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4" name="Shape 16"/>
          <p:cNvSpPr/>
          <p:nvPr/>
        </p:nvSpPr>
        <p:spPr>
          <a:xfrm>
            <a:off x="365760" y="5120640"/>
            <a:ext cx="8412120" cy="8042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7"/>
          <p:cNvSpPr/>
          <p:nvPr/>
        </p:nvSpPr>
        <p:spPr>
          <a:xfrm>
            <a:off x="530280" y="5230440"/>
            <a:ext cx="8083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lst = [1, 2, 3]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result = set(lst)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print(result)     # {1, 2, 3}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365760" y="6035040"/>
            <a:ext cx="8412120" cy="566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9"/>
          <p:cNvSpPr/>
          <p:nvPr/>
        </p:nvSpPr>
        <p:spPr>
          <a:xfrm>
            <a:off x="594360" y="614484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💡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Any duplicate values in the source are automatically eliminated when converting to a set.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iv) Dictionary &amp; v) Range → Set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Keys only for dict; values expanded for range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365760" y="1078920"/>
            <a:ext cx="8412120" cy="2556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4"/>
          <p:cNvSpPr/>
          <p:nvPr/>
        </p:nvSpPr>
        <p:spPr>
          <a:xfrm>
            <a:off x="548640" y="1115640"/>
            <a:ext cx="8046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iv) Dictionary → Set  (only KEYS are stored)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365760" y="1426320"/>
            <a:ext cx="8412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  <a:ea typeface="Calibri"/>
              </a:rPr>
              <a:t>When a dictionary is converted to a set, only the KEYS are included — values are discarded.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" name="Shape 6"/>
          <p:cNvSpPr/>
          <p:nvPr/>
        </p:nvSpPr>
        <p:spPr>
          <a:xfrm>
            <a:off x="365760" y="1828800"/>
            <a:ext cx="8412120" cy="9140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7"/>
          <p:cNvSpPr/>
          <p:nvPr/>
        </p:nvSpPr>
        <p:spPr>
          <a:xfrm>
            <a:off x="530280" y="193860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info = {"a": 1, "b": 2}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keys_set = set(info)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print(keys_set)   # {'a', 'b'}   ← only keys!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365760" y="2853000"/>
            <a:ext cx="3200040" cy="1234080"/>
          </a:xfrm>
          <a:prstGeom prst="rect">
            <a:avLst/>
          </a:prstGeom>
          <a:solidFill>
            <a:srgbClr val="fef9e7"/>
          </a:solidFill>
          <a:ln w="254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9"/>
          <p:cNvSpPr/>
          <p:nvPr/>
        </p:nvSpPr>
        <p:spPr>
          <a:xfrm>
            <a:off x="530280" y="2962800"/>
            <a:ext cx="287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d35400"/>
                </a:solidFill>
                <a:latin typeface="Calibri"/>
                <a:ea typeface="Calibri"/>
              </a:rPr>
              <a:t>Dict { 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548640" y="3310200"/>
            <a:ext cx="621360" cy="3470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1"/>
          <p:cNvSpPr/>
          <p:nvPr/>
        </p:nvSpPr>
        <p:spPr>
          <a:xfrm>
            <a:off x="548640" y="3383280"/>
            <a:ext cx="62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"a"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1261800" y="3383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3a2a"/>
                </a:solidFill>
                <a:latin typeface="Consolas"/>
                <a:ea typeface="Consolas"/>
              </a:rPr>
              <a:t>: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2011680" y="3310200"/>
            <a:ext cx="621360" cy="3470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4"/>
          <p:cNvSpPr/>
          <p:nvPr/>
        </p:nvSpPr>
        <p:spPr>
          <a:xfrm>
            <a:off x="2011680" y="3383280"/>
            <a:ext cx="62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"b"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2724840" y="338328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3a2a"/>
                </a:solidFill>
                <a:latin typeface="Consolas"/>
                <a:ea typeface="Consolas"/>
              </a:rPr>
              <a:t>: 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3749040" y="340164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set( ) →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5" name="Shape 17"/>
          <p:cNvSpPr/>
          <p:nvPr/>
        </p:nvSpPr>
        <p:spPr>
          <a:xfrm>
            <a:off x="5120640" y="2853000"/>
            <a:ext cx="3200040" cy="1234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8"/>
          <p:cNvSpPr/>
          <p:nvPr/>
        </p:nvSpPr>
        <p:spPr>
          <a:xfrm>
            <a:off x="5285160" y="2962800"/>
            <a:ext cx="287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5f2d"/>
                </a:solidFill>
                <a:latin typeface="Calibri"/>
                <a:ea typeface="Calibri"/>
              </a:rPr>
              <a:t>Set { 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7" name="Shape 19"/>
          <p:cNvSpPr/>
          <p:nvPr/>
        </p:nvSpPr>
        <p:spPr>
          <a:xfrm>
            <a:off x="5285160" y="3310200"/>
            <a:ext cx="822600" cy="45684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20"/>
          <p:cNvSpPr/>
          <p:nvPr/>
        </p:nvSpPr>
        <p:spPr>
          <a:xfrm>
            <a:off x="5285160" y="34016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"a"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Shape 21"/>
          <p:cNvSpPr/>
          <p:nvPr/>
        </p:nvSpPr>
        <p:spPr>
          <a:xfrm>
            <a:off x="6291000" y="3310200"/>
            <a:ext cx="822600" cy="45684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22"/>
          <p:cNvSpPr/>
          <p:nvPr/>
        </p:nvSpPr>
        <p:spPr>
          <a:xfrm>
            <a:off x="6291000" y="34016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"b"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1" name="Text 23"/>
          <p:cNvSpPr/>
          <p:nvPr/>
        </p:nvSpPr>
        <p:spPr>
          <a:xfrm>
            <a:off x="5285160" y="38588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baf82"/>
                </a:solidFill>
                <a:latin typeface="Calibri"/>
                <a:ea typeface="Calibri"/>
              </a:rPr>
              <a:t>Keys only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2" name="Shape 24"/>
          <p:cNvSpPr/>
          <p:nvPr/>
        </p:nvSpPr>
        <p:spPr>
          <a:xfrm>
            <a:off x="365760" y="4224600"/>
            <a:ext cx="8412120" cy="2556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5"/>
          <p:cNvSpPr/>
          <p:nvPr/>
        </p:nvSpPr>
        <p:spPr>
          <a:xfrm>
            <a:off x="548640" y="4260960"/>
            <a:ext cx="8046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v) Range → Set  (values expanded into set)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4" name="Text 26"/>
          <p:cNvSpPr/>
          <p:nvPr/>
        </p:nvSpPr>
        <p:spPr>
          <a:xfrm>
            <a:off x="365760" y="45720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  <a:ea typeface="Calibri"/>
              </a:rPr>
              <a:t>Pass a range() object into set() to get a set of numbers.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5" name="Shape 27"/>
          <p:cNvSpPr/>
          <p:nvPr/>
        </p:nvSpPr>
        <p:spPr>
          <a:xfrm>
            <a:off x="365760" y="4919400"/>
            <a:ext cx="8412120" cy="9140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8"/>
          <p:cNvSpPr/>
          <p:nvPr/>
        </p:nvSpPr>
        <p:spPr>
          <a:xfrm>
            <a:off x="530280" y="502920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my_range = range(5)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range_to_set = set(my_range)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print(range_to_set)   # {0, 1, 2, 3, 4}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7" name="Shape 29"/>
          <p:cNvSpPr/>
          <p:nvPr/>
        </p:nvSpPr>
        <p:spPr>
          <a:xfrm>
            <a:off x="365760" y="5943600"/>
            <a:ext cx="8412120" cy="71280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30"/>
          <p:cNvSpPr/>
          <p:nvPr/>
        </p:nvSpPr>
        <p:spPr>
          <a:xfrm>
            <a:off x="594360" y="6089760"/>
            <a:ext cx="8046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a3a2a"/>
                </a:solidFill>
                <a:latin typeface="Consolas"/>
                <a:ea typeface="Consolas"/>
              </a:rPr>
              <a:t>Quick Reference:  set("hello") → {'h','e','l','o'}   |   set([1,2,3]) → {1,2,3}   |   set((1,2,3)) → {1,2,3}   |   set({"a":1}) → {'a'}   |   set(range(5)) → {0,1,2,3,4}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③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Aliasing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③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Aliasing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Multiple variables → same set object in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Aliasing means multiple variables refer to the same set object stored at the same memory location.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365760" y="1627560"/>
            <a:ext cx="8412120" cy="52092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5"/>
          <p:cNvSpPr/>
          <p:nvPr/>
        </p:nvSpPr>
        <p:spPr>
          <a:xfrm>
            <a:off x="594360" y="173736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① </a:t>
            </a: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Aliasing means multiple variables refer to the same set object in memory.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365760" y="2221920"/>
            <a:ext cx="8412120" cy="52092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7"/>
          <p:cNvSpPr/>
          <p:nvPr/>
        </p:nvSpPr>
        <p:spPr>
          <a:xfrm>
            <a:off x="594360" y="23317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② </a:t>
            </a: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If one variable changes the set, the other variable also sees the change.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365760" y="2962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  <a:ea typeface="Calibri"/>
              </a:rPr>
              <a:t>Memory Diagram: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4114800" y="2907720"/>
            <a:ext cx="4571640" cy="14169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0"/>
          <p:cNvSpPr/>
          <p:nvPr/>
        </p:nvSpPr>
        <p:spPr>
          <a:xfrm>
            <a:off x="4297680" y="301752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baf82"/>
                </a:solidFill>
                <a:latin typeface="Consolas"/>
                <a:ea typeface="Consolas"/>
              </a:rPr>
              <a:t>Address: 1024113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4572000" y="3310200"/>
            <a:ext cx="868320" cy="43848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2"/>
          <p:cNvSpPr/>
          <p:nvPr/>
        </p:nvSpPr>
        <p:spPr>
          <a:xfrm>
            <a:off x="4572000" y="34016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5577840" y="3310200"/>
            <a:ext cx="868320" cy="43848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4"/>
          <p:cNvSpPr/>
          <p:nvPr/>
        </p:nvSpPr>
        <p:spPr>
          <a:xfrm>
            <a:off x="5577840" y="34016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7" name="Shape 15"/>
          <p:cNvSpPr/>
          <p:nvPr/>
        </p:nvSpPr>
        <p:spPr>
          <a:xfrm>
            <a:off x="6583680" y="3310200"/>
            <a:ext cx="868320" cy="43848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6"/>
          <p:cNvSpPr/>
          <p:nvPr/>
        </p:nvSpPr>
        <p:spPr>
          <a:xfrm>
            <a:off x="6583680" y="34016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4297680" y="384048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af82"/>
                </a:solidFill>
                <a:latin typeface="Consolas"/>
                <a:ea typeface="Consolas"/>
              </a:rPr>
              <a:t>{1, 2, 3}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365760" y="2395800"/>
            <a:ext cx="2559960" cy="402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9"/>
          <p:cNvSpPr/>
          <p:nvPr/>
        </p:nvSpPr>
        <p:spPr>
          <a:xfrm>
            <a:off x="457200" y="2450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original_set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20"/>
          <p:cNvSpPr/>
          <p:nvPr/>
        </p:nvSpPr>
        <p:spPr>
          <a:xfrm>
            <a:off x="2926080" y="2578680"/>
            <a:ext cx="1096920" cy="453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21"/>
          <p:cNvSpPr/>
          <p:nvPr/>
        </p:nvSpPr>
        <p:spPr>
          <a:xfrm>
            <a:off x="3749040" y="245052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a623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365760" y="3090600"/>
            <a:ext cx="2559960" cy="4021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3"/>
          <p:cNvSpPr/>
          <p:nvPr/>
        </p:nvSpPr>
        <p:spPr>
          <a:xfrm>
            <a:off x="457200" y="31456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alias_set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6" name="Shape 24"/>
          <p:cNvSpPr/>
          <p:nvPr/>
        </p:nvSpPr>
        <p:spPr>
          <a:xfrm>
            <a:off x="2926080" y="3273480"/>
            <a:ext cx="1096920" cy="4536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5"/>
          <p:cNvSpPr/>
          <p:nvPr/>
        </p:nvSpPr>
        <p:spPr>
          <a:xfrm>
            <a:off x="3749040" y="314568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a623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365760" y="4572000"/>
            <a:ext cx="8412120" cy="18284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7"/>
          <p:cNvSpPr/>
          <p:nvPr/>
        </p:nvSpPr>
        <p:spPr>
          <a:xfrm>
            <a:off x="530280" y="4681800"/>
            <a:ext cx="808308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original_set = {1, 2,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alias_set = original_set          # aliasing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original_set.add(4)               # modify via original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print(original_set)  # {1, 2, 3, 4}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print(alias_set)     # {1, 2, 3, 4}  ← SAME change!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④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Cloning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④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Cloning — Independent Copy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copy() creates a new set at a different memory address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365760" y="107892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Cloning copies the content of one set into a new set at a different memory location. Changes to one do NOT affect the other.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365760" y="1682640"/>
            <a:ext cx="8412120" cy="49356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5"/>
          <p:cNvSpPr/>
          <p:nvPr/>
        </p:nvSpPr>
        <p:spPr>
          <a:xfrm>
            <a:off x="594360" y="17920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① </a:t>
            </a: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Cloning copies the content of one set into another set.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365760" y="2249280"/>
            <a:ext cx="8412120" cy="49356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7"/>
          <p:cNvSpPr/>
          <p:nvPr/>
        </p:nvSpPr>
        <p:spPr>
          <a:xfrm>
            <a:off x="594360" y="23590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② </a:t>
            </a: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Changing one set does NOT reflect in the other — they are independent.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365760" y="2816280"/>
            <a:ext cx="8412120" cy="49356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9"/>
          <p:cNvSpPr/>
          <p:nvPr/>
        </p:nvSpPr>
        <p:spPr>
          <a:xfrm>
            <a:off x="594360" y="29260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③ </a:t>
            </a: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This is called a deep copy — both are separate objects in memory.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365760" y="3547800"/>
            <a:ext cx="8412120" cy="18284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1"/>
          <p:cNvSpPr/>
          <p:nvPr/>
        </p:nvSpPr>
        <p:spPr>
          <a:xfrm>
            <a:off x="530280" y="3657600"/>
            <a:ext cx="808308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original_set = {10, 20, 30}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cloned_set   = original_set.copy()   # independent copy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original_set.add(40)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print(original_set)  # {10, 20, 30, 40}  ← changed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print(cloned_set)    # {10, 20, 30}       ← unchanged!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365760" y="55594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  <a:ea typeface="Calibri"/>
              </a:rPr>
              <a:t>Aliasing vs Cloning at a Glance: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365760" y="5906880"/>
            <a:ext cx="4114440" cy="71280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4"/>
          <p:cNvSpPr/>
          <p:nvPr/>
        </p:nvSpPr>
        <p:spPr>
          <a:xfrm>
            <a:off x="530280" y="60166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5f2d"/>
                </a:solidFill>
                <a:latin typeface="Calibri"/>
                <a:ea typeface="Calibri"/>
              </a:rPr>
              <a:t>Aliasing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530280" y="630936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a3a2a"/>
                </a:solidFill>
                <a:latin typeface="Consolas"/>
                <a:ea typeface="Consolas"/>
              </a:rPr>
              <a:t>b = a   →  same object, same address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4663440" y="5906880"/>
            <a:ext cx="4114440" cy="71280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17"/>
          <p:cNvSpPr/>
          <p:nvPr/>
        </p:nvSpPr>
        <p:spPr>
          <a:xfrm>
            <a:off x="4827960" y="60166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7d4e00"/>
                </a:solidFill>
                <a:latin typeface="Calibri"/>
                <a:ea typeface="Calibri"/>
              </a:rPr>
              <a:t>Cloning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4827960" y="630936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a3a2a"/>
                </a:solidFill>
                <a:latin typeface="Consolas"/>
                <a:ea typeface="Consolas"/>
              </a:rPr>
              <a:t>b = a.copy()  →  new object, new address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⑤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Searching — 'in' Operator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⑤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Searching — 'in' Membership Operator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Check if an element exists in a set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Use the 'in' membership operator to check whether a particular element is present in a set or not.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365760" y="1591200"/>
            <a:ext cx="8412120" cy="4752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5"/>
          <p:cNvSpPr/>
          <p:nvPr/>
        </p:nvSpPr>
        <p:spPr>
          <a:xfrm>
            <a:off x="640080" y="17006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3a2a"/>
                </a:solidFill>
                <a:latin typeface="Consolas"/>
                <a:ea typeface="Consolas"/>
              </a:rPr>
              <a:t>Syntax:   value  in  set_name   →  True / False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365760" y="2212920"/>
            <a:ext cx="8412120" cy="100548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7"/>
          <p:cNvSpPr/>
          <p:nvPr/>
        </p:nvSpPr>
        <p:spPr>
          <a:xfrm>
            <a:off x="530280" y="2322720"/>
            <a:ext cx="8083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items = {1, 2, 3, 4, 5}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print(3 in items)    # True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print(8 in items)    # False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365760" y="3383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  <a:ea typeface="Calibri"/>
              </a:rPr>
              <a:t>Using 'in' with if-else: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4" name="Shape 9"/>
          <p:cNvSpPr/>
          <p:nvPr/>
        </p:nvSpPr>
        <p:spPr>
          <a:xfrm>
            <a:off x="365760" y="3730680"/>
            <a:ext cx="8412120" cy="201132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10"/>
          <p:cNvSpPr/>
          <p:nvPr/>
        </p:nvSpPr>
        <p:spPr>
          <a:xfrm>
            <a:off x="530280" y="3840480"/>
            <a:ext cx="8083080" cy="179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my_set = {1, 2, 3, 4, 5}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if (3 in my_set):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print("3 is present in set")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else: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print("3 is not present in set")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# Output: 3 is present in set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365760" y="5906880"/>
            <a:ext cx="4023000" cy="56664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2"/>
          <p:cNvSpPr/>
          <p:nvPr/>
        </p:nvSpPr>
        <p:spPr>
          <a:xfrm>
            <a:off x="548640" y="6016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e3a"/>
                </a:solidFill>
                <a:latin typeface="Calibri"/>
                <a:ea typeface="Calibri"/>
              </a:rPr>
              <a:t>Element FOUND  →  True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4754880" y="5906880"/>
            <a:ext cx="4023000" cy="566640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4"/>
          <p:cNvSpPr/>
          <p:nvPr/>
        </p:nvSpPr>
        <p:spPr>
          <a:xfrm>
            <a:off x="4937760" y="6016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b0032"/>
                </a:solidFill>
                <a:latin typeface="Calibri"/>
                <a:ea typeface="Calibri"/>
              </a:rPr>
              <a:t>Element NOT FOUND  →  False ✗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⑥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Identity — 'is' Operator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⑥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Identity — 'is' Operator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Check if two variables share the same memory location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The 'is' operator checks whether two variables refer to the same object in memory — not just equal values.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365760" y="1591200"/>
            <a:ext cx="8412120" cy="4752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5"/>
          <p:cNvSpPr/>
          <p:nvPr/>
        </p:nvSpPr>
        <p:spPr>
          <a:xfrm>
            <a:off x="640080" y="17006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3a2a"/>
                </a:solidFill>
                <a:latin typeface="Consolas"/>
                <a:ea typeface="Consolas"/>
              </a:rPr>
              <a:t>Syntax:   variable_a  is  variable_b   →  True / False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365760" y="2231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5f2d"/>
                </a:solidFill>
                <a:latin typeface="Calibri"/>
                <a:ea typeface="Calibri"/>
              </a:rPr>
              <a:t>Case 1 — Aliased (same object):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0" name="Shape 7"/>
          <p:cNvSpPr/>
          <p:nvPr/>
        </p:nvSpPr>
        <p:spPr>
          <a:xfrm>
            <a:off x="365760" y="2578680"/>
            <a:ext cx="8412120" cy="12614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8"/>
          <p:cNvSpPr/>
          <p:nvPr/>
        </p:nvSpPr>
        <p:spPr>
          <a:xfrm>
            <a:off x="530280" y="2688480"/>
            <a:ext cx="808308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a = {1, 2,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b = a                  # aliasing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print(a is b)          # True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print(b is a)          # True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365760" y="4005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0004a"/>
                </a:solidFill>
                <a:latin typeface="Calibri"/>
                <a:ea typeface="Calibri"/>
              </a:rPr>
              <a:t>Case 2 — Cloned (different objects):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365760" y="4352400"/>
            <a:ext cx="8412120" cy="126144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1"/>
          <p:cNvSpPr/>
          <p:nvPr/>
        </p:nvSpPr>
        <p:spPr>
          <a:xfrm>
            <a:off x="530280" y="4462200"/>
            <a:ext cx="808308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a = {1, 2,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b = a.copy()           # cloning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print(a is b)          # False  ← different objects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print(b is a)          # False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5" name="Shape 12"/>
          <p:cNvSpPr/>
          <p:nvPr/>
        </p:nvSpPr>
        <p:spPr>
          <a:xfrm>
            <a:off x="365760" y="5779080"/>
            <a:ext cx="4114440" cy="87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3"/>
          <p:cNvSpPr/>
          <p:nvPr/>
        </p:nvSpPr>
        <p:spPr>
          <a:xfrm>
            <a:off x="548640" y="58888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e3a"/>
                </a:solidFill>
                <a:latin typeface="Calibri"/>
                <a:ea typeface="Calibri"/>
              </a:rPr>
              <a:t>Aliased  →  'is' 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7" name="Text 14"/>
          <p:cNvSpPr/>
          <p:nvPr/>
        </p:nvSpPr>
        <p:spPr>
          <a:xfrm>
            <a:off x="548640" y="623628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a3a2a"/>
                </a:solidFill>
                <a:latin typeface="Consolas"/>
                <a:ea typeface="Consolas"/>
              </a:rPr>
              <a:t>b = a  (same memory)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4663440" y="5779080"/>
            <a:ext cx="4114440" cy="877320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6"/>
          <p:cNvSpPr/>
          <p:nvPr/>
        </p:nvSpPr>
        <p:spPr>
          <a:xfrm>
            <a:off x="4846320" y="58888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b0032"/>
                </a:solidFill>
                <a:latin typeface="Calibri"/>
                <a:ea typeface="Calibri"/>
              </a:rPr>
              <a:t>Cloned  →  'is'  False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4846320" y="623628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a3a2a"/>
                </a:solidFill>
                <a:latin typeface="Consolas"/>
                <a:ea typeface="Consolas"/>
              </a:rPr>
              <a:t>b = a.copy()  (new object)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⑦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Comparison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⑦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Comparison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caf50"/>
                </a:solidFill>
                <a:latin typeface="Calibri"/>
                <a:ea typeface="Calibri"/>
              </a:rPr>
              <a:t>Compare two sets by content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Two sets can be compared by their content. Comparison is element by element — if a mismatch is found, the result is determined at that point.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365760" y="1719000"/>
            <a:ext cx="8412120" cy="51156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5"/>
          <p:cNvSpPr/>
          <p:nvPr/>
        </p:nvSpPr>
        <p:spPr>
          <a:xfrm>
            <a:off x="594360" y="182880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① </a:t>
            </a: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We can compare two sets by comparing their contents.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365760" y="2313360"/>
            <a:ext cx="8412120" cy="51156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7"/>
          <p:cNvSpPr/>
          <p:nvPr/>
        </p:nvSpPr>
        <p:spPr>
          <a:xfrm>
            <a:off x="594360" y="242316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② </a:t>
            </a:r>
            <a:r>
              <a:rPr b="0" lang="en-US" sz="1300" spc="-1" strike="noStrike">
                <a:solidFill>
                  <a:srgbClr val="1a3a2a"/>
                </a:solidFill>
                <a:latin typeface="Calibri"/>
                <a:ea typeface="Calibri"/>
              </a:rPr>
              <a:t>Comparison is item by item — elementwise — a mismatch in any set determines the result.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365760" y="2971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5f2d"/>
                </a:solidFill>
                <a:latin typeface="Calibri"/>
                <a:ea typeface="Calibri"/>
              </a:rPr>
              <a:t>Visual: a = {1,2,3,4,5}  vs  b = {1,2,5}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457200" y="33649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3a2a"/>
                </a:solidFill>
                <a:latin typeface="Consolas"/>
                <a:ea typeface="Consolas"/>
              </a:rPr>
              <a:t>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822960" y="3337560"/>
            <a:ext cx="749520" cy="475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1"/>
          <p:cNvSpPr/>
          <p:nvPr/>
        </p:nvSpPr>
        <p:spPr>
          <a:xfrm>
            <a:off x="82296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6" name="Shape 12"/>
          <p:cNvSpPr/>
          <p:nvPr/>
        </p:nvSpPr>
        <p:spPr>
          <a:xfrm>
            <a:off x="1691640" y="3337560"/>
            <a:ext cx="749520" cy="475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3"/>
          <p:cNvSpPr/>
          <p:nvPr/>
        </p:nvSpPr>
        <p:spPr>
          <a:xfrm>
            <a:off x="169164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Shape 14"/>
          <p:cNvSpPr/>
          <p:nvPr/>
        </p:nvSpPr>
        <p:spPr>
          <a:xfrm>
            <a:off x="2560320" y="3337560"/>
            <a:ext cx="749520" cy="475200"/>
          </a:xfrm>
          <a:prstGeom prst="rect">
            <a:avLst/>
          </a:prstGeom>
          <a:solidFill>
            <a:srgbClr val="cc0000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5"/>
          <p:cNvSpPr/>
          <p:nvPr/>
        </p:nvSpPr>
        <p:spPr>
          <a:xfrm>
            <a:off x="256032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0" name="Shape 16"/>
          <p:cNvSpPr/>
          <p:nvPr/>
        </p:nvSpPr>
        <p:spPr>
          <a:xfrm>
            <a:off x="3429000" y="3337560"/>
            <a:ext cx="749520" cy="475200"/>
          </a:xfrm>
          <a:prstGeom prst="rect">
            <a:avLst/>
          </a:prstGeom>
          <a:solidFill>
            <a:srgbClr val="cc0000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17"/>
          <p:cNvSpPr/>
          <p:nvPr/>
        </p:nvSpPr>
        <p:spPr>
          <a:xfrm>
            <a:off x="342900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4297680" y="3337560"/>
            <a:ext cx="749520" cy="475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9"/>
          <p:cNvSpPr/>
          <p:nvPr/>
        </p:nvSpPr>
        <p:spPr>
          <a:xfrm>
            <a:off x="429768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20"/>
          <p:cNvSpPr/>
          <p:nvPr/>
        </p:nvSpPr>
        <p:spPr>
          <a:xfrm>
            <a:off x="5303520" y="34290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a623"/>
                </a:solidFill>
                <a:latin typeface="Calibri"/>
                <a:ea typeface="Calibri"/>
              </a:rPr>
              <a:t>vs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5943600" y="33649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3a2a"/>
                </a:solidFill>
                <a:latin typeface="Consolas"/>
                <a:ea typeface="Consolas"/>
              </a:rPr>
              <a:t>b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6" name="Shape 22"/>
          <p:cNvSpPr/>
          <p:nvPr/>
        </p:nvSpPr>
        <p:spPr>
          <a:xfrm>
            <a:off x="6309360" y="3337560"/>
            <a:ext cx="749520" cy="475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23"/>
          <p:cNvSpPr/>
          <p:nvPr/>
        </p:nvSpPr>
        <p:spPr>
          <a:xfrm>
            <a:off x="630936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8" name="Shape 24"/>
          <p:cNvSpPr/>
          <p:nvPr/>
        </p:nvSpPr>
        <p:spPr>
          <a:xfrm>
            <a:off x="7178040" y="3337560"/>
            <a:ext cx="749520" cy="475200"/>
          </a:xfrm>
          <a:prstGeom prst="rect">
            <a:avLst/>
          </a:prstGeom>
          <a:solidFill>
            <a:srgbClr val="2c5f2d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5"/>
          <p:cNvSpPr/>
          <p:nvPr/>
        </p:nvSpPr>
        <p:spPr>
          <a:xfrm>
            <a:off x="717804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Shape 26"/>
          <p:cNvSpPr/>
          <p:nvPr/>
        </p:nvSpPr>
        <p:spPr>
          <a:xfrm>
            <a:off x="8046720" y="3337560"/>
            <a:ext cx="749520" cy="475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27"/>
          <p:cNvSpPr/>
          <p:nvPr/>
        </p:nvSpPr>
        <p:spPr>
          <a:xfrm>
            <a:off x="8046720" y="3429000"/>
            <a:ext cx="749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2" name="Shape 28"/>
          <p:cNvSpPr/>
          <p:nvPr/>
        </p:nvSpPr>
        <p:spPr>
          <a:xfrm>
            <a:off x="2286000" y="3950280"/>
            <a:ext cx="4571640" cy="47520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9"/>
          <p:cNvSpPr/>
          <p:nvPr/>
        </p:nvSpPr>
        <p:spPr>
          <a:xfrm>
            <a:off x="2468880" y="4060080"/>
            <a:ext cx="4205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7d4e00"/>
                </a:solidFill>
                <a:latin typeface="Calibri"/>
                <a:ea typeface="Calibri"/>
              </a:rPr>
              <a:t>a has elements 3,4 which are &lt; 5 in b  →  a &lt; b  is 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4" name="Shape 30"/>
          <p:cNvSpPr/>
          <p:nvPr/>
        </p:nvSpPr>
        <p:spPr>
          <a:xfrm>
            <a:off x="365760" y="4617720"/>
            <a:ext cx="8412120" cy="1572480"/>
          </a:xfrm>
          <a:prstGeom prst="rect">
            <a:avLst/>
          </a:prstGeom>
          <a:solidFill>
            <a:srgbClr val="0d1f12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31"/>
          <p:cNvSpPr/>
          <p:nvPr/>
        </p:nvSpPr>
        <p:spPr>
          <a:xfrm>
            <a:off x="530280" y="4727520"/>
            <a:ext cx="80830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a = {1, 2, 3, 4, 5}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b = {1, 2, 5}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print(a &lt; b)    # True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print(a &gt; b)    # False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a8d8a8"/>
                </a:solidFill>
                <a:latin typeface="Consolas"/>
                <a:ea typeface="Consolas"/>
              </a:rPr>
              <a:t>print(a == b)   # False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56" name="Shape 32"/>
          <p:cNvSpPr/>
          <p:nvPr/>
        </p:nvSpPr>
        <p:spPr>
          <a:xfrm>
            <a:off x="365760" y="6309360"/>
            <a:ext cx="8412120" cy="548280"/>
          </a:xfrm>
          <a:prstGeom prst="rect">
            <a:avLst/>
          </a:prstGeom>
          <a:solidFill>
            <a:srgbClr val="eff7f0"/>
          </a:solidFill>
          <a:ln w="1905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33"/>
          <p:cNvSpPr/>
          <p:nvPr/>
        </p:nvSpPr>
        <p:spPr>
          <a:xfrm>
            <a:off x="594360" y="641916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3a2a"/>
                </a:solidFill>
                <a:latin typeface="Calibri"/>
                <a:ea typeface="Calibri"/>
              </a:rPr>
              <a:t>Operators:  &lt;  less than  |  &gt;  greater than  |  ==  equal  |  !=  not equal  |  &lt;=  subset  |  &gt;=  superset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1"/>
          <p:cNvSpPr/>
          <p:nvPr/>
        </p:nvSpPr>
        <p:spPr>
          <a:xfrm>
            <a:off x="502920" y="32004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Python Sets — Complete Summary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502920" y="9511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4caf50"/>
                </a:solidFill>
                <a:latin typeface="Calibri"/>
                <a:ea typeface="Calibri"/>
              </a:rPr>
              <a:t>Topic 10 — Everything you need to know about Sets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1" name="Shape 3"/>
          <p:cNvSpPr/>
          <p:nvPr/>
        </p:nvSpPr>
        <p:spPr>
          <a:xfrm>
            <a:off x="502920" y="1463040"/>
            <a:ext cx="8320680" cy="1234080"/>
          </a:xfrm>
          <a:prstGeom prst="rect">
            <a:avLst/>
          </a:prstGeom>
          <a:solidFill>
            <a:srgbClr val="1e3a2a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Shape 4"/>
          <p:cNvSpPr/>
          <p:nvPr/>
        </p:nvSpPr>
        <p:spPr>
          <a:xfrm>
            <a:off x="502920" y="1463040"/>
            <a:ext cx="1279800" cy="1234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5"/>
          <p:cNvSpPr/>
          <p:nvPr/>
        </p:nvSpPr>
        <p:spPr>
          <a:xfrm>
            <a:off x="502920" y="181044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Georgia"/>
                <a:ea typeface="Georgia"/>
              </a:rPr>
              <a:t>Part 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1920240" y="1719000"/>
            <a:ext cx="6720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eff7f0"/>
                </a:solidFill>
                <a:latin typeface="Calibri"/>
                <a:ea typeface="Calibri"/>
              </a:rPr>
              <a:t>What are sets • Properties (homogeneous, heterogeneous, hashing, no duplicates, empty) • Accessing (unordered, no index) • Looping (for + enumerate)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502920" y="2834640"/>
            <a:ext cx="8320680" cy="1234080"/>
          </a:xfrm>
          <a:prstGeom prst="rect">
            <a:avLst/>
          </a:prstGeom>
          <a:solidFill>
            <a:srgbClr val="1e3a2a"/>
          </a:solidFill>
          <a:ln w="1905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Shape 8"/>
          <p:cNvSpPr/>
          <p:nvPr/>
        </p:nvSpPr>
        <p:spPr>
          <a:xfrm>
            <a:off x="502920" y="2834640"/>
            <a:ext cx="1279800" cy="1234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9"/>
          <p:cNvSpPr/>
          <p:nvPr/>
        </p:nvSpPr>
        <p:spPr>
          <a:xfrm>
            <a:off x="502920" y="318204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Georgia"/>
                <a:ea typeface="Georgia"/>
              </a:rPr>
              <a:t>Part 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1920240" y="3090600"/>
            <a:ext cx="6720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eff7f0"/>
                </a:solidFill>
                <a:latin typeface="Calibri"/>
                <a:ea typeface="Calibri"/>
              </a:rPr>
              <a:t>Mutability (mutable like list) • Conversions (string/tuple/list/dict/range→set) • Aliasing • Cloning (copy()) • 'in' operator • 'is' operator • Comparison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69" name="Shape 11"/>
          <p:cNvSpPr/>
          <p:nvPr/>
        </p:nvSpPr>
        <p:spPr>
          <a:xfrm>
            <a:off x="502920" y="4407480"/>
            <a:ext cx="8320680" cy="2331360"/>
          </a:xfrm>
          <a:prstGeom prst="rect">
            <a:avLst/>
          </a:prstGeom>
          <a:solidFill>
            <a:srgbClr val="1e3a2a"/>
          </a:solidFill>
          <a:ln w="2540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12"/>
          <p:cNvSpPr/>
          <p:nvPr/>
        </p:nvSpPr>
        <p:spPr>
          <a:xfrm>
            <a:off x="685800" y="4535280"/>
            <a:ext cx="7954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a623"/>
                </a:solidFill>
                <a:latin typeface="Georgia"/>
                <a:ea typeface="Georgia"/>
              </a:rPr>
              <a:t>Key Differences — Set vs List vs Tuple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685800" y="4956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caf50"/>
                </a:solidFill>
                <a:latin typeface="Calibri"/>
                <a:ea typeface="Calibri"/>
              </a:rPr>
              <a:t>Feature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2788920" y="4956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caf50"/>
                </a:solidFill>
                <a:latin typeface="Calibri"/>
                <a:ea typeface="Calibri"/>
              </a:rPr>
              <a:t>Set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4892040" y="4956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caf50"/>
                </a:solidFill>
                <a:latin typeface="Calibri"/>
                <a:ea typeface="Calibri"/>
              </a:rPr>
              <a:t>List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6995160" y="4956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caf50"/>
                </a:solidFill>
                <a:latin typeface="Calibri"/>
                <a:ea typeface="Calibri"/>
              </a:rPr>
              <a:t>Tuple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685800" y="5248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Brackets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6" name="Text 18"/>
          <p:cNvSpPr/>
          <p:nvPr/>
        </p:nvSpPr>
        <p:spPr>
          <a:xfrm>
            <a:off x="2788920" y="5248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4a623"/>
                </a:solidFill>
                <a:latin typeface="Calibri"/>
                <a:ea typeface="Calibri"/>
              </a:rPr>
              <a:t>{ 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4892040" y="5248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[ ]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6995160" y="5248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( 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9" name="Text 21"/>
          <p:cNvSpPr/>
          <p:nvPr/>
        </p:nvSpPr>
        <p:spPr>
          <a:xfrm>
            <a:off x="685800" y="5541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Ordered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0" name="Text 22"/>
          <p:cNvSpPr/>
          <p:nvPr/>
        </p:nvSpPr>
        <p:spPr>
          <a:xfrm>
            <a:off x="2788920" y="5541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4a623"/>
                </a:solidFill>
                <a:latin typeface="Calibri"/>
                <a:ea typeface="Calibri"/>
              </a:rPr>
              <a:t>No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1" name="Text 23"/>
          <p:cNvSpPr/>
          <p:nvPr/>
        </p:nvSpPr>
        <p:spPr>
          <a:xfrm>
            <a:off x="4892040" y="5541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6995160" y="554112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3" name="Text 25"/>
          <p:cNvSpPr/>
          <p:nvPr/>
        </p:nvSpPr>
        <p:spPr>
          <a:xfrm>
            <a:off x="685800" y="5833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Duplicates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4" name="Text 26"/>
          <p:cNvSpPr/>
          <p:nvPr/>
        </p:nvSpPr>
        <p:spPr>
          <a:xfrm>
            <a:off x="2788920" y="5833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4a623"/>
                </a:solidFill>
                <a:latin typeface="Calibri"/>
                <a:ea typeface="Calibri"/>
              </a:rPr>
              <a:t>No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4892040" y="5833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6" name="Text 28"/>
          <p:cNvSpPr/>
          <p:nvPr/>
        </p:nvSpPr>
        <p:spPr>
          <a:xfrm>
            <a:off x="6995160" y="583380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7" name="Text 29"/>
          <p:cNvSpPr/>
          <p:nvPr/>
        </p:nvSpPr>
        <p:spPr>
          <a:xfrm>
            <a:off x="685800" y="6126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Mutable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8" name="Text 30"/>
          <p:cNvSpPr/>
          <p:nvPr/>
        </p:nvSpPr>
        <p:spPr>
          <a:xfrm>
            <a:off x="2788920" y="6126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4a623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9" name="Text 31"/>
          <p:cNvSpPr/>
          <p:nvPr/>
        </p:nvSpPr>
        <p:spPr>
          <a:xfrm>
            <a:off x="4892040" y="6126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0" name="Text 32"/>
          <p:cNvSpPr/>
          <p:nvPr/>
        </p:nvSpPr>
        <p:spPr>
          <a:xfrm>
            <a:off x="6995160" y="612648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No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1" name="Text 33"/>
          <p:cNvSpPr/>
          <p:nvPr/>
        </p:nvSpPr>
        <p:spPr>
          <a:xfrm>
            <a:off x="685800" y="64191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Indexing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2" name="Text 34"/>
          <p:cNvSpPr/>
          <p:nvPr/>
        </p:nvSpPr>
        <p:spPr>
          <a:xfrm>
            <a:off x="2788920" y="64191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4a623"/>
                </a:solidFill>
                <a:latin typeface="Calibri"/>
                <a:ea typeface="Calibri"/>
              </a:rPr>
              <a:t>No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3" name="Text 35"/>
          <p:cNvSpPr/>
          <p:nvPr/>
        </p:nvSpPr>
        <p:spPr>
          <a:xfrm>
            <a:off x="4892040" y="64191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4" name="Text 36"/>
          <p:cNvSpPr/>
          <p:nvPr/>
        </p:nvSpPr>
        <p:spPr>
          <a:xfrm>
            <a:off x="6995160" y="641916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ff7f0"/>
                </a:solidFill>
                <a:latin typeface="Calibri"/>
                <a:ea typeface="Calibri"/>
              </a:rPr>
              <a:t>Yes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2026-02-16T15:11:52Z</dcterms:created>
  <dc:creator>PptxGenJS</dc:creator>
  <dc:description/>
  <dc:language>en-IN</dc:language>
  <cp:lastModifiedBy>PptxGenJS</cp:lastModifiedBy>
  <dcterms:modified xsi:type="dcterms:W3CDTF">2026-02-16T15:11:52Z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