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525C221-1B60-48A0-9848-C0A3CDA4950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5EFC47-3A5B-4CB7-B43F-93CCB8180BB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BA3BE6D-F5D7-449E-8683-27B0A45AE84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92B900-88F5-4D2F-AE4B-E70D84FA2A4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5ED036-2B3F-4D63-B32B-C85D53EEE35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747D5AC-71A1-4277-92C9-923FA2723C6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F6ACFB-03D1-4640-82D4-F5BB77656EA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4BB7E2-E940-40F6-B9BB-A2536FA3366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D63E0A-B2AA-4250-ACE9-9E39230143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4E1FFC-927B-459D-B00A-12A91F13EF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CEDAAC-6185-42CB-A3B6-EE07F28FD66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24FF3B-0965-4EAC-A3D2-554B5606D4F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4BF56B-321B-4537-AABF-6DFC93EAD09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latin typeface="Arial"/>
              </a:rPr>
              <a:t>Click to edit the title text format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1645920"/>
            <a:ext cx="82285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Decision Control</a:t>
            </a:r>
            <a:endParaRPr b="0" lang="en-IN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  <a:ea typeface="Arial"/>
              </a:rPr>
              <a:t>Instructions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7200" y="274320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ffd43b"/>
                </a:solidFill>
                <a:latin typeface="Arial"/>
                <a:ea typeface="Arial"/>
              </a:rPr>
              <a:t>if, elif, else &amp; Logical Operators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457200" y="365760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cccccc"/>
                </a:solidFill>
                <a:latin typeface="Arial"/>
                <a:ea typeface="Arial"/>
              </a:rPr>
              <a:t>Python Programming - Lesson 5</a:t>
            </a:r>
            <a:endParaRPr b="0" lang="en-IN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What are Decision Control Instructions?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914400" y="914400"/>
            <a:ext cx="7314120" cy="730440"/>
          </a:xfrm>
          <a:prstGeom prst="rect">
            <a:avLst/>
          </a:prstGeom>
          <a:solidFill>
            <a:srgbClr val="e3f2fd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7" name="Text 2"/>
          <p:cNvSpPr/>
          <p:nvPr/>
        </p:nvSpPr>
        <p:spPr>
          <a:xfrm>
            <a:off x="1097280" y="105156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Programs execute statements sequentially by default.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Decision control allows us to alter execution flow based on conditions.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731520" y="1920240"/>
            <a:ext cx="3839400" cy="45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4"/>
          <p:cNvSpPr/>
          <p:nvPr/>
        </p:nvSpPr>
        <p:spPr>
          <a:xfrm>
            <a:off x="731520" y="196596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Sequential Execution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1371600" y="2468880"/>
            <a:ext cx="2559240" cy="456120"/>
          </a:xfrm>
          <a:prstGeom prst="rect">
            <a:avLst/>
          </a:prstGeom>
          <a:solidFill>
            <a:srgbClr val="f5f5f5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6"/>
          <p:cNvSpPr/>
          <p:nvPr/>
        </p:nvSpPr>
        <p:spPr>
          <a:xfrm>
            <a:off x="1371600" y="2514600"/>
            <a:ext cx="2559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1')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2560320" y="2944440"/>
            <a:ext cx="273240" cy="31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Shape 8"/>
          <p:cNvSpPr/>
          <p:nvPr/>
        </p:nvSpPr>
        <p:spPr>
          <a:xfrm>
            <a:off x="1371600" y="3291840"/>
            <a:ext cx="2559240" cy="456120"/>
          </a:xfrm>
          <a:prstGeom prst="rect">
            <a:avLst/>
          </a:prstGeom>
          <a:solidFill>
            <a:srgbClr val="f5f5f5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9"/>
          <p:cNvSpPr/>
          <p:nvPr/>
        </p:nvSpPr>
        <p:spPr>
          <a:xfrm>
            <a:off x="1371600" y="3337560"/>
            <a:ext cx="2559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2')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5" name="Shape 10"/>
          <p:cNvSpPr/>
          <p:nvPr/>
        </p:nvSpPr>
        <p:spPr>
          <a:xfrm>
            <a:off x="2560320" y="3767400"/>
            <a:ext cx="273240" cy="31896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Shape 11"/>
          <p:cNvSpPr/>
          <p:nvPr/>
        </p:nvSpPr>
        <p:spPr>
          <a:xfrm>
            <a:off x="1371600" y="4114800"/>
            <a:ext cx="2559240" cy="456120"/>
          </a:xfrm>
          <a:prstGeom prst="rect">
            <a:avLst/>
          </a:prstGeom>
          <a:solidFill>
            <a:srgbClr val="f5f5f5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12"/>
          <p:cNvSpPr/>
          <p:nvPr/>
        </p:nvSpPr>
        <p:spPr>
          <a:xfrm>
            <a:off x="1371600" y="4160520"/>
            <a:ext cx="2559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print('Step 3')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8" name="Shape 13"/>
          <p:cNvSpPr/>
          <p:nvPr/>
        </p:nvSpPr>
        <p:spPr>
          <a:xfrm>
            <a:off x="4572000" y="1920240"/>
            <a:ext cx="3839400" cy="456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4"/>
          <p:cNvSpPr/>
          <p:nvPr/>
        </p:nvSpPr>
        <p:spPr>
          <a:xfrm>
            <a:off x="4572000" y="196596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Decision Control Execution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0" name="Shape 15"/>
          <p:cNvSpPr/>
          <p:nvPr/>
        </p:nvSpPr>
        <p:spPr>
          <a:xfrm>
            <a:off x="5577840" y="2468880"/>
            <a:ext cx="1827720" cy="456120"/>
          </a:xfrm>
          <a:prstGeom prst="rect">
            <a:avLst/>
          </a:prstGeom>
          <a:solidFill>
            <a:srgbClr val="f5f5f5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16"/>
          <p:cNvSpPr/>
          <p:nvPr/>
        </p:nvSpPr>
        <p:spPr>
          <a:xfrm>
            <a:off x="5577840" y="2514600"/>
            <a:ext cx="1827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Check condition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" name="Shape 17"/>
          <p:cNvSpPr/>
          <p:nvPr/>
        </p:nvSpPr>
        <p:spPr>
          <a:xfrm>
            <a:off x="6400800" y="2944440"/>
            <a:ext cx="227520" cy="273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18"/>
          <p:cNvSpPr/>
          <p:nvPr/>
        </p:nvSpPr>
        <p:spPr>
          <a:xfrm>
            <a:off x="5806440" y="3246120"/>
            <a:ext cx="1370520" cy="593280"/>
          </a:xfrm>
          <a:prstGeom prst="diamond">
            <a:avLst/>
          </a:prstGeom>
          <a:solidFill>
            <a:srgbClr val="ffd43b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Text 19"/>
          <p:cNvSpPr/>
          <p:nvPr/>
        </p:nvSpPr>
        <p:spPr>
          <a:xfrm>
            <a:off x="5806440" y="3383280"/>
            <a:ext cx="13705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True?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5" name="Shape 20"/>
          <p:cNvSpPr/>
          <p:nvPr/>
        </p:nvSpPr>
        <p:spPr>
          <a:xfrm>
            <a:off x="4937760" y="3977640"/>
            <a:ext cx="1096200" cy="3646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21"/>
          <p:cNvSpPr/>
          <p:nvPr/>
        </p:nvSpPr>
        <p:spPr>
          <a:xfrm>
            <a:off x="4937760" y="402336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Path 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6949440" y="3977640"/>
            <a:ext cx="1096200" cy="364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23"/>
          <p:cNvSpPr/>
          <p:nvPr/>
        </p:nvSpPr>
        <p:spPr>
          <a:xfrm>
            <a:off x="6949440" y="4023360"/>
            <a:ext cx="1096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Path B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9" name="Shape 24"/>
          <p:cNvSpPr/>
          <p:nvPr/>
        </p:nvSpPr>
        <p:spPr>
          <a:xfrm flipH="1">
            <a:off x="5486400" y="3543120"/>
            <a:ext cx="320040" cy="43452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25"/>
          <p:cNvSpPr/>
          <p:nvPr/>
        </p:nvSpPr>
        <p:spPr>
          <a:xfrm>
            <a:off x="7178040" y="3543120"/>
            <a:ext cx="320040" cy="434520"/>
          </a:xfrm>
          <a:prstGeom prst="line">
            <a:avLst/>
          </a:prstGeom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26"/>
          <p:cNvSpPr/>
          <p:nvPr/>
        </p:nvSpPr>
        <p:spPr>
          <a:xfrm>
            <a:off x="5212080" y="365760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7ae60"/>
                </a:solidFill>
                <a:latin typeface="Arial"/>
                <a:ea typeface="Arial"/>
              </a:rPr>
              <a:t>YES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2" name="Text 27"/>
          <p:cNvSpPr/>
          <p:nvPr/>
        </p:nvSpPr>
        <p:spPr>
          <a:xfrm>
            <a:off x="7223760" y="3657600"/>
            <a:ext cx="36468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74c3c"/>
                </a:solidFill>
                <a:latin typeface="Arial"/>
                <a:ea typeface="Arial"/>
              </a:rPr>
              <a:t>NO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if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>
            <a:off x="640080" y="914400"/>
            <a:ext cx="4113720" cy="4561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2"/>
          <p:cNvSpPr/>
          <p:nvPr/>
        </p:nvSpPr>
        <p:spPr>
          <a:xfrm>
            <a:off x="640080" y="96012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 &amp; Code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640080" y="1463040"/>
            <a:ext cx="4113720" cy="27421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4"/>
          <p:cNvSpPr/>
          <p:nvPr/>
        </p:nvSpPr>
        <p:spPr>
          <a:xfrm>
            <a:off x="822960" y="1600200"/>
            <a:ext cx="374796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Example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20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are an 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can vote")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print("Program ends")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5029200" y="914400"/>
            <a:ext cx="3473640" cy="456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6"/>
          <p:cNvSpPr/>
          <p:nvPr/>
        </p:nvSpPr>
        <p:spPr>
          <a:xfrm>
            <a:off x="5029200" y="96012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Flowchart Diagram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0" name="Shape 7"/>
          <p:cNvSpPr/>
          <p:nvPr/>
        </p:nvSpPr>
        <p:spPr>
          <a:xfrm>
            <a:off x="5852160" y="1554480"/>
            <a:ext cx="1827720" cy="41040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8"/>
          <p:cNvSpPr/>
          <p:nvPr/>
        </p:nvSpPr>
        <p:spPr>
          <a:xfrm>
            <a:off x="5852160" y="162756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6766560" y="1965960"/>
            <a:ext cx="360" cy="27432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0"/>
          <p:cNvSpPr/>
          <p:nvPr/>
        </p:nvSpPr>
        <p:spPr>
          <a:xfrm>
            <a:off x="6693480" y="2212920"/>
            <a:ext cx="145080" cy="117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11"/>
          <p:cNvSpPr/>
          <p:nvPr/>
        </p:nvSpPr>
        <p:spPr>
          <a:xfrm>
            <a:off x="5669280" y="2377440"/>
            <a:ext cx="2193480" cy="730440"/>
          </a:xfrm>
          <a:prstGeom prst="diamond">
            <a:avLst/>
          </a:prstGeom>
          <a:solidFill>
            <a:srgbClr val="ffd43b"/>
          </a:solidFill>
          <a:ln w="381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2"/>
          <p:cNvSpPr/>
          <p:nvPr/>
        </p:nvSpPr>
        <p:spPr>
          <a:xfrm>
            <a:off x="5669280" y="2560320"/>
            <a:ext cx="21934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&gt;= 18?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6766560" y="3108960"/>
            <a:ext cx="360" cy="228600"/>
          </a:xfrm>
          <a:prstGeom prst="line">
            <a:avLst/>
          </a:prstGeom>
          <a:ln w="381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14"/>
          <p:cNvSpPr/>
          <p:nvPr/>
        </p:nvSpPr>
        <p:spPr>
          <a:xfrm>
            <a:off x="6693480" y="3310200"/>
            <a:ext cx="145080" cy="117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5"/>
          <p:cNvSpPr/>
          <p:nvPr/>
        </p:nvSpPr>
        <p:spPr>
          <a:xfrm>
            <a:off x="6858000" y="3154680"/>
            <a:ext cx="5475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5943600" y="3474720"/>
            <a:ext cx="1644840" cy="50184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17"/>
          <p:cNvSpPr/>
          <p:nvPr/>
        </p:nvSpPr>
        <p:spPr>
          <a:xfrm>
            <a:off x="5943600" y="3520440"/>
            <a:ext cx="164484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if block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1" name="Shape 18"/>
          <p:cNvSpPr/>
          <p:nvPr/>
        </p:nvSpPr>
        <p:spPr>
          <a:xfrm>
            <a:off x="7863840" y="2743200"/>
            <a:ext cx="457200" cy="360"/>
          </a:xfrm>
          <a:prstGeom prst="line">
            <a:avLst/>
          </a:prstGeom>
          <a:ln w="381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Shape 19"/>
          <p:cNvSpPr/>
          <p:nvPr/>
        </p:nvSpPr>
        <p:spPr>
          <a:xfrm>
            <a:off x="8293680" y="2688480"/>
            <a:ext cx="117720" cy="117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20"/>
          <p:cNvSpPr/>
          <p:nvPr/>
        </p:nvSpPr>
        <p:spPr>
          <a:xfrm>
            <a:off x="7909560" y="256032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Shape 21"/>
          <p:cNvSpPr/>
          <p:nvPr/>
        </p:nvSpPr>
        <p:spPr>
          <a:xfrm>
            <a:off x="8321040" y="2743200"/>
            <a:ext cx="360" cy="1371600"/>
          </a:xfrm>
          <a:prstGeom prst="line">
            <a:avLst/>
          </a:prstGeom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22"/>
          <p:cNvSpPr/>
          <p:nvPr/>
        </p:nvSpPr>
        <p:spPr>
          <a:xfrm>
            <a:off x="6766560" y="3977640"/>
            <a:ext cx="360" cy="13716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Shape 23"/>
          <p:cNvSpPr/>
          <p:nvPr/>
        </p:nvSpPr>
        <p:spPr>
          <a:xfrm>
            <a:off x="6766560" y="4114800"/>
            <a:ext cx="1554480" cy="36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Shape 24"/>
          <p:cNvSpPr/>
          <p:nvPr/>
        </p:nvSpPr>
        <p:spPr>
          <a:xfrm>
            <a:off x="6693480" y="4087440"/>
            <a:ext cx="145080" cy="117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Shape 25"/>
          <p:cNvSpPr/>
          <p:nvPr/>
        </p:nvSpPr>
        <p:spPr>
          <a:xfrm>
            <a:off x="5852160" y="4251960"/>
            <a:ext cx="1827720" cy="41040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26"/>
          <p:cNvSpPr/>
          <p:nvPr/>
        </p:nvSpPr>
        <p:spPr>
          <a:xfrm>
            <a:off x="5852160" y="4325040"/>
            <a:ext cx="1827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 Statement - Example Walkthrough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914400" y="914400"/>
            <a:ext cx="7314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Courier New"/>
                <a:ea typeface="Courier New"/>
              </a:rPr>
              <a:t>Example: age = 20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914400" y="1371600"/>
            <a:ext cx="7314120" cy="547560"/>
          </a:xfrm>
          <a:prstGeom prst="rect">
            <a:avLst/>
          </a:prstGeom>
          <a:solidFill>
            <a:srgbClr val="fff3e0"/>
          </a:solidFill>
          <a:ln w="2556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3"/>
          <p:cNvSpPr/>
          <p:nvPr/>
        </p:nvSpPr>
        <p:spPr>
          <a:xfrm>
            <a:off x="1097280" y="146304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Step 1: Evaluate Condition → age &gt;= 18 → 20 &gt;= 18 → TRUE ✓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914400" y="2103120"/>
            <a:ext cx="7314120" cy="547560"/>
          </a:xfrm>
          <a:prstGeom prst="rect">
            <a:avLst/>
          </a:prstGeom>
          <a:solidFill>
            <a:srgbClr val="e8f5e9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5" name="Text 5"/>
          <p:cNvSpPr/>
          <p:nvPr/>
        </p:nvSpPr>
        <p:spPr>
          <a:xfrm>
            <a:off x="1097280" y="2194560"/>
            <a:ext cx="69483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Step 2: Condition is TRUE → Execute statements inside if block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1828800" y="2834640"/>
            <a:ext cx="5485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Code Execution Trace: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1371600" y="3200400"/>
            <a:ext cx="3199320" cy="4104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8"/>
          <p:cNvSpPr/>
          <p:nvPr/>
        </p:nvSpPr>
        <p:spPr>
          <a:xfrm>
            <a:off x="1463040" y="3246120"/>
            <a:ext cx="3016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are an adult")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4663440" y="3337560"/>
            <a:ext cx="318960" cy="136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Shape 10"/>
          <p:cNvSpPr/>
          <p:nvPr/>
        </p:nvSpPr>
        <p:spPr>
          <a:xfrm>
            <a:off x="5120640" y="3200400"/>
            <a:ext cx="3199320" cy="410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1"/>
          <p:cNvSpPr/>
          <p:nvPr/>
        </p:nvSpPr>
        <p:spPr>
          <a:xfrm>
            <a:off x="5212080" y="3246120"/>
            <a:ext cx="3016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You are an adult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Shape 12"/>
          <p:cNvSpPr/>
          <p:nvPr/>
        </p:nvSpPr>
        <p:spPr>
          <a:xfrm>
            <a:off x="1371600" y="3703320"/>
            <a:ext cx="3199320" cy="4104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3"/>
          <p:cNvSpPr/>
          <p:nvPr/>
        </p:nvSpPr>
        <p:spPr>
          <a:xfrm>
            <a:off x="1463040" y="3749040"/>
            <a:ext cx="3016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print("You can vote")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4" name="Shape 14"/>
          <p:cNvSpPr/>
          <p:nvPr/>
        </p:nvSpPr>
        <p:spPr>
          <a:xfrm>
            <a:off x="4663440" y="3840480"/>
            <a:ext cx="318960" cy="136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Shape 15"/>
          <p:cNvSpPr/>
          <p:nvPr/>
        </p:nvSpPr>
        <p:spPr>
          <a:xfrm>
            <a:off x="5120640" y="3703320"/>
            <a:ext cx="3199320" cy="410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6"/>
          <p:cNvSpPr/>
          <p:nvPr/>
        </p:nvSpPr>
        <p:spPr>
          <a:xfrm>
            <a:off x="5212080" y="3749040"/>
            <a:ext cx="3016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You can vote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Shape 17"/>
          <p:cNvSpPr/>
          <p:nvPr/>
        </p:nvSpPr>
        <p:spPr>
          <a:xfrm>
            <a:off x="1371600" y="4206240"/>
            <a:ext cx="3199320" cy="4104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8"/>
          <p:cNvSpPr/>
          <p:nvPr/>
        </p:nvSpPr>
        <p:spPr>
          <a:xfrm>
            <a:off x="1463040" y="4251960"/>
            <a:ext cx="3016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print("Program ends")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4663440" y="4343400"/>
            <a:ext cx="318960" cy="136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Shape 20"/>
          <p:cNvSpPr/>
          <p:nvPr/>
        </p:nvSpPr>
        <p:spPr>
          <a:xfrm>
            <a:off x="5120640" y="4206240"/>
            <a:ext cx="3199320" cy="41040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1"/>
          <p:cNvSpPr/>
          <p:nvPr/>
        </p:nvSpPr>
        <p:spPr>
          <a:xfrm>
            <a:off x="5212080" y="4251960"/>
            <a:ext cx="30164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Program ends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The if-else Statement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163" name="Shape 1"/>
          <p:cNvSpPr/>
          <p:nvPr/>
        </p:nvSpPr>
        <p:spPr>
          <a:xfrm>
            <a:off x="640080" y="914400"/>
            <a:ext cx="4113720" cy="4561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2"/>
          <p:cNvSpPr/>
          <p:nvPr/>
        </p:nvSpPr>
        <p:spPr>
          <a:xfrm>
            <a:off x="640080" y="960120"/>
            <a:ext cx="4113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 &amp; Code Example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640080" y="1463040"/>
            <a:ext cx="4113720" cy="29250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4"/>
          <p:cNvSpPr/>
          <p:nvPr/>
        </p:nvSpPr>
        <p:spPr>
          <a:xfrm>
            <a:off x="822960" y="1600200"/>
            <a:ext cx="3747960" cy="26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Syntax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# Example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16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print("Done")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7" name="Shape 5"/>
          <p:cNvSpPr/>
          <p:nvPr/>
        </p:nvSpPr>
        <p:spPr>
          <a:xfrm>
            <a:off x="5029200" y="914400"/>
            <a:ext cx="3473640" cy="456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6"/>
          <p:cNvSpPr/>
          <p:nvPr/>
        </p:nvSpPr>
        <p:spPr>
          <a:xfrm>
            <a:off x="5029200" y="960120"/>
            <a:ext cx="3473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Flowchart Diagram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69" name="Shape 7"/>
          <p:cNvSpPr/>
          <p:nvPr/>
        </p:nvSpPr>
        <p:spPr>
          <a:xfrm>
            <a:off x="5852160" y="1554480"/>
            <a:ext cx="1827720" cy="36468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8"/>
          <p:cNvSpPr/>
          <p:nvPr/>
        </p:nvSpPr>
        <p:spPr>
          <a:xfrm>
            <a:off x="5852160" y="1618560"/>
            <a:ext cx="18277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Shape 9"/>
          <p:cNvSpPr/>
          <p:nvPr/>
        </p:nvSpPr>
        <p:spPr>
          <a:xfrm>
            <a:off x="6766560" y="1920240"/>
            <a:ext cx="360" cy="22860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Shape 10"/>
          <p:cNvSpPr/>
          <p:nvPr/>
        </p:nvSpPr>
        <p:spPr>
          <a:xfrm>
            <a:off x="6693480" y="2121480"/>
            <a:ext cx="145080" cy="117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Shape 11"/>
          <p:cNvSpPr/>
          <p:nvPr/>
        </p:nvSpPr>
        <p:spPr>
          <a:xfrm>
            <a:off x="5669280" y="2286000"/>
            <a:ext cx="2193480" cy="684720"/>
          </a:xfrm>
          <a:prstGeom prst="diamond">
            <a:avLst/>
          </a:prstGeom>
          <a:solidFill>
            <a:srgbClr val="ffd43b"/>
          </a:solidFill>
          <a:ln w="381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Text 12"/>
          <p:cNvSpPr/>
          <p:nvPr/>
        </p:nvSpPr>
        <p:spPr>
          <a:xfrm>
            <a:off x="5669280" y="2468880"/>
            <a:ext cx="21934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&gt;= 18?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5" name="Shape 13"/>
          <p:cNvSpPr/>
          <p:nvPr/>
        </p:nvSpPr>
        <p:spPr>
          <a:xfrm flipH="1">
            <a:off x="5212080" y="2628720"/>
            <a:ext cx="457200" cy="360"/>
          </a:xfrm>
          <a:prstGeom prst="line">
            <a:avLst/>
          </a:prstGeom>
          <a:ln w="381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Shape 14"/>
          <p:cNvSpPr/>
          <p:nvPr/>
        </p:nvSpPr>
        <p:spPr>
          <a:xfrm>
            <a:off x="5093280" y="2578680"/>
            <a:ext cx="117720" cy="11772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5"/>
          <p:cNvSpPr/>
          <p:nvPr/>
        </p:nvSpPr>
        <p:spPr>
          <a:xfrm>
            <a:off x="4937760" y="242316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8" name="Shape 16"/>
          <p:cNvSpPr/>
          <p:nvPr/>
        </p:nvSpPr>
        <p:spPr>
          <a:xfrm>
            <a:off x="5212080" y="2628720"/>
            <a:ext cx="360" cy="45720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Shape 17"/>
          <p:cNvSpPr/>
          <p:nvPr/>
        </p:nvSpPr>
        <p:spPr>
          <a:xfrm>
            <a:off x="4572000" y="3108960"/>
            <a:ext cx="1279080" cy="45612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18"/>
          <p:cNvSpPr/>
          <p:nvPr/>
        </p:nvSpPr>
        <p:spPr>
          <a:xfrm>
            <a:off x="4572000" y="3154680"/>
            <a:ext cx="127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if block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Shape 19"/>
          <p:cNvSpPr/>
          <p:nvPr/>
        </p:nvSpPr>
        <p:spPr>
          <a:xfrm>
            <a:off x="5212080" y="3566160"/>
            <a:ext cx="360" cy="45720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20"/>
          <p:cNvSpPr/>
          <p:nvPr/>
        </p:nvSpPr>
        <p:spPr>
          <a:xfrm>
            <a:off x="7863840" y="2628720"/>
            <a:ext cx="457200" cy="360"/>
          </a:xfrm>
          <a:prstGeom prst="line">
            <a:avLst/>
          </a:prstGeom>
          <a:ln w="381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Shape 21"/>
          <p:cNvSpPr/>
          <p:nvPr/>
        </p:nvSpPr>
        <p:spPr>
          <a:xfrm>
            <a:off x="8293680" y="2578680"/>
            <a:ext cx="117720" cy="117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Text 22"/>
          <p:cNvSpPr/>
          <p:nvPr/>
        </p:nvSpPr>
        <p:spPr>
          <a:xfrm>
            <a:off x="7909560" y="2423160"/>
            <a:ext cx="456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5" name="Shape 23"/>
          <p:cNvSpPr/>
          <p:nvPr/>
        </p:nvSpPr>
        <p:spPr>
          <a:xfrm>
            <a:off x="8321040" y="2628720"/>
            <a:ext cx="360" cy="457200"/>
          </a:xfrm>
          <a:prstGeom prst="line">
            <a:avLst/>
          </a:prstGeom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6" name="Shape 24"/>
          <p:cNvSpPr/>
          <p:nvPr/>
        </p:nvSpPr>
        <p:spPr>
          <a:xfrm>
            <a:off x="7680960" y="3108960"/>
            <a:ext cx="1279080" cy="45612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25"/>
          <p:cNvSpPr/>
          <p:nvPr/>
        </p:nvSpPr>
        <p:spPr>
          <a:xfrm>
            <a:off x="7680960" y="3154680"/>
            <a:ext cx="12790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else block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Execute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8" name="Shape 26"/>
          <p:cNvSpPr/>
          <p:nvPr/>
        </p:nvSpPr>
        <p:spPr>
          <a:xfrm>
            <a:off x="8321040" y="3566160"/>
            <a:ext cx="360" cy="457200"/>
          </a:xfrm>
          <a:prstGeom prst="line">
            <a:avLst/>
          </a:prstGeom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27"/>
          <p:cNvSpPr/>
          <p:nvPr/>
        </p:nvSpPr>
        <p:spPr>
          <a:xfrm>
            <a:off x="5212080" y="4023360"/>
            <a:ext cx="3108960" cy="36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Shape 28"/>
          <p:cNvSpPr/>
          <p:nvPr/>
        </p:nvSpPr>
        <p:spPr>
          <a:xfrm>
            <a:off x="6693480" y="3996000"/>
            <a:ext cx="145080" cy="117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Shape 29"/>
          <p:cNvSpPr/>
          <p:nvPr/>
        </p:nvSpPr>
        <p:spPr>
          <a:xfrm>
            <a:off x="5852160" y="4160520"/>
            <a:ext cx="1827720" cy="36468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30"/>
          <p:cNvSpPr/>
          <p:nvPr/>
        </p:nvSpPr>
        <p:spPr>
          <a:xfrm>
            <a:off x="5852160" y="4224600"/>
            <a:ext cx="18277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if-else - Two Scenarios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94" name="Shape 1"/>
          <p:cNvSpPr/>
          <p:nvPr/>
        </p:nvSpPr>
        <p:spPr>
          <a:xfrm>
            <a:off x="731520" y="914400"/>
            <a:ext cx="3839400" cy="45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5" name="Text 2"/>
          <p:cNvSpPr/>
          <p:nvPr/>
        </p:nvSpPr>
        <p:spPr>
          <a:xfrm>
            <a:off x="731520" y="96012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Scenario 1: age = 20 (TRUE)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731520" y="1463040"/>
            <a:ext cx="3839400" cy="7304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4"/>
          <p:cNvSpPr/>
          <p:nvPr/>
        </p:nvSpPr>
        <p:spPr>
          <a:xfrm>
            <a:off x="914400" y="155448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2560320" y="2240280"/>
            <a:ext cx="273240" cy="18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6"/>
          <p:cNvSpPr/>
          <p:nvPr/>
        </p:nvSpPr>
        <p:spPr>
          <a:xfrm>
            <a:off x="1371600" y="2468880"/>
            <a:ext cx="2742120" cy="410400"/>
          </a:xfrm>
          <a:prstGeom prst="rect">
            <a:avLst/>
          </a:prstGeom>
          <a:solidFill>
            <a:srgbClr val="e8f5e9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7"/>
          <p:cNvSpPr/>
          <p:nvPr/>
        </p:nvSpPr>
        <p:spPr>
          <a:xfrm>
            <a:off x="1371600" y="251460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7ae60"/>
                </a:solidFill>
                <a:latin typeface="Arial"/>
                <a:ea typeface="Arial"/>
              </a:rPr>
              <a:t>20 &gt;= 18 → TRUE ✓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1" name="Shape 8"/>
          <p:cNvSpPr/>
          <p:nvPr/>
        </p:nvSpPr>
        <p:spPr>
          <a:xfrm>
            <a:off x="2560320" y="2926080"/>
            <a:ext cx="273240" cy="18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Shape 9"/>
          <p:cNvSpPr/>
          <p:nvPr/>
        </p:nvSpPr>
        <p:spPr>
          <a:xfrm>
            <a:off x="1097280" y="3154680"/>
            <a:ext cx="3290760" cy="45612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10"/>
          <p:cNvSpPr/>
          <p:nvPr/>
        </p:nvSpPr>
        <p:spPr>
          <a:xfrm>
            <a:off x="1097280" y="3200400"/>
            <a:ext cx="329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Execute if block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4" name="Shape 11"/>
          <p:cNvSpPr/>
          <p:nvPr/>
        </p:nvSpPr>
        <p:spPr>
          <a:xfrm>
            <a:off x="1371600" y="3749040"/>
            <a:ext cx="2742120" cy="41040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12"/>
          <p:cNvSpPr/>
          <p:nvPr/>
        </p:nvSpPr>
        <p:spPr>
          <a:xfrm>
            <a:off x="1371600" y="379476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Output: "Adult"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6" name="Shape 13"/>
          <p:cNvSpPr/>
          <p:nvPr/>
        </p:nvSpPr>
        <p:spPr>
          <a:xfrm>
            <a:off x="4572000" y="914400"/>
            <a:ext cx="3839400" cy="456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14"/>
          <p:cNvSpPr/>
          <p:nvPr/>
        </p:nvSpPr>
        <p:spPr>
          <a:xfrm>
            <a:off x="4572000" y="96012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Scenario 2: age = 16 (FALSE)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4572000" y="1463040"/>
            <a:ext cx="3839400" cy="73044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16"/>
          <p:cNvSpPr/>
          <p:nvPr/>
        </p:nvSpPr>
        <p:spPr>
          <a:xfrm>
            <a:off x="4754880" y="1554480"/>
            <a:ext cx="3473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&gt;= 18: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1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print("Minor")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0" name="Shape 17"/>
          <p:cNvSpPr/>
          <p:nvPr/>
        </p:nvSpPr>
        <p:spPr>
          <a:xfrm>
            <a:off x="6400800" y="2240280"/>
            <a:ext cx="273240" cy="18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Shape 18"/>
          <p:cNvSpPr/>
          <p:nvPr/>
        </p:nvSpPr>
        <p:spPr>
          <a:xfrm>
            <a:off x="5212080" y="2468880"/>
            <a:ext cx="2742120" cy="410400"/>
          </a:xfrm>
          <a:prstGeom prst="rect">
            <a:avLst/>
          </a:prstGeom>
          <a:solidFill>
            <a:srgbClr val="ffebee"/>
          </a:solidFill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19"/>
          <p:cNvSpPr/>
          <p:nvPr/>
        </p:nvSpPr>
        <p:spPr>
          <a:xfrm>
            <a:off x="5212080" y="251460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74c3c"/>
                </a:solidFill>
                <a:latin typeface="Arial"/>
                <a:ea typeface="Arial"/>
              </a:rPr>
              <a:t>16 &gt;= 18 → FALSE ✗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3" name="Shape 20"/>
          <p:cNvSpPr/>
          <p:nvPr/>
        </p:nvSpPr>
        <p:spPr>
          <a:xfrm>
            <a:off x="6400800" y="2926080"/>
            <a:ext cx="273240" cy="181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Shape 21"/>
          <p:cNvSpPr/>
          <p:nvPr/>
        </p:nvSpPr>
        <p:spPr>
          <a:xfrm>
            <a:off x="4937760" y="3154680"/>
            <a:ext cx="3290760" cy="45612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22"/>
          <p:cNvSpPr/>
          <p:nvPr/>
        </p:nvSpPr>
        <p:spPr>
          <a:xfrm>
            <a:off x="4937760" y="3200400"/>
            <a:ext cx="3290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Execute else block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6" name="Shape 23"/>
          <p:cNvSpPr/>
          <p:nvPr/>
        </p:nvSpPr>
        <p:spPr>
          <a:xfrm>
            <a:off x="5212080" y="3749040"/>
            <a:ext cx="2742120" cy="41040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24"/>
          <p:cNvSpPr/>
          <p:nvPr/>
        </p:nvSpPr>
        <p:spPr>
          <a:xfrm>
            <a:off x="5212080" y="3794760"/>
            <a:ext cx="27421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urier New"/>
                <a:ea typeface="Courier New"/>
              </a:rPr>
              <a:t>Output: "Minor"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The if-elif-else Statement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9" name="Shape 1"/>
          <p:cNvSpPr/>
          <p:nvPr/>
        </p:nvSpPr>
        <p:spPr>
          <a:xfrm>
            <a:off x="914400" y="868680"/>
            <a:ext cx="7314120" cy="547560"/>
          </a:xfrm>
          <a:prstGeom prst="rect">
            <a:avLst/>
          </a:prstGeom>
          <a:solidFill>
            <a:srgbClr val="e3f2fd"/>
          </a:solidFill>
          <a:ln w="25560">
            <a:solidFill>
              <a:srgbClr val="30699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2"/>
          <p:cNvSpPr/>
          <p:nvPr/>
        </p:nvSpPr>
        <p:spPr>
          <a:xfrm>
            <a:off x="914400" y="9601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306998"/>
                </a:solidFill>
                <a:latin typeface="Arial"/>
                <a:ea typeface="Arial"/>
              </a:rPr>
              <a:t>Used when you need to check MULTIPLE conditions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21" name="Shape 3"/>
          <p:cNvSpPr/>
          <p:nvPr/>
        </p:nvSpPr>
        <p:spPr>
          <a:xfrm>
            <a:off x="731520" y="1554480"/>
            <a:ext cx="3839400" cy="45612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4"/>
          <p:cNvSpPr/>
          <p:nvPr/>
        </p:nvSpPr>
        <p:spPr>
          <a:xfrm>
            <a:off x="731520" y="1600200"/>
            <a:ext cx="3839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Syntax: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3" name="Shape 5"/>
          <p:cNvSpPr/>
          <p:nvPr/>
        </p:nvSpPr>
        <p:spPr>
          <a:xfrm>
            <a:off x="731520" y="2103120"/>
            <a:ext cx="3839400" cy="219348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4" name="Text 6"/>
          <p:cNvSpPr/>
          <p:nvPr/>
        </p:nvSpPr>
        <p:spPr>
          <a:xfrm>
            <a:off x="914400" y="2240280"/>
            <a:ext cx="34736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condition1: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statement1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condition2: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statement2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condition3: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statement3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statement4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4754880" y="1554480"/>
            <a:ext cx="3656520" cy="456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Text 8"/>
          <p:cNvSpPr/>
          <p:nvPr/>
        </p:nvSpPr>
        <p:spPr>
          <a:xfrm>
            <a:off x="4754880" y="160020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"/>
                <a:ea typeface="Arial"/>
              </a:rPr>
              <a:t>Execution Flow: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4937760" y="217620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8" name="Text 10"/>
          <p:cNvSpPr/>
          <p:nvPr/>
        </p:nvSpPr>
        <p:spPr>
          <a:xfrm>
            <a:off x="4937760" y="21762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9" name="Shape 11"/>
          <p:cNvSpPr/>
          <p:nvPr/>
        </p:nvSpPr>
        <p:spPr>
          <a:xfrm>
            <a:off x="5349240" y="2194560"/>
            <a:ext cx="3016440" cy="291600"/>
          </a:xfrm>
          <a:prstGeom prst="rect">
            <a:avLst/>
          </a:prstGeom>
          <a:solidFill>
            <a:srgbClr val="f5f5f5"/>
          </a:solidFill>
          <a:ln w="2556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12"/>
          <p:cNvSpPr/>
          <p:nvPr/>
        </p:nvSpPr>
        <p:spPr>
          <a:xfrm>
            <a:off x="5394960" y="2203560"/>
            <a:ext cx="2925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Check if condition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4937760" y="2523600"/>
            <a:ext cx="318960" cy="31896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14"/>
          <p:cNvSpPr/>
          <p:nvPr/>
        </p:nvSpPr>
        <p:spPr>
          <a:xfrm>
            <a:off x="4937760" y="25236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5349240" y="2541960"/>
            <a:ext cx="3016440" cy="291600"/>
          </a:xfrm>
          <a:prstGeom prst="rect">
            <a:avLst/>
          </a:prstGeom>
          <a:solidFill>
            <a:srgbClr val="f5f5f5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16"/>
          <p:cNvSpPr/>
          <p:nvPr/>
        </p:nvSpPr>
        <p:spPr>
          <a:xfrm>
            <a:off x="5394960" y="2551320"/>
            <a:ext cx="2925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TRUE → Execute if block → EXIT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4937760" y="2871360"/>
            <a:ext cx="318960" cy="31896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18"/>
          <p:cNvSpPr/>
          <p:nvPr/>
        </p:nvSpPr>
        <p:spPr>
          <a:xfrm>
            <a:off x="4937760" y="28713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5349240" y="2889360"/>
            <a:ext cx="3016440" cy="291600"/>
          </a:xfrm>
          <a:prstGeom prst="rect">
            <a:avLst/>
          </a:prstGeom>
          <a:solidFill>
            <a:srgbClr val="f5f5f5"/>
          </a:solidFill>
          <a:ln w="2556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20"/>
          <p:cNvSpPr/>
          <p:nvPr/>
        </p:nvSpPr>
        <p:spPr>
          <a:xfrm>
            <a:off x="5394960" y="2898720"/>
            <a:ext cx="2925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FALSE → Check elif condition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9" name="Shape 21"/>
          <p:cNvSpPr/>
          <p:nvPr/>
        </p:nvSpPr>
        <p:spPr>
          <a:xfrm>
            <a:off x="4937760" y="3218760"/>
            <a:ext cx="318960" cy="31896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22"/>
          <p:cNvSpPr/>
          <p:nvPr/>
        </p:nvSpPr>
        <p:spPr>
          <a:xfrm>
            <a:off x="4937760" y="32187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1" name="Shape 23"/>
          <p:cNvSpPr/>
          <p:nvPr/>
        </p:nvSpPr>
        <p:spPr>
          <a:xfrm>
            <a:off x="5349240" y="3237120"/>
            <a:ext cx="3016440" cy="291600"/>
          </a:xfrm>
          <a:prstGeom prst="rect">
            <a:avLst/>
          </a:prstGeom>
          <a:solidFill>
            <a:srgbClr val="f5f5f5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24"/>
          <p:cNvSpPr/>
          <p:nvPr/>
        </p:nvSpPr>
        <p:spPr>
          <a:xfrm>
            <a:off x="5394960" y="3246120"/>
            <a:ext cx="2925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elif TRUE → Execute elif block → EXIT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3" name="Shape 25"/>
          <p:cNvSpPr/>
          <p:nvPr/>
        </p:nvSpPr>
        <p:spPr>
          <a:xfrm>
            <a:off x="4937760" y="3566160"/>
            <a:ext cx="318960" cy="318960"/>
          </a:xfrm>
          <a:prstGeom prst="ellipse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26"/>
          <p:cNvSpPr/>
          <p:nvPr/>
        </p:nvSpPr>
        <p:spPr>
          <a:xfrm>
            <a:off x="4937760" y="35661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5" name="Shape 27"/>
          <p:cNvSpPr/>
          <p:nvPr/>
        </p:nvSpPr>
        <p:spPr>
          <a:xfrm>
            <a:off x="5349240" y="3584520"/>
            <a:ext cx="3016440" cy="291600"/>
          </a:xfrm>
          <a:prstGeom prst="rect">
            <a:avLst/>
          </a:prstGeom>
          <a:solidFill>
            <a:srgbClr val="f5f5f5"/>
          </a:solidFill>
          <a:ln w="25560">
            <a:solidFill>
              <a:srgbClr val="e67e2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28"/>
          <p:cNvSpPr/>
          <p:nvPr/>
        </p:nvSpPr>
        <p:spPr>
          <a:xfrm>
            <a:off x="5394960" y="3593520"/>
            <a:ext cx="2925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Check next elif (if any)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Shape 29"/>
          <p:cNvSpPr/>
          <p:nvPr/>
        </p:nvSpPr>
        <p:spPr>
          <a:xfrm>
            <a:off x="4937760" y="3913560"/>
            <a:ext cx="318960" cy="318960"/>
          </a:xfrm>
          <a:prstGeom prst="ellipse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30"/>
          <p:cNvSpPr/>
          <p:nvPr/>
        </p:nvSpPr>
        <p:spPr>
          <a:xfrm>
            <a:off x="4937760" y="39135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9" name="Shape 31"/>
          <p:cNvSpPr/>
          <p:nvPr/>
        </p:nvSpPr>
        <p:spPr>
          <a:xfrm>
            <a:off x="5349240" y="3931920"/>
            <a:ext cx="3016440" cy="291600"/>
          </a:xfrm>
          <a:prstGeom prst="rect">
            <a:avLst/>
          </a:prstGeom>
          <a:solidFill>
            <a:srgbClr val="f5f5f5"/>
          </a:solidFill>
          <a:ln w="255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32"/>
          <p:cNvSpPr/>
          <p:nvPr/>
        </p:nvSpPr>
        <p:spPr>
          <a:xfrm>
            <a:off x="5394960" y="3940920"/>
            <a:ext cx="29250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If all FALSE → Execute else block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if-elif-else - Clean Flowchart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52" name="Shape 1"/>
          <p:cNvSpPr/>
          <p:nvPr/>
        </p:nvSpPr>
        <p:spPr>
          <a:xfrm>
            <a:off x="640080" y="914400"/>
            <a:ext cx="3199320" cy="410400"/>
          </a:xfrm>
          <a:prstGeom prst="rect">
            <a:avLst/>
          </a:prstGeom>
          <a:solidFill>
            <a:srgbClr val="02809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"/>
          <p:cNvSpPr/>
          <p:nvPr/>
        </p:nvSpPr>
        <p:spPr>
          <a:xfrm>
            <a:off x="640080" y="960120"/>
            <a:ext cx="3199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Code (age = 15):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4" name="Shape 3"/>
          <p:cNvSpPr/>
          <p:nvPr/>
        </p:nvSpPr>
        <p:spPr>
          <a:xfrm>
            <a:off x="640080" y="1371600"/>
            <a:ext cx="3199320" cy="338220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4"/>
          <p:cNvSpPr/>
          <p:nvPr/>
        </p:nvSpPr>
        <p:spPr>
          <a:xfrm>
            <a:off x="822960" y="1508760"/>
            <a:ext cx="2833560" cy="31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age = 15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if age &lt; 13: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print("Child")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elif age &lt; 18: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print("Teenager")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else: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abb2bf"/>
                </a:solidFill>
                <a:latin typeface="Courier New"/>
                <a:ea typeface="Courier New"/>
              </a:rPr>
              <a:t>print("Adult")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4114800" y="914400"/>
            <a:ext cx="4388040" cy="41040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6"/>
          <p:cNvSpPr/>
          <p:nvPr/>
        </p:nvSpPr>
        <p:spPr>
          <a:xfrm>
            <a:off x="4114800" y="960120"/>
            <a:ext cx="43880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Execution Flow: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5394960" y="1463040"/>
            <a:ext cx="1827720" cy="31896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8"/>
          <p:cNvSpPr/>
          <p:nvPr/>
        </p:nvSpPr>
        <p:spPr>
          <a:xfrm>
            <a:off x="5394960" y="150876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START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6236280" y="1810440"/>
            <a:ext cx="145080" cy="108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10"/>
          <p:cNvSpPr/>
          <p:nvPr/>
        </p:nvSpPr>
        <p:spPr>
          <a:xfrm>
            <a:off x="5303520" y="1965960"/>
            <a:ext cx="2010600" cy="501840"/>
          </a:xfrm>
          <a:prstGeom prst="diamond">
            <a:avLst/>
          </a:prstGeom>
          <a:solidFill>
            <a:srgbClr val="ffebee"/>
          </a:solidFill>
          <a:ln w="255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11"/>
          <p:cNvSpPr/>
          <p:nvPr/>
        </p:nvSpPr>
        <p:spPr>
          <a:xfrm>
            <a:off x="5303520" y="2057400"/>
            <a:ext cx="2010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&lt; 13?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(15 &lt; 13)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5852160" y="2514600"/>
            <a:ext cx="45612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0" bIns="1368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e74c3c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4" name="Shape 13"/>
          <p:cNvSpPr/>
          <p:nvPr/>
        </p:nvSpPr>
        <p:spPr>
          <a:xfrm>
            <a:off x="6236280" y="2496240"/>
            <a:ext cx="145080" cy="108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Shape 14"/>
          <p:cNvSpPr/>
          <p:nvPr/>
        </p:nvSpPr>
        <p:spPr>
          <a:xfrm>
            <a:off x="5303520" y="2651760"/>
            <a:ext cx="2010600" cy="501840"/>
          </a:xfrm>
          <a:prstGeom prst="diamond">
            <a:avLst/>
          </a:prstGeom>
          <a:solidFill>
            <a:srgbClr val="e8f5e9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15"/>
          <p:cNvSpPr/>
          <p:nvPr/>
        </p:nvSpPr>
        <p:spPr>
          <a:xfrm>
            <a:off x="5303520" y="2743200"/>
            <a:ext cx="2010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age &lt; 18?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Courier New"/>
                <a:ea typeface="Courier New"/>
              </a:rPr>
              <a:t>(15 &lt; 18)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7" name="Shape 16"/>
          <p:cNvSpPr/>
          <p:nvPr/>
        </p:nvSpPr>
        <p:spPr>
          <a:xfrm>
            <a:off x="7315200" y="2903040"/>
            <a:ext cx="457200" cy="36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Shape 17"/>
          <p:cNvSpPr/>
          <p:nvPr/>
        </p:nvSpPr>
        <p:spPr>
          <a:xfrm>
            <a:off x="7745040" y="2853000"/>
            <a:ext cx="117720" cy="903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18"/>
          <p:cNvSpPr/>
          <p:nvPr/>
        </p:nvSpPr>
        <p:spPr>
          <a:xfrm>
            <a:off x="7360920" y="2743200"/>
            <a:ext cx="45612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0" bIns="1368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7ae60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0" name="Shape 19"/>
          <p:cNvSpPr/>
          <p:nvPr/>
        </p:nvSpPr>
        <p:spPr>
          <a:xfrm>
            <a:off x="7909560" y="2697480"/>
            <a:ext cx="821880" cy="41040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20"/>
          <p:cNvSpPr/>
          <p:nvPr/>
        </p:nvSpPr>
        <p:spPr>
          <a:xfrm>
            <a:off x="7909560" y="2743200"/>
            <a:ext cx="8218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elif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block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2" name="Shape 21"/>
          <p:cNvSpPr/>
          <p:nvPr/>
        </p:nvSpPr>
        <p:spPr>
          <a:xfrm>
            <a:off x="8321040" y="3108960"/>
            <a:ext cx="360" cy="1051560"/>
          </a:xfrm>
          <a:prstGeom prst="line">
            <a:avLst/>
          </a:prstGeom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22"/>
          <p:cNvSpPr/>
          <p:nvPr/>
        </p:nvSpPr>
        <p:spPr>
          <a:xfrm>
            <a:off x="5852160" y="3200400"/>
            <a:ext cx="456120" cy="1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36800" bIns="1368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9b59b6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4" name="Shape 23"/>
          <p:cNvSpPr/>
          <p:nvPr/>
        </p:nvSpPr>
        <p:spPr>
          <a:xfrm>
            <a:off x="6236280" y="3182040"/>
            <a:ext cx="145080" cy="108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Shape 24"/>
          <p:cNvSpPr/>
          <p:nvPr/>
        </p:nvSpPr>
        <p:spPr>
          <a:xfrm>
            <a:off x="5669280" y="3337560"/>
            <a:ext cx="1279080" cy="364680"/>
          </a:xfrm>
          <a:prstGeom prst="rect">
            <a:avLst/>
          </a:prstGeom>
          <a:solidFill>
            <a:srgbClr val="9b59b6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25"/>
          <p:cNvSpPr/>
          <p:nvPr/>
        </p:nvSpPr>
        <p:spPr>
          <a:xfrm>
            <a:off x="5669280" y="3383280"/>
            <a:ext cx="1279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else block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7" name="Shape 26"/>
          <p:cNvSpPr/>
          <p:nvPr/>
        </p:nvSpPr>
        <p:spPr>
          <a:xfrm>
            <a:off x="6309360" y="3703320"/>
            <a:ext cx="360" cy="457200"/>
          </a:xfrm>
          <a:prstGeom prst="line">
            <a:avLst/>
          </a:prstGeom>
          <a:ln w="2556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Shape 27"/>
          <p:cNvSpPr/>
          <p:nvPr/>
        </p:nvSpPr>
        <p:spPr>
          <a:xfrm>
            <a:off x="6309360" y="4160520"/>
            <a:ext cx="2011680" cy="360"/>
          </a:xfrm>
          <a:prstGeom prst="line">
            <a:avLst/>
          </a:prstGeom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28"/>
          <p:cNvSpPr/>
          <p:nvPr/>
        </p:nvSpPr>
        <p:spPr>
          <a:xfrm>
            <a:off x="6236280" y="4133160"/>
            <a:ext cx="145080" cy="1177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Shape 29"/>
          <p:cNvSpPr/>
          <p:nvPr/>
        </p:nvSpPr>
        <p:spPr>
          <a:xfrm>
            <a:off x="5394960" y="4297680"/>
            <a:ext cx="1827720" cy="318960"/>
          </a:xfrm>
          <a:prstGeom prst="roundRect">
            <a:avLst>
              <a:gd name="adj" fmla="val 16667"/>
            </a:avLst>
          </a:prstGeom>
          <a:solidFill>
            <a:srgbClr val="306998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30"/>
          <p:cNvSpPr/>
          <p:nvPr/>
        </p:nvSpPr>
        <p:spPr>
          <a:xfrm>
            <a:off x="5394960" y="434340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END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2" name="Shape 31"/>
          <p:cNvSpPr/>
          <p:nvPr/>
        </p:nvSpPr>
        <p:spPr>
          <a:xfrm>
            <a:off x="7680960" y="4297680"/>
            <a:ext cx="1279080" cy="318960"/>
          </a:xfrm>
          <a:prstGeom prst="rect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32"/>
          <p:cNvSpPr/>
          <p:nvPr/>
        </p:nvSpPr>
        <p:spPr>
          <a:xfrm>
            <a:off x="7680960" y="4343400"/>
            <a:ext cx="12790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urier New"/>
                <a:ea typeface="Courier New"/>
              </a:rPr>
              <a:t>"Teenager"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Logical Operator: AND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285" name="Shape 1"/>
          <p:cNvSpPr/>
          <p:nvPr/>
        </p:nvSpPr>
        <p:spPr>
          <a:xfrm>
            <a:off x="914400" y="868680"/>
            <a:ext cx="7314120" cy="639000"/>
          </a:xfrm>
          <a:prstGeom prst="rect">
            <a:avLst/>
          </a:prstGeom>
          <a:solidFill>
            <a:srgbClr val="e8f5e9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2"/>
          <p:cNvSpPr/>
          <p:nvPr/>
        </p:nvSpPr>
        <p:spPr>
          <a:xfrm>
            <a:off x="1097280" y="96012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Returns TRUE only if BOTH conditions are TRUE</a:t>
            </a:r>
            <a:endParaRPr b="0" lang="en-IN" sz="15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7ae60"/>
                </a:solidFill>
                <a:latin typeface="Arial"/>
                <a:ea typeface="Arial"/>
              </a:rPr>
              <a:t>Both must pass!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914400" y="169164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Visual Concept: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1097280" y="2011680"/>
            <a:ext cx="1461960" cy="100476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5"/>
          <p:cNvSpPr/>
          <p:nvPr/>
        </p:nvSpPr>
        <p:spPr>
          <a:xfrm>
            <a:off x="1280160" y="2286000"/>
            <a:ext cx="1096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Cond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0" name="Shape 6"/>
          <p:cNvSpPr/>
          <p:nvPr/>
        </p:nvSpPr>
        <p:spPr>
          <a:xfrm>
            <a:off x="2194560" y="2011680"/>
            <a:ext cx="1461960" cy="1004760"/>
          </a:xfrm>
          <a:prstGeom prst="ellipse">
            <a:avLst/>
          </a:prstGeom>
          <a:solidFill>
            <a:srgbClr val="ffffff"/>
          </a:solidFill>
          <a:ln w="381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7"/>
          <p:cNvSpPr/>
          <p:nvPr/>
        </p:nvSpPr>
        <p:spPr>
          <a:xfrm>
            <a:off x="2377440" y="2286000"/>
            <a:ext cx="1096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Cond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2" name="Shape 8"/>
          <p:cNvSpPr/>
          <p:nvPr/>
        </p:nvSpPr>
        <p:spPr>
          <a:xfrm>
            <a:off x="1920240" y="2240280"/>
            <a:ext cx="913320" cy="54756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9"/>
          <p:cNvSpPr/>
          <p:nvPr/>
        </p:nvSpPr>
        <p:spPr>
          <a:xfrm>
            <a:off x="1920240" y="2377440"/>
            <a:ext cx="9133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BOTH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4" name="Text 10"/>
          <p:cNvSpPr/>
          <p:nvPr/>
        </p:nvSpPr>
        <p:spPr>
          <a:xfrm>
            <a:off x="1097280" y="3108960"/>
            <a:ext cx="2559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Only overlap =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Text 11"/>
          <p:cNvSpPr/>
          <p:nvPr/>
        </p:nvSpPr>
        <p:spPr>
          <a:xfrm>
            <a:off x="4572000" y="169164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2c3e50"/>
                </a:solidFill>
                <a:latin typeface="Arial"/>
                <a:ea typeface="Arial"/>
              </a:rPr>
              <a:t>Truth Table: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96" name="Shape 12"/>
          <p:cNvSpPr/>
          <p:nvPr/>
        </p:nvSpPr>
        <p:spPr>
          <a:xfrm>
            <a:off x="4754880" y="2057400"/>
            <a:ext cx="1004760" cy="410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Text 13"/>
          <p:cNvSpPr/>
          <p:nvPr/>
        </p:nvSpPr>
        <p:spPr>
          <a:xfrm>
            <a:off x="4754880" y="210312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5852160" y="2103120"/>
            <a:ext cx="547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6492240" y="2057400"/>
            <a:ext cx="1004760" cy="410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16"/>
          <p:cNvSpPr/>
          <p:nvPr/>
        </p:nvSpPr>
        <p:spPr>
          <a:xfrm>
            <a:off x="6492240" y="210312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7589520" y="2103120"/>
            <a:ext cx="273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>
            <a:off x="7955280" y="2057400"/>
            <a:ext cx="1004760" cy="41040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19"/>
          <p:cNvSpPr/>
          <p:nvPr/>
        </p:nvSpPr>
        <p:spPr>
          <a:xfrm>
            <a:off x="7955280" y="210312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4754880" y="2560320"/>
            <a:ext cx="1004760" cy="410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Text 21"/>
          <p:cNvSpPr/>
          <p:nvPr/>
        </p:nvSpPr>
        <p:spPr>
          <a:xfrm>
            <a:off x="4754880" y="260604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6" name="Text 22"/>
          <p:cNvSpPr/>
          <p:nvPr/>
        </p:nvSpPr>
        <p:spPr>
          <a:xfrm>
            <a:off x="5852160" y="2606040"/>
            <a:ext cx="547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7" name="Shape 23"/>
          <p:cNvSpPr/>
          <p:nvPr/>
        </p:nvSpPr>
        <p:spPr>
          <a:xfrm>
            <a:off x="6492240" y="2560320"/>
            <a:ext cx="1004760" cy="410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Text 24"/>
          <p:cNvSpPr/>
          <p:nvPr/>
        </p:nvSpPr>
        <p:spPr>
          <a:xfrm>
            <a:off x="6492240" y="260604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9" name="Text 25"/>
          <p:cNvSpPr/>
          <p:nvPr/>
        </p:nvSpPr>
        <p:spPr>
          <a:xfrm>
            <a:off x="7589520" y="2606040"/>
            <a:ext cx="273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0" name="Shape 26"/>
          <p:cNvSpPr/>
          <p:nvPr/>
        </p:nvSpPr>
        <p:spPr>
          <a:xfrm>
            <a:off x="7955280" y="2560320"/>
            <a:ext cx="1004760" cy="41040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 27"/>
          <p:cNvSpPr/>
          <p:nvPr/>
        </p:nvSpPr>
        <p:spPr>
          <a:xfrm>
            <a:off x="7955280" y="260604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2" name="Shape 28"/>
          <p:cNvSpPr/>
          <p:nvPr/>
        </p:nvSpPr>
        <p:spPr>
          <a:xfrm>
            <a:off x="4754880" y="3063240"/>
            <a:ext cx="1004760" cy="410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29"/>
          <p:cNvSpPr/>
          <p:nvPr/>
        </p:nvSpPr>
        <p:spPr>
          <a:xfrm>
            <a:off x="4754880" y="310896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4" name="Text 30"/>
          <p:cNvSpPr/>
          <p:nvPr/>
        </p:nvSpPr>
        <p:spPr>
          <a:xfrm>
            <a:off x="5852160" y="3108960"/>
            <a:ext cx="547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5" name="Shape 31"/>
          <p:cNvSpPr/>
          <p:nvPr/>
        </p:nvSpPr>
        <p:spPr>
          <a:xfrm>
            <a:off x="6492240" y="3063240"/>
            <a:ext cx="1004760" cy="4104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Text 32"/>
          <p:cNvSpPr/>
          <p:nvPr/>
        </p:nvSpPr>
        <p:spPr>
          <a:xfrm>
            <a:off x="6492240" y="310896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7" name="Text 33"/>
          <p:cNvSpPr/>
          <p:nvPr/>
        </p:nvSpPr>
        <p:spPr>
          <a:xfrm>
            <a:off x="7589520" y="3108960"/>
            <a:ext cx="273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8" name="Shape 34"/>
          <p:cNvSpPr/>
          <p:nvPr/>
        </p:nvSpPr>
        <p:spPr>
          <a:xfrm>
            <a:off x="7955280" y="3063240"/>
            <a:ext cx="1004760" cy="41040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Text 35"/>
          <p:cNvSpPr/>
          <p:nvPr/>
        </p:nvSpPr>
        <p:spPr>
          <a:xfrm>
            <a:off x="7955280" y="310896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0" name="Shape 36"/>
          <p:cNvSpPr/>
          <p:nvPr/>
        </p:nvSpPr>
        <p:spPr>
          <a:xfrm>
            <a:off x="4754880" y="3566160"/>
            <a:ext cx="1004760" cy="410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Text 37"/>
          <p:cNvSpPr/>
          <p:nvPr/>
        </p:nvSpPr>
        <p:spPr>
          <a:xfrm>
            <a:off x="4754880" y="361188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2" name="Text 38"/>
          <p:cNvSpPr/>
          <p:nvPr/>
        </p:nvSpPr>
        <p:spPr>
          <a:xfrm>
            <a:off x="5852160" y="3611880"/>
            <a:ext cx="547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AND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3" name="Shape 39"/>
          <p:cNvSpPr/>
          <p:nvPr/>
        </p:nvSpPr>
        <p:spPr>
          <a:xfrm>
            <a:off x="6492240" y="3566160"/>
            <a:ext cx="1004760" cy="4104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Text 40"/>
          <p:cNvSpPr/>
          <p:nvPr/>
        </p:nvSpPr>
        <p:spPr>
          <a:xfrm>
            <a:off x="6492240" y="361188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5" name="Text 41"/>
          <p:cNvSpPr/>
          <p:nvPr/>
        </p:nvSpPr>
        <p:spPr>
          <a:xfrm>
            <a:off x="7589520" y="3611880"/>
            <a:ext cx="27324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6" name="Shape 42"/>
          <p:cNvSpPr/>
          <p:nvPr/>
        </p:nvSpPr>
        <p:spPr>
          <a:xfrm>
            <a:off x="7955280" y="3566160"/>
            <a:ext cx="1004760" cy="41040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Text 43"/>
          <p:cNvSpPr/>
          <p:nvPr/>
        </p:nvSpPr>
        <p:spPr>
          <a:xfrm>
            <a:off x="7955280" y="3611880"/>
            <a:ext cx="10047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8" name="Shape 44"/>
          <p:cNvSpPr/>
          <p:nvPr/>
        </p:nvSpPr>
        <p:spPr>
          <a:xfrm>
            <a:off x="979920" y="4251240"/>
            <a:ext cx="6399720" cy="516600"/>
          </a:xfrm>
          <a:prstGeom prst="rect">
            <a:avLst/>
          </a:prstGeom>
          <a:solidFill>
            <a:srgbClr val="f5f5f5"/>
          </a:solidFill>
          <a:ln w="2556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45"/>
          <p:cNvSpPr/>
          <p:nvPr/>
        </p:nvSpPr>
        <p:spPr>
          <a:xfrm>
            <a:off x="1371600" y="3794760"/>
            <a:ext cx="63997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Example: Voting Eligibility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0" name="Text 46"/>
          <p:cNvSpPr/>
          <p:nvPr/>
        </p:nvSpPr>
        <p:spPr>
          <a:xfrm>
            <a:off x="1371600" y="4069080"/>
            <a:ext cx="63997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(age &gt;= 18) AND (nationality == "Indian")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2700000" y="4251240"/>
            <a:ext cx="22348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Example: Voting Eligibility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1980000" y="4500000"/>
            <a:ext cx="392940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2c3e50"/>
                </a:solidFill>
                <a:latin typeface="Courier New"/>
                <a:ea typeface="Courier New"/>
              </a:rPr>
              <a:t>(age &gt;= 18) AND (nationality == "Indian")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1e3a5f"/>
                </a:solidFill>
                <a:latin typeface="Arial"/>
                <a:ea typeface="Arial"/>
              </a:rPr>
              <a:t>Logical Operators: OR and NOT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34" name="Shape 1"/>
          <p:cNvSpPr/>
          <p:nvPr/>
        </p:nvSpPr>
        <p:spPr>
          <a:xfrm>
            <a:off x="914400" y="914400"/>
            <a:ext cx="7314120" cy="45612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5" name="Text 2"/>
          <p:cNvSpPr/>
          <p:nvPr/>
        </p:nvSpPr>
        <p:spPr>
          <a:xfrm>
            <a:off x="914400" y="96012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OR Operator: Returns TRUE if AT LEAST ONE condition is TRUE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914400" y="1508760"/>
            <a:ext cx="31993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Visual: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1097280" y="1783080"/>
            <a:ext cx="1187640" cy="821880"/>
          </a:xfrm>
          <a:prstGeom prst="ellipse">
            <a:avLst/>
          </a:prstGeom>
          <a:solidFill>
            <a:srgbClr val="e67e22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8" name="Text 5"/>
          <p:cNvSpPr/>
          <p:nvPr/>
        </p:nvSpPr>
        <p:spPr>
          <a:xfrm>
            <a:off x="1188720" y="2011680"/>
            <a:ext cx="1004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Cond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9" name="Shape 6"/>
          <p:cNvSpPr/>
          <p:nvPr/>
        </p:nvSpPr>
        <p:spPr>
          <a:xfrm>
            <a:off x="2011680" y="1783080"/>
            <a:ext cx="1187640" cy="821880"/>
          </a:xfrm>
          <a:prstGeom prst="ellipse">
            <a:avLst/>
          </a:prstGeom>
          <a:solidFill>
            <a:srgbClr val="e67e22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7"/>
          <p:cNvSpPr/>
          <p:nvPr/>
        </p:nvSpPr>
        <p:spPr>
          <a:xfrm>
            <a:off x="2103120" y="2011680"/>
            <a:ext cx="1004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Cond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1" name="Text 8"/>
          <p:cNvSpPr/>
          <p:nvPr/>
        </p:nvSpPr>
        <p:spPr>
          <a:xfrm>
            <a:off x="1097280" y="2697480"/>
            <a:ext cx="21020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Arial"/>
                <a:ea typeface="Arial"/>
              </a:rPr>
              <a:t>Either = TRUE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4389120" y="1508760"/>
            <a:ext cx="402228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c3e50"/>
                </a:solidFill>
                <a:latin typeface="Arial"/>
                <a:ea typeface="Arial"/>
              </a:rPr>
              <a:t>OR Truth Table: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3" name="Shape 10"/>
          <p:cNvSpPr/>
          <p:nvPr/>
        </p:nvSpPr>
        <p:spPr>
          <a:xfrm>
            <a:off x="4754880" y="1828800"/>
            <a:ext cx="821880" cy="3646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Text 11"/>
          <p:cNvSpPr/>
          <p:nvPr/>
        </p:nvSpPr>
        <p:spPr>
          <a:xfrm>
            <a:off x="4754880" y="18745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5" name="Text 12"/>
          <p:cNvSpPr/>
          <p:nvPr/>
        </p:nvSpPr>
        <p:spPr>
          <a:xfrm>
            <a:off x="5669280" y="187452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6" name="Shape 13"/>
          <p:cNvSpPr/>
          <p:nvPr/>
        </p:nvSpPr>
        <p:spPr>
          <a:xfrm>
            <a:off x="6217920" y="1828800"/>
            <a:ext cx="821880" cy="3646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7" name="Text 14"/>
          <p:cNvSpPr/>
          <p:nvPr/>
        </p:nvSpPr>
        <p:spPr>
          <a:xfrm>
            <a:off x="6217920" y="18745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8" name="Text 15"/>
          <p:cNvSpPr/>
          <p:nvPr/>
        </p:nvSpPr>
        <p:spPr>
          <a:xfrm>
            <a:off x="7132320" y="187452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9" name="Shape 16"/>
          <p:cNvSpPr/>
          <p:nvPr/>
        </p:nvSpPr>
        <p:spPr>
          <a:xfrm>
            <a:off x="7498080" y="1828800"/>
            <a:ext cx="821880" cy="36468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Text 17"/>
          <p:cNvSpPr/>
          <p:nvPr/>
        </p:nvSpPr>
        <p:spPr>
          <a:xfrm>
            <a:off x="7498080" y="187452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1" name="Shape 18"/>
          <p:cNvSpPr/>
          <p:nvPr/>
        </p:nvSpPr>
        <p:spPr>
          <a:xfrm>
            <a:off x="4754880" y="2258640"/>
            <a:ext cx="821880" cy="3646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2" name="Text 19"/>
          <p:cNvSpPr/>
          <p:nvPr/>
        </p:nvSpPr>
        <p:spPr>
          <a:xfrm>
            <a:off x="4754880" y="23043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3" name="Text 20"/>
          <p:cNvSpPr/>
          <p:nvPr/>
        </p:nvSpPr>
        <p:spPr>
          <a:xfrm>
            <a:off x="5669280" y="230436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4" name="Shape 21"/>
          <p:cNvSpPr/>
          <p:nvPr/>
        </p:nvSpPr>
        <p:spPr>
          <a:xfrm>
            <a:off x="6217920" y="2258640"/>
            <a:ext cx="821880" cy="364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5" name="Text 22"/>
          <p:cNvSpPr/>
          <p:nvPr/>
        </p:nvSpPr>
        <p:spPr>
          <a:xfrm>
            <a:off x="6217920" y="23043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6" name="Text 23"/>
          <p:cNvSpPr/>
          <p:nvPr/>
        </p:nvSpPr>
        <p:spPr>
          <a:xfrm>
            <a:off x="7132320" y="230436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7" name="Shape 24"/>
          <p:cNvSpPr/>
          <p:nvPr/>
        </p:nvSpPr>
        <p:spPr>
          <a:xfrm>
            <a:off x="7498080" y="2258640"/>
            <a:ext cx="821880" cy="36468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25"/>
          <p:cNvSpPr/>
          <p:nvPr/>
        </p:nvSpPr>
        <p:spPr>
          <a:xfrm>
            <a:off x="7498080" y="230436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9" name="Shape 26"/>
          <p:cNvSpPr/>
          <p:nvPr/>
        </p:nvSpPr>
        <p:spPr>
          <a:xfrm>
            <a:off x="4754880" y="2688480"/>
            <a:ext cx="821880" cy="364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0" name="Text 27"/>
          <p:cNvSpPr/>
          <p:nvPr/>
        </p:nvSpPr>
        <p:spPr>
          <a:xfrm>
            <a:off x="4754880" y="273420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1" name="Text 28"/>
          <p:cNvSpPr/>
          <p:nvPr/>
        </p:nvSpPr>
        <p:spPr>
          <a:xfrm>
            <a:off x="5669280" y="273420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2" name="Shape 29"/>
          <p:cNvSpPr/>
          <p:nvPr/>
        </p:nvSpPr>
        <p:spPr>
          <a:xfrm>
            <a:off x="6217920" y="2688480"/>
            <a:ext cx="821880" cy="36468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30"/>
          <p:cNvSpPr/>
          <p:nvPr/>
        </p:nvSpPr>
        <p:spPr>
          <a:xfrm>
            <a:off x="6217920" y="273420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4" name="Text 31"/>
          <p:cNvSpPr/>
          <p:nvPr/>
        </p:nvSpPr>
        <p:spPr>
          <a:xfrm>
            <a:off x="7132320" y="273420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5" name="Shape 32"/>
          <p:cNvSpPr/>
          <p:nvPr/>
        </p:nvSpPr>
        <p:spPr>
          <a:xfrm>
            <a:off x="7498080" y="2688480"/>
            <a:ext cx="821880" cy="36468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6" name="Text 33"/>
          <p:cNvSpPr/>
          <p:nvPr/>
        </p:nvSpPr>
        <p:spPr>
          <a:xfrm>
            <a:off x="7498080" y="273420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67" name="Shape 34"/>
          <p:cNvSpPr/>
          <p:nvPr/>
        </p:nvSpPr>
        <p:spPr>
          <a:xfrm>
            <a:off x="4754880" y="3117960"/>
            <a:ext cx="821880" cy="364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35"/>
          <p:cNvSpPr/>
          <p:nvPr/>
        </p:nvSpPr>
        <p:spPr>
          <a:xfrm>
            <a:off x="4754880" y="316368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9" name="Text 36"/>
          <p:cNvSpPr/>
          <p:nvPr/>
        </p:nvSpPr>
        <p:spPr>
          <a:xfrm>
            <a:off x="5669280" y="3163680"/>
            <a:ext cx="4561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2c3e50"/>
                </a:solidFill>
                <a:latin typeface="Arial"/>
                <a:ea typeface="Arial"/>
              </a:rPr>
              <a:t>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0" name="Shape 37"/>
          <p:cNvSpPr/>
          <p:nvPr/>
        </p:nvSpPr>
        <p:spPr>
          <a:xfrm>
            <a:off x="6217920" y="3117960"/>
            <a:ext cx="821880" cy="36468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Text 38"/>
          <p:cNvSpPr/>
          <p:nvPr/>
        </p:nvSpPr>
        <p:spPr>
          <a:xfrm>
            <a:off x="6217920" y="316368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72" name="Text 39"/>
          <p:cNvSpPr/>
          <p:nvPr/>
        </p:nvSpPr>
        <p:spPr>
          <a:xfrm>
            <a:off x="7132320" y="3163680"/>
            <a:ext cx="2732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2c3e50"/>
                </a:solidFill>
                <a:latin typeface="Arial"/>
                <a:ea typeface="Arial"/>
              </a:rPr>
              <a:t>=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3" name="Shape 40"/>
          <p:cNvSpPr/>
          <p:nvPr/>
        </p:nvSpPr>
        <p:spPr>
          <a:xfrm>
            <a:off x="7498080" y="3117960"/>
            <a:ext cx="821880" cy="36468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41"/>
          <p:cNvSpPr/>
          <p:nvPr/>
        </p:nvSpPr>
        <p:spPr>
          <a:xfrm>
            <a:off x="7498080" y="3163680"/>
            <a:ext cx="8218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75" name="Shape 42"/>
          <p:cNvSpPr/>
          <p:nvPr/>
        </p:nvSpPr>
        <p:spPr>
          <a:xfrm>
            <a:off x="900000" y="3780000"/>
            <a:ext cx="7314120" cy="456120"/>
          </a:xfrm>
          <a:prstGeom prst="rect">
            <a:avLst/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43"/>
          <p:cNvSpPr/>
          <p:nvPr/>
        </p:nvSpPr>
        <p:spPr>
          <a:xfrm>
            <a:off x="1980000" y="3949200"/>
            <a:ext cx="52196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Arial"/>
                <a:ea typeface="Arial"/>
              </a:rPr>
              <a:t>NOT Operator: Reverses the boolean value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77" name="Shape 44"/>
          <p:cNvSpPr/>
          <p:nvPr/>
        </p:nvSpPr>
        <p:spPr>
          <a:xfrm>
            <a:off x="2340000" y="4449240"/>
            <a:ext cx="1279080" cy="410400"/>
          </a:xfrm>
          <a:prstGeom prst="rect">
            <a:avLst/>
          </a:prstGeom>
          <a:solidFill>
            <a:srgbClr val="27ae60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45"/>
          <p:cNvSpPr/>
          <p:nvPr/>
        </p:nvSpPr>
        <p:spPr>
          <a:xfrm>
            <a:off x="2340000" y="4494960"/>
            <a:ext cx="127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TRUE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79" name="Text 46"/>
          <p:cNvSpPr/>
          <p:nvPr/>
        </p:nvSpPr>
        <p:spPr>
          <a:xfrm>
            <a:off x="3711600" y="4494960"/>
            <a:ext cx="547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9b59b6"/>
                </a:solidFill>
                <a:latin typeface="Arial"/>
                <a:ea typeface="Arial"/>
              </a:rPr>
              <a:t>NOT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80" name="Shape 47"/>
          <p:cNvSpPr/>
          <p:nvPr/>
        </p:nvSpPr>
        <p:spPr>
          <a:xfrm>
            <a:off x="4351680" y="4604760"/>
            <a:ext cx="364680" cy="136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b59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Shape 48"/>
          <p:cNvSpPr/>
          <p:nvPr/>
        </p:nvSpPr>
        <p:spPr>
          <a:xfrm>
            <a:off x="4808880" y="4449240"/>
            <a:ext cx="1279080" cy="410400"/>
          </a:xfrm>
          <a:prstGeom prst="rect">
            <a:avLst/>
          </a:prstGeom>
          <a:solidFill>
            <a:srgbClr val="e74c3c"/>
          </a:solidFill>
          <a:ln w="25560">
            <a:solidFill>
              <a:srgbClr val="2c3e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2" name="Text 49"/>
          <p:cNvSpPr/>
          <p:nvPr/>
        </p:nvSpPr>
        <p:spPr>
          <a:xfrm>
            <a:off x="4808880" y="4494960"/>
            <a:ext cx="12790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FALSE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Text 0"/>
          <p:cNvSpPr/>
          <p:nvPr/>
        </p:nvSpPr>
        <p:spPr>
          <a:xfrm>
            <a:off x="457200" y="2743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1e3a5f"/>
                </a:solidFill>
                <a:latin typeface="Arial"/>
                <a:ea typeface="Arial"/>
              </a:rPr>
              <a:t>Python Indentation Rules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384" name="Shape 1"/>
          <p:cNvSpPr/>
          <p:nvPr/>
        </p:nvSpPr>
        <p:spPr>
          <a:xfrm>
            <a:off x="914400" y="868680"/>
            <a:ext cx="7314120" cy="639000"/>
          </a:xfrm>
          <a:prstGeom prst="rect">
            <a:avLst/>
          </a:prstGeom>
          <a:solidFill>
            <a:srgbClr val="ffebee"/>
          </a:solidFill>
          <a:ln w="38160">
            <a:solidFill>
              <a:srgbClr val="e74c3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5" name="Text 2"/>
          <p:cNvSpPr/>
          <p:nvPr/>
        </p:nvSpPr>
        <p:spPr>
          <a:xfrm>
            <a:off x="1097280" y="960120"/>
            <a:ext cx="6948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Python uses INDENTATION to define code blocks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e74c3c"/>
                </a:solidFill>
                <a:latin typeface="Arial"/>
                <a:ea typeface="Arial"/>
              </a:rPr>
              <a:t>Standard: 4 spaces or 1 tab per indentation level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86" name="Shape 3"/>
          <p:cNvSpPr/>
          <p:nvPr/>
        </p:nvSpPr>
        <p:spPr>
          <a:xfrm>
            <a:off x="914400" y="1691640"/>
            <a:ext cx="3656520" cy="45612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Text 4"/>
          <p:cNvSpPr/>
          <p:nvPr/>
        </p:nvSpPr>
        <p:spPr>
          <a:xfrm>
            <a:off x="914400" y="173736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✓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CORRECT Indentation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88" name="Shape 5"/>
          <p:cNvSpPr/>
          <p:nvPr/>
        </p:nvSpPr>
        <p:spPr>
          <a:xfrm>
            <a:off x="914400" y="2240280"/>
            <a:ext cx="3656520" cy="1827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Text 6"/>
          <p:cNvSpPr/>
          <p:nvPr/>
        </p:nvSpPr>
        <p:spPr>
          <a:xfrm>
            <a:off x="1097280" y="2377440"/>
            <a:ext cx="329076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score = 85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if score &gt;= 60: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print("Pass")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print("Good")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8c379"/>
                </a:solidFill>
                <a:latin typeface="Courier New"/>
                <a:ea typeface="Courier New"/>
              </a:rPr>
              <a:t>print("Done")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1097280" y="4160520"/>
            <a:ext cx="329076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✓ </a:t>
            </a:r>
            <a:r>
              <a:rPr b="0" i="1" lang="en-US" sz="1200" spc="-1" strike="noStrike">
                <a:solidFill>
                  <a:srgbClr val="27ae60"/>
                </a:solidFill>
                <a:latin typeface="Arial"/>
                <a:ea typeface="Arial"/>
              </a:rPr>
              <a:t>Consistent 4-space indentation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1" name="Shape 8"/>
          <p:cNvSpPr/>
          <p:nvPr/>
        </p:nvSpPr>
        <p:spPr>
          <a:xfrm>
            <a:off x="4572000" y="1691640"/>
            <a:ext cx="3656520" cy="4561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Text 9"/>
          <p:cNvSpPr/>
          <p:nvPr/>
        </p:nvSpPr>
        <p:spPr>
          <a:xfrm>
            <a:off x="4572000" y="1737360"/>
            <a:ext cx="3656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✗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INCORRECT Indentation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93" name="Shape 10"/>
          <p:cNvSpPr/>
          <p:nvPr/>
        </p:nvSpPr>
        <p:spPr>
          <a:xfrm>
            <a:off x="4572000" y="2240280"/>
            <a:ext cx="3656520" cy="1827720"/>
          </a:xfrm>
          <a:prstGeom prst="rect">
            <a:avLst/>
          </a:prstGeom>
          <a:solidFill>
            <a:srgbClr val="282c3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Text 11"/>
          <p:cNvSpPr/>
          <p:nvPr/>
        </p:nvSpPr>
        <p:spPr>
          <a:xfrm>
            <a:off x="4754880" y="2377440"/>
            <a:ext cx="329076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score = 85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if score &gt;= 60: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print("Pass")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  </a:t>
            </a: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print("Good")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06c75"/>
                </a:solidFill>
                <a:latin typeface="Courier New"/>
                <a:ea typeface="Courier New"/>
              </a:rPr>
              <a:t>print("Done")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95" name="Shape 12"/>
          <p:cNvSpPr/>
          <p:nvPr/>
        </p:nvSpPr>
        <p:spPr>
          <a:xfrm>
            <a:off x="5029200" y="4160520"/>
            <a:ext cx="2742120" cy="27324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6" name="Text 13"/>
          <p:cNvSpPr/>
          <p:nvPr/>
        </p:nvSpPr>
        <p:spPr>
          <a:xfrm>
            <a:off x="5029200" y="4187880"/>
            <a:ext cx="2742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ourier New"/>
                <a:ea typeface="Courier New"/>
              </a:rPr>
              <a:t>IndentationError!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 0"/>
          <p:cNvSpPr/>
          <p:nvPr/>
        </p:nvSpPr>
        <p:spPr>
          <a:xfrm>
            <a:off x="457200" y="457200"/>
            <a:ext cx="8228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Arial"/>
                <a:ea typeface="Arial"/>
              </a:rPr>
              <a:t>Key Takeaways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398" name="Shape 1"/>
          <p:cNvSpPr/>
          <p:nvPr/>
        </p:nvSpPr>
        <p:spPr>
          <a:xfrm>
            <a:off x="1097280" y="125280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9" name="Text 2"/>
          <p:cNvSpPr/>
          <p:nvPr/>
        </p:nvSpPr>
        <p:spPr>
          <a:xfrm>
            <a:off x="1097280" y="12528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1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00" name="Text 3"/>
          <p:cNvSpPr/>
          <p:nvPr/>
        </p:nvSpPr>
        <p:spPr>
          <a:xfrm>
            <a:off x="1554480" y="128016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if: Execute code only when condition is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1" name="Shape 4"/>
          <p:cNvSpPr/>
          <p:nvPr/>
        </p:nvSpPr>
        <p:spPr>
          <a:xfrm>
            <a:off x="1097280" y="161856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2" name="Text 5"/>
          <p:cNvSpPr/>
          <p:nvPr/>
        </p:nvSpPr>
        <p:spPr>
          <a:xfrm>
            <a:off x="1097280" y="16185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2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03" name="Text 6"/>
          <p:cNvSpPr/>
          <p:nvPr/>
        </p:nvSpPr>
        <p:spPr>
          <a:xfrm>
            <a:off x="1554480" y="164592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if-else: Choose between two execution paths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1097280" y="198432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8"/>
          <p:cNvSpPr/>
          <p:nvPr/>
        </p:nvSpPr>
        <p:spPr>
          <a:xfrm>
            <a:off x="1097280" y="19843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3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06" name="Text 9"/>
          <p:cNvSpPr/>
          <p:nvPr/>
        </p:nvSpPr>
        <p:spPr>
          <a:xfrm>
            <a:off x="1554480" y="201168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if-elif-else: Check multiple conditions in sequence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7" name="Shape 10"/>
          <p:cNvSpPr/>
          <p:nvPr/>
        </p:nvSpPr>
        <p:spPr>
          <a:xfrm>
            <a:off x="1097280" y="235008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8" name="Text 11"/>
          <p:cNvSpPr/>
          <p:nvPr/>
        </p:nvSpPr>
        <p:spPr>
          <a:xfrm>
            <a:off x="1097280" y="235008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4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09" name="Text 12"/>
          <p:cNvSpPr/>
          <p:nvPr/>
        </p:nvSpPr>
        <p:spPr>
          <a:xfrm>
            <a:off x="1554480" y="237744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AND: Both conditions must be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1097280" y="271584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1" name="Text 14"/>
          <p:cNvSpPr/>
          <p:nvPr/>
        </p:nvSpPr>
        <p:spPr>
          <a:xfrm>
            <a:off x="1097280" y="271584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5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12" name="Text 15"/>
          <p:cNvSpPr/>
          <p:nvPr/>
        </p:nvSpPr>
        <p:spPr>
          <a:xfrm>
            <a:off x="1554480" y="274320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OR: At least ONE condition must be TRUE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3" name="Shape 16"/>
          <p:cNvSpPr/>
          <p:nvPr/>
        </p:nvSpPr>
        <p:spPr>
          <a:xfrm>
            <a:off x="1097280" y="308160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Text 17"/>
          <p:cNvSpPr/>
          <p:nvPr/>
        </p:nvSpPr>
        <p:spPr>
          <a:xfrm>
            <a:off x="1097280" y="308160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6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15" name="Text 18"/>
          <p:cNvSpPr/>
          <p:nvPr/>
        </p:nvSpPr>
        <p:spPr>
          <a:xfrm>
            <a:off x="1554480" y="310896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NOT: Reverses boolean value (TRUE ↔ FALSE)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6" name="Shape 19"/>
          <p:cNvSpPr/>
          <p:nvPr/>
        </p:nvSpPr>
        <p:spPr>
          <a:xfrm>
            <a:off x="1097280" y="344736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7" name="Text 20"/>
          <p:cNvSpPr/>
          <p:nvPr/>
        </p:nvSpPr>
        <p:spPr>
          <a:xfrm>
            <a:off x="1097280" y="344736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7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18" name="Text 21"/>
          <p:cNvSpPr/>
          <p:nvPr/>
        </p:nvSpPr>
        <p:spPr>
          <a:xfrm>
            <a:off x="1554480" y="347472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Indentation: Mandatory in Python (4 spaces or 1 tab)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9" name="Shape 22"/>
          <p:cNvSpPr/>
          <p:nvPr/>
        </p:nvSpPr>
        <p:spPr>
          <a:xfrm>
            <a:off x="1097280" y="3813120"/>
            <a:ext cx="318960" cy="318960"/>
          </a:xfrm>
          <a:prstGeom prst="ellipse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23"/>
          <p:cNvSpPr/>
          <p:nvPr/>
        </p:nvSpPr>
        <p:spPr>
          <a:xfrm>
            <a:off x="1097280" y="3813120"/>
            <a:ext cx="3189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2c3e50"/>
                </a:solidFill>
                <a:latin typeface="Arial"/>
                <a:ea typeface="Arial"/>
              </a:rPr>
              <a:t>8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21" name="Text 24"/>
          <p:cNvSpPr/>
          <p:nvPr/>
        </p:nvSpPr>
        <p:spPr>
          <a:xfrm>
            <a:off x="1554480" y="3840480"/>
            <a:ext cx="621684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Arial"/>
                <a:ea typeface="Arial"/>
              </a:rPr>
              <a:t>Only ONE block executes in if-elif-else chain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22" name="Text 25"/>
          <p:cNvSpPr/>
          <p:nvPr/>
        </p:nvSpPr>
        <p:spPr>
          <a:xfrm>
            <a:off x="457200" y="4114800"/>
            <a:ext cx="8228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ffd43b"/>
                </a:solidFill>
                <a:latin typeface="Arial"/>
                <a:ea typeface="Arial"/>
              </a:rPr>
              <a:t>Practice makes perfect! 🐍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LibreOffice/7.3.7.2$Linux_X86_64 LibreOffice_project/30$Build-2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2026-02-02T13:48:39Z</dcterms:created>
  <dc:creator>Python Training Series</dc:creator>
  <dc:description/>
  <dc:language>en-IN</dc:language>
  <cp:lastModifiedBy/>
  <dcterms:modified xsi:type="dcterms:W3CDTF">2026-02-10T15:50:09Z</dcterms:modified>
  <cp:revision>4</cp:revision>
  <dc:subject>PptxGenJS Presentation</dc:subject>
  <dc:title>Python Decision Control Instructions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