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li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k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o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m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o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v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h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s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li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d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0F773A58-DF40-4657-874E-FBA406D96C79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7AD0E8F-3559-48E8-9838-C767CCA4183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4667C7F-1A4A-49A0-A356-451AEEE04A9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8DA7D93-03ED-4757-9823-31FA3CBE36A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EE3FFF9-5924-4EE7-AFF4-7E74B42BFDE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19701F8-1B6D-4C20-8063-9721A9D3A47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5096AAE-ABC7-4248-BFDB-58B4DEF6128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118DEF2-6BA9-4805-85BB-DF4AF52715D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ADD3B59-EF06-449B-A720-AA4DB55F45C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E4E9689-68C0-43DE-828F-855DF75B46C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57200" y="164592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Arial"/>
                <a:ea typeface="Arial"/>
              </a:rPr>
              <a:t>Repetition Control</a:t>
            </a:r>
            <a:endParaRPr b="0" lang="en-IN" sz="4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Arial"/>
                <a:ea typeface="Arial"/>
              </a:rPr>
              <a:t>Instructions</a:t>
            </a:r>
            <a:endParaRPr b="0" lang="en-IN" sz="4800" spc="-1" strike="noStrike"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457200" y="27432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ffd43b"/>
                </a:solidFill>
                <a:latin typeface="Arial"/>
                <a:ea typeface="Arial"/>
              </a:rPr>
              <a:t>while &amp; for Loops in Python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457200" y="36576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cccccc"/>
                </a:solidFill>
                <a:latin typeface="Arial"/>
                <a:ea typeface="Arial"/>
              </a:rPr>
              <a:t>Python Programming - Lesson 6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1e3a5f"/>
                </a:solidFill>
                <a:latin typeface="Arial"/>
                <a:ea typeface="Arial"/>
              </a:rPr>
              <a:t>What are Repetition Control Instructions?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48" name="Shape 1"/>
          <p:cNvSpPr/>
          <p:nvPr/>
        </p:nvSpPr>
        <p:spPr>
          <a:xfrm>
            <a:off x="914400" y="914400"/>
            <a:ext cx="7314840" cy="731160"/>
          </a:xfrm>
          <a:prstGeom prst="rect">
            <a:avLst/>
          </a:prstGeom>
          <a:solidFill>
            <a:srgbClr val="e3f2fd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Text 2"/>
          <p:cNvSpPr/>
          <p:nvPr/>
        </p:nvSpPr>
        <p:spPr>
          <a:xfrm>
            <a:off x="1097280" y="1051560"/>
            <a:ext cx="6949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306998"/>
                </a:solidFill>
                <a:latin typeface="Arial"/>
                <a:ea typeface="Arial"/>
              </a:rPr>
              <a:t>Program statements that execute repeatedly.</a:t>
            </a:r>
            <a:endParaRPr b="0" lang="en-IN" sz="15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306998"/>
                </a:solidFill>
                <a:latin typeface="Arial"/>
                <a:ea typeface="Arial"/>
              </a:rPr>
              <a:t>Repetition Control Instructions allow code to run multiple times.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50" name="Shape 3"/>
          <p:cNvSpPr/>
          <p:nvPr/>
        </p:nvSpPr>
        <p:spPr>
          <a:xfrm>
            <a:off x="914400" y="1828800"/>
            <a:ext cx="7314840" cy="456840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Text 4"/>
          <p:cNvSpPr/>
          <p:nvPr/>
        </p:nvSpPr>
        <p:spPr>
          <a:xfrm>
            <a:off x="914400" y="187452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Arial"/>
              </a:rPr>
              <a:t>Two Types of Repetition Control Instructions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2" name="Shape 5"/>
          <p:cNvSpPr/>
          <p:nvPr/>
        </p:nvSpPr>
        <p:spPr>
          <a:xfrm>
            <a:off x="1371600" y="2468880"/>
            <a:ext cx="3200040" cy="1371240"/>
          </a:xfrm>
          <a:prstGeom prst="rect">
            <a:avLst/>
          </a:prstGeom>
          <a:solidFill>
            <a:srgbClr val="e8f5e9"/>
          </a:solidFill>
          <a:ln w="381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 6"/>
          <p:cNvSpPr/>
          <p:nvPr/>
        </p:nvSpPr>
        <p:spPr>
          <a:xfrm>
            <a:off x="1371600" y="260604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27ae60"/>
                </a:solidFill>
                <a:latin typeface="Arial"/>
                <a:ea typeface="Arial"/>
              </a:rPr>
              <a:t>❶ </a:t>
            </a:r>
            <a:r>
              <a:rPr b="1" lang="en-US" sz="2000" spc="-1" strike="noStrike">
                <a:solidFill>
                  <a:srgbClr val="27ae60"/>
                </a:solidFill>
                <a:latin typeface="Arial"/>
                <a:ea typeface="Arial"/>
              </a:rPr>
              <a:t>while Loop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54" name="Text 7"/>
          <p:cNvSpPr/>
          <p:nvPr/>
        </p:nvSpPr>
        <p:spPr>
          <a:xfrm>
            <a:off x="1554480" y="3017520"/>
            <a:ext cx="2834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Repeats statements while</a:t>
            </a:r>
            <a:endParaRPr b="0" lang="en-IN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a condition is TRUE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5" name="Shape 8"/>
          <p:cNvSpPr/>
          <p:nvPr/>
        </p:nvSpPr>
        <p:spPr>
          <a:xfrm>
            <a:off x="4572000" y="2468880"/>
            <a:ext cx="3200040" cy="1371240"/>
          </a:xfrm>
          <a:prstGeom prst="rect">
            <a:avLst/>
          </a:prstGeom>
          <a:solidFill>
            <a:srgbClr val="fff3e0"/>
          </a:solidFill>
          <a:ln w="381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Text 9"/>
          <p:cNvSpPr/>
          <p:nvPr/>
        </p:nvSpPr>
        <p:spPr>
          <a:xfrm>
            <a:off x="4572000" y="2606040"/>
            <a:ext cx="3200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e67e22"/>
                </a:solidFill>
                <a:latin typeface="Arial"/>
                <a:ea typeface="Arial"/>
              </a:rPr>
              <a:t>❷ </a:t>
            </a:r>
            <a:r>
              <a:rPr b="1" lang="en-US" sz="2000" spc="-1" strike="noStrike">
                <a:solidFill>
                  <a:srgbClr val="e67e22"/>
                </a:solidFill>
                <a:latin typeface="Arial"/>
                <a:ea typeface="Arial"/>
              </a:rPr>
              <a:t>for Loop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57" name="Text 10"/>
          <p:cNvSpPr/>
          <p:nvPr/>
        </p:nvSpPr>
        <p:spPr>
          <a:xfrm>
            <a:off x="4754880" y="3017520"/>
            <a:ext cx="2834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Iterates through sequences</a:t>
            </a:r>
            <a:endParaRPr b="0" lang="en-IN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(string, list, tuple, etc.)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8" name="Text 11"/>
          <p:cNvSpPr/>
          <p:nvPr/>
        </p:nvSpPr>
        <p:spPr>
          <a:xfrm>
            <a:off x="914400" y="4114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Also known as: Loops or Iterative Statements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The while Loop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60" name="Shape 1"/>
          <p:cNvSpPr/>
          <p:nvPr/>
        </p:nvSpPr>
        <p:spPr>
          <a:xfrm>
            <a:off x="640080" y="914400"/>
            <a:ext cx="4114440" cy="45684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 2"/>
          <p:cNvSpPr/>
          <p:nvPr/>
        </p:nvSpPr>
        <p:spPr>
          <a:xfrm>
            <a:off x="640080" y="96012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Syntax &amp; Example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2" name="Shape 3"/>
          <p:cNvSpPr/>
          <p:nvPr/>
        </p:nvSpPr>
        <p:spPr>
          <a:xfrm>
            <a:off x="640080" y="1463040"/>
            <a:ext cx="4114440" cy="301716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Text 4"/>
          <p:cNvSpPr/>
          <p:nvPr/>
        </p:nvSpPr>
        <p:spPr>
          <a:xfrm>
            <a:off x="822960" y="1600200"/>
            <a:ext cx="374868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Syntax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while condition: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statement1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statement2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Example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count = 0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while count &lt; 5: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print(count)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count = count + 1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print("Done!")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4" name="Shape 5"/>
          <p:cNvSpPr/>
          <p:nvPr/>
        </p:nvSpPr>
        <p:spPr>
          <a:xfrm>
            <a:off x="5029200" y="914400"/>
            <a:ext cx="3474360" cy="456840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Text 6"/>
          <p:cNvSpPr/>
          <p:nvPr/>
        </p:nvSpPr>
        <p:spPr>
          <a:xfrm>
            <a:off x="5029200" y="96012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Flowchart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6" name="Shape 7"/>
          <p:cNvSpPr/>
          <p:nvPr/>
        </p:nvSpPr>
        <p:spPr>
          <a:xfrm>
            <a:off x="5852160" y="1554480"/>
            <a:ext cx="1828440" cy="365400"/>
          </a:xfrm>
          <a:prstGeom prst="roundRect">
            <a:avLst>
              <a:gd name="adj" fmla="val 16667"/>
            </a:avLst>
          </a:prstGeom>
          <a:solidFill>
            <a:srgbClr val="306998"/>
          </a:solidFill>
          <a:ln w="2540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Text 8"/>
          <p:cNvSpPr/>
          <p:nvPr/>
        </p:nvSpPr>
        <p:spPr>
          <a:xfrm>
            <a:off x="5852160" y="1618560"/>
            <a:ext cx="18284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START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8" name="Shape 9"/>
          <p:cNvSpPr/>
          <p:nvPr/>
        </p:nvSpPr>
        <p:spPr>
          <a:xfrm>
            <a:off x="6693480" y="1947600"/>
            <a:ext cx="145800" cy="1094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Shape 10"/>
          <p:cNvSpPr/>
          <p:nvPr/>
        </p:nvSpPr>
        <p:spPr>
          <a:xfrm>
            <a:off x="5669280" y="2103120"/>
            <a:ext cx="2194200" cy="639720"/>
          </a:xfrm>
          <a:prstGeom prst="diamond">
            <a:avLst/>
          </a:prstGeom>
          <a:solidFill>
            <a:srgbClr val="ffd43b"/>
          </a:solidFill>
          <a:ln w="3810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Text 11"/>
          <p:cNvSpPr/>
          <p:nvPr/>
        </p:nvSpPr>
        <p:spPr>
          <a:xfrm>
            <a:off x="5669280" y="228600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Condition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TRUE?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1" name="Shape 12"/>
          <p:cNvSpPr/>
          <p:nvPr/>
        </p:nvSpPr>
        <p:spPr>
          <a:xfrm>
            <a:off x="6693480" y="2770560"/>
            <a:ext cx="145800" cy="1094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Text 13"/>
          <p:cNvSpPr/>
          <p:nvPr/>
        </p:nvSpPr>
        <p:spPr>
          <a:xfrm>
            <a:off x="6858000" y="2788920"/>
            <a:ext cx="54828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27ae60"/>
                </a:solidFill>
                <a:latin typeface="Arial"/>
                <a:ea typeface="Arial"/>
              </a:rPr>
              <a:t>TRUE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3" name="Shape 14"/>
          <p:cNvSpPr/>
          <p:nvPr/>
        </p:nvSpPr>
        <p:spPr>
          <a:xfrm>
            <a:off x="5943600" y="2926080"/>
            <a:ext cx="1645560" cy="456840"/>
          </a:xfrm>
          <a:prstGeom prst="rect">
            <a:avLst/>
          </a:prstGeom>
          <a:solidFill>
            <a:srgbClr val="27ae60"/>
          </a:solidFill>
          <a:ln w="2540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Text 15"/>
          <p:cNvSpPr/>
          <p:nvPr/>
        </p:nvSpPr>
        <p:spPr>
          <a:xfrm>
            <a:off x="5943600" y="297180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Execute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statements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5" name="Shape 16"/>
          <p:cNvSpPr/>
          <p:nvPr/>
        </p:nvSpPr>
        <p:spPr>
          <a:xfrm>
            <a:off x="6766560" y="3383280"/>
            <a:ext cx="360" cy="182880"/>
          </a:xfrm>
          <a:prstGeom prst="line">
            <a:avLst/>
          </a:prstGeom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Shape 17"/>
          <p:cNvSpPr/>
          <p:nvPr/>
        </p:nvSpPr>
        <p:spPr>
          <a:xfrm flipH="1">
            <a:off x="5394960" y="3566160"/>
            <a:ext cx="1371600" cy="360"/>
          </a:xfrm>
          <a:prstGeom prst="line">
            <a:avLst/>
          </a:prstGeom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Shape 18"/>
          <p:cNvSpPr/>
          <p:nvPr/>
        </p:nvSpPr>
        <p:spPr>
          <a:xfrm>
            <a:off x="5394960" y="2423160"/>
            <a:ext cx="360" cy="1143000"/>
          </a:xfrm>
          <a:prstGeom prst="line">
            <a:avLst/>
          </a:prstGeom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Shape 19"/>
          <p:cNvSpPr/>
          <p:nvPr/>
        </p:nvSpPr>
        <p:spPr>
          <a:xfrm>
            <a:off x="5550480" y="2395800"/>
            <a:ext cx="118440" cy="9108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Shape 20"/>
          <p:cNvSpPr/>
          <p:nvPr/>
        </p:nvSpPr>
        <p:spPr>
          <a:xfrm>
            <a:off x="7863840" y="2423160"/>
            <a:ext cx="457200" cy="360"/>
          </a:xfrm>
          <a:prstGeom prst="line">
            <a:avLst/>
          </a:prstGeom>
          <a:ln w="381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Shape 21"/>
          <p:cNvSpPr/>
          <p:nvPr/>
        </p:nvSpPr>
        <p:spPr>
          <a:xfrm>
            <a:off x="8293680" y="2377440"/>
            <a:ext cx="118440" cy="910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Text 22"/>
          <p:cNvSpPr/>
          <p:nvPr/>
        </p:nvSpPr>
        <p:spPr>
          <a:xfrm>
            <a:off x="7909560" y="2286000"/>
            <a:ext cx="45684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e74c3c"/>
                </a:solidFill>
                <a:latin typeface="Arial"/>
                <a:ea typeface="Arial"/>
              </a:rPr>
              <a:t>FALSE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2" name="Shape 23"/>
          <p:cNvSpPr/>
          <p:nvPr/>
        </p:nvSpPr>
        <p:spPr>
          <a:xfrm>
            <a:off x="8321040" y="2423160"/>
            <a:ext cx="360" cy="1645920"/>
          </a:xfrm>
          <a:prstGeom prst="line">
            <a:avLst/>
          </a:prstGeom>
          <a:ln w="254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Shape 24"/>
          <p:cNvSpPr/>
          <p:nvPr/>
        </p:nvSpPr>
        <p:spPr>
          <a:xfrm>
            <a:off x="5852160" y="4114800"/>
            <a:ext cx="1828440" cy="365400"/>
          </a:xfrm>
          <a:prstGeom prst="roundRect">
            <a:avLst>
              <a:gd name="adj" fmla="val 16667"/>
            </a:avLst>
          </a:prstGeom>
          <a:solidFill>
            <a:srgbClr val="306998"/>
          </a:solidFill>
          <a:ln w="2540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Text 25"/>
          <p:cNvSpPr/>
          <p:nvPr/>
        </p:nvSpPr>
        <p:spPr>
          <a:xfrm>
            <a:off x="5852160" y="4178880"/>
            <a:ext cx="182844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END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5" name="Shape 26"/>
          <p:cNvSpPr/>
          <p:nvPr/>
        </p:nvSpPr>
        <p:spPr>
          <a:xfrm>
            <a:off x="6766560" y="4069080"/>
            <a:ext cx="1554480" cy="360"/>
          </a:xfrm>
          <a:prstGeom prst="line">
            <a:avLst/>
          </a:prstGeom>
          <a:ln w="2540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Shape 27"/>
          <p:cNvSpPr/>
          <p:nvPr/>
        </p:nvSpPr>
        <p:spPr>
          <a:xfrm>
            <a:off x="6693480" y="4041720"/>
            <a:ext cx="145800" cy="1184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1e3a5f"/>
                </a:solidFill>
                <a:latin typeface="Arial"/>
                <a:ea typeface="Arial"/>
              </a:rPr>
              <a:t>while Loop - Example Walkthrough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88" name="Shape 1"/>
          <p:cNvSpPr/>
          <p:nvPr/>
        </p:nvSpPr>
        <p:spPr>
          <a:xfrm>
            <a:off x="914400" y="914400"/>
            <a:ext cx="7314840" cy="45684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Text 2"/>
          <p:cNvSpPr/>
          <p:nvPr/>
        </p:nvSpPr>
        <p:spPr>
          <a:xfrm>
            <a:off x="914400" y="10058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7ae60"/>
                </a:solidFill>
                <a:latin typeface="Arial"/>
                <a:ea typeface="Arial"/>
              </a:rPr>
              <a:t>Example: Print numbers 0 to 4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90" name="Shape 3"/>
          <p:cNvSpPr/>
          <p:nvPr/>
        </p:nvSpPr>
        <p:spPr>
          <a:xfrm>
            <a:off x="1371600" y="1554480"/>
            <a:ext cx="3200040" cy="137124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Text 4"/>
          <p:cNvSpPr/>
          <p:nvPr/>
        </p:nvSpPr>
        <p:spPr>
          <a:xfrm>
            <a:off x="1554480" y="1691640"/>
            <a:ext cx="28342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count = 0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while count &lt; 5: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print(count)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count = count + 1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2" name="Text 5"/>
          <p:cNvSpPr/>
          <p:nvPr/>
        </p:nvSpPr>
        <p:spPr>
          <a:xfrm>
            <a:off x="5029200" y="155448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Execution Steps: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93" name="Shape 6"/>
          <p:cNvSpPr/>
          <p:nvPr/>
        </p:nvSpPr>
        <p:spPr>
          <a:xfrm>
            <a:off x="5029200" y="1920240"/>
            <a:ext cx="1188360" cy="365400"/>
          </a:xfrm>
          <a:prstGeom prst="rect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Text 7"/>
          <p:cNvSpPr/>
          <p:nvPr/>
        </p:nvSpPr>
        <p:spPr>
          <a:xfrm>
            <a:off x="5029200" y="1965960"/>
            <a:ext cx="118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Iteration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5" name="Shape 8"/>
          <p:cNvSpPr/>
          <p:nvPr/>
        </p:nvSpPr>
        <p:spPr>
          <a:xfrm>
            <a:off x="6217920" y="1920240"/>
            <a:ext cx="1188360" cy="365400"/>
          </a:xfrm>
          <a:prstGeom prst="rect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9"/>
          <p:cNvSpPr/>
          <p:nvPr/>
        </p:nvSpPr>
        <p:spPr>
          <a:xfrm>
            <a:off x="6217920" y="1965960"/>
            <a:ext cx="1188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count &lt; 5?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7" name="Shape 10"/>
          <p:cNvSpPr/>
          <p:nvPr/>
        </p:nvSpPr>
        <p:spPr>
          <a:xfrm>
            <a:off x="7406640" y="1920240"/>
            <a:ext cx="1096920" cy="365400"/>
          </a:xfrm>
          <a:prstGeom prst="rect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Text 11"/>
          <p:cNvSpPr/>
          <p:nvPr/>
        </p:nvSpPr>
        <p:spPr>
          <a:xfrm>
            <a:off x="7406640" y="196596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Output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9" name="Shape 12"/>
          <p:cNvSpPr/>
          <p:nvPr/>
        </p:nvSpPr>
        <p:spPr>
          <a:xfrm>
            <a:off x="5029200" y="2286000"/>
            <a:ext cx="1188360" cy="3196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Text 13"/>
          <p:cNvSpPr/>
          <p:nvPr/>
        </p:nvSpPr>
        <p:spPr>
          <a:xfrm>
            <a:off x="5029200" y="233172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1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1" name="Shape 14"/>
          <p:cNvSpPr/>
          <p:nvPr/>
        </p:nvSpPr>
        <p:spPr>
          <a:xfrm>
            <a:off x="6217920" y="2286000"/>
            <a:ext cx="1188360" cy="3196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Text 15"/>
          <p:cNvSpPr/>
          <p:nvPr/>
        </p:nvSpPr>
        <p:spPr>
          <a:xfrm>
            <a:off x="6217920" y="233172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0 &lt; 5 ✓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3" name="Shape 16"/>
          <p:cNvSpPr/>
          <p:nvPr/>
        </p:nvSpPr>
        <p:spPr>
          <a:xfrm>
            <a:off x="7406640" y="2286000"/>
            <a:ext cx="1096920" cy="3196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Text 17"/>
          <p:cNvSpPr/>
          <p:nvPr/>
        </p:nvSpPr>
        <p:spPr>
          <a:xfrm>
            <a:off x="7406640" y="2331720"/>
            <a:ext cx="1096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ourier New"/>
                <a:ea typeface="Courier New"/>
              </a:rPr>
              <a:t>0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5" name="Shape 18"/>
          <p:cNvSpPr/>
          <p:nvPr/>
        </p:nvSpPr>
        <p:spPr>
          <a:xfrm>
            <a:off x="5029200" y="2606040"/>
            <a:ext cx="1188360" cy="3196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Text 19"/>
          <p:cNvSpPr/>
          <p:nvPr/>
        </p:nvSpPr>
        <p:spPr>
          <a:xfrm>
            <a:off x="5029200" y="265176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2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7" name="Shape 20"/>
          <p:cNvSpPr/>
          <p:nvPr/>
        </p:nvSpPr>
        <p:spPr>
          <a:xfrm>
            <a:off x="6217920" y="2606040"/>
            <a:ext cx="1188360" cy="3196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 21"/>
          <p:cNvSpPr/>
          <p:nvPr/>
        </p:nvSpPr>
        <p:spPr>
          <a:xfrm>
            <a:off x="6217920" y="265176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1 &lt; 5 ✓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9" name="Shape 22"/>
          <p:cNvSpPr/>
          <p:nvPr/>
        </p:nvSpPr>
        <p:spPr>
          <a:xfrm>
            <a:off x="7406640" y="2606040"/>
            <a:ext cx="1096920" cy="3196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Text 23"/>
          <p:cNvSpPr/>
          <p:nvPr/>
        </p:nvSpPr>
        <p:spPr>
          <a:xfrm>
            <a:off x="7406640" y="2651760"/>
            <a:ext cx="1096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ourier New"/>
                <a:ea typeface="Courier New"/>
              </a:rPr>
              <a:t>1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11" name="Shape 24"/>
          <p:cNvSpPr/>
          <p:nvPr/>
        </p:nvSpPr>
        <p:spPr>
          <a:xfrm>
            <a:off x="5029200" y="2926080"/>
            <a:ext cx="1188360" cy="3196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Text 25"/>
          <p:cNvSpPr/>
          <p:nvPr/>
        </p:nvSpPr>
        <p:spPr>
          <a:xfrm>
            <a:off x="5029200" y="297180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3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13" name="Shape 26"/>
          <p:cNvSpPr/>
          <p:nvPr/>
        </p:nvSpPr>
        <p:spPr>
          <a:xfrm>
            <a:off x="6217920" y="2926080"/>
            <a:ext cx="1188360" cy="3196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Text 27"/>
          <p:cNvSpPr/>
          <p:nvPr/>
        </p:nvSpPr>
        <p:spPr>
          <a:xfrm>
            <a:off x="6217920" y="297180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2 &lt; 5 ✓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15" name="Shape 28"/>
          <p:cNvSpPr/>
          <p:nvPr/>
        </p:nvSpPr>
        <p:spPr>
          <a:xfrm>
            <a:off x="7406640" y="2926080"/>
            <a:ext cx="1096920" cy="3196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Text 29"/>
          <p:cNvSpPr/>
          <p:nvPr/>
        </p:nvSpPr>
        <p:spPr>
          <a:xfrm>
            <a:off x="7406640" y="2971800"/>
            <a:ext cx="1096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ourier New"/>
                <a:ea typeface="Courier New"/>
              </a:rPr>
              <a:t>2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17" name="Shape 30"/>
          <p:cNvSpPr/>
          <p:nvPr/>
        </p:nvSpPr>
        <p:spPr>
          <a:xfrm>
            <a:off x="5029200" y="3246120"/>
            <a:ext cx="1188360" cy="3196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Text 31"/>
          <p:cNvSpPr/>
          <p:nvPr/>
        </p:nvSpPr>
        <p:spPr>
          <a:xfrm>
            <a:off x="5029200" y="329184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4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19" name="Shape 32"/>
          <p:cNvSpPr/>
          <p:nvPr/>
        </p:nvSpPr>
        <p:spPr>
          <a:xfrm>
            <a:off x="6217920" y="3246120"/>
            <a:ext cx="1188360" cy="3196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Text 33"/>
          <p:cNvSpPr/>
          <p:nvPr/>
        </p:nvSpPr>
        <p:spPr>
          <a:xfrm>
            <a:off x="6217920" y="329184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3 &lt; 5 ✓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1" name="Shape 34"/>
          <p:cNvSpPr/>
          <p:nvPr/>
        </p:nvSpPr>
        <p:spPr>
          <a:xfrm>
            <a:off x="7406640" y="3246120"/>
            <a:ext cx="1096920" cy="3196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Text 35"/>
          <p:cNvSpPr/>
          <p:nvPr/>
        </p:nvSpPr>
        <p:spPr>
          <a:xfrm>
            <a:off x="7406640" y="3291840"/>
            <a:ext cx="1096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ourier New"/>
                <a:ea typeface="Courier New"/>
              </a:rPr>
              <a:t>3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3" name="Shape 36"/>
          <p:cNvSpPr/>
          <p:nvPr/>
        </p:nvSpPr>
        <p:spPr>
          <a:xfrm>
            <a:off x="5029200" y="3566160"/>
            <a:ext cx="1188360" cy="3196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Text 37"/>
          <p:cNvSpPr/>
          <p:nvPr/>
        </p:nvSpPr>
        <p:spPr>
          <a:xfrm>
            <a:off x="5029200" y="361188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5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5" name="Shape 38"/>
          <p:cNvSpPr/>
          <p:nvPr/>
        </p:nvSpPr>
        <p:spPr>
          <a:xfrm>
            <a:off x="6217920" y="3566160"/>
            <a:ext cx="1188360" cy="3196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Text 39"/>
          <p:cNvSpPr/>
          <p:nvPr/>
        </p:nvSpPr>
        <p:spPr>
          <a:xfrm>
            <a:off x="6217920" y="361188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4 &lt; 5 ✓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7" name="Shape 40"/>
          <p:cNvSpPr/>
          <p:nvPr/>
        </p:nvSpPr>
        <p:spPr>
          <a:xfrm>
            <a:off x="7406640" y="3566160"/>
            <a:ext cx="1096920" cy="3196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Text 41"/>
          <p:cNvSpPr/>
          <p:nvPr/>
        </p:nvSpPr>
        <p:spPr>
          <a:xfrm>
            <a:off x="7406640" y="3611880"/>
            <a:ext cx="1096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ourier New"/>
                <a:ea typeface="Courier New"/>
              </a:rPr>
              <a:t>4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9" name="Shape 42"/>
          <p:cNvSpPr/>
          <p:nvPr/>
        </p:nvSpPr>
        <p:spPr>
          <a:xfrm>
            <a:off x="5029200" y="3886200"/>
            <a:ext cx="1188360" cy="319680"/>
          </a:xfrm>
          <a:prstGeom prst="rect">
            <a:avLst/>
          </a:prstGeom>
          <a:solidFill>
            <a:srgbClr val="ffebee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43"/>
          <p:cNvSpPr/>
          <p:nvPr/>
        </p:nvSpPr>
        <p:spPr>
          <a:xfrm>
            <a:off x="5029200" y="393192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6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1" name="Shape 44"/>
          <p:cNvSpPr/>
          <p:nvPr/>
        </p:nvSpPr>
        <p:spPr>
          <a:xfrm>
            <a:off x="6217920" y="3886200"/>
            <a:ext cx="1188360" cy="319680"/>
          </a:xfrm>
          <a:prstGeom prst="rect">
            <a:avLst/>
          </a:prstGeom>
          <a:solidFill>
            <a:srgbClr val="ffebee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Text 45"/>
          <p:cNvSpPr/>
          <p:nvPr/>
        </p:nvSpPr>
        <p:spPr>
          <a:xfrm>
            <a:off x="6217920" y="393192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5 &lt; 5 ✗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3" name="Shape 46"/>
          <p:cNvSpPr/>
          <p:nvPr/>
        </p:nvSpPr>
        <p:spPr>
          <a:xfrm>
            <a:off x="7406640" y="3886200"/>
            <a:ext cx="1096920" cy="319680"/>
          </a:xfrm>
          <a:prstGeom prst="rect">
            <a:avLst/>
          </a:prstGeom>
          <a:solidFill>
            <a:srgbClr val="ffebee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 47"/>
          <p:cNvSpPr/>
          <p:nvPr/>
        </p:nvSpPr>
        <p:spPr>
          <a:xfrm>
            <a:off x="7406640" y="3931920"/>
            <a:ext cx="1096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e74c3c"/>
                </a:solidFill>
                <a:latin typeface="Courier New"/>
                <a:ea typeface="Courier New"/>
              </a:rPr>
              <a:t>Exit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5" name="Shape 48"/>
          <p:cNvSpPr/>
          <p:nvPr/>
        </p:nvSpPr>
        <p:spPr>
          <a:xfrm>
            <a:off x="1371600" y="3200400"/>
            <a:ext cx="7131960" cy="1188360"/>
          </a:xfrm>
          <a:prstGeom prst="rect">
            <a:avLst/>
          </a:prstGeom>
          <a:solidFill>
            <a:srgbClr val="fff9e6"/>
          </a:solidFill>
          <a:ln w="2540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Text 49"/>
          <p:cNvSpPr/>
          <p:nvPr/>
        </p:nvSpPr>
        <p:spPr>
          <a:xfrm>
            <a:off x="1554480" y="3291840"/>
            <a:ext cx="6766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Key Points: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37" name="Text 50"/>
          <p:cNvSpPr/>
          <p:nvPr/>
        </p:nvSpPr>
        <p:spPr>
          <a:xfrm>
            <a:off x="1554480" y="3566160"/>
            <a:ext cx="6766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• </a:t>
            </a: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Condition is checked BEFORE each iteration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• </a:t>
            </a: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Statements execute repeatedly while condition is TRUE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• </a:t>
            </a: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Loop terminates when condition becomes FALSE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• </a:t>
            </a:r>
            <a:r>
              <a:rPr b="0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Use with finite times or to iterate through string/list/tuple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The for Loop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39" name="Shape 1"/>
          <p:cNvSpPr/>
          <p:nvPr/>
        </p:nvSpPr>
        <p:spPr>
          <a:xfrm>
            <a:off x="914400" y="914400"/>
            <a:ext cx="7314840" cy="548280"/>
          </a:xfrm>
          <a:prstGeom prst="rect">
            <a:avLst/>
          </a:prstGeom>
          <a:solidFill>
            <a:srgbClr val="fff3e0"/>
          </a:solidFill>
          <a:ln w="254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Text 2"/>
          <p:cNvSpPr/>
          <p:nvPr/>
        </p:nvSpPr>
        <p:spPr>
          <a:xfrm>
            <a:off x="1097280" y="100584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67e22"/>
                </a:solidFill>
                <a:latin typeface="Arial"/>
                <a:ea typeface="Arial"/>
              </a:rPr>
              <a:t>for loop is used to iterate through sequences (string, tuple, list).</a:t>
            </a:r>
            <a:endParaRPr b="0" lang="en-IN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67e22"/>
                </a:solidFill>
                <a:latin typeface="Arial"/>
                <a:ea typeface="Arial"/>
              </a:rPr>
              <a:t>Each element in the sequence is processed one by one.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41" name="Shape 3"/>
          <p:cNvSpPr/>
          <p:nvPr/>
        </p:nvSpPr>
        <p:spPr>
          <a:xfrm>
            <a:off x="640080" y="1645920"/>
            <a:ext cx="4114440" cy="456840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Text 4"/>
          <p:cNvSpPr/>
          <p:nvPr/>
        </p:nvSpPr>
        <p:spPr>
          <a:xfrm>
            <a:off x="640080" y="169164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Syntax &amp; Example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43" name="Shape 5"/>
          <p:cNvSpPr/>
          <p:nvPr/>
        </p:nvSpPr>
        <p:spPr>
          <a:xfrm>
            <a:off x="640080" y="2194560"/>
            <a:ext cx="4114440" cy="228564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Text 6"/>
          <p:cNvSpPr/>
          <p:nvPr/>
        </p:nvSpPr>
        <p:spPr>
          <a:xfrm>
            <a:off x="822960" y="2331720"/>
            <a:ext cx="374868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Syntax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for var in sequence: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statement1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statement2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Example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fruits = ["apple", "banana", "cherry"]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for fruit in fruits: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print(fruit)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5" name="Shape 7"/>
          <p:cNvSpPr/>
          <p:nvPr/>
        </p:nvSpPr>
        <p:spPr>
          <a:xfrm>
            <a:off x="5029200" y="1645920"/>
            <a:ext cx="3474360" cy="4568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Text 8"/>
          <p:cNvSpPr/>
          <p:nvPr/>
        </p:nvSpPr>
        <p:spPr>
          <a:xfrm>
            <a:off x="5029200" y="169164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How it Works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47" name="Shape 9"/>
          <p:cNvSpPr/>
          <p:nvPr/>
        </p:nvSpPr>
        <p:spPr>
          <a:xfrm>
            <a:off x="5212080" y="2286000"/>
            <a:ext cx="3108600" cy="45684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Text 10"/>
          <p:cNvSpPr/>
          <p:nvPr/>
        </p:nvSpPr>
        <p:spPr>
          <a:xfrm>
            <a:off x="5394960" y="233172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7ae60"/>
                </a:solidFill>
                <a:latin typeface="Courier New"/>
                <a:ea typeface="Courier New"/>
              </a:rPr>
              <a:t>Iteration 1: fruit = "apple"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9" name="Shape 11"/>
          <p:cNvSpPr/>
          <p:nvPr/>
        </p:nvSpPr>
        <p:spPr>
          <a:xfrm>
            <a:off x="5212080" y="2834640"/>
            <a:ext cx="3108600" cy="45684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 12"/>
          <p:cNvSpPr/>
          <p:nvPr/>
        </p:nvSpPr>
        <p:spPr>
          <a:xfrm>
            <a:off x="5394960" y="288036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7ae60"/>
                </a:solidFill>
                <a:latin typeface="Courier New"/>
                <a:ea typeface="Courier New"/>
              </a:rPr>
              <a:t>Iteration 2: fruit = "banana"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1" name="Shape 13"/>
          <p:cNvSpPr/>
          <p:nvPr/>
        </p:nvSpPr>
        <p:spPr>
          <a:xfrm>
            <a:off x="5212080" y="3383280"/>
            <a:ext cx="3108600" cy="45684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Text 14"/>
          <p:cNvSpPr/>
          <p:nvPr/>
        </p:nvSpPr>
        <p:spPr>
          <a:xfrm>
            <a:off x="5394960" y="342900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7ae60"/>
                </a:solidFill>
                <a:latin typeface="Courier New"/>
                <a:ea typeface="Courier New"/>
              </a:rPr>
              <a:t>Iteration 3: fruit = "cherry"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3" name="Shape 15"/>
          <p:cNvSpPr/>
          <p:nvPr/>
        </p:nvSpPr>
        <p:spPr>
          <a:xfrm>
            <a:off x="5212080" y="3931920"/>
            <a:ext cx="3108600" cy="456840"/>
          </a:xfrm>
          <a:prstGeom prst="rect">
            <a:avLst/>
          </a:prstGeom>
          <a:solidFill>
            <a:srgbClr val="ffebee"/>
          </a:solidFill>
          <a:ln w="254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Text 16"/>
          <p:cNvSpPr/>
          <p:nvPr/>
        </p:nvSpPr>
        <p:spPr>
          <a:xfrm>
            <a:off x="5394960" y="397764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e74c3c"/>
                </a:solidFill>
                <a:latin typeface="Arial"/>
                <a:ea typeface="Arial"/>
              </a:rPr>
              <a:t>Loop Complete - No more items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The range() Function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56" name="Shape 1"/>
          <p:cNvSpPr/>
          <p:nvPr/>
        </p:nvSpPr>
        <p:spPr>
          <a:xfrm>
            <a:off x="914400" y="914400"/>
            <a:ext cx="7314840" cy="639720"/>
          </a:xfrm>
          <a:prstGeom prst="rect">
            <a:avLst/>
          </a:prstGeom>
          <a:solidFill>
            <a:srgbClr val="e3f2fd"/>
          </a:solidFill>
          <a:ln w="2540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Text 2"/>
          <p:cNvSpPr/>
          <p:nvPr/>
        </p:nvSpPr>
        <p:spPr>
          <a:xfrm>
            <a:off x="1097280" y="1005840"/>
            <a:ext cx="6949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306998"/>
                </a:solidFill>
                <a:latin typeface="Arial"/>
                <a:ea typeface="Arial"/>
              </a:rPr>
              <a:t>Range is a Python built-in function used to generate a sequence of numbers.</a:t>
            </a:r>
            <a:endParaRPr b="0" lang="en-IN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306998"/>
                </a:solidFill>
                <a:latin typeface="Arial"/>
                <a:ea typeface="Arial"/>
              </a:rPr>
              <a:t>Commonly used with for loop for specific number of iterations.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8" name="Text 3"/>
          <p:cNvSpPr/>
          <p:nvPr/>
        </p:nvSpPr>
        <p:spPr>
          <a:xfrm>
            <a:off x="1371600" y="173736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2c3e50"/>
                </a:solidFill>
                <a:latin typeface="Courier New"/>
                <a:ea typeface="Courier New"/>
              </a:rPr>
              <a:t>Syntax: range(start, stop, step)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59" name="Shape 4"/>
          <p:cNvSpPr/>
          <p:nvPr/>
        </p:nvSpPr>
        <p:spPr>
          <a:xfrm>
            <a:off x="914400" y="2194560"/>
            <a:ext cx="7314840" cy="27396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Text 5"/>
          <p:cNvSpPr/>
          <p:nvPr/>
        </p:nvSpPr>
        <p:spPr>
          <a:xfrm>
            <a:off x="1097280" y="2240280"/>
            <a:ext cx="6949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range(10) - Generate sequence from 0 to 9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1" name="Shape 6"/>
          <p:cNvSpPr/>
          <p:nvPr/>
        </p:nvSpPr>
        <p:spPr>
          <a:xfrm>
            <a:off x="914400" y="2468880"/>
            <a:ext cx="3565800" cy="63972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Text 7"/>
          <p:cNvSpPr/>
          <p:nvPr/>
        </p:nvSpPr>
        <p:spPr>
          <a:xfrm>
            <a:off x="1097280" y="256032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for i in range(10):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print(i)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3" name="Shape 8"/>
          <p:cNvSpPr/>
          <p:nvPr/>
        </p:nvSpPr>
        <p:spPr>
          <a:xfrm>
            <a:off x="4663440" y="2468880"/>
            <a:ext cx="3565800" cy="639720"/>
          </a:xfrm>
          <a:prstGeom prst="rect">
            <a:avLst/>
          </a:prstGeom>
          <a:solidFill>
            <a:srgbClr val="f5f5f5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Text 9"/>
          <p:cNvSpPr/>
          <p:nvPr/>
        </p:nvSpPr>
        <p:spPr>
          <a:xfrm>
            <a:off x="4846320" y="2514600"/>
            <a:ext cx="3200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ourier New"/>
                <a:ea typeface="Courier New"/>
              </a:rPr>
              <a:t>Output: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ourier New"/>
                <a:ea typeface="Courier New"/>
              </a:rPr>
              <a:t>0, 1, 2, 3, 4, 5, 6, 7, 8, 9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5" name="Shape 10"/>
          <p:cNvSpPr/>
          <p:nvPr/>
        </p:nvSpPr>
        <p:spPr>
          <a:xfrm>
            <a:off x="914400" y="3200400"/>
            <a:ext cx="7314840" cy="273960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Text 11"/>
          <p:cNvSpPr/>
          <p:nvPr/>
        </p:nvSpPr>
        <p:spPr>
          <a:xfrm>
            <a:off x="1097280" y="3246120"/>
            <a:ext cx="6949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range(10, 20) - Generate sequence from 10 to 19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7" name="Shape 12"/>
          <p:cNvSpPr/>
          <p:nvPr/>
        </p:nvSpPr>
        <p:spPr>
          <a:xfrm>
            <a:off x="914400" y="3474720"/>
            <a:ext cx="3565800" cy="63972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 13"/>
          <p:cNvSpPr/>
          <p:nvPr/>
        </p:nvSpPr>
        <p:spPr>
          <a:xfrm>
            <a:off x="1097280" y="356616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for i in range(10,20):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print(i)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9" name="Shape 14"/>
          <p:cNvSpPr/>
          <p:nvPr/>
        </p:nvSpPr>
        <p:spPr>
          <a:xfrm>
            <a:off x="4663440" y="3474720"/>
            <a:ext cx="3565800" cy="639720"/>
          </a:xfrm>
          <a:prstGeom prst="rect">
            <a:avLst/>
          </a:prstGeom>
          <a:solidFill>
            <a:srgbClr val="f5f5f5"/>
          </a:solidFill>
          <a:ln w="254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Text 15"/>
          <p:cNvSpPr/>
          <p:nvPr/>
        </p:nvSpPr>
        <p:spPr>
          <a:xfrm>
            <a:off x="4846320" y="3520440"/>
            <a:ext cx="3200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ourier New"/>
                <a:ea typeface="Courier New"/>
              </a:rPr>
              <a:t>Output: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ourier New"/>
                <a:ea typeface="Courier New"/>
              </a:rPr>
              <a:t>10, 11, 12, ... 19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1" name="Shape 16"/>
          <p:cNvSpPr/>
          <p:nvPr/>
        </p:nvSpPr>
        <p:spPr>
          <a:xfrm>
            <a:off x="914400" y="4206240"/>
            <a:ext cx="7314840" cy="273960"/>
          </a:xfrm>
          <a:prstGeom prst="rect">
            <a:avLst/>
          </a:prstGeom>
          <a:solidFill>
            <a:srgbClr val="9b59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Text 17"/>
          <p:cNvSpPr/>
          <p:nvPr/>
        </p:nvSpPr>
        <p:spPr>
          <a:xfrm>
            <a:off x="1097280" y="4251960"/>
            <a:ext cx="6949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range(10, 20, 2) - From 10 to 19 in steps of 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73" name="Shape 18"/>
          <p:cNvSpPr/>
          <p:nvPr/>
        </p:nvSpPr>
        <p:spPr>
          <a:xfrm>
            <a:off x="914400" y="4480560"/>
            <a:ext cx="3565800" cy="63972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Text 19"/>
          <p:cNvSpPr/>
          <p:nvPr/>
        </p:nvSpPr>
        <p:spPr>
          <a:xfrm>
            <a:off x="1097280" y="4572000"/>
            <a:ext cx="3200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for i in range(10,20,2):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print(i)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5" name="Shape 20"/>
          <p:cNvSpPr/>
          <p:nvPr/>
        </p:nvSpPr>
        <p:spPr>
          <a:xfrm>
            <a:off x="4663440" y="4480560"/>
            <a:ext cx="3565800" cy="639720"/>
          </a:xfrm>
          <a:prstGeom prst="rect">
            <a:avLst/>
          </a:prstGeom>
          <a:solidFill>
            <a:srgbClr val="f5f5f5"/>
          </a:solidFill>
          <a:ln w="254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Text 21"/>
          <p:cNvSpPr/>
          <p:nvPr/>
        </p:nvSpPr>
        <p:spPr>
          <a:xfrm>
            <a:off x="4846320" y="4526280"/>
            <a:ext cx="3200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ourier New"/>
                <a:ea typeface="Courier New"/>
              </a:rPr>
              <a:t>Output: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ourier New"/>
                <a:ea typeface="Courier New"/>
              </a:rPr>
              <a:t>[10, 12, 14, 16, 18]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The break Statement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78" name="Shape 1"/>
          <p:cNvSpPr/>
          <p:nvPr/>
        </p:nvSpPr>
        <p:spPr>
          <a:xfrm>
            <a:off x="914400" y="914400"/>
            <a:ext cx="7314840" cy="639720"/>
          </a:xfrm>
          <a:prstGeom prst="rect">
            <a:avLst/>
          </a:prstGeom>
          <a:solidFill>
            <a:srgbClr val="ffebee"/>
          </a:solidFill>
          <a:ln w="381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2"/>
          <p:cNvSpPr/>
          <p:nvPr/>
        </p:nvSpPr>
        <p:spPr>
          <a:xfrm>
            <a:off x="1097280" y="1005840"/>
            <a:ext cx="6949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74c3c"/>
                </a:solidFill>
                <a:latin typeface="Arial"/>
                <a:ea typeface="Arial"/>
              </a:rPr>
              <a:t>Break statement is used to exit from while or for loop.</a:t>
            </a:r>
            <a:endParaRPr b="0" lang="en-IN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74c3c"/>
                </a:solidFill>
                <a:latin typeface="Arial"/>
                <a:ea typeface="Arial"/>
              </a:rPr>
              <a:t>When break statement is encountered, the loop terminates immediately.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0" name="Shape 3"/>
          <p:cNvSpPr/>
          <p:nvPr/>
        </p:nvSpPr>
        <p:spPr>
          <a:xfrm>
            <a:off x="640080" y="1737360"/>
            <a:ext cx="4114440" cy="45684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Text 4"/>
          <p:cNvSpPr/>
          <p:nvPr/>
        </p:nvSpPr>
        <p:spPr>
          <a:xfrm>
            <a:off x="640080" y="178308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Example: Exit Loop at i = 5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82" name="Shape 5"/>
          <p:cNvSpPr/>
          <p:nvPr/>
        </p:nvSpPr>
        <p:spPr>
          <a:xfrm>
            <a:off x="640080" y="2286000"/>
            <a:ext cx="4114440" cy="219420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Text 6"/>
          <p:cNvSpPr/>
          <p:nvPr/>
        </p:nvSpPr>
        <p:spPr>
          <a:xfrm>
            <a:off x="822960" y="2423160"/>
            <a:ext cx="374868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for i in range(10):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if i == 5: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break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print(i)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Output: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0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1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2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3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4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4" name="Shape 7"/>
          <p:cNvSpPr/>
          <p:nvPr/>
        </p:nvSpPr>
        <p:spPr>
          <a:xfrm>
            <a:off x="5029200" y="1737360"/>
            <a:ext cx="3474360" cy="4568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Text 8"/>
          <p:cNvSpPr/>
          <p:nvPr/>
        </p:nvSpPr>
        <p:spPr>
          <a:xfrm>
            <a:off x="5029200" y="178308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Execution Flow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86" name="Shape 9"/>
          <p:cNvSpPr/>
          <p:nvPr/>
        </p:nvSpPr>
        <p:spPr>
          <a:xfrm>
            <a:off x="5212080" y="2377440"/>
            <a:ext cx="3108600" cy="31968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Text 10"/>
          <p:cNvSpPr/>
          <p:nvPr/>
        </p:nvSpPr>
        <p:spPr>
          <a:xfrm>
            <a:off x="5394960" y="242316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7ae60"/>
                </a:solidFill>
                <a:latin typeface="Courier New"/>
                <a:ea typeface="Courier New"/>
              </a:rPr>
              <a:t>i = 0 → print(0)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88" name="Shape 11"/>
          <p:cNvSpPr/>
          <p:nvPr/>
        </p:nvSpPr>
        <p:spPr>
          <a:xfrm>
            <a:off x="5212080" y="2743200"/>
            <a:ext cx="3108600" cy="31968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Text 12"/>
          <p:cNvSpPr/>
          <p:nvPr/>
        </p:nvSpPr>
        <p:spPr>
          <a:xfrm>
            <a:off x="5394960" y="278892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7ae60"/>
                </a:solidFill>
                <a:latin typeface="Courier New"/>
                <a:ea typeface="Courier New"/>
              </a:rPr>
              <a:t>i = 1 → print(1)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0" name="Shape 13"/>
          <p:cNvSpPr/>
          <p:nvPr/>
        </p:nvSpPr>
        <p:spPr>
          <a:xfrm>
            <a:off x="5212080" y="3108960"/>
            <a:ext cx="3108600" cy="31968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Text 14"/>
          <p:cNvSpPr/>
          <p:nvPr/>
        </p:nvSpPr>
        <p:spPr>
          <a:xfrm>
            <a:off x="5394960" y="315468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7ae60"/>
                </a:solidFill>
                <a:latin typeface="Courier New"/>
                <a:ea typeface="Courier New"/>
              </a:rPr>
              <a:t>i = 2 → print(2)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2" name="Shape 15"/>
          <p:cNvSpPr/>
          <p:nvPr/>
        </p:nvSpPr>
        <p:spPr>
          <a:xfrm>
            <a:off x="5212080" y="3474720"/>
            <a:ext cx="3108600" cy="31968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Text 16"/>
          <p:cNvSpPr/>
          <p:nvPr/>
        </p:nvSpPr>
        <p:spPr>
          <a:xfrm>
            <a:off x="5394960" y="35204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7ae60"/>
                </a:solidFill>
                <a:latin typeface="Courier New"/>
                <a:ea typeface="Courier New"/>
              </a:rPr>
              <a:t>i = 3 → print(3)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4" name="Shape 17"/>
          <p:cNvSpPr/>
          <p:nvPr/>
        </p:nvSpPr>
        <p:spPr>
          <a:xfrm>
            <a:off x="5212080" y="3840480"/>
            <a:ext cx="3108600" cy="31968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Text 18"/>
          <p:cNvSpPr/>
          <p:nvPr/>
        </p:nvSpPr>
        <p:spPr>
          <a:xfrm>
            <a:off x="5394960" y="388620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7ae60"/>
                </a:solidFill>
                <a:latin typeface="Courier New"/>
                <a:ea typeface="Courier New"/>
              </a:rPr>
              <a:t>i = 4 → print(4)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6" name="Shape 19"/>
          <p:cNvSpPr/>
          <p:nvPr/>
        </p:nvSpPr>
        <p:spPr>
          <a:xfrm>
            <a:off x="5212080" y="4206240"/>
            <a:ext cx="3108600" cy="319680"/>
          </a:xfrm>
          <a:prstGeom prst="rect">
            <a:avLst/>
          </a:prstGeom>
          <a:solidFill>
            <a:srgbClr val="ffebee"/>
          </a:solidFill>
          <a:ln w="2540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Text 20"/>
          <p:cNvSpPr/>
          <p:nvPr/>
        </p:nvSpPr>
        <p:spPr>
          <a:xfrm>
            <a:off x="5394960" y="425196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e74c3c"/>
                </a:solidFill>
                <a:latin typeface="Courier New"/>
                <a:ea typeface="Courier New"/>
              </a:rPr>
              <a:t>i = 5 → if i == 5: break → EXIT LOOP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8" name="Shape 21"/>
          <p:cNvSpPr/>
          <p:nvPr/>
        </p:nvSpPr>
        <p:spPr>
          <a:xfrm>
            <a:off x="1440000" y="4549680"/>
            <a:ext cx="6400440" cy="594000"/>
          </a:xfrm>
          <a:prstGeom prst="rect">
            <a:avLst/>
          </a:prstGeom>
          <a:solidFill>
            <a:srgbClr val="fff9e6"/>
          </a:solidFill>
          <a:ln w="2540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Text 22"/>
          <p:cNvSpPr/>
          <p:nvPr/>
        </p:nvSpPr>
        <p:spPr>
          <a:xfrm>
            <a:off x="1705320" y="4674600"/>
            <a:ext cx="6034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Usage: Terminate loop when specific condition is met, finding a value, or reaching a limit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 0"/>
          <p:cNvSpPr/>
          <p:nvPr/>
        </p:nvSpPr>
        <p:spPr>
          <a:xfrm>
            <a:off x="457200" y="27432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The continue Statement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201" name="Shape 1"/>
          <p:cNvSpPr/>
          <p:nvPr/>
        </p:nvSpPr>
        <p:spPr>
          <a:xfrm>
            <a:off x="914400" y="914400"/>
            <a:ext cx="7314840" cy="639720"/>
          </a:xfrm>
          <a:prstGeom prst="rect">
            <a:avLst/>
          </a:prstGeom>
          <a:solidFill>
            <a:srgbClr val="e8f5e9"/>
          </a:solidFill>
          <a:ln w="381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Text 2"/>
          <p:cNvSpPr/>
          <p:nvPr/>
        </p:nvSpPr>
        <p:spPr>
          <a:xfrm>
            <a:off x="1097280" y="1005840"/>
            <a:ext cx="6949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7ae60"/>
                </a:solidFill>
                <a:latin typeface="Arial"/>
                <a:ea typeface="Arial"/>
              </a:rPr>
              <a:t>Continue statement is used to skip the current iteration and start the next iteration.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7ae60"/>
                </a:solidFill>
                <a:latin typeface="Arial"/>
                <a:ea typeface="Arial"/>
              </a:rPr>
              <a:t>When continue is encountered, remaining statements in current iteration are not executed.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3" name="Shape 3"/>
          <p:cNvSpPr/>
          <p:nvPr/>
        </p:nvSpPr>
        <p:spPr>
          <a:xfrm>
            <a:off x="640080" y="1737360"/>
            <a:ext cx="4114440" cy="45684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Text 4"/>
          <p:cNvSpPr/>
          <p:nvPr/>
        </p:nvSpPr>
        <p:spPr>
          <a:xfrm>
            <a:off x="640080" y="1783080"/>
            <a:ext cx="4114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Example: Skip i = 2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05" name="Shape 5"/>
          <p:cNvSpPr/>
          <p:nvPr/>
        </p:nvSpPr>
        <p:spPr>
          <a:xfrm>
            <a:off x="640080" y="2286000"/>
            <a:ext cx="4114440" cy="219420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Text 6"/>
          <p:cNvSpPr/>
          <p:nvPr/>
        </p:nvSpPr>
        <p:spPr>
          <a:xfrm>
            <a:off x="822960" y="2423160"/>
            <a:ext cx="374868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for i in range(5):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if i == 2: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continue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print(i)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Output: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0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1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3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4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7" name="Shape 7"/>
          <p:cNvSpPr/>
          <p:nvPr/>
        </p:nvSpPr>
        <p:spPr>
          <a:xfrm>
            <a:off x="5029200" y="1737360"/>
            <a:ext cx="3474360" cy="45684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Text 8"/>
          <p:cNvSpPr/>
          <p:nvPr/>
        </p:nvSpPr>
        <p:spPr>
          <a:xfrm>
            <a:off x="5029200" y="178308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Execution Flow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09" name="Shape 9"/>
          <p:cNvSpPr/>
          <p:nvPr/>
        </p:nvSpPr>
        <p:spPr>
          <a:xfrm>
            <a:off x="5212080" y="2377440"/>
            <a:ext cx="3108600" cy="31968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Text 10"/>
          <p:cNvSpPr/>
          <p:nvPr/>
        </p:nvSpPr>
        <p:spPr>
          <a:xfrm>
            <a:off x="5394960" y="242316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7ae60"/>
                </a:solidFill>
                <a:latin typeface="Courier New"/>
                <a:ea typeface="Courier New"/>
              </a:rPr>
              <a:t>i = 0 → print(0)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1" name="Shape 11"/>
          <p:cNvSpPr/>
          <p:nvPr/>
        </p:nvSpPr>
        <p:spPr>
          <a:xfrm>
            <a:off x="5212080" y="2743200"/>
            <a:ext cx="3108600" cy="31968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12"/>
          <p:cNvSpPr/>
          <p:nvPr/>
        </p:nvSpPr>
        <p:spPr>
          <a:xfrm>
            <a:off x="5394960" y="278892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7ae60"/>
                </a:solidFill>
                <a:latin typeface="Courier New"/>
                <a:ea typeface="Courier New"/>
              </a:rPr>
              <a:t>i = 1 → print(1)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3" name="Shape 13"/>
          <p:cNvSpPr/>
          <p:nvPr/>
        </p:nvSpPr>
        <p:spPr>
          <a:xfrm>
            <a:off x="5212080" y="3108960"/>
            <a:ext cx="3108600" cy="319680"/>
          </a:xfrm>
          <a:prstGeom prst="rect">
            <a:avLst/>
          </a:prstGeom>
          <a:solidFill>
            <a:srgbClr val="fff3e0"/>
          </a:solidFill>
          <a:ln w="2540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Text 14"/>
          <p:cNvSpPr/>
          <p:nvPr/>
        </p:nvSpPr>
        <p:spPr>
          <a:xfrm>
            <a:off x="5394960" y="315468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e67e22"/>
                </a:solidFill>
                <a:latin typeface="Courier New"/>
                <a:ea typeface="Courier New"/>
              </a:rPr>
              <a:t>i = 2 → if i == 2: continue → SKIP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5" name="Shape 15"/>
          <p:cNvSpPr/>
          <p:nvPr/>
        </p:nvSpPr>
        <p:spPr>
          <a:xfrm>
            <a:off x="5212080" y="3474720"/>
            <a:ext cx="3108600" cy="31968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16"/>
          <p:cNvSpPr/>
          <p:nvPr/>
        </p:nvSpPr>
        <p:spPr>
          <a:xfrm>
            <a:off x="5394960" y="352044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7ae60"/>
                </a:solidFill>
                <a:latin typeface="Courier New"/>
                <a:ea typeface="Courier New"/>
              </a:rPr>
              <a:t>i = 3 → print(3)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7" name="Shape 17"/>
          <p:cNvSpPr/>
          <p:nvPr/>
        </p:nvSpPr>
        <p:spPr>
          <a:xfrm>
            <a:off x="5212080" y="3840480"/>
            <a:ext cx="3108600" cy="31968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Text 18"/>
          <p:cNvSpPr/>
          <p:nvPr/>
        </p:nvSpPr>
        <p:spPr>
          <a:xfrm>
            <a:off x="5394960" y="388620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7ae60"/>
                </a:solidFill>
                <a:latin typeface="Courier New"/>
                <a:ea typeface="Courier New"/>
              </a:rPr>
              <a:t>i = 4 → print(4)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9" name="Shape 19"/>
          <p:cNvSpPr/>
          <p:nvPr/>
        </p:nvSpPr>
        <p:spPr>
          <a:xfrm>
            <a:off x="1440000" y="4549680"/>
            <a:ext cx="6400440" cy="594000"/>
          </a:xfrm>
          <a:prstGeom prst="rect">
            <a:avLst/>
          </a:prstGeom>
          <a:solidFill>
            <a:srgbClr val="fff9e6"/>
          </a:solidFill>
          <a:ln w="2540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Text 20"/>
          <p:cNvSpPr/>
          <p:nvPr/>
        </p:nvSpPr>
        <p:spPr>
          <a:xfrm>
            <a:off x="1705320" y="4674600"/>
            <a:ext cx="6034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Usage: Skip current iteration when specific condition is met, but loop continues with next iteration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Text 0"/>
          <p:cNvSpPr/>
          <p:nvPr/>
        </p:nvSpPr>
        <p:spPr>
          <a:xfrm>
            <a:off x="457200" y="457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Arial"/>
                <a:ea typeface="Arial"/>
              </a:rPr>
              <a:t>Summary: Repetition Control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222" name="Shape 1"/>
          <p:cNvSpPr/>
          <p:nvPr/>
        </p:nvSpPr>
        <p:spPr>
          <a:xfrm>
            <a:off x="1097280" y="1252800"/>
            <a:ext cx="319680" cy="31968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Text 2"/>
          <p:cNvSpPr/>
          <p:nvPr/>
        </p:nvSpPr>
        <p:spPr>
          <a:xfrm>
            <a:off x="1097280" y="125280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1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24" name="Text 3"/>
          <p:cNvSpPr/>
          <p:nvPr/>
        </p:nvSpPr>
        <p:spPr>
          <a:xfrm>
            <a:off x="1554480" y="128016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while loop: Repeats while condition is TRUE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5" name="Shape 4"/>
          <p:cNvSpPr/>
          <p:nvPr/>
        </p:nvSpPr>
        <p:spPr>
          <a:xfrm>
            <a:off x="1097280" y="1600200"/>
            <a:ext cx="319680" cy="31968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Text 5"/>
          <p:cNvSpPr/>
          <p:nvPr/>
        </p:nvSpPr>
        <p:spPr>
          <a:xfrm>
            <a:off x="1097280" y="160020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2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27" name="Text 6"/>
          <p:cNvSpPr/>
          <p:nvPr/>
        </p:nvSpPr>
        <p:spPr>
          <a:xfrm>
            <a:off x="1554480" y="162756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for loop: Iterates through sequences (list, string, tuple)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8" name="Shape 7"/>
          <p:cNvSpPr/>
          <p:nvPr/>
        </p:nvSpPr>
        <p:spPr>
          <a:xfrm>
            <a:off x="1097280" y="1947600"/>
            <a:ext cx="319680" cy="31968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Text 8"/>
          <p:cNvSpPr/>
          <p:nvPr/>
        </p:nvSpPr>
        <p:spPr>
          <a:xfrm>
            <a:off x="1097280" y="194760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3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30" name="Text 9"/>
          <p:cNvSpPr/>
          <p:nvPr/>
        </p:nvSpPr>
        <p:spPr>
          <a:xfrm>
            <a:off x="1554480" y="197496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range(start, stop, step): Generates number sequences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1" name="Shape 10"/>
          <p:cNvSpPr/>
          <p:nvPr/>
        </p:nvSpPr>
        <p:spPr>
          <a:xfrm>
            <a:off x="1097280" y="2295000"/>
            <a:ext cx="319680" cy="31968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Text 11"/>
          <p:cNvSpPr/>
          <p:nvPr/>
        </p:nvSpPr>
        <p:spPr>
          <a:xfrm>
            <a:off x="1097280" y="229500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4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33" name="Text 12"/>
          <p:cNvSpPr/>
          <p:nvPr/>
        </p:nvSpPr>
        <p:spPr>
          <a:xfrm>
            <a:off x="1554480" y="23227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break: Exits loop immediately when condition is met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4" name="Shape 13"/>
          <p:cNvSpPr/>
          <p:nvPr/>
        </p:nvSpPr>
        <p:spPr>
          <a:xfrm>
            <a:off x="1097280" y="2642760"/>
            <a:ext cx="319680" cy="31968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Text 14"/>
          <p:cNvSpPr/>
          <p:nvPr/>
        </p:nvSpPr>
        <p:spPr>
          <a:xfrm>
            <a:off x="1097280" y="26427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5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36" name="Text 15"/>
          <p:cNvSpPr/>
          <p:nvPr/>
        </p:nvSpPr>
        <p:spPr>
          <a:xfrm>
            <a:off x="1554480" y="26701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continue: Skips current iteration, continues with next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7" name="Shape 16"/>
          <p:cNvSpPr/>
          <p:nvPr/>
        </p:nvSpPr>
        <p:spPr>
          <a:xfrm>
            <a:off x="1097280" y="2990160"/>
            <a:ext cx="319680" cy="31968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Text 17"/>
          <p:cNvSpPr/>
          <p:nvPr/>
        </p:nvSpPr>
        <p:spPr>
          <a:xfrm>
            <a:off x="1097280" y="29901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6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39" name="Text 18"/>
          <p:cNvSpPr/>
          <p:nvPr/>
        </p:nvSpPr>
        <p:spPr>
          <a:xfrm>
            <a:off x="1554480" y="3017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Loops enable repetitive tasks without code duplication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0" name="Shape 19"/>
          <p:cNvSpPr/>
          <p:nvPr/>
        </p:nvSpPr>
        <p:spPr>
          <a:xfrm>
            <a:off x="1097280" y="3337560"/>
            <a:ext cx="319680" cy="31968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Text 20"/>
          <p:cNvSpPr/>
          <p:nvPr/>
        </p:nvSpPr>
        <p:spPr>
          <a:xfrm>
            <a:off x="1097280" y="33375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7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42" name="Text 21"/>
          <p:cNvSpPr/>
          <p:nvPr/>
        </p:nvSpPr>
        <p:spPr>
          <a:xfrm>
            <a:off x="1554480" y="33649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Choose while for unknown iterations, for for known sequences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3" name="Shape 22"/>
          <p:cNvSpPr/>
          <p:nvPr/>
        </p:nvSpPr>
        <p:spPr>
          <a:xfrm>
            <a:off x="1097280" y="3684960"/>
            <a:ext cx="319680" cy="31968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Text 23"/>
          <p:cNvSpPr/>
          <p:nvPr/>
        </p:nvSpPr>
        <p:spPr>
          <a:xfrm>
            <a:off x="1097280" y="36849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8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45" name="Text 24"/>
          <p:cNvSpPr/>
          <p:nvPr/>
        </p:nvSpPr>
        <p:spPr>
          <a:xfrm>
            <a:off x="1554480" y="37123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Use break/continue for flow control within loops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6" name="Text 25"/>
          <p:cNvSpPr/>
          <p:nvPr/>
        </p:nvSpPr>
        <p:spPr>
          <a:xfrm>
            <a:off x="457200" y="41148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ffd43b"/>
                </a:solidFill>
                <a:latin typeface="Arial"/>
                <a:ea typeface="Arial"/>
              </a:rPr>
              <a:t>Practice loops to master repetition control! 🔄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2026-02-03T04:18:12Z</dcterms:created>
  <dc:creator>Python Training Series</dc:creator>
  <dc:description/>
  <dc:language>en-IN</dc:language>
  <cp:lastModifiedBy/>
  <dcterms:modified xsi:type="dcterms:W3CDTF">2026-02-09T20:56:50Z</dcterms:modified>
  <cp:revision>3</cp:revision>
  <dc:subject>PptxGenJS Presentation</dc:subject>
  <dc:title>Python Repetition Control Instructions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