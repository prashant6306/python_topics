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124CE3E-51EC-417F-9FF3-E66DA369B6B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5EE433-9C5E-4B00-85F3-2218BDEC8F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45B36D-DD7A-4D0C-A6CB-96F7A770E0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8BFAFD-8DC7-4D9E-84F9-74C0C15FD5A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1E6C6A-E75E-4E9F-BF11-6714670005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13025A-CFC3-4F0F-8D54-78BD675A09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5BEA20-1978-4745-B9B0-411BA7BB6A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C61366-E9E3-414E-AAD0-C2CEC47241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C2E76C-6600-4C40-BA6E-445F1FA97B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E252F5-E88F-4084-B831-2661F1E812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502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Python File I/O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5087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fed7aa"/>
                </a:solidFill>
                <a:latin typeface="Calibri"/>
                <a:ea typeface="Calibri"/>
              </a:rPr>
              <a:t>Part 3B — File Operations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640080" y="2423160"/>
            <a:ext cx="3931560" cy="68544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777240" y="242316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Create &amp; Write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937760" y="2423160"/>
            <a:ext cx="3931560" cy="68544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5074920" y="242316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Check Existence &amp; Stats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40080" y="3291840"/>
            <a:ext cx="3931560" cy="68544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777240" y="329184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Copy Files with shutil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937760" y="3291840"/>
            <a:ext cx="3931560" cy="68544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5074920" y="329184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Rename &amp; Delete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57200" y="4462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Chapter 23 — Let Us Python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File Operations — Overview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228600" y="86868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228600" y="86868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320040" y="896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📄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Create a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291840" y="92340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os, built-in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38400" y="127116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7"/>
          <p:cNvSpPr/>
          <p:nvPr/>
        </p:nvSpPr>
        <p:spPr>
          <a:xfrm>
            <a:off x="411480" y="128916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open('name','w')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338400" y="160020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Use open() in write mode — creates if not exists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4690800" y="86868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0"/>
          <p:cNvSpPr/>
          <p:nvPr/>
        </p:nvSpPr>
        <p:spPr>
          <a:xfrm>
            <a:off x="4690800" y="86868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1"/>
          <p:cNvSpPr/>
          <p:nvPr/>
        </p:nvSpPr>
        <p:spPr>
          <a:xfrm>
            <a:off x="4782240" y="896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Check if file exists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754040" y="92340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os.path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4800600" y="127116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4873680" y="128916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os.path.exists()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4800600" y="160020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True/False — use before create or delete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228600" y="219456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7"/>
          <p:cNvSpPr/>
          <p:nvPr/>
        </p:nvSpPr>
        <p:spPr>
          <a:xfrm>
            <a:off x="228600" y="219456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8"/>
          <p:cNvSpPr/>
          <p:nvPr/>
        </p:nvSpPr>
        <p:spPr>
          <a:xfrm>
            <a:off x="320040" y="2221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📊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Get file statistics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3291840" y="224928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338400" y="259704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1"/>
          <p:cNvSpPr/>
          <p:nvPr/>
        </p:nvSpPr>
        <p:spPr>
          <a:xfrm>
            <a:off x="411480" y="261504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os.stat()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338400" y="292608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size in bytes, modification time, creation time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4690800" y="219456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4"/>
          <p:cNvSpPr/>
          <p:nvPr/>
        </p:nvSpPr>
        <p:spPr>
          <a:xfrm>
            <a:off x="4690800" y="219456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5"/>
          <p:cNvSpPr/>
          <p:nvPr/>
        </p:nvSpPr>
        <p:spPr>
          <a:xfrm>
            <a:off x="4782240" y="2221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✏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Rename or move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7754040" y="224928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4800600" y="259704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8"/>
          <p:cNvSpPr/>
          <p:nvPr/>
        </p:nvSpPr>
        <p:spPr>
          <a:xfrm>
            <a:off x="4873680" y="261504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os.rename()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4800600" y="292608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Works for both rename and move to new location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228600" y="352044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31"/>
          <p:cNvSpPr/>
          <p:nvPr/>
        </p:nvSpPr>
        <p:spPr>
          <a:xfrm>
            <a:off x="228600" y="352044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2"/>
          <p:cNvSpPr/>
          <p:nvPr/>
        </p:nvSpPr>
        <p:spPr>
          <a:xfrm>
            <a:off x="320040" y="3547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📋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Copy a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3291840" y="357516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shutil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338400" y="392292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5"/>
          <p:cNvSpPr/>
          <p:nvPr/>
        </p:nvSpPr>
        <p:spPr>
          <a:xfrm>
            <a:off x="411480" y="394092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shutil.copyfile()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338400" y="425196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Copies content only; use shutil.copy2() for metadata too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4690800" y="3520440"/>
            <a:ext cx="425160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Shape 38"/>
          <p:cNvSpPr/>
          <p:nvPr/>
        </p:nvSpPr>
        <p:spPr>
          <a:xfrm>
            <a:off x="4690800" y="3520440"/>
            <a:ext cx="4251600" cy="32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9"/>
          <p:cNvSpPr/>
          <p:nvPr/>
        </p:nvSpPr>
        <p:spPr>
          <a:xfrm>
            <a:off x="4782240" y="3547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🗑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Delete a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7754040" y="357516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cd34d"/>
                </a:solidFill>
                <a:latin typeface="Consolas"/>
                <a:ea typeface="Consolas"/>
              </a:rPr>
              <a:t>os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4800600" y="3922920"/>
            <a:ext cx="4023000" cy="255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42"/>
          <p:cNvSpPr/>
          <p:nvPr/>
        </p:nvSpPr>
        <p:spPr>
          <a:xfrm>
            <a:off x="4873680" y="394092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de80"/>
                </a:solidFill>
                <a:latin typeface="Consolas"/>
                <a:ea typeface="Consolas"/>
              </a:rPr>
              <a:t>os.remove()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4800600" y="4251960"/>
            <a:ext cx="4041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Permanently removes file — no recycle bin!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Creating Files —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Method 1: Using open() in write mode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open('report.txt', 'w')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fobj.write('Report generated.\n')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fobj.write('All values saved.')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File is created and closed automatically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Method 2: open() in exclusive create mode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'x' mode: fails if file already exists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try: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open('new_file.txt', 'x')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fobj.write('Created fresh!')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except FileExistsError: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print('File already exists!')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Method 3: Append mode creates if not exists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open('log.txt', 'a')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fobj.write('New log entry\n')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Method 4: Create a binary file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open('data.bin', 'wb')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fobj.write(bytes([0x50, 0x79, 0x74, 0x68]))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Method 5: Write multiple lines at once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lines = ['Line 1\n', 'Line 2\n', 'Line 3\n']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open('multi.txt', 'w')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9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fobj.writelines(lines)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0" name="Shape 29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30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31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Mode Quick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3" name="Shape 32"/>
          <p:cNvSpPr/>
          <p:nvPr/>
        </p:nvSpPr>
        <p:spPr>
          <a:xfrm>
            <a:off x="5687640" y="1298520"/>
            <a:ext cx="3977280" cy="502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3"/>
          <p:cNvSpPr/>
          <p:nvPr/>
        </p:nvSpPr>
        <p:spPr>
          <a:xfrm>
            <a:off x="5687640" y="1298520"/>
            <a:ext cx="65808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34"/>
          <p:cNvSpPr/>
          <p:nvPr/>
        </p:nvSpPr>
        <p:spPr>
          <a:xfrm>
            <a:off x="5687640" y="129852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'w'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6" name="Text 35"/>
          <p:cNvSpPr/>
          <p:nvPr/>
        </p:nvSpPr>
        <p:spPr>
          <a:xfrm>
            <a:off x="6400800" y="129852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Write — creates or overwrites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7" name="Shape 36"/>
          <p:cNvSpPr/>
          <p:nvPr/>
        </p:nvSpPr>
        <p:spPr>
          <a:xfrm>
            <a:off x="5687640" y="1865520"/>
            <a:ext cx="3977280" cy="502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37"/>
          <p:cNvSpPr/>
          <p:nvPr/>
        </p:nvSpPr>
        <p:spPr>
          <a:xfrm>
            <a:off x="5687640" y="1865520"/>
            <a:ext cx="65808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8"/>
          <p:cNvSpPr/>
          <p:nvPr/>
        </p:nvSpPr>
        <p:spPr>
          <a:xfrm>
            <a:off x="5687640" y="186552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'x'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Text 39"/>
          <p:cNvSpPr/>
          <p:nvPr/>
        </p:nvSpPr>
        <p:spPr>
          <a:xfrm>
            <a:off x="6400800" y="186552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Exclusive create — fails if exists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Shape 40"/>
          <p:cNvSpPr/>
          <p:nvPr/>
        </p:nvSpPr>
        <p:spPr>
          <a:xfrm>
            <a:off x="5687640" y="2432160"/>
            <a:ext cx="3977280" cy="502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41"/>
          <p:cNvSpPr/>
          <p:nvPr/>
        </p:nvSpPr>
        <p:spPr>
          <a:xfrm>
            <a:off x="5687640" y="2432160"/>
            <a:ext cx="65808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42"/>
          <p:cNvSpPr/>
          <p:nvPr/>
        </p:nvSpPr>
        <p:spPr>
          <a:xfrm>
            <a:off x="5687640" y="243216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'a'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Text 43"/>
          <p:cNvSpPr/>
          <p:nvPr/>
        </p:nvSpPr>
        <p:spPr>
          <a:xfrm>
            <a:off x="6400800" y="24321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Append — creates if not exists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44"/>
          <p:cNvSpPr/>
          <p:nvPr/>
        </p:nvSpPr>
        <p:spPr>
          <a:xfrm>
            <a:off x="5687640" y="2999160"/>
            <a:ext cx="3977280" cy="502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45"/>
          <p:cNvSpPr/>
          <p:nvPr/>
        </p:nvSpPr>
        <p:spPr>
          <a:xfrm>
            <a:off x="5687640" y="2999160"/>
            <a:ext cx="65808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46"/>
          <p:cNvSpPr/>
          <p:nvPr/>
        </p:nvSpPr>
        <p:spPr>
          <a:xfrm>
            <a:off x="5687640" y="299916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'wb'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8" name="Text 47"/>
          <p:cNvSpPr/>
          <p:nvPr/>
        </p:nvSpPr>
        <p:spPr>
          <a:xfrm>
            <a:off x="6400800" y="29991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Write binary — for non-text data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9" name="Shape 48"/>
          <p:cNvSpPr/>
          <p:nvPr/>
        </p:nvSpPr>
        <p:spPr>
          <a:xfrm>
            <a:off x="5687640" y="3566160"/>
            <a:ext cx="3977280" cy="502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49"/>
          <p:cNvSpPr/>
          <p:nvPr/>
        </p:nvSpPr>
        <p:spPr>
          <a:xfrm>
            <a:off x="5687640" y="3566160"/>
            <a:ext cx="65808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50"/>
          <p:cNvSpPr/>
          <p:nvPr/>
        </p:nvSpPr>
        <p:spPr>
          <a:xfrm>
            <a:off x="5687640" y="3566160"/>
            <a:ext cx="658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cd34d"/>
                </a:solidFill>
                <a:latin typeface="Consolas"/>
                <a:ea typeface="Consolas"/>
              </a:rPr>
              <a:t>'w+'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2" name="Text 51"/>
          <p:cNvSpPr/>
          <p:nvPr/>
        </p:nvSpPr>
        <p:spPr>
          <a:xfrm>
            <a:off x="6400800" y="35661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Write + read in same session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3" name="Shape 52"/>
          <p:cNvSpPr/>
          <p:nvPr/>
        </p:nvSpPr>
        <p:spPr>
          <a:xfrm>
            <a:off x="5687640" y="4160520"/>
            <a:ext cx="3062880" cy="639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53"/>
          <p:cNvSpPr/>
          <p:nvPr/>
        </p:nvSpPr>
        <p:spPr>
          <a:xfrm>
            <a:off x="5779080" y="4187880"/>
            <a:ext cx="2880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54d0e"/>
                </a:solidFill>
                <a:latin typeface="Calibri"/>
                <a:ea typeface="Calibri"/>
              </a:rPr>
              <a:t>⚠  </a:t>
            </a:r>
            <a:r>
              <a:rPr b="0" lang="en-US" sz="1100" spc="-1" strike="noStrike">
                <a:solidFill>
                  <a:srgbClr val="854d0e"/>
                </a:solidFill>
                <a:latin typeface="Calibri"/>
                <a:ea typeface="Calibri"/>
              </a:rPr>
              <a:t>'w' mode erases existing content immediately when the file is opened!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Georgia"/>
                <a:ea typeface="Georgia"/>
              </a:rPr>
              <a:t>Checking File Existence &amp; Statistics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Check if file or folder exists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print(os.path.exists('report.txt'))   # True/False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print(os.path.isfile('report.txt'))   # True if file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print(os.path.isdir('logs'))          # True if folder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open: only if file exists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filename = 'data.txt'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os.path.exists(filename):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with open(filename, 'r')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content = fobj.read()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print('File not found:', filename)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Get file statistics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stats = os.stat('report.txt')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print('Size:    ', stats.st_size, 'bytes')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print('Modified:', stats.st_mtime)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print('Created: ', stats.st_ctime)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9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Human-readable file size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1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datetime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2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mod_time = datetime.datetime.fromtimestamp(stats.st_mtime)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3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print('Last modified:', mod_time)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4" name="Shape 29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30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31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os.stat()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32"/>
          <p:cNvSpPr/>
          <p:nvPr/>
        </p:nvSpPr>
        <p:spPr>
          <a:xfrm>
            <a:off x="5687640" y="1298520"/>
            <a:ext cx="3062880" cy="347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33"/>
          <p:cNvSpPr/>
          <p:nvPr/>
        </p:nvSpPr>
        <p:spPr>
          <a:xfrm>
            <a:off x="5733360" y="131688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st_size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Text 34"/>
          <p:cNvSpPr/>
          <p:nvPr/>
        </p:nvSpPr>
        <p:spPr>
          <a:xfrm>
            <a:off x="6949440" y="131688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File size in bytes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Shape 35"/>
          <p:cNvSpPr/>
          <p:nvPr/>
        </p:nvSpPr>
        <p:spPr>
          <a:xfrm>
            <a:off x="5687640" y="1700640"/>
            <a:ext cx="3062880" cy="347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36"/>
          <p:cNvSpPr/>
          <p:nvPr/>
        </p:nvSpPr>
        <p:spPr>
          <a:xfrm>
            <a:off x="5733360" y="171900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st_mtime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37"/>
          <p:cNvSpPr/>
          <p:nvPr/>
        </p:nvSpPr>
        <p:spPr>
          <a:xfrm>
            <a:off x="6949440" y="17190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Last modification time (Unix timestamp)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Shape 38"/>
          <p:cNvSpPr/>
          <p:nvPr/>
        </p:nvSpPr>
        <p:spPr>
          <a:xfrm>
            <a:off x="5687640" y="2103120"/>
            <a:ext cx="3062880" cy="347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39"/>
          <p:cNvSpPr/>
          <p:nvPr/>
        </p:nvSpPr>
        <p:spPr>
          <a:xfrm>
            <a:off x="5733360" y="212148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st_ctime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5" name="Text 40"/>
          <p:cNvSpPr/>
          <p:nvPr/>
        </p:nvSpPr>
        <p:spPr>
          <a:xfrm>
            <a:off x="6949440" y="212148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Creation time (or metadata change on Linux)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Shape 41"/>
          <p:cNvSpPr/>
          <p:nvPr/>
        </p:nvSpPr>
        <p:spPr>
          <a:xfrm>
            <a:off x="5687640" y="2505600"/>
            <a:ext cx="3062880" cy="347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2"/>
          <p:cNvSpPr/>
          <p:nvPr/>
        </p:nvSpPr>
        <p:spPr>
          <a:xfrm>
            <a:off x="5733360" y="252360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st_atime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Text 43"/>
          <p:cNvSpPr/>
          <p:nvPr/>
        </p:nvSpPr>
        <p:spPr>
          <a:xfrm>
            <a:off x="6949440" y="25236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Last access 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Shape 44"/>
          <p:cNvSpPr/>
          <p:nvPr/>
        </p:nvSpPr>
        <p:spPr>
          <a:xfrm>
            <a:off x="5687640" y="2907720"/>
            <a:ext cx="3062880" cy="347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45"/>
          <p:cNvSpPr/>
          <p:nvPr/>
        </p:nvSpPr>
        <p:spPr>
          <a:xfrm>
            <a:off x="5733360" y="292608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st_mode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1" name="Text 46"/>
          <p:cNvSpPr/>
          <p:nvPr/>
        </p:nvSpPr>
        <p:spPr>
          <a:xfrm>
            <a:off x="6949440" y="292608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File permissions and type bits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Shape 47"/>
          <p:cNvSpPr/>
          <p:nvPr/>
        </p:nvSpPr>
        <p:spPr>
          <a:xfrm>
            <a:off x="5687640" y="3310200"/>
            <a:ext cx="3062880" cy="347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48"/>
          <p:cNvSpPr/>
          <p:nvPr/>
        </p:nvSpPr>
        <p:spPr>
          <a:xfrm>
            <a:off x="5733360" y="332856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st_uid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4" name="Text 49"/>
          <p:cNvSpPr/>
          <p:nvPr/>
        </p:nvSpPr>
        <p:spPr>
          <a:xfrm>
            <a:off x="6949440" y="332856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User ID of file owner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Shape 50"/>
          <p:cNvSpPr/>
          <p:nvPr/>
        </p:nvSpPr>
        <p:spPr>
          <a:xfrm>
            <a:off x="5687640" y="3712320"/>
            <a:ext cx="3062880" cy="347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51"/>
          <p:cNvSpPr/>
          <p:nvPr/>
        </p:nvSpPr>
        <p:spPr>
          <a:xfrm>
            <a:off x="5733360" y="3730680"/>
            <a:ext cx="117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onsolas"/>
                <a:ea typeface="Consolas"/>
              </a:rPr>
              <a:t>st_gid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7" name="Text 52"/>
          <p:cNvSpPr/>
          <p:nvPr/>
        </p:nvSpPr>
        <p:spPr>
          <a:xfrm>
            <a:off x="6949440" y="373068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Group ID of file owner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53"/>
          <p:cNvSpPr/>
          <p:nvPr/>
        </p:nvSpPr>
        <p:spPr>
          <a:xfrm>
            <a:off x="5687640" y="4160520"/>
            <a:ext cx="3062880" cy="6580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54"/>
          <p:cNvSpPr/>
          <p:nvPr/>
        </p:nvSpPr>
        <p:spPr>
          <a:xfrm>
            <a:off x="5779080" y="420624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4532d"/>
                </a:solidFill>
                <a:latin typeface="Calibri"/>
                <a:ea typeface="Calibri"/>
              </a:rPr>
              <a:t>💡 </a:t>
            </a:r>
            <a:r>
              <a:rPr b="0" lang="en-US" sz="1050" spc="-1" strike="noStrike">
                <a:solidFill>
                  <a:srgbClr val="14532d"/>
                </a:solidFill>
                <a:latin typeface="Calibri"/>
                <a:ea typeface="Calibri"/>
              </a:rPr>
              <a:t>Use datetime.datetime.fromtimestamp() to convert Unix time to human-readable format.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Copying Files with shutil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shutil.copyfile(): copy content only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shutil.copyfile('report.txt', 'report_bk.txt')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Copies bytes only; no permissions/metadata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shutil.copy(): copy + permissions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shutil.copy('report.txt', 'backup/report.txt')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Also copies file permissions (chmod bits)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shutil.copy2(): copy + ALL metadata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shutil.copy2('report.txt', 'archive/report.txt')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Preserves timestamps + permissions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Copy into a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9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shutil.copy('report.txt', 'backups/')  # keeps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0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copy with existence check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src = 'data.csv'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3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dst = 'data_backup.csv'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4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os.path.exists(src):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5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shutil.copyfile(src,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print('Copied:', src, '→',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7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size = os.stat(dst).st_size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8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print('Backup size:', size, 'bytes')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9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0" name="Text 30"/>
          <p:cNvSpPr/>
          <p:nvPr/>
        </p:nvSpPr>
        <p:spPr>
          <a:xfrm>
            <a:off x="365760" y="5107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print('Source file not found!')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1" name="Shape 31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32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33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shutil Functions Compared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Shape 34"/>
          <p:cNvSpPr/>
          <p:nvPr/>
        </p:nvSpPr>
        <p:spPr>
          <a:xfrm>
            <a:off x="5687640" y="1298520"/>
            <a:ext cx="3062880" cy="63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35"/>
          <p:cNvSpPr/>
          <p:nvPr/>
        </p:nvSpPr>
        <p:spPr>
          <a:xfrm>
            <a:off x="5760720" y="132588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copyfile(src,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6" name="Text 36"/>
          <p:cNvSpPr/>
          <p:nvPr/>
        </p:nvSpPr>
        <p:spPr>
          <a:xfrm>
            <a:off x="5760720" y="155448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Content ✓  Perms: No  Meta: No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Text 37"/>
          <p:cNvSpPr/>
          <p:nvPr/>
        </p:nvSpPr>
        <p:spPr>
          <a:xfrm>
            <a:off x="5760720" y="175572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Fastest. dst must be full path.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8" name="Shape 38"/>
          <p:cNvSpPr/>
          <p:nvPr/>
        </p:nvSpPr>
        <p:spPr>
          <a:xfrm>
            <a:off x="5687640" y="2011680"/>
            <a:ext cx="3062880" cy="639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39"/>
          <p:cNvSpPr/>
          <p:nvPr/>
        </p:nvSpPr>
        <p:spPr>
          <a:xfrm>
            <a:off x="5760720" y="203904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copy(src,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0" name="Text 40"/>
          <p:cNvSpPr/>
          <p:nvPr/>
        </p:nvSpPr>
        <p:spPr>
          <a:xfrm>
            <a:off x="5760720" y="226764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Content ✓  Perms: Yes  Meta: No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41"/>
          <p:cNvSpPr/>
          <p:nvPr/>
        </p:nvSpPr>
        <p:spPr>
          <a:xfrm>
            <a:off x="5760720" y="246888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Copies chmod bits too.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42"/>
          <p:cNvSpPr/>
          <p:nvPr/>
        </p:nvSpPr>
        <p:spPr>
          <a:xfrm>
            <a:off x="5687640" y="2724840"/>
            <a:ext cx="3062880" cy="639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43"/>
          <p:cNvSpPr/>
          <p:nvPr/>
        </p:nvSpPr>
        <p:spPr>
          <a:xfrm>
            <a:off x="5760720" y="275220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copy2(src,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4" name="Text 44"/>
          <p:cNvSpPr/>
          <p:nvPr/>
        </p:nvSpPr>
        <p:spPr>
          <a:xfrm>
            <a:off x="5760720" y="298080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Content ✓  Perms: Yes  Meta: Yes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Text 45"/>
          <p:cNvSpPr/>
          <p:nvPr/>
        </p:nvSpPr>
        <p:spPr>
          <a:xfrm>
            <a:off x="5760720" y="318204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Best for true archive copies.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6" name="Shape 46"/>
          <p:cNvSpPr/>
          <p:nvPr/>
        </p:nvSpPr>
        <p:spPr>
          <a:xfrm>
            <a:off x="5687640" y="3438000"/>
            <a:ext cx="3062880" cy="639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47"/>
          <p:cNvSpPr/>
          <p:nvPr/>
        </p:nvSpPr>
        <p:spPr>
          <a:xfrm>
            <a:off x="5760720" y="3465720"/>
            <a:ext cx="2880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copytree(s, d)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8" name="Text 48"/>
          <p:cNvSpPr/>
          <p:nvPr/>
        </p:nvSpPr>
        <p:spPr>
          <a:xfrm>
            <a:off x="5760720" y="36943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Content ✓  Perms: Yes  Meta: Yes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49"/>
          <p:cNvSpPr/>
          <p:nvPr/>
        </p:nvSpPr>
        <p:spPr>
          <a:xfrm>
            <a:off x="5760720" y="389520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Copies an entire directory tree.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Renaming &amp; Moving Files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3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Rename a file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os.rename('old_name.txt', 'new_name.txt')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Move a file to another directory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os.rename('report.txt', 'archive/report.txt')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Same function! Moving = renaming the path.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rename: check src exists first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src = 'draft.txt'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dst = 'final.txt'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os.path.exists(src):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not os.path.exists(dst):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os.rename(src,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print('Renamed to:', dst)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0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print('Destination already exists!')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print('Source not found:', src)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4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shutil.move() is more powerful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shutil.move('file.txt', 'new_folder/')  # move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shutil.move('file.txt', 'renamed.txt')  # rename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shutil.move() works ACROSS different drives too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0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31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os.rename() vs shutil.move()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92" name="Shape 32"/>
          <p:cNvSpPr/>
          <p:nvPr/>
        </p:nvSpPr>
        <p:spPr>
          <a:xfrm>
            <a:off x="5687640" y="1298520"/>
            <a:ext cx="3062880" cy="126144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33"/>
          <p:cNvSpPr/>
          <p:nvPr/>
        </p:nvSpPr>
        <p:spPr>
          <a:xfrm>
            <a:off x="5779080" y="135324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9488"/>
                </a:solidFill>
                <a:latin typeface="Consolas"/>
                <a:ea typeface="Consolas"/>
              </a:rPr>
              <a:t>os.rename(src, dst)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4" name="Text 34"/>
          <p:cNvSpPr/>
          <p:nvPr/>
        </p:nvSpPr>
        <p:spPr>
          <a:xfrm>
            <a:off x="5779080" y="162756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Built into the os module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5" name="Text 35"/>
          <p:cNvSpPr/>
          <p:nvPr/>
        </p:nvSpPr>
        <p:spPr>
          <a:xfrm>
            <a:off x="5779080" y="185616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Renames within the same drive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6" name="Text 36"/>
          <p:cNvSpPr/>
          <p:nvPr/>
        </p:nvSpPr>
        <p:spPr>
          <a:xfrm>
            <a:off x="5779080" y="208476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Fails across different drives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7" name="Text 37"/>
          <p:cNvSpPr/>
          <p:nvPr/>
        </p:nvSpPr>
        <p:spPr>
          <a:xfrm>
            <a:off x="5779080" y="231336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dst must NOT already exist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8" name="Shape 38"/>
          <p:cNvSpPr/>
          <p:nvPr/>
        </p:nvSpPr>
        <p:spPr>
          <a:xfrm>
            <a:off x="5687640" y="2688480"/>
            <a:ext cx="3062880" cy="1261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39"/>
          <p:cNvSpPr/>
          <p:nvPr/>
        </p:nvSpPr>
        <p:spPr>
          <a:xfrm>
            <a:off x="5779080" y="274320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6a34a"/>
                </a:solidFill>
                <a:latin typeface="Consolas"/>
                <a:ea typeface="Consolas"/>
              </a:rPr>
              <a:t>shutil.move(src, dst)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00" name="Text 40"/>
          <p:cNvSpPr/>
          <p:nvPr/>
        </p:nvSpPr>
        <p:spPr>
          <a:xfrm>
            <a:off x="5779080" y="30175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Requires import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1" name="Text 41"/>
          <p:cNvSpPr/>
          <p:nvPr/>
        </p:nvSpPr>
        <p:spPr>
          <a:xfrm>
            <a:off x="5779080" y="32461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Works across different drives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2" name="Text 42"/>
          <p:cNvSpPr/>
          <p:nvPr/>
        </p:nvSpPr>
        <p:spPr>
          <a:xfrm>
            <a:off x="5779080" y="34747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Can rename and move at once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3" name="Text 43"/>
          <p:cNvSpPr/>
          <p:nvPr/>
        </p:nvSpPr>
        <p:spPr>
          <a:xfrm>
            <a:off x="5779080" y="37033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• </a:t>
            </a:r>
            <a:r>
              <a:rPr b="0" lang="en-US" sz="1050" spc="-1" strike="noStrike">
                <a:solidFill>
                  <a:srgbClr val="475569"/>
                </a:solidFill>
                <a:latin typeface="Calibri"/>
                <a:ea typeface="Calibri"/>
              </a:rPr>
              <a:t>Overwrites dst if it exists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4" name="Shape 44"/>
          <p:cNvSpPr/>
          <p:nvPr/>
        </p:nvSpPr>
        <p:spPr>
          <a:xfrm>
            <a:off x="5687640" y="4160520"/>
            <a:ext cx="3062880" cy="658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45"/>
          <p:cNvSpPr/>
          <p:nvPr/>
        </p:nvSpPr>
        <p:spPr>
          <a:xfrm>
            <a:off x="5779080" y="420624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54d0e"/>
                </a:solidFill>
                <a:latin typeface="Calibri"/>
                <a:ea typeface="Calibri"/>
              </a:rPr>
              <a:t>💡 </a:t>
            </a:r>
            <a:r>
              <a:rPr b="0" lang="en-US" sz="1050" spc="-1" strike="noStrike">
                <a:solidFill>
                  <a:srgbClr val="854d0e"/>
                </a:solidFill>
                <a:latin typeface="Calibri"/>
                <a:ea typeface="Calibri"/>
              </a:rPr>
              <a:t>Prefer shutil.move() for robustness — handles edge cases os.rename() can't.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Deleting Files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Delete a single file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os.remove('temp.txt')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File is gone permanently — no recycle bin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Safe delete: check first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filename = 'old_report.txt'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os.path.exists(filename):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os.remove(filename)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print('Deleted:', filename)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else: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print('File not found:', filename)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2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3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Handle errors with try/except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try: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5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os.remove('locked_file.txt')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6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print('Deleted successfully')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except FileNotFoundError: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print('File does not exist')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except PermissionError: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0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print('No permission to delete')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except OSError as err: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2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print('Error:', err)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3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4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--- os.unlink() is identical to os.remove() ---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5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os.unlink('same_as_remove.txt')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6" name="Shape 30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Shape 31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32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Deletion Warnings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Text 33"/>
          <p:cNvSpPr/>
          <p:nvPr/>
        </p:nvSpPr>
        <p:spPr>
          <a:xfrm>
            <a:off x="5687640" y="1298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🗑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0" name="Text 34"/>
          <p:cNvSpPr/>
          <p:nvPr/>
        </p:nvSpPr>
        <p:spPr>
          <a:xfrm>
            <a:off x="6080760" y="129852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No undo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1" name="Text 35"/>
          <p:cNvSpPr/>
          <p:nvPr/>
        </p:nvSpPr>
        <p:spPr>
          <a:xfrm>
            <a:off x="6080760" y="157284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os.remove() bypasses the recycle bin. Deletion is permanent and immediate.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2" name="Text 36"/>
          <p:cNvSpPr/>
          <p:nvPr/>
        </p:nvSpPr>
        <p:spPr>
          <a:xfrm>
            <a:off x="5687640" y="2011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📁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Text 37"/>
          <p:cNvSpPr/>
          <p:nvPr/>
        </p:nvSpPr>
        <p:spPr>
          <a:xfrm>
            <a:off x="6080760" y="201168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Directories: use rmdir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4" name="Text 38"/>
          <p:cNvSpPr/>
          <p:nvPr/>
        </p:nvSpPr>
        <p:spPr>
          <a:xfrm>
            <a:off x="6080760" y="228600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os.remove() only works on files. To remove a directory, use os.rmdir() instead.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5" name="Text 39"/>
          <p:cNvSpPr/>
          <p:nvPr/>
        </p:nvSpPr>
        <p:spPr>
          <a:xfrm>
            <a:off x="5687640" y="2724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🔒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6" name="Text 40"/>
          <p:cNvSpPr/>
          <p:nvPr/>
        </p:nvSpPr>
        <p:spPr>
          <a:xfrm>
            <a:off x="6080760" y="272484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Permissions matter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7" name="Text 41"/>
          <p:cNvSpPr/>
          <p:nvPr/>
        </p:nvSpPr>
        <p:spPr>
          <a:xfrm>
            <a:off x="6080760" y="299916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On Linux/Mac, you must have write permission on the file and its parent directory.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8" name="Text 42"/>
          <p:cNvSpPr/>
          <p:nvPr/>
        </p:nvSpPr>
        <p:spPr>
          <a:xfrm>
            <a:off x="5687640" y="34380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9" name="Text 43"/>
          <p:cNvSpPr/>
          <p:nvPr/>
        </p:nvSpPr>
        <p:spPr>
          <a:xfrm>
            <a:off x="6080760" y="3438000"/>
            <a:ext cx="2761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Test before production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50" name="Text 44"/>
          <p:cNvSpPr/>
          <p:nvPr/>
        </p:nvSpPr>
        <p:spPr>
          <a:xfrm>
            <a:off x="6080760" y="3712320"/>
            <a:ext cx="2761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Always test deletion logic with safe print() statements before running for real.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"/>
          <p:cNvSpPr/>
          <p:nvPr/>
        </p:nvSpPr>
        <p:spPr>
          <a:xfrm>
            <a:off x="274320" y="0"/>
            <a:ext cx="8595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Complete File Operations Program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228600" y="868680"/>
            <a:ext cx="5120280" cy="406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Text 3"/>
          <p:cNvSpPr/>
          <p:nvPr/>
        </p:nvSpPr>
        <p:spPr>
          <a:xfrm>
            <a:off x="365760" y="9601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import os, shutil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365760" y="11138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365760" y="1267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fname = 'notes.txt'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365760" y="14209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365760" y="15746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Step 1: Create the file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9" name="Text 8"/>
          <p:cNvSpPr/>
          <p:nvPr/>
        </p:nvSpPr>
        <p:spPr>
          <a:xfrm>
            <a:off x="365760" y="1728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with open(fname, 'w') as fobj: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0" name="Text 9"/>
          <p:cNvSpPr/>
          <p:nvPr/>
        </p:nvSpPr>
        <p:spPr>
          <a:xfrm>
            <a:off x="365760" y="18817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fobj.write('Python notes\n')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365760" y="20354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fobj.write('File I/O chapter\n')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2" name="Text 11"/>
          <p:cNvSpPr/>
          <p:nvPr/>
        </p:nvSpPr>
        <p:spPr>
          <a:xfrm>
            <a:off x="365760" y="21891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3" name="Text 12"/>
          <p:cNvSpPr/>
          <p:nvPr/>
        </p:nvSpPr>
        <p:spPr>
          <a:xfrm>
            <a:off x="365760" y="2342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Step 2: Verify it exists + get stats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4" name="Text 13"/>
          <p:cNvSpPr/>
          <p:nvPr/>
        </p:nvSpPr>
        <p:spPr>
          <a:xfrm>
            <a:off x="365760" y="24962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os.path.isfile(fname):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5" name="Text 14"/>
          <p:cNvSpPr/>
          <p:nvPr/>
        </p:nvSpPr>
        <p:spPr>
          <a:xfrm>
            <a:off x="365760" y="26499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info = os.stat(fname)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6" name="Text 15"/>
          <p:cNvSpPr/>
          <p:nvPr/>
        </p:nvSpPr>
        <p:spPr>
          <a:xfrm>
            <a:off x="365760" y="28036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print('Size:', info.st_size, 'bytes')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7" name="Text 16"/>
          <p:cNvSpPr/>
          <p:nvPr/>
        </p:nvSpPr>
        <p:spPr>
          <a:xfrm>
            <a:off x="365760" y="295704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8" name="Text 17"/>
          <p:cNvSpPr/>
          <p:nvPr/>
        </p:nvSpPr>
        <p:spPr>
          <a:xfrm>
            <a:off x="365760" y="31107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Step 3: Copy to backup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9" name="Text 18"/>
          <p:cNvSpPr/>
          <p:nvPr/>
        </p:nvSpPr>
        <p:spPr>
          <a:xfrm>
            <a:off x="365760" y="32644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backup = 'notes_backup.txt'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0" name="Text 19"/>
          <p:cNvSpPr/>
          <p:nvPr/>
        </p:nvSpPr>
        <p:spPr>
          <a:xfrm>
            <a:off x="365760" y="34182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shutil.copyfile(fname, backup)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1" name="Text 20"/>
          <p:cNvSpPr/>
          <p:nvPr/>
        </p:nvSpPr>
        <p:spPr>
          <a:xfrm>
            <a:off x="365760" y="35715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print('Backup created:', backup)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2" name="Text 21"/>
          <p:cNvSpPr/>
          <p:nvPr/>
        </p:nvSpPr>
        <p:spPr>
          <a:xfrm>
            <a:off x="365760" y="37252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3" name="Text 22"/>
          <p:cNvSpPr/>
          <p:nvPr/>
        </p:nvSpPr>
        <p:spPr>
          <a:xfrm>
            <a:off x="365760" y="38790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Step 4: Rename original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4" name="Text 23"/>
          <p:cNvSpPr/>
          <p:nvPr/>
        </p:nvSpPr>
        <p:spPr>
          <a:xfrm>
            <a:off x="365760" y="403236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e9178"/>
                </a:solidFill>
                <a:latin typeface="Consolas"/>
                <a:ea typeface="Consolas"/>
              </a:rPr>
              <a:t>os.rename(fname, 'notes_final.txt')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5" name="Text 24"/>
          <p:cNvSpPr/>
          <p:nvPr/>
        </p:nvSpPr>
        <p:spPr>
          <a:xfrm>
            <a:off x="365760" y="41860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print('Renamed to notes_final.txt')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6" name="Text 25"/>
          <p:cNvSpPr/>
          <p:nvPr/>
        </p:nvSpPr>
        <p:spPr>
          <a:xfrm>
            <a:off x="365760" y="43398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7" name="Text 26"/>
          <p:cNvSpPr/>
          <p:nvPr/>
        </p:nvSpPr>
        <p:spPr>
          <a:xfrm>
            <a:off x="365760" y="44935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a9955"/>
                </a:solidFill>
                <a:latin typeface="Consolas"/>
                <a:ea typeface="Consolas"/>
              </a:rPr>
              <a:t># Step 5: Delete backup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8" name="Text 27"/>
          <p:cNvSpPr/>
          <p:nvPr/>
        </p:nvSpPr>
        <p:spPr>
          <a:xfrm>
            <a:off x="365760" y="464688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if os.path.exists(backup):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Text 28"/>
          <p:cNvSpPr/>
          <p:nvPr/>
        </p:nvSpPr>
        <p:spPr>
          <a:xfrm>
            <a:off x="365760" y="480060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os.remove(backup)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0" name="Text 29"/>
          <p:cNvSpPr/>
          <p:nvPr/>
        </p:nvSpPr>
        <p:spPr>
          <a:xfrm>
            <a:off x="365760" y="4954320"/>
            <a:ext cx="489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67e8f9"/>
                </a:solidFill>
                <a:latin typeface="Consolas"/>
                <a:ea typeface="Consolas"/>
              </a:rPr>
              <a:t>print('Backup deleted')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1" name="Shape 30"/>
          <p:cNvSpPr/>
          <p:nvPr/>
        </p:nvSpPr>
        <p:spPr>
          <a:xfrm>
            <a:off x="5577840" y="868680"/>
            <a:ext cx="3337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Shape 31"/>
          <p:cNvSpPr/>
          <p:nvPr/>
        </p:nvSpPr>
        <p:spPr>
          <a:xfrm>
            <a:off x="5577840" y="868680"/>
            <a:ext cx="3337200" cy="347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Text 32"/>
          <p:cNvSpPr/>
          <p:nvPr/>
        </p:nvSpPr>
        <p:spPr>
          <a:xfrm>
            <a:off x="5687640" y="8686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Steps in This Program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4" name="Shape 33"/>
          <p:cNvSpPr/>
          <p:nvPr/>
        </p:nvSpPr>
        <p:spPr>
          <a:xfrm>
            <a:off x="5687640" y="1298520"/>
            <a:ext cx="3062880" cy="594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34"/>
          <p:cNvSpPr/>
          <p:nvPr/>
        </p:nvSpPr>
        <p:spPr>
          <a:xfrm>
            <a:off x="5687640" y="1298520"/>
            <a:ext cx="2923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35"/>
          <p:cNvSpPr/>
          <p:nvPr/>
        </p:nvSpPr>
        <p:spPr>
          <a:xfrm>
            <a:off x="5687640" y="1298520"/>
            <a:ext cx="29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7" name="Text 36"/>
          <p:cNvSpPr/>
          <p:nvPr/>
        </p:nvSpPr>
        <p:spPr>
          <a:xfrm>
            <a:off x="6035040" y="132588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Create with open()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8" name="Text 37"/>
          <p:cNvSpPr/>
          <p:nvPr/>
        </p:nvSpPr>
        <p:spPr>
          <a:xfrm>
            <a:off x="6035040" y="157284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open('name','w')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9" name="Shape 38"/>
          <p:cNvSpPr/>
          <p:nvPr/>
        </p:nvSpPr>
        <p:spPr>
          <a:xfrm>
            <a:off x="5687640" y="1956960"/>
            <a:ext cx="3062880" cy="594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39"/>
          <p:cNvSpPr/>
          <p:nvPr/>
        </p:nvSpPr>
        <p:spPr>
          <a:xfrm>
            <a:off x="5687640" y="1956960"/>
            <a:ext cx="2923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40"/>
          <p:cNvSpPr/>
          <p:nvPr/>
        </p:nvSpPr>
        <p:spPr>
          <a:xfrm>
            <a:off x="5687640" y="1956960"/>
            <a:ext cx="29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2" name="Text 41"/>
          <p:cNvSpPr/>
          <p:nvPr/>
        </p:nvSpPr>
        <p:spPr>
          <a:xfrm>
            <a:off x="6035040" y="198432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Verify + read stats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3" name="Text 42"/>
          <p:cNvSpPr/>
          <p:nvPr/>
        </p:nvSpPr>
        <p:spPr>
          <a:xfrm>
            <a:off x="6035040" y="223128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os.path.isfile() + os.stat()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4" name="Shape 43"/>
          <p:cNvSpPr/>
          <p:nvPr/>
        </p:nvSpPr>
        <p:spPr>
          <a:xfrm>
            <a:off x="5687640" y="2615040"/>
            <a:ext cx="3062880" cy="594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44"/>
          <p:cNvSpPr/>
          <p:nvPr/>
        </p:nvSpPr>
        <p:spPr>
          <a:xfrm>
            <a:off x="5687640" y="2615040"/>
            <a:ext cx="2923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45"/>
          <p:cNvSpPr/>
          <p:nvPr/>
        </p:nvSpPr>
        <p:spPr>
          <a:xfrm>
            <a:off x="5687640" y="2615040"/>
            <a:ext cx="29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7" name="Text 46"/>
          <p:cNvSpPr/>
          <p:nvPr/>
        </p:nvSpPr>
        <p:spPr>
          <a:xfrm>
            <a:off x="6035040" y="264276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Copy to backup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8" name="Text 47"/>
          <p:cNvSpPr/>
          <p:nvPr/>
        </p:nvSpPr>
        <p:spPr>
          <a:xfrm>
            <a:off x="6035040" y="288936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shutil.copyfile()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9" name="Shape 48"/>
          <p:cNvSpPr/>
          <p:nvPr/>
        </p:nvSpPr>
        <p:spPr>
          <a:xfrm>
            <a:off x="5687640" y="3273480"/>
            <a:ext cx="3062880" cy="594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49"/>
          <p:cNvSpPr/>
          <p:nvPr/>
        </p:nvSpPr>
        <p:spPr>
          <a:xfrm>
            <a:off x="5687640" y="3273480"/>
            <a:ext cx="2923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50"/>
          <p:cNvSpPr/>
          <p:nvPr/>
        </p:nvSpPr>
        <p:spPr>
          <a:xfrm>
            <a:off x="5687640" y="3273480"/>
            <a:ext cx="29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2" name="Text 51"/>
          <p:cNvSpPr/>
          <p:nvPr/>
        </p:nvSpPr>
        <p:spPr>
          <a:xfrm>
            <a:off x="6035040" y="330084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Rename original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3" name="Text 52"/>
          <p:cNvSpPr/>
          <p:nvPr/>
        </p:nvSpPr>
        <p:spPr>
          <a:xfrm>
            <a:off x="6035040" y="354780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os.rename()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4" name="Shape 53"/>
          <p:cNvSpPr/>
          <p:nvPr/>
        </p:nvSpPr>
        <p:spPr>
          <a:xfrm>
            <a:off x="5687640" y="3931920"/>
            <a:ext cx="3062880" cy="594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54"/>
          <p:cNvSpPr/>
          <p:nvPr/>
        </p:nvSpPr>
        <p:spPr>
          <a:xfrm>
            <a:off x="5687640" y="3931920"/>
            <a:ext cx="292320" cy="594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55"/>
          <p:cNvSpPr/>
          <p:nvPr/>
        </p:nvSpPr>
        <p:spPr>
          <a:xfrm>
            <a:off x="5687640" y="3931920"/>
            <a:ext cx="29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7" name="Text 56"/>
          <p:cNvSpPr/>
          <p:nvPr/>
        </p:nvSpPr>
        <p:spPr>
          <a:xfrm>
            <a:off x="6035040" y="395928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Delete safely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8" name="Text 57"/>
          <p:cNvSpPr/>
          <p:nvPr/>
        </p:nvSpPr>
        <p:spPr>
          <a:xfrm>
            <a:off x="6035040" y="420624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9488"/>
                </a:solidFill>
                <a:latin typeface="Consolas"/>
                <a:ea typeface="Consolas"/>
              </a:rPr>
              <a:t>os.path.exists() + os.remove()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Shape 1"/>
          <p:cNvSpPr/>
          <p:nvPr/>
        </p:nvSpPr>
        <p:spPr>
          <a:xfrm>
            <a:off x="0" y="4434840"/>
            <a:ext cx="9143640" cy="708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Text 2"/>
          <p:cNvSpPr/>
          <p:nvPr/>
        </p:nvSpPr>
        <p:spPr>
          <a:xfrm>
            <a:off x="365760" y="18288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Part 3B Summary — File Operations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365760" y="96012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3" name="Text 4"/>
          <p:cNvSpPr/>
          <p:nvPr/>
        </p:nvSpPr>
        <p:spPr>
          <a:xfrm>
            <a:off x="475560" y="101484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📄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Creating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475560" y="134424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open() in 'w' mode creates the file. Use 'x' mode to create exclusively. 'a' appends.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4800600" y="96012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6" name="Text 7"/>
          <p:cNvSpPr/>
          <p:nvPr/>
        </p:nvSpPr>
        <p:spPr>
          <a:xfrm>
            <a:off x="4910400" y="101484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Checking Existence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4910400" y="134424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os.path.exists() — True/False. os.path.isfile() for files, os.path.isdir() for dirs.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365760" y="201168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9" name="Text 10"/>
          <p:cNvSpPr/>
          <p:nvPr/>
        </p:nvSpPr>
        <p:spPr>
          <a:xfrm>
            <a:off x="475560" y="206640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📊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File Statistics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475560" y="239580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os.stat() returns st_size, st_mtime, st_ctime, st_atime and more. Use datetime to format.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1" name="Shape 12"/>
          <p:cNvSpPr/>
          <p:nvPr/>
        </p:nvSpPr>
        <p:spPr>
          <a:xfrm>
            <a:off x="4800600" y="201168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2" name="Text 13"/>
          <p:cNvSpPr/>
          <p:nvPr/>
        </p:nvSpPr>
        <p:spPr>
          <a:xfrm>
            <a:off x="4910400" y="206640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📋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Copying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3" name="Text 14"/>
          <p:cNvSpPr/>
          <p:nvPr/>
        </p:nvSpPr>
        <p:spPr>
          <a:xfrm>
            <a:off x="4910400" y="239580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shutil.copyfile() — content only. shutil.copy() adds perms. shutil.copy2() adds metadata.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4" name="Shape 15"/>
          <p:cNvSpPr/>
          <p:nvPr/>
        </p:nvSpPr>
        <p:spPr>
          <a:xfrm>
            <a:off x="365760" y="306324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5" name="Text 16"/>
          <p:cNvSpPr/>
          <p:nvPr/>
        </p:nvSpPr>
        <p:spPr>
          <a:xfrm>
            <a:off x="475560" y="311796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✏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Renaming &amp; Moving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6" name="Text 17"/>
          <p:cNvSpPr/>
          <p:nvPr/>
        </p:nvSpPr>
        <p:spPr>
          <a:xfrm>
            <a:off x="475560" y="344736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os.rename(old, new) works for both. Use shutil.move() for cross-drive moves.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4800600" y="3063240"/>
            <a:ext cx="3977280" cy="9324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8" name="Text 19"/>
          <p:cNvSpPr/>
          <p:nvPr/>
        </p:nvSpPr>
        <p:spPr>
          <a:xfrm>
            <a:off x="4910400" y="3117960"/>
            <a:ext cx="3757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🗑 </a:t>
            </a:r>
            <a:r>
              <a:rPr b="1" lang="en-US" sz="1400" spc="-1" strike="noStrike">
                <a:solidFill>
                  <a:srgbClr val="fed7aa"/>
                </a:solidFill>
                <a:latin typeface="Calibri"/>
                <a:ea typeface="Calibri"/>
              </a:rPr>
              <a:t>Deleting Files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9" name="Text 20"/>
          <p:cNvSpPr/>
          <p:nvPr/>
        </p:nvSpPr>
        <p:spPr>
          <a:xfrm>
            <a:off x="4910400" y="344736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os.remove() is permanent — no undo. Always check existence first. Use try/except.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0" name="Text 21"/>
          <p:cNvSpPr/>
          <p:nvPr/>
        </p:nvSpPr>
        <p:spPr>
          <a:xfrm>
            <a:off x="365760" y="446220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Next: Part 3C — Directory &amp; Path Operations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2026-03-08T04:48:23Z</dcterms:created>
  <dc:creator>PptxGenJS</dc:creator>
  <dc:description/>
  <dc:language>en-IN</dc:language>
  <cp:lastModifiedBy/>
  <dcterms:modified xsi:type="dcterms:W3CDTF">2026-03-09T22:29:00Z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