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C493F85-EA17-4231-9144-9F4F26AC9E28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36671A6-5496-4BFB-8BE2-FF7E762B02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53F5F15-58C2-4820-89A5-FA9B5151CA6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E7A63A3-7A95-43E7-8E0E-4361553A0A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963CC0-17CA-414D-AEC9-DA8EB39587F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E69145-1BED-4F8C-BFB0-7E5F1756196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C4C2CB-8ADA-49AB-93A4-1D580215912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54EE37-195C-4FBD-A4F2-D182160CC0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636FEE-B189-4FA7-9BA1-FBF8094D15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7BBBFC-9220-4466-AC98-E96AB73A9A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457200" y="5029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Python File I/O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57200" y="15087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100" spc="-1" strike="noStrike">
                <a:solidFill>
                  <a:srgbClr val="c7d2fe"/>
                </a:solidFill>
                <a:latin typeface="Calibri"/>
                <a:ea typeface="Calibri"/>
              </a:rPr>
              <a:t>Part 3C — Directory &amp; Path Operations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640080" y="2423160"/>
            <a:ext cx="3931560" cy="6854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Text 5"/>
          <p:cNvSpPr/>
          <p:nvPr/>
        </p:nvSpPr>
        <p:spPr>
          <a:xfrm>
            <a:off x="777240" y="2423160"/>
            <a:ext cx="3794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7d2fe"/>
                </a:solidFill>
                <a:latin typeface="Calibri"/>
                <a:ea typeface="Calibri"/>
              </a:rPr>
              <a:t>Navigating Directories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937760" y="2423160"/>
            <a:ext cx="3931560" cy="6854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5074920" y="2423160"/>
            <a:ext cx="3794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7d2fe"/>
                </a:solidFill>
                <a:latin typeface="Calibri"/>
                <a:ea typeface="Calibri"/>
              </a:rPr>
              <a:t>Creating &amp; Removing Dirs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640080" y="3291840"/>
            <a:ext cx="3931560" cy="6854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777240" y="3291840"/>
            <a:ext cx="3794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7d2fe"/>
                </a:solidFill>
                <a:latin typeface="Calibri"/>
                <a:ea typeface="Calibri"/>
              </a:rPr>
              <a:t>os.path — All Operations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937760" y="3291840"/>
            <a:ext cx="3931560" cy="6854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5074920" y="3291840"/>
            <a:ext cx="3794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7d2fe"/>
                </a:solidFill>
                <a:latin typeface="Calibri"/>
                <a:ea typeface="Calibri"/>
              </a:rPr>
              <a:t>Cross-platform Paths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457200" y="4462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Chapter 23 — Let Us Python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Directory Operations — Overview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228600" y="86868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Shape 3"/>
          <p:cNvSpPr/>
          <p:nvPr/>
        </p:nvSpPr>
        <p:spPr>
          <a:xfrm>
            <a:off x="228600" y="868680"/>
            <a:ext cx="4251600" cy="32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4"/>
          <p:cNvSpPr/>
          <p:nvPr/>
        </p:nvSpPr>
        <p:spPr>
          <a:xfrm>
            <a:off x="320040" y="896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📍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Get current directory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3291840" y="92340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338400" y="127116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7"/>
          <p:cNvSpPr/>
          <p:nvPr/>
        </p:nvSpPr>
        <p:spPr>
          <a:xfrm>
            <a:off x="411480" y="128916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os.getcwd()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338400" y="160020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Returns full path of where Python is running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4690800" y="86868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10"/>
          <p:cNvSpPr/>
          <p:nvPr/>
        </p:nvSpPr>
        <p:spPr>
          <a:xfrm>
            <a:off x="4690800" y="868680"/>
            <a:ext cx="4251600" cy="32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1"/>
          <p:cNvSpPr/>
          <p:nvPr/>
        </p:nvSpPr>
        <p:spPr>
          <a:xfrm>
            <a:off x="4782240" y="896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📂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List directory contents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7754040" y="92340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4800600" y="127116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4"/>
          <p:cNvSpPr/>
          <p:nvPr/>
        </p:nvSpPr>
        <p:spPr>
          <a:xfrm>
            <a:off x="4873680" y="128916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os.listdir(path)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4800600" y="160020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Returns a list of all filenames and folder names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228600" y="219456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4" name="Shape 17"/>
          <p:cNvSpPr/>
          <p:nvPr/>
        </p:nvSpPr>
        <p:spPr>
          <a:xfrm>
            <a:off x="228600" y="2194560"/>
            <a:ext cx="4251600" cy="32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8"/>
          <p:cNvSpPr/>
          <p:nvPr/>
        </p:nvSpPr>
        <p:spPr>
          <a:xfrm>
            <a:off x="320040" y="22219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📁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Create a directory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3291840" y="224928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338400" y="259704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1"/>
          <p:cNvSpPr/>
          <p:nvPr/>
        </p:nvSpPr>
        <p:spPr>
          <a:xfrm>
            <a:off x="411480" y="261504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os.mkdir(name)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338400" y="292608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Creates one new directory — fails if already exists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4690800" y="219456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Shape 24"/>
          <p:cNvSpPr/>
          <p:nvPr/>
        </p:nvSpPr>
        <p:spPr>
          <a:xfrm>
            <a:off x="4690800" y="2194560"/>
            <a:ext cx="4251600" cy="32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5"/>
          <p:cNvSpPr/>
          <p:nvPr/>
        </p:nvSpPr>
        <p:spPr>
          <a:xfrm>
            <a:off x="4782240" y="22219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🗂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Create nested directories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7754040" y="224928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4800600" y="259704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8"/>
          <p:cNvSpPr/>
          <p:nvPr/>
        </p:nvSpPr>
        <p:spPr>
          <a:xfrm>
            <a:off x="4873680" y="261504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os.makedirs(path)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6" name="Text 29"/>
          <p:cNvSpPr/>
          <p:nvPr/>
        </p:nvSpPr>
        <p:spPr>
          <a:xfrm>
            <a:off x="4800600" y="292608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Creates all intermediate directories in the path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7" name="Shape 30"/>
          <p:cNvSpPr/>
          <p:nvPr/>
        </p:nvSpPr>
        <p:spPr>
          <a:xfrm>
            <a:off x="228600" y="352044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8" name="Shape 31"/>
          <p:cNvSpPr/>
          <p:nvPr/>
        </p:nvSpPr>
        <p:spPr>
          <a:xfrm>
            <a:off x="228600" y="3520440"/>
            <a:ext cx="4251600" cy="32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32"/>
          <p:cNvSpPr/>
          <p:nvPr/>
        </p:nvSpPr>
        <p:spPr>
          <a:xfrm>
            <a:off x="320040" y="35478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🚀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Change into a directory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0" name="Text 33"/>
          <p:cNvSpPr/>
          <p:nvPr/>
        </p:nvSpPr>
        <p:spPr>
          <a:xfrm>
            <a:off x="3291840" y="357516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1" name="Shape 34"/>
          <p:cNvSpPr/>
          <p:nvPr/>
        </p:nvSpPr>
        <p:spPr>
          <a:xfrm>
            <a:off x="338400" y="392292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35"/>
          <p:cNvSpPr/>
          <p:nvPr/>
        </p:nvSpPr>
        <p:spPr>
          <a:xfrm>
            <a:off x="411480" y="394092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os.chdir(path)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338400" y="425196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Changes current working directory to the given path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4" name="Shape 37"/>
          <p:cNvSpPr/>
          <p:nvPr/>
        </p:nvSpPr>
        <p:spPr>
          <a:xfrm>
            <a:off x="4690800" y="352044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" name="Shape 38"/>
          <p:cNvSpPr/>
          <p:nvPr/>
        </p:nvSpPr>
        <p:spPr>
          <a:xfrm>
            <a:off x="4690800" y="3520440"/>
            <a:ext cx="4251600" cy="32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39"/>
          <p:cNvSpPr/>
          <p:nvPr/>
        </p:nvSpPr>
        <p:spPr>
          <a:xfrm>
            <a:off x="4782240" y="35478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🗑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Remove a directory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7" name="Text 40"/>
          <p:cNvSpPr/>
          <p:nvPr/>
        </p:nvSpPr>
        <p:spPr>
          <a:xfrm>
            <a:off x="7754040" y="357516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8" name="Shape 41"/>
          <p:cNvSpPr/>
          <p:nvPr/>
        </p:nvSpPr>
        <p:spPr>
          <a:xfrm>
            <a:off x="4800600" y="392292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42"/>
          <p:cNvSpPr/>
          <p:nvPr/>
        </p:nvSpPr>
        <p:spPr>
          <a:xfrm>
            <a:off x="4873680" y="394092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os.rmdir(name)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0" name="Text 43"/>
          <p:cNvSpPr/>
          <p:nvPr/>
        </p:nvSpPr>
        <p:spPr>
          <a:xfrm>
            <a:off x="4800600" y="425196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Removes an empty directory — fails if not empty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Navigating Directories — Code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os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Get current working directory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cwd = os.getcwd()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print('Current dir:', cwd)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Output: /home/user/projects  (or C:\Users\...)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List contents of current directory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items = os.listdir('.')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print(items)  # ['file.txt', 'folder1', ...]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List contents of specific directory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files = os.listdir('/home/user')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for item in files: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print(item)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Filter only files (not subdirs)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files_only = [f for f in os.listdir('.')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      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if os.path.isfile(f)]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print('Files:', files_only)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5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Change directory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6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os.chdir('project')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7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print('Moved to:', os.getcwd())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9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Go back to parent directory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0" name="Text 29"/>
          <p:cNvSpPr/>
          <p:nvPr/>
        </p:nvSpPr>
        <p:spPr>
          <a:xfrm>
            <a:off x="365760" y="49543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os.chdir('..')   # '..' = one level up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1" name="Text 30"/>
          <p:cNvSpPr/>
          <p:nvPr/>
        </p:nvSpPr>
        <p:spPr>
          <a:xfrm>
            <a:off x="365760" y="5107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print('Back to:', os.getcwd())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2" name="Shape 31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Shape 32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3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Key Concepts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5" name="Text 34"/>
          <p:cNvSpPr/>
          <p:nvPr/>
        </p:nvSpPr>
        <p:spPr>
          <a:xfrm>
            <a:off x="5687640" y="1298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📍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" name="Text 35"/>
          <p:cNvSpPr/>
          <p:nvPr/>
        </p:nvSpPr>
        <p:spPr>
          <a:xfrm>
            <a:off x="6080760" y="1298520"/>
            <a:ext cx="276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a2a4a"/>
                </a:solidFill>
                <a:latin typeface="Calibri"/>
                <a:ea typeface="Calibri"/>
              </a:rPr>
              <a:t>'.' = current dir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37" name="Text 36"/>
          <p:cNvSpPr/>
          <p:nvPr/>
        </p:nvSpPr>
        <p:spPr>
          <a:xfrm>
            <a:off x="6080760" y="1572840"/>
            <a:ext cx="2761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Pass '.' to listdir() to list current directory. Python always has a current directory.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8" name="Text 37"/>
          <p:cNvSpPr/>
          <p:nvPr/>
        </p:nvSpPr>
        <p:spPr>
          <a:xfrm>
            <a:off x="5687640" y="2011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⬆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" name="Text 38"/>
          <p:cNvSpPr/>
          <p:nvPr/>
        </p:nvSpPr>
        <p:spPr>
          <a:xfrm>
            <a:off x="6080760" y="2011680"/>
            <a:ext cx="276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a2a4a"/>
                </a:solidFill>
                <a:latin typeface="Calibri"/>
                <a:ea typeface="Calibri"/>
              </a:rPr>
              <a:t>'..' = parent dir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40" name="Text 39"/>
          <p:cNvSpPr/>
          <p:nvPr/>
        </p:nvSpPr>
        <p:spPr>
          <a:xfrm>
            <a:off x="6080760" y="2286000"/>
            <a:ext cx="2761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Use '..' with chdir() to navigate one level up in the directory tree.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1" name="Text 40"/>
          <p:cNvSpPr/>
          <p:nvPr/>
        </p:nvSpPr>
        <p:spPr>
          <a:xfrm>
            <a:off x="5687640" y="2724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" name="Text 41"/>
          <p:cNvSpPr/>
          <p:nvPr/>
        </p:nvSpPr>
        <p:spPr>
          <a:xfrm>
            <a:off x="6080760" y="2724840"/>
            <a:ext cx="276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a2a4a"/>
                </a:solidFill>
                <a:latin typeface="Calibri"/>
                <a:ea typeface="Calibri"/>
              </a:rPr>
              <a:t>listdir() returns all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43" name="Text 42"/>
          <p:cNvSpPr/>
          <p:nvPr/>
        </p:nvSpPr>
        <p:spPr>
          <a:xfrm>
            <a:off x="6080760" y="2999160"/>
            <a:ext cx="2761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Returns both files AND folders mixed together. Use isfile()/isdir() to filter.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4" name="Text 43"/>
          <p:cNvSpPr/>
          <p:nvPr/>
        </p:nvSpPr>
        <p:spPr>
          <a:xfrm>
            <a:off x="5687640" y="34380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⚠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5" name="Text 44"/>
          <p:cNvSpPr/>
          <p:nvPr/>
        </p:nvSpPr>
        <p:spPr>
          <a:xfrm>
            <a:off x="6080760" y="3438000"/>
            <a:ext cx="276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a2a4a"/>
                </a:solidFill>
                <a:latin typeface="Calibri"/>
                <a:ea typeface="Calibri"/>
              </a:rPr>
              <a:t>chdir() is global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46" name="Text 45"/>
          <p:cNvSpPr/>
          <p:nvPr/>
        </p:nvSpPr>
        <p:spPr>
          <a:xfrm>
            <a:off x="6080760" y="3712320"/>
            <a:ext cx="2761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Changing directory affects your whole program — all relative paths are now relative to the new location.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Creating &amp; Removing Directories — Code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os, shutil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Create a single directory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os.mkdir('reports')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Safe create: check first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if not os.path.exists('reports'):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os.mkdir('reports')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Create nested directories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os.makedirs('project/src/utils')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Creates project/, project/src/, project/src/utils/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exist_ok=True: don't fail if exists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os.makedirs('project/logs', exist_ok=True)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5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Remove an EMPTY directory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os.rmdir('empty_folder')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8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9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Remove a NON-EMPTY directory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os.rmdir fails if folder has any files!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1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Use shutil.rmtree() to remove everything: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2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shutil.rmtree('project')  # ⚠ PERMANENT!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3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4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Safe remove with try/except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5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try: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6" name="Text 29"/>
          <p:cNvSpPr/>
          <p:nvPr/>
        </p:nvSpPr>
        <p:spPr>
          <a:xfrm>
            <a:off x="365760" y="49543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os.rmdir('my_folder')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7" name="Text 30"/>
          <p:cNvSpPr/>
          <p:nvPr/>
        </p:nvSpPr>
        <p:spPr>
          <a:xfrm>
            <a:off x="365760" y="5107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except OSError as e: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8" name="Text 31"/>
          <p:cNvSpPr/>
          <p:nvPr/>
        </p:nvSpPr>
        <p:spPr>
          <a:xfrm>
            <a:off x="365760" y="52614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print('Cannot remove:', 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9" name="Shape 32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0" name="Shape 33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34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mkdir vs makedirs vs rmdir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2" name="Shape 35"/>
          <p:cNvSpPr/>
          <p:nvPr/>
        </p:nvSpPr>
        <p:spPr>
          <a:xfrm>
            <a:off x="5687640" y="1298520"/>
            <a:ext cx="3062880" cy="621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36"/>
          <p:cNvSpPr/>
          <p:nvPr/>
        </p:nvSpPr>
        <p:spPr>
          <a:xfrm>
            <a:off x="5760720" y="133488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338ca"/>
                </a:solidFill>
                <a:latin typeface="Consolas"/>
                <a:ea typeface="Consolas"/>
              </a:rPr>
              <a:t>os.mkdir()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4" name="Text 37"/>
          <p:cNvSpPr/>
          <p:nvPr/>
        </p:nvSpPr>
        <p:spPr>
          <a:xfrm>
            <a:off x="5760720" y="155448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Creates ONE directory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85" name="Text 38"/>
          <p:cNvSpPr/>
          <p:nvPr/>
        </p:nvSpPr>
        <p:spPr>
          <a:xfrm>
            <a:off x="5760720" y="170064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Parent must already exist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86" name="Text 39"/>
          <p:cNvSpPr/>
          <p:nvPr/>
        </p:nvSpPr>
        <p:spPr>
          <a:xfrm>
            <a:off x="5760720" y="184716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Fails if directory exists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87" name="Shape 40"/>
          <p:cNvSpPr/>
          <p:nvPr/>
        </p:nvSpPr>
        <p:spPr>
          <a:xfrm>
            <a:off x="5687640" y="1984320"/>
            <a:ext cx="3062880" cy="621360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1"/>
          <p:cNvSpPr/>
          <p:nvPr/>
        </p:nvSpPr>
        <p:spPr>
          <a:xfrm>
            <a:off x="5760720" y="202068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338ca"/>
                </a:solidFill>
                <a:latin typeface="Consolas"/>
                <a:ea typeface="Consolas"/>
              </a:rPr>
              <a:t>os.makedirs()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9" name="Text 42"/>
          <p:cNvSpPr/>
          <p:nvPr/>
        </p:nvSpPr>
        <p:spPr>
          <a:xfrm>
            <a:off x="5760720" y="224028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Creates full nested path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90" name="Text 43"/>
          <p:cNvSpPr/>
          <p:nvPr/>
        </p:nvSpPr>
        <p:spPr>
          <a:xfrm>
            <a:off x="5760720" y="238644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Creates all parents too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91" name="Text 44"/>
          <p:cNvSpPr/>
          <p:nvPr/>
        </p:nvSpPr>
        <p:spPr>
          <a:xfrm>
            <a:off x="5760720" y="253296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Use exist_ok=True to be safe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92" name="Shape 45"/>
          <p:cNvSpPr/>
          <p:nvPr/>
        </p:nvSpPr>
        <p:spPr>
          <a:xfrm>
            <a:off x="5687640" y="2670120"/>
            <a:ext cx="3062880" cy="621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46"/>
          <p:cNvSpPr/>
          <p:nvPr/>
        </p:nvSpPr>
        <p:spPr>
          <a:xfrm>
            <a:off x="5760720" y="270648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338ca"/>
                </a:solidFill>
                <a:latin typeface="Consolas"/>
                <a:ea typeface="Consolas"/>
              </a:rPr>
              <a:t>os.rmdir()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4" name="Text 47"/>
          <p:cNvSpPr/>
          <p:nvPr/>
        </p:nvSpPr>
        <p:spPr>
          <a:xfrm>
            <a:off x="5760720" y="292608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Removes ONE directory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95" name="Text 48"/>
          <p:cNvSpPr/>
          <p:nvPr/>
        </p:nvSpPr>
        <p:spPr>
          <a:xfrm>
            <a:off x="5760720" y="307224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Directory MUST be empty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96" name="Text 49"/>
          <p:cNvSpPr/>
          <p:nvPr/>
        </p:nvSpPr>
        <p:spPr>
          <a:xfrm>
            <a:off x="5760720" y="321876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Use os.listdir() to check first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97" name="Shape 50"/>
          <p:cNvSpPr/>
          <p:nvPr/>
        </p:nvSpPr>
        <p:spPr>
          <a:xfrm>
            <a:off x="5687640" y="3355920"/>
            <a:ext cx="3062880" cy="621360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51"/>
          <p:cNvSpPr/>
          <p:nvPr/>
        </p:nvSpPr>
        <p:spPr>
          <a:xfrm>
            <a:off x="5760720" y="339228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338ca"/>
                </a:solidFill>
                <a:latin typeface="Consolas"/>
                <a:ea typeface="Consolas"/>
              </a:rPr>
              <a:t>shutil.rmtree()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9" name="Text 52"/>
          <p:cNvSpPr/>
          <p:nvPr/>
        </p:nvSpPr>
        <p:spPr>
          <a:xfrm>
            <a:off x="5760720" y="361188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Removes directory + ALL contents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00" name="Text 53"/>
          <p:cNvSpPr/>
          <p:nvPr/>
        </p:nvSpPr>
        <p:spPr>
          <a:xfrm>
            <a:off x="5760720" y="375804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Recursive and permanent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01" name="Text 54"/>
          <p:cNvSpPr/>
          <p:nvPr/>
        </p:nvSpPr>
        <p:spPr>
          <a:xfrm>
            <a:off x="5760720" y="3904560"/>
            <a:ext cx="2880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No undo — use with great care!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os.path — Complete Function Reference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228600" y="841320"/>
            <a:ext cx="4251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5" name="Shape 3"/>
          <p:cNvSpPr/>
          <p:nvPr/>
        </p:nvSpPr>
        <p:spPr>
          <a:xfrm>
            <a:off x="228600" y="841320"/>
            <a:ext cx="54360" cy="767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4"/>
          <p:cNvSpPr/>
          <p:nvPr/>
        </p:nvSpPr>
        <p:spPr>
          <a:xfrm>
            <a:off x="356760" y="87768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os.path.exists(path)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356760" y="114300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Does this file or folder exist?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3154680" y="114300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True/False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Shape 7"/>
          <p:cNvSpPr/>
          <p:nvPr/>
        </p:nvSpPr>
        <p:spPr>
          <a:xfrm>
            <a:off x="4690800" y="841320"/>
            <a:ext cx="4251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0" name="Shape 8"/>
          <p:cNvSpPr/>
          <p:nvPr/>
        </p:nvSpPr>
        <p:spPr>
          <a:xfrm>
            <a:off x="4690800" y="841320"/>
            <a:ext cx="54360" cy="767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9"/>
          <p:cNvSpPr/>
          <p:nvPr/>
        </p:nvSpPr>
        <p:spPr>
          <a:xfrm>
            <a:off x="4818960" y="87768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os.path.isfile(path)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4818960" y="114300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Is this path a file (not a folder)?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7616880" y="114300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True/False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228600" y="1682640"/>
            <a:ext cx="4251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Shape 13"/>
          <p:cNvSpPr/>
          <p:nvPr/>
        </p:nvSpPr>
        <p:spPr>
          <a:xfrm>
            <a:off x="228600" y="1682640"/>
            <a:ext cx="54360" cy="767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4"/>
          <p:cNvSpPr/>
          <p:nvPr/>
        </p:nvSpPr>
        <p:spPr>
          <a:xfrm>
            <a:off x="356760" y="171900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os.path.isdir(path)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356760" y="19843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Is this path a directory?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3154680" y="198432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True/False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9" name="Shape 17"/>
          <p:cNvSpPr/>
          <p:nvPr/>
        </p:nvSpPr>
        <p:spPr>
          <a:xfrm>
            <a:off x="4690800" y="1682640"/>
            <a:ext cx="4251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0" name="Shape 18"/>
          <p:cNvSpPr/>
          <p:nvPr/>
        </p:nvSpPr>
        <p:spPr>
          <a:xfrm>
            <a:off x="4690800" y="1682640"/>
            <a:ext cx="54360" cy="767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19"/>
          <p:cNvSpPr/>
          <p:nvPr/>
        </p:nvSpPr>
        <p:spPr>
          <a:xfrm>
            <a:off x="4818960" y="171900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os.path.abspath(path)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4818960" y="19843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Get the full absolute path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7616880" y="198432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'/home/user/file.txt'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4" name="Shape 22"/>
          <p:cNvSpPr/>
          <p:nvPr/>
        </p:nvSpPr>
        <p:spPr>
          <a:xfrm>
            <a:off x="228600" y="2523600"/>
            <a:ext cx="4251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5" name="Shape 23"/>
          <p:cNvSpPr/>
          <p:nvPr/>
        </p:nvSpPr>
        <p:spPr>
          <a:xfrm>
            <a:off x="228600" y="2523600"/>
            <a:ext cx="54360" cy="767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4"/>
          <p:cNvSpPr/>
          <p:nvPr/>
        </p:nvSpPr>
        <p:spPr>
          <a:xfrm>
            <a:off x="356760" y="256032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os.path.join(a, b, ...)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7" name="Text 25"/>
          <p:cNvSpPr/>
          <p:nvPr/>
        </p:nvSpPr>
        <p:spPr>
          <a:xfrm>
            <a:off x="356760" y="282564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Join path parts safely (cross-platform)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8" name="Text 26"/>
          <p:cNvSpPr/>
          <p:nvPr/>
        </p:nvSpPr>
        <p:spPr>
          <a:xfrm>
            <a:off x="3154680" y="282564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'a/b/c'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9" name="Shape 27"/>
          <p:cNvSpPr/>
          <p:nvPr/>
        </p:nvSpPr>
        <p:spPr>
          <a:xfrm>
            <a:off x="4690800" y="2523600"/>
            <a:ext cx="4251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Shape 28"/>
          <p:cNvSpPr/>
          <p:nvPr/>
        </p:nvSpPr>
        <p:spPr>
          <a:xfrm>
            <a:off x="4690800" y="2523600"/>
            <a:ext cx="54360" cy="767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9"/>
          <p:cNvSpPr/>
          <p:nvPr/>
        </p:nvSpPr>
        <p:spPr>
          <a:xfrm>
            <a:off x="4818960" y="256032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os.path.split(path)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2" name="Text 30"/>
          <p:cNvSpPr/>
          <p:nvPr/>
        </p:nvSpPr>
        <p:spPr>
          <a:xfrm>
            <a:off x="4818960" y="282564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Split into (directory, filename) tuple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3" name="Text 31"/>
          <p:cNvSpPr/>
          <p:nvPr/>
        </p:nvSpPr>
        <p:spPr>
          <a:xfrm>
            <a:off x="7616880" y="282564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('dir', 'file')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4" name="Shape 32"/>
          <p:cNvSpPr/>
          <p:nvPr/>
        </p:nvSpPr>
        <p:spPr>
          <a:xfrm>
            <a:off x="228600" y="3364920"/>
            <a:ext cx="4251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Shape 33"/>
          <p:cNvSpPr/>
          <p:nvPr/>
        </p:nvSpPr>
        <p:spPr>
          <a:xfrm>
            <a:off x="228600" y="3364920"/>
            <a:ext cx="54360" cy="767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34"/>
          <p:cNvSpPr/>
          <p:nvPr/>
        </p:nvSpPr>
        <p:spPr>
          <a:xfrm>
            <a:off x="356760" y="340164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os.path.basename(path)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7" name="Text 35"/>
          <p:cNvSpPr/>
          <p:nvPr/>
        </p:nvSpPr>
        <p:spPr>
          <a:xfrm>
            <a:off x="356760" y="366660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Get just the filename from a path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8" name="Text 36"/>
          <p:cNvSpPr/>
          <p:nvPr/>
        </p:nvSpPr>
        <p:spPr>
          <a:xfrm>
            <a:off x="3154680" y="366660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'file.txt'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9" name="Shape 37"/>
          <p:cNvSpPr/>
          <p:nvPr/>
        </p:nvSpPr>
        <p:spPr>
          <a:xfrm>
            <a:off x="4690800" y="3364920"/>
            <a:ext cx="4251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0" name="Shape 38"/>
          <p:cNvSpPr/>
          <p:nvPr/>
        </p:nvSpPr>
        <p:spPr>
          <a:xfrm>
            <a:off x="4690800" y="3364920"/>
            <a:ext cx="54360" cy="767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39"/>
          <p:cNvSpPr/>
          <p:nvPr/>
        </p:nvSpPr>
        <p:spPr>
          <a:xfrm>
            <a:off x="4818960" y="340164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os.path.dirname(path)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2" name="Text 40"/>
          <p:cNvSpPr/>
          <p:nvPr/>
        </p:nvSpPr>
        <p:spPr>
          <a:xfrm>
            <a:off x="4818960" y="366660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Get just the directory part of a path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3" name="Text 41"/>
          <p:cNvSpPr/>
          <p:nvPr/>
        </p:nvSpPr>
        <p:spPr>
          <a:xfrm>
            <a:off x="7616880" y="366660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'/home/user'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4" name="Shape 42"/>
          <p:cNvSpPr/>
          <p:nvPr/>
        </p:nvSpPr>
        <p:spPr>
          <a:xfrm>
            <a:off x="228600" y="4206240"/>
            <a:ext cx="4251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5" name="Shape 43"/>
          <p:cNvSpPr/>
          <p:nvPr/>
        </p:nvSpPr>
        <p:spPr>
          <a:xfrm>
            <a:off x="228600" y="4206240"/>
            <a:ext cx="54360" cy="767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44"/>
          <p:cNvSpPr/>
          <p:nvPr/>
        </p:nvSpPr>
        <p:spPr>
          <a:xfrm>
            <a:off x="356760" y="424296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os.path.splitext(path)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7" name="Text 45"/>
          <p:cNvSpPr/>
          <p:nvPr/>
        </p:nvSpPr>
        <p:spPr>
          <a:xfrm>
            <a:off x="356760" y="45079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Split filename and extension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8" name="Text 46"/>
          <p:cNvSpPr/>
          <p:nvPr/>
        </p:nvSpPr>
        <p:spPr>
          <a:xfrm>
            <a:off x="3154680" y="450792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('name', '.txt')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9" name="Shape 47"/>
          <p:cNvSpPr/>
          <p:nvPr/>
        </p:nvSpPr>
        <p:spPr>
          <a:xfrm>
            <a:off x="4690800" y="4206240"/>
            <a:ext cx="4251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Shape 48"/>
          <p:cNvSpPr/>
          <p:nvPr/>
        </p:nvSpPr>
        <p:spPr>
          <a:xfrm>
            <a:off x="4690800" y="4206240"/>
            <a:ext cx="54360" cy="767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49"/>
          <p:cNvSpPr/>
          <p:nvPr/>
        </p:nvSpPr>
        <p:spPr>
          <a:xfrm>
            <a:off x="4818960" y="424296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os.path.getsize(path)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2" name="Text 50"/>
          <p:cNvSpPr/>
          <p:nvPr/>
        </p:nvSpPr>
        <p:spPr>
          <a:xfrm>
            <a:off x="4818960" y="45079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Get file size in bytes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3" name="Text 51"/>
          <p:cNvSpPr/>
          <p:nvPr/>
        </p:nvSpPr>
        <p:spPr>
          <a:xfrm>
            <a:off x="7616880" y="450792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→ </a:t>
            </a:r>
            <a:r>
              <a:rPr b="0" lang="en-US" sz="1000" spc="-1" strike="noStrike">
                <a:solidFill>
                  <a:srgbClr val="94a3b8"/>
                </a:solidFill>
                <a:latin typeface="Consolas"/>
                <a:ea typeface="Consolas"/>
              </a:rPr>
              <a:t>1024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os.path — Code Examples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56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7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os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path = '/home/user/projects/data.txt'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0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1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Existence checks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2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print(os.path.exists(path))       # True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print(os.path.isfile(path))       # True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4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print(os.path.isdir(path))        # False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5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6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Path decomposition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7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print(os.path.dirname(path))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8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→ /home/user/projects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9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print(os.path.basename(path))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0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→ data.txt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1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print(os.path.split(path))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2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→ ('/home/user/projects', 'data.txt')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3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print(os.path.splitext(path))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4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→ ('/home/user/projects/data', '.txt')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5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6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Building paths safely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7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base = '/home/user'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8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joined = os.path.join(base, 'docs', 'report.txt')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9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print(joined)  # /home/user/docs/report.txt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0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1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Get file size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2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print(os.path.getsize(path), 'bytes')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3" name="Shape 29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Shape 30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31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Why os.path.join() Matters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86" name="Text 32"/>
          <p:cNvSpPr/>
          <p:nvPr/>
        </p:nvSpPr>
        <p:spPr>
          <a:xfrm>
            <a:off x="5687640" y="1298520"/>
            <a:ext cx="3154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❌ </a:t>
            </a:r>
            <a:r>
              <a:rPr b="1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String concatenation breaks: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7" name="Shape 33"/>
          <p:cNvSpPr/>
          <p:nvPr/>
        </p:nvSpPr>
        <p:spPr>
          <a:xfrm>
            <a:off x="5687640" y="1572840"/>
            <a:ext cx="3062880" cy="475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34"/>
          <p:cNvSpPr/>
          <p:nvPr/>
        </p:nvSpPr>
        <p:spPr>
          <a:xfrm>
            <a:off x="5779080" y="1609200"/>
            <a:ext cx="28800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ade80"/>
                </a:solidFill>
                <a:latin typeface="Consolas"/>
                <a:ea typeface="Consolas"/>
              </a:rPr>
              <a:t>path = base + '/' + name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ade80"/>
                </a:solidFill>
                <a:latin typeface="Consolas"/>
                <a:ea typeface="Consolas"/>
              </a:rPr>
              <a:t># WRONG on Windows!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9" name="Text 35"/>
          <p:cNvSpPr/>
          <p:nvPr/>
        </p:nvSpPr>
        <p:spPr>
          <a:xfrm>
            <a:off x="5687640" y="2121480"/>
            <a:ext cx="3154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✅ </a:t>
            </a:r>
            <a:r>
              <a:rPr b="1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os.path.join() is correct: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0" name="Shape 36"/>
          <p:cNvSpPr/>
          <p:nvPr/>
        </p:nvSpPr>
        <p:spPr>
          <a:xfrm>
            <a:off x="5687640" y="2395800"/>
            <a:ext cx="3062880" cy="475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37"/>
          <p:cNvSpPr/>
          <p:nvPr/>
        </p:nvSpPr>
        <p:spPr>
          <a:xfrm>
            <a:off x="5779080" y="2432160"/>
            <a:ext cx="28800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ade80"/>
                </a:solidFill>
                <a:latin typeface="Consolas"/>
                <a:ea typeface="Consolas"/>
              </a:rPr>
              <a:t>os.path.join(base, name)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ade80"/>
                </a:solidFill>
                <a:latin typeface="Consolas"/>
                <a:ea typeface="Consolas"/>
              </a:rPr>
              <a:t># Works everywhere!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2" name="Shape 38"/>
          <p:cNvSpPr/>
          <p:nvPr/>
        </p:nvSpPr>
        <p:spPr>
          <a:xfrm>
            <a:off x="5687640" y="2999160"/>
            <a:ext cx="3062880" cy="54828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39"/>
          <p:cNvSpPr/>
          <p:nvPr/>
        </p:nvSpPr>
        <p:spPr>
          <a:xfrm>
            <a:off x="5779080" y="303588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9488"/>
                </a:solidFill>
                <a:latin typeface="Calibri"/>
                <a:ea typeface="Calibri"/>
              </a:rPr>
              <a:t>Windows uses '\'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4" name="Text 40"/>
          <p:cNvSpPr/>
          <p:nvPr/>
        </p:nvSpPr>
        <p:spPr>
          <a:xfrm>
            <a:off x="5779080" y="325512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onsolas"/>
                <a:ea typeface="Consolas"/>
              </a:rPr>
              <a:t>C:\Users\user\file.txt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95" name="Shape 41"/>
          <p:cNvSpPr/>
          <p:nvPr/>
        </p:nvSpPr>
        <p:spPr>
          <a:xfrm>
            <a:off x="5687640" y="3620880"/>
            <a:ext cx="3062880" cy="5482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42"/>
          <p:cNvSpPr/>
          <p:nvPr/>
        </p:nvSpPr>
        <p:spPr>
          <a:xfrm>
            <a:off x="5779080" y="365760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6a34a"/>
                </a:solidFill>
                <a:latin typeface="Calibri"/>
                <a:ea typeface="Calibri"/>
              </a:rPr>
              <a:t>Linux/Mac uses '/'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7" name="Text 43"/>
          <p:cNvSpPr/>
          <p:nvPr/>
        </p:nvSpPr>
        <p:spPr>
          <a:xfrm>
            <a:off x="5779080" y="387720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onsolas"/>
                <a:ea typeface="Consolas"/>
              </a:rPr>
              <a:t>/home/user/file.txt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98" name="Shape 44"/>
          <p:cNvSpPr/>
          <p:nvPr/>
        </p:nvSpPr>
        <p:spPr>
          <a:xfrm>
            <a:off x="5687640" y="4279320"/>
            <a:ext cx="3062880" cy="548280"/>
          </a:xfrm>
          <a:prstGeom prst="rect">
            <a:avLst/>
          </a:prstGeom>
          <a:solidFill>
            <a:srgbClr val="eff6ff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45"/>
          <p:cNvSpPr/>
          <p:nvPr/>
        </p:nvSpPr>
        <p:spPr>
          <a:xfrm>
            <a:off x="5779080" y="4316040"/>
            <a:ext cx="2880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338ca"/>
                </a:solidFill>
                <a:latin typeface="Calibri"/>
                <a:ea typeface="Calibri"/>
              </a:rPr>
              <a:t>os.path.join() automatically uses the correct separator for each OS.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Georgia"/>
                <a:ea typeface="Georgia"/>
              </a:rPr>
              <a:t>Complete Directory Operations Program</a:t>
            </a:r>
            <a:endParaRPr b="0" lang="en-IN" sz="2300" spc="-1" strike="noStrike">
              <a:latin typeface="Arial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os, shutil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print('Starting dir:', os.getcwd())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1. Create project structure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8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base = 'my_project'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9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os.makedirs(os.path.join(base,'data'), exist_ok=True)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0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os.makedirs(os.path.join(base,'logs'), exist_ok=True)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1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2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2. Create files inside project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3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data_file = os.path.join(base, 'data', 'info.txt')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4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with open(data_file, 'w') as fobj: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5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fobj.write('Project data here')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6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7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3. Verify structure with listdir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8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for folder in os.listdir(base):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9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fpath = os.path.join(base, folder)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0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print(folder, '(dir)' if os.path.isdir(fpath)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1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  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else '(file)')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2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3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4. Get file info using os.path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4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print('Size:', os.path.getsize(data_file), 'bytes')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5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print('Abs:', os.path.abspath(data_file))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6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7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5. Cleanup — remove entire project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8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shutil.rmtree(base)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9" name="Text 29"/>
          <p:cNvSpPr/>
          <p:nvPr/>
        </p:nvSpPr>
        <p:spPr>
          <a:xfrm>
            <a:off x="365760" y="49543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print('Project removed. Exists?', os.path.exists(base))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0" name="Shape 30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1" name="Shape 31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32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Steps in This Program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3" name="Shape 33"/>
          <p:cNvSpPr/>
          <p:nvPr/>
        </p:nvSpPr>
        <p:spPr>
          <a:xfrm>
            <a:off x="5687640" y="1298520"/>
            <a:ext cx="3062880" cy="502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Shape 34"/>
          <p:cNvSpPr/>
          <p:nvPr/>
        </p:nvSpPr>
        <p:spPr>
          <a:xfrm>
            <a:off x="5687640" y="1298520"/>
            <a:ext cx="273960" cy="502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35"/>
          <p:cNvSpPr/>
          <p:nvPr/>
        </p:nvSpPr>
        <p:spPr>
          <a:xfrm>
            <a:off x="5687640" y="1298520"/>
            <a:ext cx="27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6" name="Text 36"/>
          <p:cNvSpPr/>
          <p:nvPr/>
        </p:nvSpPr>
        <p:spPr>
          <a:xfrm>
            <a:off x="6016680" y="1325880"/>
            <a:ext cx="2669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makedirs() + exist_ok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7" name="Text 37"/>
          <p:cNvSpPr/>
          <p:nvPr/>
        </p:nvSpPr>
        <p:spPr>
          <a:xfrm>
            <a:off x="6016680" y="1554480"/>
            <a:ext cx="266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Create nested dirs safely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8" name="Shape 38"/>
          <p:cNvSpPr/>
          <p:nvPr/>
        </p:nvSpPr>
        <p:spPr>
          <a:xfrm>
            <a:off x="5687640" y="1865520"/>
            <a:ext cx="3062880" cy="502560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Shape 39"/>
          <p:cNvSpPr/>
          <p:nvPr/>
        </p:nvSpPr>
        <p:spPr>
          <a:xfrm>
            <a:off x="5687640" y="1865520"/>
            <a:ext cx="273960" cy="502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40"/>
          <p:cNvSpPr/>
          <p:nvPr/>
        </p:nvSpPr>
        <p:spPr>
          <a:xfrm>
            <a:off x="5687640" y="1865520"/>
            <a:ext cx="27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1" name="Text 41"/>
          <p:cNvSpPr/>
          <p:nvPr/>
        </p:nvSpPr>
        <p:spPr>
          <a:xfrm>
            <a:off x="6016680" y="1892880"/>
            <a:ext cx="2669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os.path.join()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2" name="Text 42"/>
          <p:cNvSpPr/>
          <p:nvPr/>
        </p:nvSpPr>
        <p:spPr>
          <a:xfrm>
            <a:off x="6016680" y="2121480"/>
            <a:ext cx="266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Build paths cross-platform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3" name="Shape 43"/>
          <p:cNvSpPr/>
          <p:nvPr/>
        </p:nvSpPr>
        <p:spPr>
          <a:xfrm>
            <a:off x="5687640" y="2432160"/>
            <a:ext cx="3062880" cy="502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Shape 44"/>
          <p:cNvSpPr/>
          <p:nvPr/>
        </p:nvSpPr>
        <p:spPr>
          <a:xfrm>
            <a:off x="5687640" y="2432160"/>
            <a:ext cx="273960" cy="502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Text 45"/>
          <p:cNvSpPr/>
          <p:nvPr/>
        </p:nvSpPr>
        <p:spPr>
          <a:xfrm>
            <a:off x="5687640" y="2432160"/>
            <a:ext cx="27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6" name="Text 46"/>
          <p:cNvSpPr/>
          <p:nvPr/>
        </p:nvSpPr>
        <p:spPr>
          <a:xfrm>
            <a:off x="6016680" y="2459880"/>
            <a:ext cx="2669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open() + write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7" name="Text 47"/>
          <p:cNvSpPr/>
          <p:nvPr/>
        </p:nvSpPr>
        <p:spPr>
          <a:xfrm>
            <a:off x="6016680" y="2688480"/>
            <a:ext cx="266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Create files inside project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8" name="Shape 48"/>
          <p:cNvSpPr/>
          <p:nvPr/>
        </p:nvSpPr>
        <p:spPr>
          <a:xfrm>
            <a:off x="5687640" y="2999160"/>
            <a:ext cx="3062880" cy="502560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Shape 49"/>
          <p:cNvSpPr/>
          <p:nvPr/>
        </p:nvSpPr>
        <p:spPr>
          <a:xfrm>
            <a:off x="5687640" y="2999160"/>
            <a:ext cx="273960" cy="502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50"/>
          <p:cNvSpPr/>
          <p:nvPr/>
        </p:nvSpPr>
        <p:spPr>
          <a:xfrm>
            <a:off x="5687640" y="2999160"/>
            <a:ext cx="27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1" name="Text 51"/>
          <p:cNvSpPr/>
          <p:nvPr/>
        </p:nvSpPr>
        <p:spPr>
          <a:xfrm>
            <a:off x="6016680" y="3026520"/>
            <a:ext cx="2669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os.listdir() + isdir()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6016680" y="3255120"/>
            <a:ext cx="266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Inspect directory contents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3" name="Shape 53"/>
          <p:cNvSpPr/>
          <p:nvPr/>
        </p:nvSpPr>
        <p:spPr>
          <a:xfrm>
            <a:off x="5687640" y="3566160"/>
            <a:ext cx="3062880" cy="502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54"/>
          <p:cNvSpPr/>
          <p:nvPr/>
        </p:nvSpPr>
        <p:spPr>
          <a:xfrm>
            <a:off x="5687640" y="3566160"/>
            <a:ext cx="273960" cy="502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55"/>
          <p:cNvSpPr/>
          <p:nvPr/>
        </p:nvSpPr>
        <p:spPr>
          <a:xfrm>
            <a:off x="5687640" y="3566160"/>
            <a:ext cx="27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6" name="Text 56"/>
          <p:cNvSpPr/>
          <p:nvPr/>
        </p:nvSpPr>
        <p:spPr>
          <a:xfrm>
            <a:off x="6016680" y="3593520"/>
            <a:ext cx="2669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getsize() + abspath()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7" name="Text 57"/>
          <p:cNvSpPr/>
          <p:nvPr/>
        </p:nvSpPr>
        <p:spPr>
          <a:xfrm>
            <a:off x="6016680" y="3822120"/>
            <a:ext cx="266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Get file metadata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8" name="Shape 58"/>
          <p:cNvSpPr/>
          <p:nvPr/>
        </p:nvSpPr>
        <p:spPr>
          <a:xfrm>
            <a:off x="5687640" y="4133160"/>
            <a:ext cx="3062880" cy="502560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Shape 59"/>
          <p:cNvSpPr/>
          <p:nvPr/>
        </p:nvSpPr>
        <p:spPr>
          <a:xfrm>
            <a:off x="5687640" y="4133160"/>
            <a:ext cx="273960" cy="502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60"/>
          <p:cNvSpPr/>
          <p:nvPr/>
        </p:nvSpPr>
        <p:spPr>
          <a:xfrm>
            <a:off x="5687640" y="4133160"/>
            <a:ext cx="27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1" name="Text 61"/>
          <p:cNvSpPr/>
          <p:nvPr/>
        </p:nvSpPr>
        <p:spPr>
          <a:xfrm>
            <a:off x="6016680" y="4160520"/>
            <a:ext cx="2669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shutil.rmtree()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2" name="Text 62"/>
          <p:cNvSpPr/>
          <p:nvPr/>
        </p:nvSpPr>
        <p:spPr>
          <a:xfrm>
            <a:off x="6016680" y="4389120"/>
            <a:ext cx="266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Clean up entire directory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Georgia"/>
                <a:ea typeface="Georgia"/>
              </a:rPr>
              <a:t>os.name — Platform Detection &amp; Portable Code</a:t>
            </a:r>
            <a:endParaRPr b="0" lang="en-IN" sz="2300" spc="-1" strike="noStrike">
              <a:latin typeface="Arial"/>
            </a:endParaRPr>
          </a:p>
        </p:txBody>
      </p:sp>
      <p:sp>
        <p:nvSpPr>
          <p:cNvPr id="365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6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os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7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Detect the operating system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9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print(os.name)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0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'nt'    → Windows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1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'posix' → Linux or macOS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2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3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Write OS-specific code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4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if os.name == 'nt':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5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clear_cmd = 'cls'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6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sep = '\\'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7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else:  # posix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8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clear_cmd = 'clear'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9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sep = '/'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0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print('Separator:', sep)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1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2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More detail with sys.platform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3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sys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print(sys.platform)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5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'win32'  → Windows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6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'linux'  → Linux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7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'darwin' → macOS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8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9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Writing portable paths (best practice)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0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❌ Not portable: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1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path1 = 'folder\\file.txt'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2" name="Text 29"/>
          <p:cNvSpPr/>
          <p:nvPr/>
        </p:nvSpPr>
        <p:spPr>
          <a:xfrm>
            <a:off x="365760" y="49543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✅ Always portable: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3" name="Text 30"/>
          <p:cNvSpPr/>
          <p:nvPr/>
        </p:nvSpPr>
        <p:spPr>
          <a:xfrm>
            <a:off x="365760" y="5107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path2 = os.path.join('folder', 'file.txt')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4" name="Shape 31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5" name="Shape 32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33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Platform Differences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7" name="Shape 34"/>
          <p:cNvSpPr/>
          <p:nvPr/>
        </p:nvSpPr>
        <p:spPr>
          <a:xfrm>
            <a:off x="5687640" y="1298520"/>
            <a:ext cx="3062880" cy="8226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35"/>
          <p:cNvSpPr/>
          <p:nvPr/>
        </p:nvSpPr>
        <p:spPr>
          <a:xfrm>
            <a:off x="5760720" y="133488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Calibri"/>
              </a:rPr>
              <a:t>Windows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9" name="Text 36"/>
          <p:cNvSpPr/>
          <p:nvPr/>
        </p:nvSpPr>
        <p:spPr>
          <a:xfrm>
            <a:off x="5760720" y="1554480"/>
            <a:ext cx="2880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onsolas"/>
                <a:ea typeface="Consolas"/>
              </a:rPr>
              <a:t>os.name: 'nt'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0" name="Text 37"/>
          <p:cNvSpPr/>
          <p:nvPr/>
        </p:nvSpPr>
        <p:spPr>
          <a:xfrm>
            <a:off x="5760720" y="173736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Separator: \  (backslash)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1" name="Text 38"/>
          <p:cNvSpPr/>
          <p:nvPr/>
        </p:nvSpPr>
        <p:spPr>
          <a:xfrm>
            <a:off x="5760720" y="190188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Use os.path.join() to avoid this!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02" name="Shape 39"/>
          <p:cNvSpPr/>
          <p:nvPr/>
        </p:nvSpPr>
        <p:spPr>
          <a:xfrm>
            <a:off x="5687640" y="2212920"/>
            <a:ext cx="3062880" cy="8226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Text 40"/>
          <p:cNvSpPr/>
          <p:nvPr/>
        </p:nvSpPr>
        <p:spPr>
          <a:xfrm>
            <a:off x="5760720" y="224928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6a34a"/>
                </a:solidFill>
                <a:latin typeface="Calibri"/>
                <a:ea typeface="Calibri"/>
              </a:rPr>
              <a:t>Linux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4" name="Text 41"/>
          <p:cNvSpPr/>
          <p:nvPr/>
        </p:nvSpPr>
        <p:spPr>
          <a:xfrm>
            <a:off x="5760720" y="2468880"/>
            <a:ext cx="2880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onsolas"/>
                <a:ea typeface="Consolas"/>
              </a:rPr>
              <a:t>os.name: 'posix'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5" name="Text 42"/>
          <p:cNvSpPr/>
          <p:nvPr/>
        </p:nvSpPr>
        <p:spPr>
          <a:xfrm>
            <a:off x="5760720" y="265176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Separator: /  (forward slash)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6" name="Text 43"/>
          <p:cNvSpPr/>
          <p:nvPr/>
        </p:nvSpPr>
        <p:spPr>
          <a:xfrm>
            <a:off x="5760720" y="281628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Most servers run Linux.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07" name="Shape 44"/>
          <p:cNvSpPr/>
          <p:nvPr/>
        </p:nvSpPr>
        <p:spPr>
          <a:xfrm>
            <a:off x="5687640" y="3127320"/>
            <a:ext cx="3062880" cy="82260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Text 45"/>
          <p:cNvSpPr/>
          <p:nvPr/>
        </p:nvSpPr>
        <p:spPr>
          <a:xfrm>
            <a:off x="5760720" y="316368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9488"/>
                </a:solidFill>
                <a:latin typeface="Calibri"/>
                <a:ea typeface="Calibri"/>
              </a:rPr>
              <a:t>macOS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9" name="Text 46"/>
          <p:cNvSpPr/>
          <p:nvPr/>
        </p:nvSpPr>
        <p:spPr>
          <a:xfrm>
            <a:off x="5760720" y="3383280"/>
            <a:ext cx="2880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onsolas"/>
                <a:ea typeface="Consolas"/>
              </a:rPr>
              <a:t>os.name: 'posix'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0" name="Text 47"/>
          <p:cNvSpPr/>
          <p:nvPr/>
        </p:nvSpPr>
        <p:spPr>
          <a:xfrm>
            <a:off x="5760720" y="356616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Separator: /  (forward slash)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1" name="Text 48"/>
          <p:cNvSpPr/>
          <p:nvPr/>
        </p:nvSpPr>
        <p:spPr>
          <a:xfrm>
            <a:off x="5760720" y="373068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Same posix family as Linux.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12" name="Shape 49"/>
          <p:cNvSpPr/>
          <p:nvPr/>
        </p:nvSpPr>
        <p:spPr>
          <a:xfrm>
            <a:off x="5687640" y="4114800"/>
            <a:ext cx="3062880" cy="7128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Text 50"/>
          <p:cNvSpPr/>
          <p:nvPr/>
        </p:nvSpPr>
        <p:spPr>
          <a:xfrm>
            <a:off x="5779080" y="4169520"/>
            <a:ext cx="2880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4532d"/>
                </a:solidFill>
                <a:latin typeface="Calibri"/>
                <a:ea typeface="Calibri"/>
              </a:rPr>
              <a:t>✅ </a:t>
            </a:r>
            <a:r>
              <a:rPr b="1" lang="en-US" sz="1100" spc="-1" strike="noStrike">
                <a:solidFill>
                  <a:srgbClr val="14532d"/>
                </a:solidFill>
                <a:latin typeface="Calibri"/>
                <a:ea typeface="Calibri"/>
              </a:rPr>
              <a:t>Best Practice: Always use os.path.join() — never hardcode path separators!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Shape 1"/>
          <p:cNvSpPr/>
          <p:nvPr/>
        </p:nvSpPr>
        <p:spPr>
          <a:xfrm>
            <a:off x="0" y="4434840"/>
            <a:ext cx="9143640" cy="7084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Text 2"/>
          <p:cNvSpPr/>
          <p:nvPr/>
        </p:nvSpPr>
        <p:spPr>
          <a:xfrm>
            <a:off x="365760" y="18288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Part 3C Summary — Directory &amp; Path Operations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17" name="Shape 3"/>
          <p:cNvSpPr/>
          <p:nvPr/>
        </p:nvSpPr>
        <p:spPr>
          <a:xfrm>
            <a:off x="365760" y="932760"/>
            <a:ext cx="3977280" cy="77688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8" name="Text 4"/>
          <p:cNvSpPr/>
          <p:nvPr/>
        </p:nvSpPr>
        <p:spPr>
          <a:xfrm>
            <a:off x="475560" y="978480"/>
            <a:ext cx="3757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📍 </a:t>
            </a: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os.getcwd()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419" name="Text 5"/>
          <p:cNvSpPr/>
          <p:nvPr/>
        </p:nvSpPr>
        <p:spPr>
          <a:xfrm>
            <a:off x="475560" y="1280160"/>
            <a:ext cx="3757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Returns the current working directory — where Python looks for files by default.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20" name="Shape 6"/>
          <p:cNvSpPr/>
          <p:nvPr/>
        </p:nvSpPr>
        <p:spPr>
          <a:xfrm>
            <a:off x="4800600" y="932760"/>
            <a:ext cx="3977280" cy="77688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1" name="Text 7"/>
          <p:cNvSpPr/>
          <p:nvPr/>
        </p:nvSpPr>
        <p:spPr>
          <a:xfrm>
            <a:off x="4910400" y="978480"/>
            <a:ext cx="3757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📂 </a:t>
            </a: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os.listdir(path)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422" name="Text 8"/>
          <p:cNvSpPr/>
          <p:nvPr/>
        </p:nvSpPr>
        <p:spPr>
          <a:xfrm>
            <a:off x="4910400" y="1280160"/>
            <a:ext cx="3757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Returns all files and folders in a directory. Filter with isfile()/isdir().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23" name="Shape 9"/>
          <p:cNvSpPr/>
          <p:nvPr/>
        </p:nvSpPr>
        <p:spPr>
          <a:xfrm>
            <a:off x="365760" y="1792080"/>
            <a:ext cx="3977280" cy="77688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4" name="Text 10"/>
          <p:cNvSpPr/>
          <p:nvPr/>
        </p:nvSpPr>
        <p:spPr>
          <a:xfrm>
            <a:off x="475560" y="1837800"/>
            <a:ext cx="3757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📁 </a:t>
            </a: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mkdir vs makedirs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425" name="Text 11"/>
          <p:cNvSpPr/>
          <p:nvPr/>
        </p:nvSpPr>
        <p:spPr>
          <a:xfrm>
            <a:off x="475560" y="2139840"/>
            <a:ext cx="3757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mkdir() creates one dir. makedirs() creates the full nested path. Use exist_ok=True.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26" name="Shape 12"/>
          <p:cNvSpPr/>
          <p:nvPr/>
        </p:nvSpPr>
        <p:spPr>
          <a:xfrm>
            <a:off x="4800600" y="1792080"/>
            <a:ext cx="3977280" cy="77688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7" name="Text 13"/>
          <p:cNvSpPr/>
          <p:nvPr/>
        </p:nvSpPr>
        <p:spPr>
          <a:xfrm>
            <a:off x="4910400" y="1837800"/>
            <a:ext cx="3757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🚀 </a:t>
            </a: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os.chdir(path)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428" name="Text 14"/>
          <p:cNvSpPr/>
          <p:nvPr/>
        </p:nvSpPr>
        <p:spPr>
          <a:xfrm>
            <a:off x="4910400" y="2139840"/>
            <a:ext cx="3757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Changes the current directory. Affects ALL relative paths. Use getcwd() to track it.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29" name="Shape 15"/>
          <p:cNvSpPr/>
          <p:nvPr/>
        </p:nvSpPr>
        <p:spPr>
          <a:xfrm>
            <a:off x="365760" y="2651760"/>
            <a:ext cx="3977280" cy="77688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0" name="Text 16"/>
          <p:cNvSpPr/>
          <p:nvPr/>
        </p:nvSpPr>
        <p:spPr>
          <a:xfrm>
            <a:off x="475560" y="2697480"/>
            <a:ext cx="3757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🗑 </a:t>
            </a: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rmdir vs rmtree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431" name="Text 17"/>
          <p:cNvSpPr/>
          <p:nvPr/>
        </p:nvSpPr>
        <p:spPr>
          <a:xfrm>
            <a:off x="475560" y="2999160"/>
            <a:ext cx="3757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rmdir() only removes empty dirs. shutil.rmtree() removes everything recursively.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32" name="Shape 18"/>
          <p:cNvSpPr/>
          <p:nvPr/>
        </p:nvSpPr>
        <p:spPr>
          <a:xfrm>
            <a:off x="4800600" y="2651760"/>
            <a:ext cx="3977280" cy="77688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3" name="Text 19"/>
          <p:cNvSpPr/>
          <p:nvPr/>
        </p:nvSpPr>
        <p:spPr>
          <a:xfrm>
            <a:off x="4910400" y="2697480"/>
            <a:ext cx="3757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🗺 </a:t>
            </a: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os.path — key functions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434" name="Text 20"/>
          <p:cNvSpPr/>
          <p:nvPr/>
        </p:nvSpPr>
        <p:spPr>
          <a:xfrm>
            <a:off x="4910400" y="2999160"/>
            <a:ext cx="3757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exists, isfile, isdir, abspath, join, split, basename, dirname, splitext, getsize.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35" name="Shape 21"/>
          <p:cNvSpPr/>
          <p:nvPr/>
        </p:nvSpPr>
        <p:spPr>
          <a:xfrm>
            <a:off x="365760" y="3511440"/>
            <a:ext cx="3977280" cy="77688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6" name="Text 22"/>
          <p:cNvSpPr/>
          <p:nvPr/>
        </p:nvSpPr>
        <p:spPr>
          <a:xfrm>
            <a:off x="475560" y="3557160"/>
            <a:ext cx="3757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🌐 </a:t>
            </a: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os.path.join()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437" name="Text 23"/>
          <p:cNvSpPr/>
          <p:nvPr/>
        </p:nvSpPr>
        <p:spPr>
          <a:xfrm>
            <a:off x="475560" y="3858840"/>
            <a:ext cx="3757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Always use join() to build paths — never + with slashes. Works on all platforms.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38" name="Shape 24"/>
          <p:cNvSpPr/>
          <p:nvPr/>
        </p:nvSpPr>
        <p:spPr>
          <a:xfrm>
            <a:off x="4800600" y="3511440"/>
            <a:ext cx="3977280" cy="77688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9" name="Text 25"/>
          <p:cNvSpPr/>
          <p:nvPr/>
        </p:nvSpPr>
        <p:spPr>
          <a:xfrm>
            <a:off x="4910400" y="3557160"/>
            <a:ext cx="3757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💻 </a:t>
            </a:r>
            <a:r>
              <a:rPr b="1" lang="en-US" sz="1350" spc="-1" strike="noStrike">
                <a:solidFill>
                  <a:srgbClr val="c7d2fe"/>
                </a:solidFill>
                <a:latin typeface="Calibri"/>
                <a:ea typeface="Calibri"/>
              </a:rPr>
              <a:t>os.name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440" name="Text 26"/>
          <p:cNvSpPr/>
          <p:nvPr/>
        </p:nvSpPr>
        <p:spPr>
          <a:xfrm>
            <a:off x="4910400" y="3858840"/>
            <a:ext cx="3757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'nt' = Windows, 'posix' = Linux/Mac. Use sys.platform for more specific detection.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41" name="Text 27"/>
          <p:cNvSpPr/>
          <p:nvPr/>
        </p:nvSpPr>
        <p:spPr>
          <a:xfrm>
            <a:off x="365760" y="446220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End of Chapter 23 — File I/O in Python is now complete!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2026-03-08T04:48:24Z</dcterms:created>
  <dc:creator>PptxGenJS</dc:creator>
  <dc:description/>
  <dc:language>en-IN</dc:language>
  <cp:lastModifiedBy>PptxGenJS</cp:lastModifiedBy>
  <dcterms:modified xsi:type="dcterms:W3CDTF">2026-03-08T04:48:24Z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