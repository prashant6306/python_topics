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</a:t>
            </a:r>
            <a:r>
              <a:rPr b="0" lang="en-IN" sz="2000" spc="-1" strike="noStrike">
                <a:latin typeface="Arial"/>
              </a:rPr>
              <a:t>c</a:t>
            </a:r>
            <a:r>
              <a:rPr b="0" lang="en-IN" sz="2000" spc="-1" strike="noStrike">
                <a:latin typeface="Arial"/>
              </a:rPr>
              <a:t>k</a:t>
            </a:r>
            <a:r>
              <a:rPr b="0" lang="en-IN" sz="2000" spc="-1" strike="noStrike">
                <a:latin typeface="Arial"/>
              </a:rPr>
              <a:t> </a:t>
            </a:r>
            <a:r>
              <a:rPr b="0" lang="en-IN" sz="2000" spc="-1" strike="noStrike">
                <a:latin typeface="Arial"/>
              </a:rPr>
              <a:t>t</a:t>
            </a:r>
            <a:r>
              <a:rPr b="0" lang="en-IN" sz="2000" spc="-1" strike="noStrike">
                <a:latin typeface="Arial"/>
              </a:rPr>
              <a:t>o</a:t>
            </a:r>
            <a:r>
              <a:rPr b="0" lang="en-IN" sz="2000" spc="-1" strike="noStrike">
                <a:latin typeface="Arial"/>
              </a:rPr>
              <a:t> </a:t>
            </a:r>
            <a:r>
              <a:rPr b="0" lang="en-IN" sz="2000" spc="-1" strike="noStrike">
                <a:latin typeface="Arial"/>
              </a:rPr>
              <a:t>e</a:t>
            </a:r>
            <a:r>
              <a:rPr b="0" lang="en-IN" sz="2000" spc="-1" strike="noStrike">
                <a:latin typeface="Arial"/>
              </a:rPr>
              <a:t>d</a:t>
            </a:r>
            <a:r>
              <a:rPr b="0" lang="en-IN" sz="2000" spc="-1" strike="noStrike">
                <a:latin typeface="Arial"/>
              </a:rPr>
              <a:t>i</a:t>
            </a:r>
            <a:r>
              <a:rPr b="0" lang="en-IN" sz="2000" spc="-1" strike="noStrike">
                <a:latin typeface="Arial"/>
              </a:rPr>
              <a:t>t </a:t>
            </a:r>
            <a:r>
              <a:rPr b="0" lang="en-IN" sz="2000" spc="-1" strike="noStrike">
                <a:latin typeface="Arial"/>
              </a:rPr>
              <a:t>t</a:t>
            </a:r>
            <a:r>
              <a:rPr b="0" lang="en-IN" sz="2000" spc="-1" strike="noStrike">
                <a:latin typeface="Arial"/>
              </a:rPr>
              <a:t>h</a:t>
            </a:r>
            <a:r>
              <a:rPr b="0" lang="en-IN" sz="2000" spc="-1" strike="noStrike">
                <a:latin typeface="Arial"/>
              </a:rPr>
              <a:t>e</a:t>
            </a:r>
            <a:r>
              <a:rPr b="0" lang="en-IN" sz="2000" spc="-1" strike="noStrike">
                <a:latin typeface="Arial"/>
              </a:rPr>
              <a:t> </a:t>
            </a:r>
            <a:r>
              <a:rPr b="0" lang="en-IN" sz="2000" spc="-1" strike="noStrike">
                <a:latin typeface="Arial"/>
              </a:rPr>
              <a:t>n</a:t>
            </a:r>
            <a:r>
              <a:rPr b="0" lang="en-IN" sz="2000" spc="-1" strike="noStrike">
                <a:latin typeface="Arial"/>
              </a:rPr>
              <a:t>o</a:t>
            </a:r>
            <a:r>
              <a:rPr b="0" lang="en-IN" sz="2000" spc="-1" strike="noStrike">
                <a:latin typeface="Arial"/>
              </a:rPr>
              <a:t>t</a:t>
            </a:r>
            <a:r>
              <a:rPr b="0" lang="en-IN" sz="2000" spc="-1" strike="noStrike">
                <a:latin typeface="Arial"/>
              </a:rPr>
              <a:t>e</a:t>
            </a:r>
            <a:r>
              <a:rPr b="0" lang="en-IN" sz="2000" spc="-1" strike="noStrike">
                <a:latin typeface="Arial"/>
              </a:rPr>
              <a:t>s</a:t>
            </a:r>
            <a:r>
              <a:rPr b="0" lang="en-IN" sz="2000" spc="-1" strike="noStrike">
                <a:latin typeface="Arial"/>
              </a:rPr>
              <a:t> </a:t>
            </a:r>
            <a:r>
              <a:rPr b="0" lang="en-IN" sz="2000" spc="-1" strike="noStrike">
                <a:latin typeface="Arial"/>
              </a:rPr>
              <a:t>f</a:t>
            </a:r>
            <a:r>
              <a:rPr b="0" lang="en-IN" sz="2000" spc="-1" strike="noStrike">
                <a:latin typeface="Arial"/>
              </a:rPr>
              <a:t>o</a:t>
            </a:r>
            <a:r>
              <a:rPr b="0" lang="en-IN" sz="2000" spc="-1" strike="noStrike">
                <a:latin typeface="Arial"/>
              </a:rPr>
              <a:t>r</a:t>
            </a:r>
            <a:r>
              <a:rPr b="0" lang="en-IN" sz="2000" spc="-1" strike="noStrike">
                <a:latin typeface="Arial"/>
              </a:rPr>
              <a:t>m</a:t>
            </a:r>
            <a:r>
              <a:rPr b="0" lang="en-IN" sz="2000" spc="-1" strike="noStrike">
                <a:latin typeface="Arial"/>
              </a:rPr>
              <a:t>a</a:t>
            </a:r>
            <a:r>
              <a:rPr b="0" lang="en-IN" sz="2000" spc="-1" strike="noStrike">
                <a:latin typeface="Arial"/>
              </a:rPr>
              <a:t>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A2DEF4AA-19B2-496E-AE41-8241B44D4926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8851A50-9494-4830-9B01-FD91CF9416D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58A06AD-D91A-4C26-8F50-EAE1D3AE7F2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DCC0D51-5BD0-48A8-939D-4D775DF1A80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6D5E2FF-7E06-4350-97CD-73FDA8580C8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36D7B0-234B-4841-ABBC-6EEBC2F00CD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F62EC67-E4C8-45FE-BB09-5E8BC5CA33E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A1E6471-364C-476E-871E-CE72BFA1D1D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BA2F913-28C2-4006-B469-96BFE6D921F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436BB3-7858-4B77-8B81-E2340B37815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ck 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to 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ed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it 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th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e 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titl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e 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te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xt 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for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m</a:t>
            </a:r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at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IN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0" y="4389120"/>
            <a:ext cx="9143640" cy="754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Text 2"/>
          <p:cNvSpPr/>
          <p:nvPr/>
        </p:nvSpPr>
        <p:spPr>
          <a:xfrm>
            <a:off x="457200" y="54864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000" spc="-1" strike="noStrike">
                <a:solidFill>
                  <a:srgbClr val="ffffff"/>
                </a:solidFill>
                <a:latin typeface="Georgia"/>
                <a:ea typeface="Georgia"/>
              </a:rPr>
              <a:t>Python File I/O</a:t>
            </a:r>
            <a:endParaRPr b="0" lang="en-IN" sz="5000" spc="-1" strike="noStrike"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457200" y="155448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2100" spc="-1" strike="noStrike">
                <a:solidFill>
                  <a:srgbClr val="c4b5fd"/>
                </a:solidFill>
                <a:latin typeface="Calibri"/>
                <a:ea typeface="Calibri"/>
              </a:rPr>
              <a:t>Part 2: with Keyword • Seeking • Serialization</a:t>
            </a:r>
            <a:endParaRPr b="0" lang="en-IN" sz="2100" spc="-1" strike="noStrike"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548640" y="2468880"/>
            <a:ext cx="3840120" cy="658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5"/>
          <p:cNvSpPr/>
          <p:nvPr/>
        </p:nvSpPr>
        <p:spPr>
          <a:xfrm>
            <a:off x="685800" y="2468880"/>
            <a:ext cx="37029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with Keyword (Context Manager)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4937760" y="2468880"/>
            <a:ext cx="3840120" cy="658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" name="Text 7"/>
          <p:cNvSpPr/>
          <p:nvPr/>
        </p:nvSpPr>
        <p:spPr>
          <a:xfrm>
            <a:off x="5074920" y="2468880"/>
            <a:ext cx="37029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Moving within a File (seek)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52" name="Shape 8"/>
          <p:cNvSpPr/>
          <p:nvPr/>
        </p:nvSpPr>
        <p:spPr>
          <a:xfrm>
            <a:off x="548640" y="3310200"/>
            <a:ext cx="3840120" cy="658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3" name="Text 9"/>
          <p:cNvSpPr/>
          <p:nvPr/>
        </p:nvSpPr>
        <p:spPr>
          <a:xfrm>
            <a:off x="685800" y="3310200"/>
            <a:ext cx="37029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Serialization &amp; Deserialization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54" name="Shape 10"/>
          <p:cNvSpPr/>
          <p:nvPr/>
        </p:nvSpPr>
        <p:spPr>
          <a:xfrm>
            <a:off x="4937760" y="3310200"/>
            <a:ext cx="3840120" cy="658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5" name="Text 11"/>
          <p:cNvSpPr/>
          <p:nvPr/>
        </p:nvSpPr>
        <p:spPr>
          <a:xfrm>
            <a:off x="5074920" y="3310200"/>
            <a:ext cx="37029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Serialization of Custom Types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56" name="Text 12"/>
          <p:cNvSpPr/>
          <p:nvPr/>
        </p:nvSpPr>
        <p:spPr>
          <a:xfrm>
            <a:off x="457200" y="4462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Chapter 23 — Let Us Python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274320" y="0"/>
            <a:ext cx="8595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Georgia"/>
                <a:ea typeface="Georgia"/>
              </a:rPr>
              <a:t>The with Keyword — Context Manager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228600" y="868680"/>
            <a:ext cx="4114440" cy="406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228600" y="868680"/>
            <a:ext cx="4114440" cy="383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Text 4"/>
          <p:cNvSpPr/>
          <p:nvPr/>
        </p:nvSpPr>
        <p:spPr>
          <a:xfrm>
            <a:off x="347400" y="868680"/>
            <a:ext cx="3885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❌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Without with (risky)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347400" y="1316880"/>
            <a:ext cx="3885840" cy="2148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Text 6"/>
          <p:cNvSpPr/>
          <p:nvPr/>
        </p:nvSpPr>
        <p:spPr>
          <a:xfrm>
            <a:off x="438840" y="1362600"/>
            <a:ext cx="3702960" cy="20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fobj = open('notes.txt', 'r')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# What if this line crashes?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content = fobj.read()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print(content)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# close() may never run!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fobj.close()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347400" y="3538800"/>
            <a:ext cx="182520" cy="200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Text 8"/>
          <p:cNvSpPr/>
          <p:nvPr/>
        </p:nvSpPr>
        <p:spPr>
          <a:xfrm>
            <a:off x="347400" y="353880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594360" y="3538800"/>
            <a:ext cx="3638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If an exception occurs mid-code, close() is skipped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67" name="Shape 10"/>
          <p:cNvSpPr/>
          <p:nvPr/>
        </p:nvSpPr>
        <p:spPr>
          <a:xfrm>
            <a:off x="347400" y="3867840"/>
            <a:ext cx="182520" cy="200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Text 11"/>
          <p:cNvSpPr/>
          <p:nvPr/>
        </p:nvSpPr>
        <p:spPr>
          <a:xfrm>
            <a:off x="347400" y="386784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594360" y="3867840"/>
            <a:ext cx="3638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Skipping close() leaks system memory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7400" y="4197240"/>
            <a:ext cx="182520" cy="200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Text 14"/>
          <p:cNvSpPr/>
          <p:nvPr/>
        </p:nvSpPr>
        <p:spPr>
          <a:xfrm>
            <a:off x="347400" y="419724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594360" y="4197240"/>
            <a:ext cx="3638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File may stay locked, blocking other programs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347400" y="4526280"/>
            <a:ext cx="182520" cy="200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" name="Text 17"/>
          <p:cNvSpPr/>
          <p:nvPr/>
        </p:nvSpPr>
        <p:spPr>
          <a:xfrm>
            <a:off x="347400" y="452628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✗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594360" y="4526280"/>
            <a:ext cx="3638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Data may not be fully written to disk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4800600" y="868680"/>
            <a:ext cx="4114440" cy="406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7" name="Shape 20"/>
          <p:cNvSpPr/>
          <p:nvPr/>
        </p:nvSpPr>
        <p:spPr>
          <a:xfrm>
            <a:off x="4800600" y="868680"/>
            <a:ext cx="4114440" cy="3837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Text 21"/>
          <p:cNvSpPr/>
          <p:nvPr/>
        </p:nvSpPr>
        <p:spPr>
          <a:xfrm>
            <a:off x="4919400" y="868680"/>
            <a:ext cx="3885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✓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With with (safe &amp; clean)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79" name="Shape 22"/>
          <p:cNvSpPr/>
          <p:nvPr/>
        </p:nvSpPr>
        <p:spPr>
          <a:xfrm>
            <a:off x="4919400" y="1316880"/>
            <a:ext cx="3885840" cy="2148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23"/>
          <p:cNvSpPr/>
          <p:nvPr/>
        </p:nvSpPr>
        <p:spPr>
          <a:xfrm>
            <a:off x="5010840" y="1362600"/>
            <a:ext cx="3702960" cy="20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open('notes.txt','r') as fobj: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content = fobj.read()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process(content)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# File auto-closed here!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# Even if an exception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# occurred above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81" name="Shape 24"/>
          <p:cNvSpPr/>
          <p:nvPr/>
        </p:nvSpPr>
        <p:spPr>
          <a:xfrm>
            <a:off x="4919400" y="3538800"/>
            <a:ext cx="182520" cy="200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919400" y="353880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5166360" y="3538800"/>
            <a:ext cx="3638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File closes automatically when block exits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84" name="Shape 27"/>
          <p:cNvSpPr/>
          <p:nvPr/>
        </p:nvSpPr>
        <p:spPr>
          <a:xfrm>
            <a:off x="4919400" y="3867840"/>
            <a:ext cx="182520" cy="200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Text 28"/>
          <p:cNvSpPr/>
          <p:nvPr/>
        </p:nvSpPr>
        <p:spPr>
          <a:xfrm>
            <a:off x="4919400" y="386784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6" name="Text 29"/>
          <p:cNvSpPr/>
          <p:nvPr/>
        </p:nvSpPr>
        <p:spPr>
          <a:xfrm>
            <a:off x="5166360" y="3867840"/>
            <a:ext cx="3638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Works even if an exception is raised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87" name="Shape 30"/>
          <p:cNvSpPr/>
          <p:nvPr/>
        </p:nvSpPr>
        <p:spPr>
          <a:xfrm>
            <a:off x="4919400" y="4197240"/>
            <a:ext cx="182520" cy="200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Text 31"/>
          <p:cNvSpPr/>
          <p:nvPr/>
        </p:nvSpPr>
        <p:spPr>
          <a:xfrm>
            <a:off x="4919400" y="419724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5166360" y="4197240"/>
            <a:ext cx="3638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No need to call close() manually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4919400" y="4526280"/>
            <a:ext cx="182520" cy="200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34"/>
          <p:cNvSpPr/>
          <p:nvPr/>
        </p:nvSpPr>
        <p:spPr>
          <a:xfrm>
            <a:off x="4919400" y="452628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✓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92" name="Text 35"/>
          <p:cNvSpPr/>
          <p:nvPr/>
        </p:nvSpPr>
        <p:spPr>
          <a:xfrm>
            <a:off x="5166360" y="4526280"/>
            <a:ext cx="3638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Cleaner, more readable code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Text 1"/>
          <p:cNvSpPr/>
          <p:nvPr/>
        </p:nvSpPr>
        <p:spPr>
          <a:xfrm>
            <a:off x="274320" y="0"/>
            <a:ext cx="8595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Georgia"/>
                <a:ea typeface="Georgia"/>
              </a:rPr>
              <a:t>with Keyword — Code Examples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95" name="Shape 2"/>
          <p:cNvSpPr/>
          <p:nvPr/>
        </p:nvSpPr>
        <p:spPr>
          <a:xfrm>
            <a:off x="182880" y="868680"/>
            <a:ext cx="2788560" cy="2788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"/>
          <p:cNvSpPr/>
          <p:nvPr/>
        </p:nvSpPr>
        <p:spPr>
          <a:xfrm>
            <a:off x="182880" y="868680"/>
            <a:ext cx="2788560" cy="365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"/>
          <p:cNvSpPr/>
          <p:nvPr/>
        </p:nvSpPr>
        <p:spPr>
          <a:xfrm>
            <a:off x="274320" y="86868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Reading with with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98" name="Shape 5"/>
          <p:cNvSpPr/>
          <p:nvPr/>
        </p:nvSpPr>
        <p:spPr>
          <a:xfrm>
            <a:off x="274320" y="1298520"/>
            <a:ext cx="2605680" cy="2212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6"/>
          <p:cNvSpPr/>
          <p:nvPr/>
        </p:nvSpPr>
        <p:spPr>
          <a:xfrm>
            <a:off x="320040" y="1344240"/>
            <a:ext cx="251424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Safe reading — auto-close on exit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open('diary.txt', 'r') as fobj: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content = fobj.read()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print(content)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File closed automatically here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00" name="Shape 7"/>
          <p:cNvSpPr/>
          <p:nvPr/>
        </p:nvSpPr>
        <p:spPr>
          <a:xfrm>
            <a:off x="3154680" y="868680"/>
            <a:ext cx="2788560" cy="2788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8"/>
          <p:cNvSpPr/>
          <p:nvPr/>
        </p:nvSpPr>
        <p:spPr>
          <a:xfrm>
            <a:off x="3154680" y="868680"/>
            <a:ext cx="2788560" cy="365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9"/>
          <p:cNvSpPr/>
          <p:nvPr/>
        </p:nvSpPr>
        <p:spPr>
          <a:xfrm>
            <a:off x="3246120" y="86868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Writing with with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03" name="Shape 10"/>
          <p:cNvSpPr/>
          <p:nvPr/>
        </p:nvSpPr>
        <p:spPr>
          <a:xfrm>
            <a:off x="3246120" y="1298520"/>
            <a:ext cx="2605680" cy="2212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Text 11"/>
          <p:cNvSpPr/>
          <p:nvPr/>
        </p:nvSpPr>
        <p:spPr>
          <a:xfrm>
            <a:off x="3291840" y="1344240"/>
            <a:ext cx="251424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Safe writing — auto-close on exit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open('diary.txt', 'w') as fobj: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fobj.write('Day 1: Started learning\n')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fobj.write('Day 2: practiced more!\n')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File flushed and closed here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05" name="Shape 12"/>
          <p:cNvSpPr/>
          <p:nvPr/>
        </p:nvSpPr>
        <p:spPr>
          <a:xfrm>
            <a:off x="6126480" y="868680"/>
            <a:ext cx="2788560" cy="27885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13"/>
          <p:cNvSpPr/>
          <p:nvPr/>
        </p:nvSpPr>
        <p:spPr>
          <a:xfrm>
            <a:off x="6126480" y="868680"/>
            <a:ext cx="2788560" cy="365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14"/>
          <p:cNvSpPr/>
          <p:nvPr/>
        </p:nvSpPr>
        <p:spPr>
          <a:xfrm>
            <a:off x="6217920" y="86868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Line-by-Line with with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08" name="Shape 15"/>
          <p:cNvSpPr/>
          <p:nvPr/>
        </p:nvSpPr>
        <p:spPr>
          <a:xfrm>
            <a:off x="6217920" y="1298520"/>
            <a:ext cx="2605680" cy="2212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Text 16"/>
          <p:cNvSpPr/>
          <p:nvPr/>
        </p:nvSpPr>
        <p:spPr>
          <a:xfrm>
            <a:off x="6263640" y="1344240"/>
            <a:ext cx="251424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Read file line by line safely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open('numbers.txt','r') as fobj: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for line in fobj: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val = int(line.strip())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print(val * 2)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Handles large files efficiently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10" name="Shape 17"/>
          <p:cNvSpPr/>
          <p:nvPr/>
        </p:nvSpPr>
        <p:spPr>
          <a:xfrm>
            <a:off x="228600" y="3749040"/>
            <a:ext cx="8686440" cy="12340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Text 18"/>
          <p:cNvSpPr/>
          <p:nvPr/>
        </p:nvSpPr>
        <p:spPr>
          <a:xfrm>
            <a:off x="365760" y="377640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4b8a6"/>
                </a:solidFill>
                <a:latin typeface="Calibri"/>
                <a:ea typeface="Calibri"/>
              </a:rPr>
              <a:t>Syntax Breakdown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12" name="Text 19"/>
          <p:cNvSpPr/>
          <p:nvPr/>
        </p:nvSpPr>
        <p:spPr>
          <a:xfrm>
            <a:off x="365760" y="407808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cd34d"/>
                </a:solidFill>
                <a:latin typeface="Consolas"/>
                <a:ea typeface="Consolas"/>
              </a:rPr>
              <a:t>with </a:t>
            </a:r>
            <a:r>
              <a:rPr b="0" lang="en-US" sz="1300" spc="-1" strike="noStrike">
                <a:solidFill>
                  <a:srgbClr val="67e8f9"/>
                </a:solidFill>
                <a:latin typeface="Consolas"/>
                <a:ea typeface="Consolas"/>
              </a:rPr>
              <a:t>open('file.txt', 'r') </a:t>
            </a:r>
            <a:r>
              <a:rPr b="0" lang="en-US" sz="1300" spc="-1" strike="noStrike">
                <a:solidFill>
                  <a:srgbClr val="fcd34d"/>
                </a:solidFill>
                <a:latin typeface="Consolas"/>
                <a:ea typeface="Consolas"/>
              </a:rPr>
              <a:t>as </a:t>
            </a:r>
            <a:r>
              <a:rPr b="0" lang="en-US" sz="1300" spc="-1" strike="noStrike">
                <a:solidFill>
                  <a:srgbClr val="4ade80"/>
                </a:solidFill>
                <a:latin typeface="Consolas"/>
                <a:ea typeface="Consolas"/>
              </a:rPr>
              <a:t>fobj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:     ← open() returns file object, assigned to fobj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13" name="Text 20"/>
          <p:cNvSpPr/>
          <p:nvPr/>
        </p:nvSpPr>
        <p:spPr>
          <a:xfrm>
            <a:off x="365760" y="437076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6a9955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6a9955"/>
                </a:solidFill>
                <a:latin typeface="Consolas"/>
                <a:ea typeface="Consolas"/>
              </a:rPr>
              <a:t># indented code block — file is open here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4" name="Text 21"/>
          <p:cNvSpPr/>
          <p:nvPr/>
        </p:nvSpPr>
        <p:spPr>
          <a:xfrm>
            <a:off x="365760" y="464508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6a9955"/>
                </a:solidFill>
                <a:latin typeface="Consolas"/>
                <a:ea typeface="Consolas"/>
              </a:rPr>
              <a:t># dedented — file auto-closed; with block's __exit__ is called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ext 1"/>
          <p:cNvSpPr/>
          <p:nvPr/>
        </p:nvSpPr>
        <p:spPr>
          <a:xfrm>
            <a:off x="274320" y="0"/>
            <a:ext cx="8595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Georgia"/>
                <a:ea typeface="Georgia"/>
              </a:rPr>
              <a:t>Moving Within a File — seek()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117" name="Shape 2"/>
          <p:cNvSpPr/>
          <p:nvPr/>
        </p:nvSpPr>
        <p:spPr>
          <a:xfrm>
            <a:off x="228600" y="868680"/>
            <a:ext cx="8686440" cy="70416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Text 3"/>
          <p:cNvSpPr/>
          <p:nvPr/>
        </p:nvSpPr>
        <p:spPr>
          <a:xfrm>
            <a:off x="347400" y="887040"/>
            <a:ext cx="548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4b8a6"/>
                </a:solidFill>
                <a:latin typeface="Calibri"/>
                <a:ea typeface="Calibri"/>
              </a:rPr>
              <a:t>File: 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9" name="Shape 4"/>
          <p:cNvSpPr/>
          <p:nvPr/>
        </p:nvSpPr>
        <p:spPr>
          <a:xfrm>
            <a:off x="896040" y="914400"/>
            <a:ext cx="347040" cy="347040"/>
          </a:xfrm>
          <a:prstGeom prst="rect">
            <a:avLst/>
          </a:prstGeom>
          <a:solidFill>
            <a:srgbClr val="0f766e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Text 5"/>
          <p:cNvSpPr/>
          <p:nvPr/>
        </p:nvSpPr>
        <p:spPr>
          <a:xfrm>
            <a:off x="89604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H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89604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0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22" name="Shape 7"/>
          <p:cNvSpPr/>
          <p:nvPr/>
        </p:nvSpPr>
        <p:spPr>
          <a:xfrm>
            <a:off x="128016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Text 8"/>
          <p:cNvSpPr/>
          <p:nvPr/>
        </p:nvSpPr>
        <p:spPr>
          <a:xfrm>
            <a:off x="128016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4" name="Text 9"/>
          <p:cNvSpPr/>
          <p:nvPr/>
        </p:nvSpPr>
        <p:spPr>
          <a:xfrm>
            <a:off x="128016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25" name="Shape 10"/>
          <p:cNvSpPr/>
          <p:nvPr/>
        </p:nvSpPr>
        <p:spPr>
          <a:xfrm>
            <a:off x="166428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11"/>
          <p:cNvSpPr/>
          <p:nvPr/>
        </p:nvSpPr>
        <p:spPr>
          <a:xfrm>
            <a:off x="166428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166428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2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28" name="Shape 13"/>
          <p:cNvSpPr/>
          <p:nvPr/>
        </p:nvSpPr>
        <p:spPr>
          <a:xfrm>
            <a:off x="204840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Text 14"/>
          <p:cNvSpPr/>
          <p:nvPr/>
        </p:nvSpPr>
        <p:spPr>
          <a:xfrm>
            <a:off x="204840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30" name="Text 15"/>
          <p:cNvSpPr/>
          <p:nvPr/>
        </p:nvSpPr>
        <p:spPr>
          <a:xfrm>
            <a:off x="204840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3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31" name="Shape 16"/>
          <p:cNvSpPr/>
          <p:nvPr/>
        </p:nvSpPr>
        <p:spPr>
          <a:xfrm>
            <a:off x="243216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7"/>
          <p:cNvSpPr/>
          <p:nvPr/>
        </p:nvSpPr>
        <p:spPr>
          <a:xfrm>
            <a:off x="243216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o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33" name="Text 18"/>
          <p:cNvSpPr/>
          <p:nvPr/>
        </p:nvSpPr>
        <p:spPr>
          <a:xfrm>
            <a:off x="243216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4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34" name="Shape 19"/>
          <p:cNvSpPr/>
          <p:nvPr/>
        </p:nvSpPr>
        <p:spPr>
          <a:xfrm>
            <a:off x="281628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 20"/>
          <p:cNvSpPr/>
          <p:nvPr/>
        </p:nvSpPr>
        <p:spPr>
          <a:xfrm>
            <a:off x="281628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,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281628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5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37" name="Shape 22"/>
          <p:cNvSpPr/>
          <p:nvPr/>
        </p:nvSpPr>
        <p:spPr>
          <a:xfrm>
            <a:off x="320040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23"/>
          <p:cNvSpPr/>
          <p:nvPr/>
        </p:nvSpPr>
        <p:spPr>
          <a:xfrm>
            <a:off x="320040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Text 24"/>
          <p:cNvSpPr/>
          <p:nvPr/>
        </p:nvSpPr>
        <p:spPr>
          <a:xfrm>
            <a:off x="320040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6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40" name="Shape 25"/>
          <p:cNvSpPr/>
          <p:nvPr/>
        </p:nvSpPr>
        <p:spPr>
          <a:xfrm>
            <a:off x="3584520" y="914400"/>
            <a:ext cx="347040" cy="347040"/>
          </a:xfrm>
          <a:prstGeom prst="rect">
            <a:avLst/>
          </a:prstGeom>
          <a:solidFill>
            <a:srgbClr val="7c3aed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26"/>
          <p:cNvSpPr/>
          <p:nvPr/>
        </p:nvSpPr>
        <p:spPr>
          <a:xfrm>
            <a:off x="358452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Text 27"/>
          <p:cNvSpPr/>
          <p:nvPr/>
        </p:nvSpPr>
        <p:spPr>
          <a:xfrm>
            <a:off x="358452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7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43" name="Shape 28"/>
          <p:cNvSpPr/>
          <p:nvPr/>
        </p:nvSpPr>
        <p:spPr>
          <a:xfrm>
            <a:off x="396864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Text 29"/>
          <p:cNvSpPr/>
          <p:nvPr/>
        </p:nvSpPr>
        <p:spPr>
          <a:xfrm>
            <a:off x="396864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W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45" name="Text 30"/>
          <p:cNvSpPr/>
          <p:nvPr/>
        </p:nvSpPr>
        <p:spPr>
          <a:xfrm>
            <a:off x="396864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8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46" name="Shape 31"/>
          <p:cNvSpPr/>
          <p:nvPr/>
        </p:nvSpPr>
        <p:spPr>
          <a:xfrm>
            <a:off x="435240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32"/>
          <p:cNvSpPr/>
          <p:nvPr/>
        </p:nvSpPr>
        <p:spPr>
          <a:xfrm>
            <a:off x="435240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o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48" name="Text 33"/>
          <p:cNvSpPr/>
          <p:nvPr/>
        </p:nvSpPr>
        <p:spPr>
          <a:xfrm>
            <a:off x="435240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9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49" name="Shape 34"/>
          <p:cNvSpPr/>
          <p:nvPr/>
        </p:nvSpPr>
        <p:spPr>
          <a:xfrm>
            <a:off x="473652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35"/>
          <p:cNvSpPr/>
          <p:nvPr/>
        </p:nvSpPr>
        <p:spPr>
          <a:xfrm>
            <a:off x="473652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r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51" name="Text 36"/>
          <p:cNvSpPr/>
          <p:nvPr/>
        </p:nvSpPr>
        <p:spPr>
          <a:xfrm>
            <a:off x="473652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10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52" name="Shape 37"/>
          <p:cNvSpPr/>
          <p:nvPr/>
        </p:nvSpPr>
        <p:spPr>
          <a:xfrm>
            <a:off x="512064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38"/>
          <p:cNvSpPr/>
          <p:nvPr/>
        </p:nvSpPr>
        <p:spPr>
          <a:xfrm>
            <a:off x="512064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54" name="Text 39"/>
          <p:cNvSpPr/>
          <p:nvPr/>
        </p:nvSpPr>
        <p:spPr>
          <a:xfrm>
            <a:off x="512064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11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55" name="Shape 40"/>
          <p:cNvSpPr/>
          <p:nvPr/>
        </p:nvSpPr>
        <p:spPr>
          <a:xfrm>
            <a:off x="550476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41"/>
          <p:cNvSpPr/>
          <p:nvPr/>
        </p:nvSpPr>
        <p:spPr>
          <a:xfrm>
            <a:off x="550476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57" name="Text 42"/>
          <p:cNvSpPr/>
          <p:nvPr/>
        </p:nvSpPr>
        <p:spPr>
          <a:xfrm>
            <a:off x="550476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12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58" name="Shape 43"/>
          <p:cNvSpPr/>
          <p:nvPr/>
        </p:nvSpPr>
        <p:spPr>
          <a:xfrm>
            <a:off x="588888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44"/>
          <p:cNvSpPr/>
          <p:nvPr/>
        </p:nvSpPr>
        <p:spPr>
          <a:xfrm>
            <a:off x="588888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!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60" name="Text 45"/>
          <p:cNvSpPr/>
          <p:nvPr/>
        </p:nvSpPr>
        <p:spPr>
          <a:xfrm>
            <a:off x="588888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13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61" name="Shape 46"/>
          <p:cNvSpPr/>
          <p:nvPr/>
        </p:nvSpPr>
        <p:spPr>
          <a:xfrm>
            <a:off x="627264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47"/>
          <p:cNvSpPr/>
          <p:nvPr/>
        </p:nvSpPr>
        <p:spPr>
          <a:xfrm>
            <a:off x="627264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Text 48"/>
          <p:cNvSpPr/>
          <p:nvPr/>
        </p:nvSpPr>
        <p:spPr>
          <a:xfrm>
            <a:off x="627264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14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64" name="Shape 49"/>
          <p:cNvSpPr/>
          <p:nvPr/>
        </p:nvSpPr>
        <p:spPr>
          <a:xfrm>
            <a:off x="665676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Text 50"/>
          <p:cNvSpPr/>
          <p:nvPr/>
        </p:nvSpPr>
        <p:spPr>
          <a:xfrm>
            <a:off x="665676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Text 51"/>
          <p:cNvSpPr/>
          <p:nvPr/>
        </p:nvSpPr>
        <p:spPr>
          <a:xfrm>
            <a:off x="665676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15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67" name="Shape 52"/>
          <p:cNvSpPr/>
          <p:nvPr/>
        </p:nvSpPr>
        <p:spPr>
          <a:xfrm>
            <a:off x="704088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53"/>
          <p:cNvSpPr/>
          <p:nvPr/>
        </p:nvSpPr>
        <p:spPr>
          <a:xfrm>
            <a:off x="704088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P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69" name="Text 54"/>
          <p:cNvSpPr/>
          <p:nvPr/>
        </p:nvSpPr>
        <p:spPr>
          <a:xfrm>
            <a:off x="704088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16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70" name="Shape 55"/>
          <p:cNvSpPr/>
          <p:nvPr/>
        </p:nvSpPr>
        <p:spPr>
          <a:xfrm>
            <a:off x="742500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56"/>
          <p:cNvSpPr/>
          <p:nvPr/>
        </p:nvSpPr>
        <p:spPr>
          <a:xfrm>
            <a:off x="742500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72" name="Text 57"/>
          <p:cNvSpPr/>
          <p:nvPr/>
        </p:nvSpPr>
        <p:spPr>
          <a:xfrm>
            <a:off x="742500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17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73" name="Shape 58"/>
          <p:cNvSpPr/>
          <p:nvPr/>
        </p:nvSpPr>
        <p:spPr>
          <a:xfrm>
            <a:off x="780912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59"/>
          <p:cNvSpPr/>
          <p:nvPr/>
        </p:nvSpPr>
        <p:spPr>
          <a:xfrm>
            <a:off x="780912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75" name="Text 60"/>
          <p:cNvSpPr/>
          <p:nvPr/>
        </p:nvSpPr>
        <p:spPr>
          <a:xfrm>
            <a:off x="780912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18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76" name="Shape 61"/>
          <p:cNvSpPr/>
          <p:nvPr/>
        </p:nvSpPr>
        <p:spPr>
          <a:xfrm>
            <a:off x="819288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62"/>
          <p:cNvSpPr/>
          <p:nvPr/>
        </p:nvSpPr>
        <p:spPr>
          <a:xfrm>
            <a:off x="819288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h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78" name="Text 63"/>
          <p:cNvSpPr/>
          <p:nvPr/>
        </p:nvSpPr>
        <p:spPr>
          <a:xfrm>
            <a:off x="819288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19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79" name="Shape 64"/>
          <p:cNvSpPr/>
          <p:nvPr/>
        </p:nvSpPr>
        <p:spPr>
          <a:xfrm>
            <a:off x="857700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65"/>
          <p:cNvSpPr/>
          <p:nvPr/>
        </p:nvSpPr>
        <p:spPr>
          <a:xfrm>
            <a:off x="857700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o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81" name="Text 66"/>
          <p:cNvSpPr/>
          <p:nvPr/>
        </p:nvSpPr>
        <p:spPr>
          <a:xfrm>
            <a:off x="857700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20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82" name="Shape 67"/>
          <p:cNvSpPr/>
          <p:nvPr/>
        </p:nvSpPr>
        <p:spPr>
          <a:xfrm>
            <a:off x="8961120" y="914400"/>
            <a:ext cx="347040" cy="34704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Text 68"/>
          <p:cNvSpPr/>
          <p:nvPr/>
        </p:nvSpPr>
        <p:spPr>
          <a:xfrm>
            <a:off x="8961120" y="914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4ade80"/>
                </a:solidFill>
                <a:latin typeface="Consolas"/>
                <a:ea typeface="Consolas"/>
              </a:rPr>
              <a:t>n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84" name="Text 69"/>
          <p:cNvSpPr/>
          <p:nvPr/>
        </p:nvSpPr>
        <p:spPr>
          <a:xfrm>
            <a:off x="8961120" y="1280160"/>
            <a:ext cx="347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onsolas"/>
                <a:ea typeface="Consolas"/>
              </a:rPr>
              <a:t>21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85" name="Text 70"/>
          <p:cNvSpPr/>
          <p:nvPr/>
        </p:nvSpPr>
        <p:spPr>
          <a:xfrm>
            <a:off x="347400" y="1280160"/>
            <a:ext cx="548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00" spc="-1" strike="noStrike">
                <a:solidFill>
                  <a:srgbClr val="94a3b8"/>
                </a:solidFill>
                <a:latin typeface="Calibri"/>
                <a:ea typeface="Calibri"/>
              </a:rPr>
              <a:t>Position index →</a:t>
            </a:r>
            <a:endParaRPr b="0" lang="en-IN" sz="700" spc="-1" strike="noStrike">
              <a:latin typeface="Arial"/>
            </a:endParaRPr>
          </a:p>
        </p:txBody>
      </p:sp>
      <p:sp>
        <p:nvSpPr>
          <p:cNvPr id="186" name="Shape 71"/>
          <p:cNvSpPr/>
          <p:nvPr/>
        </p:nvSpPr>
        <p:spPr>
          <a:xfrm>
            <a:off x="228600" y="1572840"/>
            <a:ext cx="8686440" cy="475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Text 72"/>
          <p:cNvSpPr/>
          <p:nvPr/>
        </p:nvSpPr>
        <p:spPr>
          <a:xfrm>
            <a:off x="365760" y="1591200"/>
            <a:ext cx="8412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92400e"/>
                </a:solidFill>
                <a:latin typeface="Calibri"/>
                <a:ea typeface="Calibri"/>
              </a:rPr>
              <a:t>Syntax: </a:t>
            </a:r>
            <a:r>
              <a:rPr b="1" lang="en-US" sz="1300" spc="-1" strike="noStrike">
                <a:solidFill>
                  <a:srgbClr val="1a2a4a"/>
                </a:solidFill>
                <a:latin typeface="Consolas"/>
                <a:ea typeface="Consolas"/>
              </a:rPr>
              <a:t>file.seek(offset, reference)</a:t>
            </a:r>
            <a:r>
              <a:rPr b="0" lang="en-US" sz="1300" spc="-1" strike="noStrike">
                <a:solidFill>
                  <a:srgbClr val="92400e"/>
                </a:solidFill>
                <a:latin typeface="Calibri"/>
                <a:ea typeface="Calibri"/>
              </a:rPr>
              <a:t>  —  reference: 0=start, 1=current, 2=end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88" name="Shape 73"/>
          <p:cNvSpPr/>
          <p:nvPr/>
        </p:nvSpPr>
        <p:spPr>
          <a:xfrm>
            <a:off x="228600" y="2121480"/>
            <a:ext cx="4160160" cy="2605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9" name="Shape 74"/>
          <p:cNvSpPr/>
          <p:nvPr/>
        </p:nvSpPr>
        <p:spPr>
          <a:xfrm>
            <a:off x="228600" y="2121480"/>
            <a:ext cx="4160160" cy="347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Text 75"/>
          <p:cNvSpPr/>
          <p:nvPr/>
        </p:nvSpPr>
        <p:spPr>
          <a:xfrm>
            <a:off x="347400" y="212148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Text Mode Seek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1" name="Shape 76"/>
          <p:cNvSpPr/>
          <p:nvPr/>
        </p:nvSpPr>
        <p:spPr>
          <a:xfrm>
            <a:off x="347400" y="2541960"/>
            <a:ext cx="3931560" cy="2029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77"/>
          <p:cNvSpPr/>
          <p:nvPr/>
        </p:nvSpPr>
        <p:spPr>
          <a:xfrm>
            <a:off x="438840" y="2587680"/>
            <a:ext cx="3748680" cy="19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# Only ref=0 (start) and ref=2 (end) work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# ref=1 (current pos) is NOT supported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open('msg.txt','r') as f: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f.seek(512, 0)  # go to pos 512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f.seek(0,  2)  # go to end of file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f.seek(0,  0)  # back to start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93" name="Shape 78"/>
          <p:cNvSpPr/>
          <p:nvPr/>
        </p:nvSpPr>
        <p:spPr>
          <a:xfrm>
            <a:off x="4754880" y="2121480"/>
            <a:ext cx="4160160" cy="26056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4" name="Shape 79"/>
          <p:cNvSpPr/>
          <p:nvPr/>
        </p:nvSpPr>
        <p:spPr>
          <a:xfrm>
            <a:off x="4754880" y="2121480"/>
            <a:ext cx="4160160" cy="347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Text 80"/>
          <p:cNvSpPr/>
          <p:nvPr/>
        </p:nvSpPr>
        <p:spPr>
          <a:xfrm>
            <a:off x="4873680" y="212148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Binary Mode Seek (all 3 refs)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6" name="Shape 81"/>
          <p:cNvSpPr/>
          <p:nvPr/>
        </p:nvSpPr>
        <p:spPr>
          <a:xfrm>
            <a:off x="4873680" y="2541960"/>
            <a:ext cx="3931560" cy="2029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82"/>
          <p:cNvSpPr/>
          <p:nvPr/>
        </p:nvSpPr>
        <p:spPr>
          <a:xfrm>
            <a:off x="4965120" y="2587680"/>
            <a:ext cx="3748680" cy="19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open('data.bin','rb') as f: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f.seek(0)       # start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f.seek(12, 0)   # pos 12 from start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f.seek(-15, 2)  # 15 before end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f.seek(6,  1)   # 6 after current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4ade80"/>
                </a:solidFill>
                <a:latin typeface="Consolas"/>
                <a:ea typeface="Consolas"/>
              </a:rPr>
              <a:t>f.seek(-10,1)   # 10 before current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1"/>
          <p:cNvSpPr/>
          <p:nvPr/>
        </p:nvSpPr>
        <p:spPr>
          <a:xfrm>
            <a:off x="274320" y="0"/>
            <a:ext cx="8595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Georgia"/>
                <a:ea typeface="Georgia"/>
              </a:rPr>
              <a:t>seek() — Practical Example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200" name="Shape 2"/>
          <p:cNvSpPr/>
          <p:nvPr/>
        </p:nvSpPr>
        <p:spPr>
          <a:xfrm>
            <a:off x="228600" y="868680"/>
            <a:ext cx="5120280" cy="406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1" name="Text 3"/>
          <p:cNvSpPr/>
          <p:nvPr/>
        </p:nvSpPr>
        <p:spPr>
          <a:xfrm>
            <a:off x="365760" y="914400"/>
            <a:ext cx="4845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6a9955"/>
                </a:solidFill>
                <a:latin typeface="Consolas"/>
                <a:ea typeface="Consolas"/>
              </a:rPr>
              <a:t># Write numbers, then re-read them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02" name="Text 4"/>
          <p:cNvSpPr/>
          <p:nvPr/>
        </p:nvSpPr>
        <p:spPr>
          <a:xfrm>
            <a:off x="365760" y="121608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67e8f9"/>
                </a:solidFill>
                <a:latin typeface="Consolas"/>
                <a:ea typeface="Consolas"/>
              </a:rPr>
              <a:t>with open('nums.txt', 'w+') as fobj: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365760" y="146304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fobj.write(str(233) + '\n')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365760" y="171000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fobj.write(str(13.45))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05" name="Text 7"/>
          <p:cNvSpPr/>
          <p:nvPr/>
        </p:nvSpPr>
        <p:spPr>
          <a:xfrm>
            <a:off x="365760" y="195696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 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06" name="Text 8"/>
          <p:cNvSpPr/>
          <p:nvPr/>
        </p:nvSpPr>
        <p:spPr>
          <a:xfrm>
            <a:off x="365760" y="220356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6a9955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6a9955"/>
                </a:solidFill>
                <a:latin typeface="Consolas"/>
                <a:ea typeface="Consolas"/>
              </a:rPr>
              <a:t># Move pointer back to start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07" name="Text 9"/>
          <p:cNvSpPr/>
          <p:nvPr/>
        </p:nvSpPr>
        <p:spPr>
          <a:xfrm>
            <a:off x="365760" y="245052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c4b5fd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c4b5fd"/>
                </a:solidFill>
                <a:latin typeface="Consolas"/>
                <a:ea typeface="Consolas"/>
              </a:rPr>
              <a:t>fobj.seek(0)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08" name="Text 10"/>
          <p:cNvSpPr/>
          <p:nvPr/>
        </p:nvSpPr>
        <p:spPr>
          <a:xfrm>
            <a:off x="365760" y="294444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6a9955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6a9955"/>
                </a:solidFill>
                <a:latin typeface="Consolas"/>
                <a:ea typeface="Consolas"/>
              </a:rPr>
              <a:t># Read the numbers back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09" name="Text 11"/>
          <p:cNvSpPr/>
          <p:nvPr/>
        </p:nvSpPr>
        <p:spPr>
          <a:xfrm>
            <a:off x="365760" y="319140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num_int   = int(fobj.readline())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10" name="Text 12"/>
          <p:cNvSpPr/>
          <p:nvPr/>
        </p:nvSpPr>
        <p:spPr>
          <a:xfrm>
            <a:off x="365760" y="343800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ade80"/>
                </a:solidFill>
                <a:latin typeface="Consolas"/>
                <a:ea typeface="Consolas"/>
              </a:rPr>
              <a:t>num_float = float(fobj.readline())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11" name="Text 13"/>
          <p:cNvSpPr/>
          <p:nvPr/>
        </p:nvSpPr>
        <p:spPr>
          <a:xfrm>
            <a:off x="365760" y="393192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6a9955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6a9955"/>
                </a:solidFill>
                <a:latin typeface="Consolas"/>
                <a:ea typeface="Consolas"/>
              </a:rPr>
              <a:t>print(num_int + num_int)     # 466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12" name="Text 14"/>
          <p:cNvSpPr/>
          <p:nvPr/>
        </p:nvSpPr>
        <p:spPr>
          <a:xfrm>
            <a:off x="365760" y="4178880"/>
            <a:ext cx="4845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6a9955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6a9955"/>
                </a:solidFill>
                <a:latin typeface="Consolas"/>
                <a:ea typeface="Consolas"/>
              </a:rPr>
              <a:t>print(num_float + num_float) # 26.9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13" name="Shape 15"/>
          <p:cNvSpPr/>
          <p:nvPr/>
        </p:nvSpPr>
        <p:spPr>
          <a:xfrm>
            <a:off x="5532120" y="868680"/>
            <a:ext cx="3428640" cy="749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4" name="Shape 16"/>
          <p:cNvSpPr/>
          <p:nvPr/>
        </p:nvSpPr>
        <p:spPr>
          <a:xfrm>
            <a:off x="5532120" y="868680"/>
            <a:ext cx="347040" cy="749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Text 17"/>
          <p:cNvSpPr/>
          <p:nvPr/>
        </p:nvSpPr>
        <p:spPr>
          <a:xfrm>
            <a:off x="5532120" y="868680"/>
            <a:ext cx="3470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16" name="Text 18"/>
          <p:cNvSpPr/>
          <p:nvPr/>
        </p:nvSpPr>
        <p:spPr>
          <a:xfrm>
            <a:off x="5943600" y="91440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d9488"/>
                </a:solidFill>
                <a:latin typeface="Calibri"/>
                <a:ea typeface="Calibri"/>
              </a:rPr>
              <a:t>Open with 'w+'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17" name="Text 19"/>
          <p:cNvSpPr/>
          <p:nvPr/>
        </p:nvSpPr>
        <p:spPr>
          <a:xfrm>
            <a:off x="5943600" y="119772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75569"/>
                </a:solidFill>
                <a:latin typeface="Calibri"/>
                <a:ea typeface="Calibri"/>
              </a:rPr>
              <a:t>Mode 'w+' allows both writing AND reading in a single open() call.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18" name="Shape 20"/>
          <p:cNvSpPr/>
          <p:nvPr/>
        </p:nvSpPr>
        <p:spPr>
          <a:xfrm>
            <a:off x="5532120" y="1710000"/>
            <a:ext cx="3428640" cy="749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9" name="Shape 21"/>
          <p:cNvSpPr/>
          <p:nvPr/>
        </p:nvSpPr>
        <p:spPr>
          <a:xfrm>
            <a:off x="5532120" y="1710000"/>
            <a:ext cx="347040" cy="749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Text 22"/>
          <p:cNvSpPr/>
          <p:nvPr/>
        </p:nvSpPr>
        <p:spPr>
          <a:xfrm>
            <a:off x="5532120" y="1710000"/>
            <a:ext cx="3470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21" name="Text 23"/>
          <p:cNvSpPr/>
          <p:nvPr/>
        </p:nvSpPr>
        <p:spPr>
          <a:xfrm>
            <a:off x="5943600" y="175572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59e0b"/>
                </a:solidFill>
                <a:latin typeface="Calibri"/>
                <a:ea typeface="Calibri"/>
              </a:rPr>
              <a:t>Write strings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2" name="Text 24"/>
          <p:cNvSpPr/>
          <p:nvPr/>
        </p:nvSpPr>
        <p:spPr>
          <a:xfrm>
            <a:off x="5943600" y="203904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75569"/>
                </a:solidFill>
                <a:latin typeface="Calibri"/>
                <a:ea typeface="Calibri"/>
              </a:rPr>
              <a:t>write() stores each number as its string representation followed by newline.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3" name="Shape 25"/>
          <p:cNvSpPr/>
          <p:nvPr/>
        </p:nvSpPr>
        <p:spPr>
          <a:xfrm>
            <a:off x="5532120" y="2551320"/>
            <a:ext cx="3428640" cy="749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4" name="Shape 26"/>
          <p:cNvSpPr/>
          <p:nvPr/>
        </p:nvSpPr>
        <p:spPr>
          <a:xfrm>
            <a:off x="5532120" y="2551320"/>
            <a:ext cx="347040" cy="749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Text 27"/>
          <p:cNvSpPr/>
          <p:nvPr/>
        </p:nvSpPr>
        <p:spPr>
          <a:xfrm>
            <a:off x="5532120" y="2551320"/>
            <a:ext cx="3470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26" name="Text 28"/>
          <p:cNvSpPr/>
          <p:nvPr/>
        </p:nvSpPr>
        <p:spPr>
          <a:xfrm>
            <a:off x="5943600" y="259704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7c3aed"/>
                </a:solidFill>
                <a:latin typeface="Calibri"/>
                <a:ea typeface="Calibri"/>
              </a:rPr>
              <a:t>seek(0) rewind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7" name="Text 29"/>
          <p:cNvSpPr/>
          <p:nvPr/>
        </p:nvSpPr>
        <p:spPr>
          <a:xfrm>
            <a:off x="5943600" y="288036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75569"/>
                </a:solidFill>
                <a:latin typeface="Calibri"/>
                <a:ea typeface="Calibri"/>
              </a:rPr>
              <a:t>After writing, the pointer is at the END. seek(0) resets it back to position 0.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8" name="Shape 30"/>
          <p:cNvSpPr/>
          <p:nvPr/>
        </p:nvSpPr>
        <p:spPr>
          <a:xfrm>
            <a:off x="5532120" y="3392280"/>
            <a:ext cx="3428640" cy="7495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9" name="Shape 31"/>
          <p:cNvSpPr/>
          <p:nvPr/>
        </p:nvSpPr>
        <p:spPr>
          <a:xfrm>
            <a:off x="5532120" y="3392280"/>
            <a:ext cx="347040" cy="7495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Text 32"/>
          <p:cNvSpPr/>
          <p:nvPr/>
        </p:nvSpPr>
        <p:spPr>
          <a:xfrm>
            <a:off x="5532120" y="3392280"/>
            <a:ext cx="3470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31" name="Text 33"/>
          <p:cNvSpPr/>
          <p:nvPr/>
        </p:nvSpPr>
        <p:spPr>
          <a:xfrm>
            <a:off x="5943600" y="343800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Read and convert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2" name="Text 34"/>
          <p:cNvSpPr/>
          <p:nvPr/>
        </p:nvSpPr>
        <p:spPr>
          <a:xfrm>
            <a:off x="5943600" y="37216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75569"/>
                </a:solidFill>
                <a:latin typeface="Calibri"/>
                <a:ea typeface="Calibri"/>
              </a:rPr>
              <a:t>readline() gets each line as a string. int() and float() parse the values.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33" name="Shape 35"/>
          <p:cNvSpPr/>
          <p:nvPr/>
        </p:nvSpPr>
        <p:spPr>
          <a:xfrm>
            <a:off x="5532120" y="4233600"/>
            <a:ext cx="3428640" cy="749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4" name="Shape 36"/>
          <p:cNvSpPr/>
          <p:nvPr/>
        </p:nvSpPr>
        <p:spPr>
          <a:xfrm>
            <a:off x="5532120" y="4233600"/>
            <a:ext cx="347040" cy="7495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37"/>
          <p:cNvSpPr/>
          <p:nvPr/>
        </p:nvSpPr>
        <p:spPr>
          <a:xfrm>
            <a:off x="5532120" y="4233600"/>
            <a:ext cx="3470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36" name="Text 38"/>
          <p:cNvSpPr/>
          <p:nvPr/>
        </p:nvSpPr>
        <p:spPr>
          <a:xfrm>
            <a:off x="5943600" y="427932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284c7"/>
                </a:solidFill>
                <a:latin typeface="Calibri"/>
                <a:ea typeface="Calibri"/>
              </a:rPr>
              <a:t>Why this matters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7" name="Text 39"/>
          <p:cNvSpPr/>
          <p:nvPr/>
        </p:nvSpPr>
        <p:spPr>
          <a:xfrm>
            <a:off x="5943600" y="456300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75569"/>
                </a:solidFill>
                <a:latin typeface="Calibri"/>
                <a:ea typeface="Calibri"/>
              </a:rPr>
              <a:t>Without seek(0), reading after writing would return empty string — pointer at end!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1"/>
          <p:cNvSpPr/>
          <p:nvPr/>
        </p:nvSpPr>
        <p:spPr>
          <a:xfrm>
            <a:off x="274320" y="0"/>
            <a:ext cx="8595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Georgia"/>
                <a:ea typeface="Georgia"/>
              </a:rPr>
              <a:t>Serialization &amp; Deserialization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365760" y="960120"/>
            <a:ext cx="2285640" cy="10054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1" name="Text 3"/>
          <p:cNvSpPr/>
          <p:nvPr/>
        </p:nvSpPr>
        <p:spPr>
          <a:xfrm>
            <a:off x="365760" y="960120"/>
            <a:ext cx="22856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Python Object</a:t>
            </a:r>
            <a:endParaRPr b="0" lang="en-IN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(list, dict, tuple...)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3429000" y="960120"/>
            <a:ext cx="2285640" cy="1005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Text 5"/>
          <p:cNvSpPr/>
          <p:nvPr/>
        </p:nvSpPr>
        <p:spPr>
          <a:xfrm>
            <a:off x="3429000" y="960120"/>
            <a:ext cx="22856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JSON Format</a:t>
            </a:r>
            <a:endParaRPr b="0" lang="en-IN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 File / String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4" name="Shape 6"/>
          <p:cNvSpPr/>
          <p:nvPr/>
        </p:nvSpPr>
        <p:spPr>
          <a:xfrm>
            <a:off x="6492240" y="960120"/>
            <a:ext cx="2285640" cy="10054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5" name="Text 7"/>
          <p:cNvSpPr/>
          <p:nvPr/>
        </p:nvSpPr>
        <p:spPr>
          <a:xfrm>
            <a:off x="6492240" y="960120"/>
            <a:ext cx="22856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Python Object</a:t>
            </a:r>
            <a:endParaRPr b="0" lang="en-IN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(restored!)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6" name="Shape 8"/>
          <p:cNvSpPr/>
          <p:nvPr/>
        </p:nvSpPr>
        <p:spPr>
          <a:xfrm>
            <a:off x="2651760" y="1408320"/>
            <a:ext cx="776880" cy="109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Shape 9"/>
          <p:cNvSpPr/>
          <p:nvPr/>
        </p:nvSpPr>
        <p:spPr>
          <a:xfrm>
            <a:off x="5715000" y="1408320"/>
            <a:ext cx="776880" cy="109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10"/>
          <p:cNvSpPr/>
          <p:nvPr/>
        </p:nvSpPr>
        <p:spPr>
          <a:xfrm>
            <a:off x="2633400" y="1572840"/>
            <a:ext cx="840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59e0b"/>
                </a:solidFill>
                <a:latin typeface="Consolas"/>
                <a:ea typeface="Consolas"/>
              </a:rPr>
              <a:t>json.dump()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5687640" y="1572840"/>
            <a:ext cx="840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16a34a"/>
                </a:solidFill>
                <a:latin typeface="Consolas"/>
                <a:ea typeface="Consolas"/>
              </a:rPr>
              <a:t>json.load()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2633400" y="1874520"/>
            <a:ext cx="840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94a3b8"/>
                </a:solidFill>
                <a:latin typeface="Calibri"/>
                <a:ea typeface="Calibri"/>
              </a:rPr>
              <a:t>SERIALIZE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251" name="Text 13"/>
          <p:cNvSpPr/>
          <p:nvPr/>
        </p:nvSpPr>
        <p:spPr>
          <a:xfrm>
            <a:off x="5650920" y="187452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94a3b8"/>
                </a:solidFill>
                <a:latin typeface="Calibri"/>
                <a:ea typeface="Calibri"/>
              </a:rPr>
              <a:t>DESERIALIZE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252" name="Shape 14"/>
          <p:cNvSpPr/>
          <p:nvPr/>
        </p:nvSpPr>
        <p:spPr>
          <a:xfrm>
            <a:off x="228600" y="2176200"/>
            <a:ext cx="8686440" cy="475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Text 15"/>
          <p:cNvSpPr/>
          <p:nvPr/>
        </p:nvSpPr>
        <p:spPr>
          <a:xfrm>
            <a:off x="365760" y="2194560"/>
            <a:ext cx="8412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50" spc="-1" strike="noStrike">
                <a:solidFill>
                  <a:srgbClr val="92400e"/>
                </a:solidFill>
                <a:latin typeface="Calibri"/>
                <a:ea typeface="Calibri"/>
              </a:rPr>
              <a:t>Why json module? Writing numbers/dicts manually means painful str() conversion — json.dump() handles everything automatically!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228600" y="2743200"/>
            <a:ext cx="4114440" cy="95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17"/>
          <p:cNvSpPr/>
          <p:nvPr/>
        </p:nvSpPr>
        <p:spPr>
          <a:xfrm>
            <a:off x="228600" y="2743200"/>
            <a:ext cx="4114440" cy="292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18"/>
          <p:cNvSpPr/>
          <p:nvPr/>
        </p:nvSpPr>
        <p:spPr>
          <a:xfrm>
            <a:off x="320040" y="276156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json.dump(obj, file)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57" name="Text 19"/>
          <p:cNvSpPr/>
          <p:nvPr/>
        </p:nvSpPr>
        <p:spPr>
          <a:xfrm>
            <a:off x="320040" y="308160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Converts Python object → JSON and writes directly to a FILE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58" name="Text 20"/>
          <p:cNvSpPr/>
          <p:nvPr/>
        </p:nvSpPr>
        <p:spPr>
          <a:xfrm>
            <a:off x="320040" y="338328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0d9488"/>
                </a:solidFill>
                <a:latin typeface="Calibri"/>
                <a:ea typeface="Calibri"/>
              </a:rPr>
              <a:t>📌 </a:t>
            </a:r>
            <a:r>
              <a:rPr b="1" lang="en-US" sz="1050" spc="-1" strike="noStrike">
                <a:solidFill>
                  <a:srgbClr val="0d9488"/>
                </a:solidFill>
                <a:latin typeface="Calibri"/>
                <a:ea typeface="Calibri"/>
              </a:rPr>
              <a:t>Use when saving data to disk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59" name="Shape 21"/>
          <p:cNvSpPr/>
          <p:nvPr/>
        </p:nvSpPr>
        <p:spPr>
          <a:xfrm>
            <a:off x="4709160" y="2743200"/>
            <a:ext cx="4114440" cy="95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0" name="Shape 22"/>
          <p:cNvSpPr/>
          <p:nvPr/>
        </p:nvSpPr>
        <p:spPr>
          <a:xfrm>
            <a:off x="4709160" y="2743200"/>
            <a:ext cx="4114440" cy="292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Text 23"/>
          <p:cNvSpPr/>
          <p:nvPr/>
        </p:nvSpPr>
        <p:spPr>
          <a:xfrm>
            <a:off x="4800600" y="276156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json.dumps(obj)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62" name="Text 24"/>
          <p:cNvSpPr/>
          <p:nvPr/>
        </p:nvSpPr>
        <p:spPr>
          <a:xfrm>
            <a:off x="4800600" y="308160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Converts Python object → JSON and returns a STRING in memory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3" name="Text 25"/>
          <p:cNvSpPr/>
          <p:nvPr/>
        </p:nvSpPr>
        <p:spPr>
          <a:xfrm>
            <a:off x="4800600" y="338328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7c3aed"/>
                </a:solidFill>
                <a:latin typeface="Calibri"/>
                <a:ea typeface="Calibri"/>
              </a:rPr>
              <a:t>📌 </a:t>
            </a:r>
            <a:r>
              <a:rPr b="1" lang="en-US" sz="1050" spc="-1" strike="noStrike">
                <a:solidFill>
                  <a:srgbClr val="7c3aed"/>
                </a:solidFill>
                <a:latin typeface="Calibri"/>
                <a:ea typeface="Calibri"/>
              </a:rPr>
              <a:t>Use when sending data over network or storing in variable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64" name="Shape 26"/>
          <p:cNvSpPr/>
          <p:nvPr/>
        </p:nvSpPr>
        <p:spPr>
          <a:xfrm>
            <a:off x="228600" y="3822120"/>
            <a:ext cx="4114440" cy="95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5" name="Shape 27"/>
          <p:cNvSpPr/>
          <p:nvPr/>
        </p:nvSpPr>
        <p:spPr>
          <a:xfrm>
            <a:off x="228600" y="3822120"/>
            <a:ext cx="4114440" cy="292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6" name="Text 28"/>
          <p:cNvSpPr/>
          <p:nvPr/>
        </p:nvSpPr>
        <p:spPr>
          <a:xfrm>
            <a:off x="320040" y="384048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json.load(file)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67" name="Text 29"/>
          <p:cNvSpPr/>
          <p:nvPr/>
        </p:nvSpPr>
        <p:spPr>
          <a:xfrm>
            <a:off x="320040" y="416052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Reads JSON from a FILE and converts back to Python object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8" name="Text 30"/>
          <p:cNvSpPr/>
          <p:nvPr/>
        </p:nvSpPr>
        <p:spPr>
          <a:xfrm>
            <a:off x="320040" y="446220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16a34a"/>
                </a:solidFill>
                <a:latin typeface="Calibri"/>
                <a:ea typeface="Calibri"/>
              </a:rPr>
              <a:t>📌 </a:t>
            </a:r>
            <a:r>
              <a:rPr b="1" lang="en-US" sz="1050" spc="-1" strike="noStrike">
                <a:solidFill>
                  <a:srgbClr val="16a34a"/>
                </a:solidFill>
                <a:latin typeface="Calibri"/>
                <a:ea typeface="Calibri"/>
              </a:rPr>
              <a:t>Use when loading saved data from disk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69" name="Shape 31"/>
          <p:cNvSpPr/>
          <p:nvPr/>
        </p:nvSpPr>
        <p:spPr>
          <a:xfrm>
            <a:off x="4709160" y="3822120"/>
            <a:ext cx="4114440" cy="95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0" name="Shape 32"/>
          <p:cNvSpPr/>
          <p:nvPr/>
        </p:nvSpPr>
        <p:spPr>
          <a:xfrm>
            <a:off x="4709160" y="3822120"/>
            <a:ext cx="4114440" cy="292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33"/>
          <p:cNvSpPr/>
          <p:nvPr/>
        </p:nvSpPr>
        <p:spPr>
          <a:xfrm>
            <a:off x="4800600" y="384048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json.loads(string)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72" name="Text 34"/>
          <p:cNvSpPr/>
          <p:nvPr/>
        </p:nvSpPr>
        <p:spPr>
          <a:xfrm>
            <a:off x="4800600" y="416052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75569"/>
                </a:solidFill>
                <a:latin typeface="Calibri"/>
                <a:ea typeface="Calibri"/>
              </a:rPr>
              <a:t>Reads JSON from a STRING and converts back to Python object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3" name="Text 35"/>
          <p:cNvSpPr/>
          <p:nvPr/>
        </p:nvSpPr>
        <p:spPr>
          <a:xfrm>
            <a:off x="4800600" y="446220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📌 </a:t>
            </a: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Use when receiving JSON data from network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1"/>
          <p:cNvSpPr/>
          <p:nvPr/>
        </p:nvSpPr>
        <p:spPr>
          <a:xfrm>
            <a:off x="274320" y="0"/>
            <a:ext cx="8595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Georgia"/>
                <a:ea typeface="Georgia"/>
              </a:rPr>
              <a:t>JSON Serialization — Code Examples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276" name="Shape 2"/>
          <p:cNvSpPr/>
          <p:nvPr/>
        </p:nvSpPr>
        <p:spPr>
          <a:xfrm>
            <a:off x="182880" y="868680"/>
            <a:ext cx="2788560" cy="342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7" name="Shape 3"/>
          <p:cNvSpPr/>
          <p:nvPr/>
        </p:nvSpPr>
        <p:spPr>
          <a:xfrm>
            <a:off x="182880" y="868680"/>
            <a:ext cx="2788560" cy="365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8" name="Text 4"/>
          <p:cNvSpPr/>
          <p:nvPr/>
        </p:nvSpPr>
        <p:spPr>
          <a:xfrm>
            <a:off x="274320" y="86868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Serialize a List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79" name="Shape 5"/>
          <p:cNvSpPr/>
          <p:nvPr/>
        </p:nvSpPr>
        <p:spPr>
          <a:xfrm>
            <a:off x="274320" y="1298520"/>
            <a:ext cx="2605680" cy="2852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0" name="Text 6"/>
          <p:cNvSpPr/>
          <p:nvPr/>
        </p:nvSpPr>
        <p:spPr>
          <a:xfrm>
            <a:off x="320040" y="1344240"/>
            <a:ext cx="2514240" cy="276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import json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nums = [10, 20, 30, 40, 50]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open('data.json','w+') as f: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json.dump(nums, f)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f.seek(0)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restored = json.load(f)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print(restored)  # [10,20,30,40,50]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81" name="Shape 7"/>
          <p:cNvSpPr/>
          <p:nvPr/>
        </p:nvSpPr>
        <p:spPr>
          <a:xfrm>
            <a:off x="3154680" y="868680"/>
            <a:ext cx="2788560" cy="342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2" name="Shape 8"/>
          <p:cNvSpPr/>
          <p:nvPr/>
        </p:nvSpPr>
        <p:spPr>
          <a:xfrm>
            <a:off x="3154680" y="868680"/>
            <a:ext cx="2788560" cy="365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9"/>
          <p:cNvSpPr/>
          <p:nvPr/>
        </p:nvSpPr>
        <p:spPr>
          <a:xfrm>
            <a:off x="3246120" y="86868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Serialize a Dictionary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84" name="Shape 10"/>
          <p:cNvSpPr/>
          <p:nvPr/>
        </p:nvSpPr>
        <p:spPr>
          <a:xfrm>
            <a:off x="3246120" y="1298520"/>
            <a:ext cx="2605680" cy="2852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Text 11"/>
          <p:cNvSpPr/>
          <p:nvPr/>
        </p:nvSpPr>
        <p:spPr>
          <a:xfrm>
            <a:off x="3291840" y="1344240"/>
            <a:ext cx="2514240" cy="276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import json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contact = {'name':'Alice','age':28}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open('contact.json','w+') as f: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json.dump(contact, f)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f.seek(0)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loaded = json.load(f)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print(loaded['name'])  # Alice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86" name="Shape 12"/>
          <p:cNvSpPr/>
          <p:nvPr/>
        </p:nvSpPr>
        <p:spPr>
          <a:xfrm>
            <a:off x="6126480" y="868680"/>
            <a:ext cx="2788560" cy="342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7" name="Shape 13"/>
          <p:cNvSpPr/>
          <p:nvPr/>
        </p:nvSpPr>
        <p:spPr>
          <a:xfrm>
            <a:off x="6126480" y="868680"/>
            <a:ext cx="2788560" cy="365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14"/>
          <p:cNvSpPr/>
          <p:nvPr/>
        </p:nvSpPr>
        <p:spPr>
          <a:xfrm>
            <a:off x="6217920" y="868680"/>
            <a:ext cx="2605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Serialize a Tuple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89" name="Shape 15"/>
          <p:cNvSpPr/>
          <p:nvPr/>
        </p:nvSpPr>
        <p:spPr>
          <a:xfrm>
            <a:off x="6217920" y="1298520"/>
            <a:ext cx="2605680" cy="2852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16"/>
          <p:cNvSpPr/>
          <p:nvPr/>
        </p:nvSpPr>
        <p:spPr>
          <a:xfrm>
            <a:off x="6263640" y="1344240"/>
            <a:ext cx="2514240" cy="276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import json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record = ('Bob', 35, 98000.0)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open('rec.json','w+') as f: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json.dump(record, f)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f.seek(0)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raw = json.load(f)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⚠ load() returns list!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result = tuple(raw)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91" name="Shape 17"/>
          <p:cNvSpPr/>
          <p:nvPr/>
        </p:nvSpPr>
        <p:spPr>
          <a:xfrm>
            <a:off x="228600" y="4407480"/>
            <a:ext cx="8686440" cy="5482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2" name="Text 18"/>
          <p:cNvSpPr/>
          <p:nvPr/>
        </p:nvSpPr>
        <p:spPr>
          <a:xfrm>
            <a:off x="365760" y="4425840"/>
            <a:ext cx="84121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92400e"/>
                </a:solidFill>
                <a:latin typeface="Calibri"/>
                <a:ea typeface="Calibri"/>
              </a:rPr>
              <a:t>⚠  </a:t>
            </a:r>
            <a:r>
              <a:rPr b="1" lang="en-US" sz="1300" spc="-1" strike="noStrike">
                <a:solidFill>
                  <a:srgbClr val="92400e"/>
                </a:solidFill>
                <a:latin typeface="Calibri"/>
                <a:ea typeface="Calibri"/>
              </a:rPr>
              <a:t>Tuple warning: </a:t>
            </a:r>
            <a:r>
              <a:rPr b="0" lang="en-US" sz="1300" spc="-1" strike="noStrike">
                <a:solidFill>
                  <a:srgbClr val="92400e"/>
                </a:solidFill>
                <a:latin typeface="Calibri"/>
                <a:ea typeface="Calibri"/>
              </a:rPr>
              <a:t>json.load() always returns a list, never a tuple. Wrap with </a:t>
            </a:r>
            <a:r>
              <a:rPr b="1" lang="en-US" sz="1300" spc="-1" strike="noStrike">
                <a:solidFill>
                  <a:srgbClr val="1a2a4a"/>
                </a:solidFill>
                <a:latin typeface="Consolas"/>
                <a:ea typeface="Consolas"/>
              </a:rPr>
              <a:t>tuple()</a:t>
            </a:r>
            <a:r>
              <a:rPr b="0" lang="en-US" sz="1300" spc="-1" strike="noStrike">
                <a:solidFill>
                  <a:srgbClr val="92400e"/>
                </a:solidFill>
                <a:latin typeface="Calibri"/>
                <a:ea typeface="Calibri"/>
              </a:rPr>
              <a:t> to restore tuple type.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Text 1"/>
          <p:cNvSpPr/>
          <p:nvPr/>
        </p:nvSpPr>
        <p:spPr>
          <a:xfrm>
            <a:off x="274320" y="0"/>
            <a:ext cx="8595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300" spc="-1" strike="noStrike">
                <a:solidFill>
                  <a:srgbClr val="ffffff"/>
                </a:solidFill>
                <a:latin typeface="Georgia"/>
                <a:ea typeface="Georgia"/>
              </a:rPr>
              <a:t>dumps / loads — In-Memory &amp; Nested Structures</a:t>
            </a:r>
            <a:endParaRPr b="0" lang="en-IN" sz="2300" spc="-1" strike="noStrike">
              <a:latin typeface="Arial"/>
            </a:endParaRPr>
          </a:p>
        </p:txBody>
      </p:sp>
      <p:sp>
        <p:nvSpPr>
          <p:cNvPr id="295" name="Shape 2"/>
          <p:cNvSpPr/>
          <p:nvPr/>
        </p:nvSpPr>
        <p:spPr>
          <a:xfrm>
            <a:off x="228600" y="868680"/>
            <a:ext cx="4205880" cy="324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6" name="Shape 3"/>
          <p:cNvSpPr/>
          <p:nvPr/>
        </p:nvSpPr>
        <p:spPr>
          <a:xfrm>
            <a:off x="228600" y="868680"/>
            <a:ext cx="4205880" cy="347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7" name="Text 4"/>
          <p:cNvSpPr/>
          <p:nvPr/>
        </p:nvSpPr>
        <p:spPr>
          <a:xfrm>
            <a:off x="347400" y="86868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dumps / loads — String-based JSON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98" name="Shape 5"/>
          <p:cNvSpPr/>
          <p:nvPr/>
        </p:nvSpPr>
        <p:spPr>
          <a:xfrm>
            <a:off x="347400" y="1280160"/>
            <a:ext cx="3977280" cy="2742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Text 6"/>
          <p:cNvSpPr/>
          <p:nvPr/>
        </p:nvSpPr>
        <p:spPr>
          <a:xfrm>
            <a:off x="438840" y="1325880"/>
            <a:ext cx="37944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import json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nums = [10, 20, 30]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record = ('Zara', 25, 55000.0)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info = {'city':'NY', 'zip':'10001'}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Convert to JSON strings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str1 = json.dumps(nums)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str2 = json.dumps(record)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str3 = json.dumps(info)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Convert back to Python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l = json.loads(str1)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t = tuple(json.loads(str2))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d = json.loads(str3)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print(l, t, d)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00" name="Shape 7"/>
          <p:cNvSpPr/>
          <p:nvPr/>
        </p:nvSpPr>
        <p:spPr>
          <a:xfrm>
            <a:off x="4709160" y="868680"/>
            <a:ext cx="4205880" cy="324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1" name="Shape 8"/>
          <p:cNvSpPr/>
          <p:nvPr/>
        </p:nvSpPr>
        <p:spPr>
          <a:xfrm>
            <a:off x="4709160" y="868680"/>
            <a:ext cx="4205880" cy="347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9"/>
          <p:cNvSpPr/>
          <p:nvPr/>
        </p:nvSpPr>
        <p:spPr>
          <a:xfrm>
            <a:off x="4827960" y="86868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Nested Structures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03" name="Shape 10"/>
          <p:cNvSpPr/>
          <p:nvPr/>
        </p:nvSpPr>
        <p:spPr>
          <a:xfrm>
            <a:off x="4827960" y="1280160"/>
            <a:ext cx="3977280" cy="2742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4" name="Text 11"/>
          <p:cNvSpPr/>
          <p:nvPr/>
        </p:nvSpPr>
        <p:spPr>
          <a:xfrm>
            <a:off x="4919400" y="1325880"/>
            <a:ext cx="37944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import json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Nested dict of dicts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team = {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'Alice': {'dept':'Eng', 'yrs':3},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'Bob':   {'dept':'HR',  'yrs':7},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}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with open('team.json','w+') as f: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json.dump(team, f)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f.seek(0)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loaded = json.load(f)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print(loaded['Alice']['dept'])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ade80"/>
                </a:solidFill>
                <a:latin typeface="Consolas"/>
                <a:ea typeface="Consolas"/>
              </a:rPr>
              <a:t># Output: Eng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05" name="Shape 12"/>
          <p:cNvSpPr/>
          <p:nvPr/>
        </p:nvSpPr>
        <p:spPr>
          <a:xfrm>
            <a:off x="228600" y="4206240"/>
            <a:ext cx="8686440" cy="749520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6" name="Text 13"/>
          <p:cNvSpPr/>
          <p:nvPr/>
        </p:nvSpPr>
        <p:spPr>
          <a:xfrm>
            <a:off x="365760" y="4224600"/>
            <a:ext cx="841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4b8a6"/>
                </a:solidFill>
                <a:latin typeface="Consolas"/>
                <a:ea typeface="Consolas"/>
              </a:rPr>
              <a:t>dump(obj, file)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 → saves to FILE  |  </a:t>
            </a:r>
            <a:r>
              <a:rPr b="1" lang="en-US" sz="1300" spc="-1" strike="noStrike">
                <a:solidFill>
                  <a:srgbClr val="c4b5fd"/>
                </a:solidFill>
                <a:latin typeface="Consolas"/>
                <a:ea typeface="Consolas"/>
              </a:rPr>
              <a:t>dumps(obj)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 → returns STRING  |  JSON supports nested lists/dicts natively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07" name="Text 14"/>
          <p:cNvSpPr/>
          <p:nvPr/>
        </p:nvSpPr>
        <p:spPr>
          <a:xfrm>
            <a:off x="365760" y="461772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JSON supported types: dict → object, list/tuple → array, str, int, float, bool, None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Shape 1"/>
          <p:cNvSpPr/>
          <p:nvPr/>
        </p:nvSpPr>
        <p:spPr>
          <a:xfrm>
            <a:off x="0" y="4434840"/>
            <a:ext cx="9143640" cy="708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0" name="Text 2"/>
          <p:cNvSpPr/>
          <p:nvPr/>
        </p:nvSpPr>
        <p:spPr>
          <a:xfrm>
            <a:off x="365760" y="228600"/>
            <a:ext cx="8412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Georgia"/>
                <a:ea typeface="Georgia"/>
              </a:rPr>
              <a:t>Part 2 — Key Takeaways</a:t>
            </a:r>
            <a:endParaRPr b="0" lang="en-IN" sz="3400" spc="-1" strike="noStrike">
              <a:latin typeface="Arial"/>
            </a:endParaRPr>
          </a:p>
        </p:txBody>
      </p:sp>
      <p:sp>
        <p:nvSpPr>
          <p:cNvPr id="311" name="Shape 3"/>
          <p:cNvSpPr/>
          <p:nvPr/>
        </p:nvSpPr>
        <p:spPr>
          <a:xfrm>
            <a:off x="365760" y="1051560"/>
            <a:ext cx="3977280" cy="8956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2" name="Text 4"/>
          <p:cNvSpPr/>
          <p:nvPr/>
        </p:nvSpPr>
        <p:spPr>
          <a:xfrm>
            <a:off x="475560" y="1097280"/>
            <a:ext cx="3757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🔒 </a:t>
            </a: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with Keyword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475560" y="1417320"/>
            <a:ext cx="3757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94a3b8"/>
                </a:solidFill>
                <a:latin typeface="Calibri"/>
                <a:ea typeface="Calibri"/>
              </a:rPr>
              <a:t>Auto-closes files even if exceptions occur. Cleaner than manual open/close. Always prefer with.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314" name="Shape 6"/>
          <p:cNvSpPr/>
          <p:nvPr/>
        </p:nvSpPr>
        <p:spPr>
          <a:xfrm>
            <a:off x="4800600" y="1051560"/>
            <a:ext cx="3977280" cy="8956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5" name="Text 7"/>
          <p:cNvSpPr/>
          <p:nvPr/>
        </p:nvSpPr>
        <p:spPr>
          <a:xfrm>
            <a:off x="4910400" y="1097280"/>
            <a:ext cx="3757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🎯 </a:t>
            </a: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seek(offset, ref)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16" name="Text 8"/>
          <p:cNvSpPr/>
          <p:nvPr/>
        </p:nvSpPr>
        <p:spPr>
          <a:xfrm>
            <a:off x="4910400" y="1417320"/>
            <a:ext cx="3757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94a3b8"/>
                </a:solidFill>
                <a:latin typeface="Calibri"/>
                <a:ea typeface="Calibri"/>
              </a:rPr>
              <a:t>Jump to any position: 0=start, 1=current, 2=end. Binary mode supports all 3; text mode only 0 and 2.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317" name="Shape 9"/>
          <p:cNvSpPr/>
          <p:nvPr/>
        </p:nvSpPr>
        <p:spPr>
          <a:xfrm>
            <a:off x="365760" y="2103120"/>
            <a:ext cx="3977280" cy="8956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Text 10"/>
          <p:cNvSpPr/>
          <p:nvPr/>
        </p:nvSpPr>
        <p:spPr>
          <a:xfrm>
            <a:off x="475560" y="2148840"/>
            <a:ext cx="3757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📦 </a:t>
            </a: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json.dump / load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19" name="Text 11"/>
          <p:cNvSpPr/>
          <p:nvPr/>
        </p:nvSpPr>
        <p:spPr>
          <a:xfrm>
            <a:off x="475560" y="2468880"/>
            <a:ext cx="3757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94a3b8"/>
                </a:solidFill>
                <a:latin typeface="Calibri"/>
                <a:ea typeface="Calibri"/>
              </a:rPr>
              <a:t>dump() writes to file; load() reads from file. Handles lists, dicts, strings, numbers automatically.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320" name="Shape 12"/>
          <p:cNvSpPr/>
          <p:nvPr/>
        </p:nvSpPr>
        <p:spPr>
          <a:xfrm>
            <a:off x="4800600" y="2103120"/>
            <a:ext cx="3977280" cy="8956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1" name="Text 13"/>
          <p:cNvSpPr/>
          <p:nvPr/>
        </p:nvSpPr>
        <p:spPr>
          <a:xfrm>
            <a:off x="4910400" y="2148840"/>
            <a:ext cx="3757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💬 </a:t>
            </a: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json.dumps / loads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22" name="Text 14"/>
          <p:cNvSpPr/>
          <p:nvPr/>
        </p:nvSpPr>
        <p:spPr>
          <a:xfrm>
            <a:off x="4910400" y="2468880"/>
            <a:ext cx="3757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94a3b8"/>
                </a:solidFill>
                <a:latin typeface="Calibri"/>
                <a:ea typeface="Calibri"/>
              </a:rPr>
              <a:t>dumps() converts to string; loads() parses string. No file needed — great for APIs &amp; network data.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323" name="Shape 15"/>
          <p:cNvSpPr/>
          <p:nvPr/>
        </p:nvSpPr>
        <p:spPr>
          <a:xfrm>
            <a:off x="2377440" y="3154680"/>
            <a:ext cx="3977280" cy="8956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4" name="Text 16"/>
          <p:cNvSpPr/>
          <p:nvPr/>
        </p:nvSpPr>
        <p:spPr>
          <a:xfrm>
            <a:off x="2487240" y="3200400"/>
            <a:ext cx="3757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⚠ </a:t>
            </a:r>
            <a:r>
              <a:rPr b="1" lang="en-US" sz="1400" spc="-1" strike="noStrike">
                <a:solidFill>
                  <a:srgbClr val="c4b5fd"/>
                </a:solidFill>
                <a:latin typeface="Calibri"/>
                <a:ea typeface="Calibri"/>
              </a:rPr>
              <a:t>Tuple Warning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25" name="Text 17"/>
          <p:cNvSpPr/>
          <p:nvPr/>
        </p:nvSpPr>
        <p:spPr>
          <a:xfrm>
            <a:off x="2487240" y="3520440"/>
            <a:ext cx="3757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94a3b8"/>
                </a:solidFill>
                <a:latin typeface="Calibri"/>
                <a:ea typeface="Calibri"/>
              </a:rPr>
              <a:t>json.load() returns a list, not a tuple. Always wrap with tuple() if tuple type is needed.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326" name="Text 18"/>
          <p:cNvSpPr/>
          <p:nvPr/>
        </p:nvSpPr>
        <p:spPr>
          <a:xfrm>
            <a:off x="365760" y="4462200"/>
            <a:ext cx="84121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Up Next → Serialization of Custom Types  •  File &amp; Directory Operations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2026-03-08T03:33:30Z</dcterms:created>
  <dc:creator>PptxGenJS</dc:creator>
  <dc:description/>
  <dc:language>en-IN</dc:language>
  <cp:lastModifiedBy/>
  <dcterms:modified xsi:type="dcterms:W3CDTF">2026-03-09T21:48:43Z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