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move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</a:t>
            </a:r>
            <a:r>
              <a:rPr b="0" lang="en-IN" sz="2000" spc="-1" strike="noStrike">
                <a:latin typeface="Arial"/>
              </a:rPr>
              <a:t>to </a:t>
            </a:r>
            <a:r>
              <a:rPr b="0" lang="en-IN" sz="2000" spc="-1" strike="noStrike">
                <a:latin typeface="Arial"/>
              </a:rPr>
              <a:t>edit </a:t>
            </a:r>
            <a:r>
              <a:rPr b="0" lang="en-IN" sz="2000" spc="-1" strike="noStrike">
                <a:latin typeface="Arial"/>
              </a:rPr>
              <a:t>the </a:t>
            </a:r>
            <a:r>
              <a:rPr b="0" lang="en-IN" sz="2000" spc="-1" strike="noStrike">
                <a:latin typeface="Arial"/>
              </a:rPr>
              <a:t>not</a:t>
            </a:r>
            <a:r>
              <a:rPr b="0" lang="en-IN" sz="2000" spc="-1" strike="noStrike">
                <a:latin typeface="Arial"/>
              </a:rPr>
              <a:t>es </a:t>
            </a:r>
            <a:r>
              <a:rPr b="0" lang="en-IN" sz="2000" spc="-1" strike="noStrike">
                <a:latin typeface="Arial"/>
              </a:rPr>
              <a:t>for</a:t>
            </a:r>
            <a:r>
              <a:rPr b="0" lang="en-IN" sz="2000" spc="-1" strike="noStrike">
                <a:latin typeface="Arial"/>
              </a:rPr>
              <a:t>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C48A52D-10D0-4AD3-9145-C8009687855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30C715-D6EF-4AA3-93EA-C2E8162583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1DD2F1-06B4-4C2D-A5C2-629D8D4AB6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A41519-5656-404C-AF82-07C5558DF4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7613C6-25D9-4652-9886-C58C442AAB5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5B7F849-1CCF-4C31-94FF-453F7C8AD25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650319-1636-4EF3-BB42-FAE20B1ED2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8CE973-D589-4BB1-93BE-F63EF10D94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18C39F-34D3-41CC-BCAC-6C4B7355504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340EA0-31DF-42AB-AC76-8FBBD8FD9C3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edit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57200" y="54864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Georgia"/>
                <a:ea typeface="Georgia"/>
              </a:rPr>
              <a:t>Python File I/O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6002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100" spc="-1" strike="noStrike">
                <a:solidFill>
                  <a:srgbClr val="14b8a6"/>
                </a:solidFill>
                <a:latin typeface="Calibri"/>
                <a:ea typeface="Calibri"/>
              </a:rPr>
              <a:t>Part 1: Foundations of File Input/Output</a:t>
            </a:r>
            <a:endParaRPr b="0" lang="en-IN" sz="21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548640" y="2468880"/>
            <a:ext cx="3840120" cy="658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685800" y="2468880"/>
            <a:ext cx="3702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I/O System Overview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937760" y="2468880"/>
            <a:ext cx="3840120" cy="658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5074920" y="2468880"/>
            <a:ext cx="3702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File I/O Basics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48640" y="3310200"/>
            <a:ext cx="3840120" cy="658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Text 9"/>
          <p:cNvSpPr/>
          <p:nvPr/>
        </p:nvSpPr>
        <p:spPr>
          <a:xfrm>
            <a:off x="685800" y="3310200"/>
            <a:ext cx="3702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Read &amp; Write Operations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937760" y="3310200"/>
            <a:ext cx="3840120" cy="658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" name="Text 11"/>
          <p:cNvSpPr/>
          <p:nvPr/>
        </p:nvSpPr>
        <p:spPr>
          <a:xfrm>
            <a:off x="5074920" y="3310200"/>
            <a:ext cx="37029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4b8a6"/>
                </a:solidFill>
                <a:latin typeface="Calibri"/>
                <a:ea typeface="Calibri"/>
              </a:rPr>
              <a:t>File Opening Modes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457200" y="4462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Chapter 23 — Let Us Python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Georgia"/>
                <a:ea typeface="Georgia"/>
              </a:rPr>
              <a:t>What is an I/O System?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228600" y="960120"/>
            <a:ext cx="4114440" cy="153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228600" y="960120"/>
            <a:ext cx="4114440" cy="319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"/>
          <p:cNvSpPr/>
          <p:nvPr/>
        </p:nvSpPr>
        <p:spPr>
          <a:xfrm>
            <a:off x="338400" y="978480"/>
            <a:ext cx="389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Multiple Sources &amp; Destinations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65760" y="1344240"/>
            <a:ext cx="38401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Keyboard → Program → Screen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File ↔ Program ↔ File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Network ↔ Program ↔ Network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4709160" y="960120"/>
            <a:ext cx="4114440" cy="153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7"/>
          <p:cNvSpPr/>
          <p:nvPr/>
        </p:nvSpPr>
        <p:spPr>
          <a:xfrm>
            <a:off x="4709160" y="960120"/>
            <a:ext cx="4114440" cy="319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8"/>
          <p:cNvSpPr/>
          <p:nvPr/>
        </p:nvSpPr>
        <p:spPr>
          <a:xfrm>
            <a:off x="4818960" y="978480"/>
            <a:ext cx="389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Varied Data Types Supported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4846320" y="1344240"/>
            <a:ext cx="38401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Numbers, Strings, Lists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Tuples, Sets, Dictionaries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Custom user-defined objects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228600" y="2679120"/>
            <a:ext cx="4114440" cy="153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1"/>
          <p:cNvSpPr/>
          <p:nvPr/>
        </p:nvSpPr>
        <p:spPr>
          <a:xfrm>
            <a:off x="228600" y="2679120"/>
            <a:ext cx="4114440" cy="319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2"/>
          <p:cNvSpPr/>
          <p:nvPr/>
        </p:nvSpPr>
        <p:spPr>
          <a:xfrm>
            <a:off x="338400" y="2697480"/>
            <a:ext cx="389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Multiple Access Modes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365760" y="3063240"/>
            <a:ext cx="38401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Sequential: read line by line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Random: jump to any position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Append: add to end of file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4709160" y="2679120"/>
            <a:ext cx="4114440" cy="153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5"/>
          <p:cNvSpPr/>
          <p:nvPr/>
        </p:nvSpPr>
        <p:spPr>
          <a:xfrm>
            <a:off x="4709160" y="2679120"/>
            <a:ext cx="4114440" cy="319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6"/>
          <p:cNvSpPr/>
          <p:nvPr/>
        </p:nvSpPr>
        <p:spPr>
          <a:xfrm>
            <a:off x="4818960" y="2697480"/>
            <a:ext cx="389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File System Operations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4846320" y="3063240"/>
            <a:ext cx="384012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Create, Rename, Delete files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Create &amp; navigate directories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75569"/>
                </a:solidFill>
                <a:latin typeface="Calibri"/>
                <a:ea typeface="Calibri"/>
              </a:rPr>
              <a:t>Query file size and timestamps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228600" y="4425840"/>
            <a:ext cx="8686440" cy="5482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Text 19"/>
          <p:cNvSpPr/>
          <p:nvPr/>
        </p:nvSpPr>
        <p:spPr>
          <a:xfrm>
            <a:off x="365760" y="444384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4b8a6"/>
                </a:solidFill>
                <a:latin typeface="Calibri"/>
                <a:ea typeface="Calibri"/>
              </a:rPr>
              <a:t>Text data: </a:t>
            </a:r>
            <a:r>
              <a:rPr b="0" lang="en-US" sz="1300" spc="-1" strike="noStrike">
                <a:solidFill>
                  <a:srgbClr val="fcd34d"/>
                </a:solidFill>
                <a:latin typeface="Calibri"/>
                <a:ea typeface="Calibri"/>
              </a:rPr>
              <a:t>'485000' stored as Unicode characters  |  </a:t>
            </a:r>
            <a:r>
              <a:rPr b="1" lang="en-US" sz="1300" spc="-1" strike="noStrike">
                <a:solidFill>
                  <a:srgbClr val="14b8a6"/>
                </a:solidFill>
                <a:latin typeface="Calibri"/>
                <a:ea typeface="Calibri"/>
              </a:rPr>
              <a:t>Binary data: </a:t>
            </a:r>
            <a:r>
              <a:rPr b="0" lang="en-US" sz="1300" spc="-1" strike="noStrike">
                <a:solidFill>
                  <a:srgbClr val="fcd34d"/>
                </a:solidFill>
                <a:latin typeface="Calibri"/>
                <a:ea typeface="Calibri"/>
              </a:rPr>
              <a:t>485000 stored as raw bytes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How File I/O Works — Step by Step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274320" y="1417320"/>
            <a:ext cx="1874160" cy="12340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Text 3"/>
          <p:cNvSpPr/>
          <p:nvPr/>
        </p:nvSpPr>
        <p:spPr>
          <a:xfrm>
            <a:off x="274320" y="1417320"/>
            <a:ext cx="1874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Your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Program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2468880" y="1417320"/>
            <a:ext cx="1874160" cy="1234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2" name="Text 5"/>
          <p:cNvSpPr/>
          <p:nvPr/>
        </p:nvSpPr>
        <p:spPr>
          <a:xfrm>
            <a:off x="2468880" y="1417320"/>
            <a:ext cx="1874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open()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4663440" y="1417320"/>
            <a:ext cx="1874160" cy="1234080"/>
          </a:xfrm>
          <a:prstGeom prst="rect">
            <a:avLst/>
          </a:prstGeom>
          <a:solidFill>
            <a:srgbClr val="27527a"/>
          </a:solidFill>
          <a:ln w="12700">
            <a:solidFill>
              <a:srgbClr val="27527a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Text 7"/>
          <p:cNvSpPr/>
          <p:nvPr/>
        </p:nvSpPr>
        <p:spPr>
          <a:xfrm>
            <a:off x="4663440" y="1417320"/>
            <a:ext cx="1874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Memory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Buffer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6858000" y="1417320"/>
            <a:ext cx="1874160" cy="123408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Text 9"/>
          <p:cNvSpPr/>
          <p:nvPr/>
        </p:nvSpPr>
        <p:spPr>
          <a:xfrm>
            <a:off x="6858000" y="1417320"/>
            <a:ext cx="1874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Disk</a:t>
            </a: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File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2148840" y="1984320"/>
            <a:ext cx="319680" cy="91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11"/>
          <p:cNvSpPr/>
          <p:nvPr/>
        </p:nvSpPr>
        <p:spPr>
          <a:xfrm>
            <a:off x="4343400" y="1984320"/>
            <a:ext cx="319680" cy="91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2"/>
          <p:cNvSpPr/>
          <p:nvPr/>
        </p:nvSpPr>
        <p:spPr>
          <a:xfrm>
            <a:off x="6537960" y="1984320"/>
            <a:ext cx="319680" cy="91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13"/>
          <p:cNvSpPr/>
          <p:nvPr/>
        </p:nvSpPr>
        <p:spPr>
          <a:xfrm>
            <a:off x="274320" y="2788920"/>
            <a:ext cx="1874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1. Code runs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in Python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2468880" y="2788920"/>
            <a:ext cx="1874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2. open() copies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file to RAM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4663440" y="2788920"/>
            <a:ext cx="1874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3. read/write uses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buffered data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6858000" y="2788920"/>
            <a:ext cx="1874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4. close() saves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75569"/>
                </a:solidFill>
                <a:latin typeface="Calibri"/>
                <a:ea typeface="Calibri"/>
              </a:rPr>
              <a:t>to actual disk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274320" y="3611880"/>
            <a:ext cx="255600" cy="255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8"/>
          <p:cNvSpPr/>
          <p:nvPr/>
        </p:nvSpPr>
        <p:spPr>
          <a:xfrm>
            <a:off x="274320" y="36118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621720" y="361188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Opening a file copies its contents into a fast memory buffer — disk access is slow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274320" y="3968640"/>
            <a:ext cx="255600" cy="255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1"/>
          <p:cNvSpPr/>
          <p:nvPr/>
        </p:nvSpPr>
        <p:spPr>
          <a:xfrm>
            <a:off x="274320" y="39686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Text 22"/>
          <p:cNvSpPr/>
          <p:nvPr/>
        </p:nvSpPr>
        <p:spPr>
          <a:xfrm>
            <a:off x="621720" y="39686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All read() and write() calls interact with the buffer, not directly with the disk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274320" y="4325040"/>
            <a:ext cx="255600" cy="255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24"/>
          <p:cNvSpPr/>
          <p:nvPr/>
        </p:nvSpPr>
        <p:spPr>
          <a:xfrm>
            <a:off x="274320" y="43250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Text 25"/>
          <p:cNvSpPr/>
          <p:nvPr/>
        </p:nvSpPr>
        <p:spPr>
          <a:xfrm>
            <a:off x="621720" y="432504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close() saves all buffered changes back to disk and releases allocated memory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Shape 26"/>
          <p:cNvSpPr/>
          <p:nvPr/>
        </p:nvSpPr>
        <p:spPr>
          <a:xfrm>
            <a:off x="274320" y="4681800"/>
            <a:ext cx="255600" cy="255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27"/>
          <p:cNvSpPr/>
          <p:nvPr/>
        </p:nvSpPr>
        <p:spPr>
          <a:xfrm>
            <a:off x="274320" y="4681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Text 28"/>
          <p:cNvSpPr/>
          <p:nvPr/>
        </p:nvSpPr>
        <p:spPr>
          <a:xfrm>
            <a:off x="621720" y="46818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75569"/>
                </a:solidFill>
                <a:latin typeface="Calibri"/>
                <a:ea typeface="Calibri"/>
              </a:rPr>
              <a:t>After close(), the file object is invalid — further use will raise a ValueError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Georgia"/>
                <a:ea typeface="Georgia"/>
              </a:rPr>
              <a:t>File I/O — Opening, Writing &amp; Reading</a:t>
            </a:r>
            <a:endParaRPr b="0" lang="en-IN" sz="2500" spc="-1" strike="noStrike">
              <a:latin typeface="Arial"/>
            </a:endParaRPr>
          </a:p>
        </p:txBody>
      </p:sp>
      <p:sp>
        <p:nvSpPr>
          <p:cNvPr id="108" name="Shape 2"/>
          <p:cNvSpPr/>
          <p:nvPr/>
        </p:nvSpPr>
        <p:spPr>
          <a:xfrm>
            <a:off x="228600" y="868680"/>
            <a:ext cx="5074560" cy="388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Text 3"/>
          <p:cNvSpPr/>
          <p:nvPr/>
        </p:nvSpPr>
        <p:spPr>
          <a:xfrm>
            <a:off x="365760" y="932760"/>
            <a:ext cx="4845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a9955"/>
                </a:solidFill>
                <a:latin typeface="Consolas"/>
                <a:ea typeface="Consolas"/>
              </a:rPr>
              <a:t># Writing motivational quotes to a file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365760" y="123444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ce9178"/>
                </a:solidFill>
                <a:latin typeface="Consolas"/>
                <a:ea typeface="Consolas"/>
              </a:rPr>
              <a:t>quote1 = 'Stay curious, keep learning!\n'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365760" y="148140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ce9178"/>
                </a:solidFill>
                <a:latin typeface="Consolas"/>
                <a:ea typeface="Consolas"/>
              </a:rPr>
              <a:t>quote2 = 'Small steps lead to big results!\n'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365760" y="197496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7e8f9"/>
                </a:solidFill>
                <a:latin typeface="Consolas"/>
                <a:ea typeface="Consolas"/>
              </a:rPr>
              <a:t>fobj = open('wisdom.txt', 'w')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365760" y="222192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fobj.write(quote1)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365760" y="246888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fobj.write(quote2)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365760" y="271584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365760" y="320940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a9955"/>
                </a:solidFill>
                <a:latin typeface="Consolas"/>
                <a:ea typeface="Consolas"/>
              </a:rPr>
              <a:t># Now read the file back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365760" y="345636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67e8f9"/>
                </a:solidFill>
                <a:latin typeface="Consolas"/>
                <a:ea typeface="Consolas"/>
              </a:rPr>
              <a:t>fobj = open('wisdom.txt', 'r')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365760" y="370332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de80"/>
                </a:solidFill>
                <a:latin typeface="Consolas"/>
                <a:ea typeface="Consolas"/>
              </a:rPr>
              <a:t>content = fobj.read()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365760" y="395028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de80"/>
                </a:solidFill>
                <a:latin typeface="Consolas"/>
                <a:ea typeface="Consolas"/>
              </a:rPr>
              <a:t>print(content)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365760" y="4197240"/>
            <a:ext cx="484596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228600" y="4800600"/>
            <a:ext cx="5074560" cy="273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6"/>
          <p:cNvSpPr/>
          <p:nvPr/>
        </p:nvSpPr>
        <p:spPr>
          <a:xfrm>
            <a:off x="347400" y="481896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OUTPUT:  Stay curious, keep learning!   Small steps lead to big results!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5440680" y="868680"/>
            <a:ext cx="34743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Shape 18"/>
          <p:cNvSpPr/>
          <p:nvPr/>
        </p:nvSpPr>
        <p:spPr>
          <a:xfrm>
            <a:off x="5440680" y="868680"/>
            <a:ext cx="292320" cy="749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9"/>
          <p:cNvSpPr/>
          <p:nvPr/>
        </p:nvSpPr>
        <p:spPr>
          <a:xfrm>
            <a:off x="5440680" y="868680"/>
            <a:ext cx="292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5779080" y="91440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onsolas"/>
                <a:ea typeface="Consolas"/>
              </a:rPr>
              <a:t>open(name, 'w')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7" name="Text 21"/>
          <p:cNvSpPr/>
          <p:nvPr/>
        </p:nvSpPr>
        <p:spPr>
          <a:xfrm>
            <a:off x="5779080" y="1197720"/>
            <a:ext cx="309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Creates/overwrites file. Returns a file object.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Shape 22"/>
          <p:cNvSpPr/>
          <p:nvPr/>
        </p:nvSpPr>
        <p:spPr>
          <a:xfrm>
            <a:off x="5440680" y="1710000"/>
            <a:ext cx="34743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9" name="Shape 23"/>
          <p:cNvSpPr/>
          <p:nvPr/>
        </p:nvSpPr>
        <p:spPr>
          <a:xfrm>
            <a:off x="5440680" y="1710000"/>
            <a:ext cx="292320" cy="749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4"/>
          <p:cNvSpPr/>
          <p:nvPr/>
        </p:nvSpPr>
        <p:spPr>
          <a:xfrm>
            <a:off x="5440680" y="1710000"/>
            <a:ext cx="292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1" name="Text 25"/>
          <p:cNvSpPr/>
          <p:nvPr/>
        </p:nvSpPr>
        <p:spPr>
          <a:xfrm>
            <a:off x="5779080" y="175572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onsolas"/>
                <a:ea typeface="Consolas"/>
              </a:rPr>
              <a:t>fobj.write(str)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2" name="Text 26"/>
          <p:cNvSpPr/>
          <p:nvPr/>
        </p:nvSpPr>
        <p:spPr>
          <a:xfrm>
            <a:off x="5779080" y="2039040"/>
            <a:ext cx="309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Writes string to buffer. Must be str type.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Shape 27"/>
          <p:cNvSpPr/>
          <p:nvPr/>
        </p:nvSpPr>
        <p:spPr>
          <a:xfrm>
            <a:off x="5440680" y="2551320"/>
            <a:ext cx="34743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28"/>
          <p:cNvSpPr/>
          <p:nvPr/>
        </p:nvSpPr>
        <p:spPr>
          <a:xfrm>
            <a:off x="5440680" y="2551320"/>
            <a:ext cx="292320" cy="749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29"/>
          <p:cNvSpPr/>
          <p:nvPr/>
        </p:nvSpPr>
        <p:spPr>
          <a:xfrm>
            <a:off x="5440680" y="2551320"/>
            <a:ext cx="292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6" name="Text 30"/>
          <p:cNvSpPr/>
          <p:nvPr/>
        </p:nvSpPr>
        <p:spPr>
          <a:xfrm>
            <a:off x="5779080" y="259704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onsolas"/>
                <a:ea typeface="Consolas"/>
              </a:rPr>
              <a:t>fobj.close()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7" name="Text 31"/>
          <p:cNvSpPr/>
          <p:nvPr/>
        </p:nvSpPr>
        <p:spPr>
          <a:xfrm>
            <a:off x="5779080" y="2880360"/>
            <a:ext cx="309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Flushes buffer to disk. Object becomes invalid.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8" name="Shape 32"/>
          <p:cNvSpPr/>
          <p:nvPr/>
        </p:nvSpPr>
        <p:spPr>
          <a:xfrm>
            <a:off x="5440680" y="3392280"/>
            <a:ext cx="34743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Shape 33"/>
          <p:cNvSpPr/>
          <p:nvPr/>
        </p:nvSpPr>
        <p:spPr>
          <a:xfrm>
            <a:off x="5440680" y="3392280"/>
            <a:ext cx="292320" cy="749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34"/>
          <p:cNvSpPr/>
          <p:nvPr/>
        </p:nvSpPr>
        <p:spPr>
          <a:xfrm>
            <a:off x="5440680" y="3392280"/>
            <a:ext cx="292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1" name="Text 35"/>
          <p:cNvSpPr/>
          <p:nvPr/>
        </p:nvSpPr>
        <p:spPr>
          <a:xfrm>
            <a:off x="5779080" y="343800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onsolas"/>
                <a:ea typeface="Consolas"/>
              </a:rPr>
              <a:t>open(name, 'r')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2" name="Text 36"/>
          <p:cNvSpPr/>
          <p:nvPr/>
        </p:nvSpPr>
        <p:spPr>
          <a:xfrm>
            <a:off x="5779080" y="3721680"/>
            <a:ext cx="309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Opens file for reading. Pointer at start.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3" name="Shape 37"/>
          <p:cNvSpPr/>
          <p:nvPr/>
        </p:nvSpPr>
        <p:spPr>
          <a:xfrm>
            <a:off x="5440680" y="4233600"/>
            <a:ext cx="347436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Shape 38"/>
          <p:cNvSpPr/>
          <p:nvPr/>
        </p:nvSpPr>
        <p:spPr>
          <a:xfrm>
            <a:off x="5440680" y="4233600"/>
            <a:ext cx="292320" cy="749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39"/>
          <p:cNvSpPr/>
          <p:nvPr/>
        </p:nvSpPr>
        <p:spPr>
          <a:xfrm>
            <a:off x="5440680" y="4233600"/>
            <a:ext cx="2923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6" name="Text 40"/>
          <p:cNvSpPr/>
          <p:nvPr/>
        </p:nvSpPr>
        <p:spPr>
          <a:xfrm>
            <a:off x="5779080" y="4279320"/>
            <a:ext cx="3090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0d9488"/>
                </a:solidFill>
                <a:latin typeface="Consolas"/>
                <a:ea typeface="Consolas"/>
              </a:rPr>
              <a:t>fobj.read()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7" name="Text 41"/>
          <p:cNvSpPr/>
          <p:nvPr/>
        </p:nvSpPr>
        <p:spPr>
          <a:xfrm>
            <a:off x="5779080" y="4563000"/>
            <a:ext cx="3090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Returns ALL file content as a single string.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Reading Data from Files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182880" y="868680"/>
            <a:ext cx="27885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Shape 3"/>
          <p:cNvSpPr/>
          <p:nvPr/>
        </p:nvSpPr>
        <p:spPr>
          <a:xfrm>
            <a:off x="182880" y="868680"/>
            <a:ext cx="2788560" cy="383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4"/>
          <p:cNvSpPr/>
          <p:nvPr/>
        </p:nvSpPr>
        <p:spPr>
          <a:xfrm>
            <a:off x="274320" y="86868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f.read()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274320" y="13168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Reads the ENTIRE file as one string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4" name="Shape 6"/>
          <p:cNvSpPr/>
          <p:nvPr/>
        </p:nvSpPr>
        <p:spPr>
          <a:xfrm>
            <a:off x="274320" y="1874520"/>
            <a:ext cx="2605680" cy="1554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7"/>
          <p:cNvSpPr/>
          <p:nvPr/>
        </p:nvSpPr>
        <p:spPr>
          <a:xfrm>
            <a:off x="320040" y="1920240"/>
            <a:ext cx="2514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 = open('data.txt','r')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all_data = fobj.read()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print(all_data)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274320" y="349308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alibri"/>
                <a:ea typeface="Calibri"/>
              </a:rPr>
              <a:t>Best for: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274320" y="37306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Small files — need all content at once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3154680" y="868680"/>
            <a:ext cx="27885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9" name="Shape 11"/>
          <p:cNvSpPr/>
          <p:nvPr/>
        </p:nvSpPr>
        <p:spPr>
          <a:xfrm>
            <a:off x="3154680" y="868680"/>
            <a:ext cx="2788560" cy="383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12"/>
          <p:cNvSpPr/>
          <p:nvPr/>
        </p:nvSpPr>
        <p:spPr>
          <a:xfrm>
            <a:off x="3246120" y="86868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f.read(n)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3246120" y="13168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Reads exactly n characters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2" name="Shape 14"/>
          <p:cNvSpPr/>
          <p:nvPr/>
        </p:nvSpPr>
        <p:spPr>
          <a:xfrm>
            <a:off x="3246120" y="1874520"/>
            <a:ext cx="2605680" cy="1554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5"/>
          <p:cNvSpPr/>
          <p:nvPr/>
        </p:nvSpPr>
        <p:spPr>
          <a:xfrm>
            <a:off x="3291840" y="1920240"/>
            <a:ext cx="2514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 = open('data.txt','r')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first5 = fobj.read(5)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next10 = fobj.read(10)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4" name="Text 16"/>
          <p:cNvSpPr/>
          <p:nvPr/>
        </p:nvSpPr>
        <p:spPr>
          <a:xfrm>
            <a:off x="3246120" y="349308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alibri"/>
                <a:ea typeface="Calibri"/>
              </a:rPr>
              <a:t>Best for: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Text 17"/>
          <p:cNvSpPr/>
          <p:nvPr/>
        </p:nvSpPr>
        <p:spPr>
          <a:xfrm>
            <a:off x="3246120" y="37306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Fixed-width fields, chunked reading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6126480" y="868680"/>
            <a:ext cx="278856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Shape 19"/>
          <p:cNvSpPr/>
          <p:nvPr/>
        </p:nvSpPr>
        <p:spPr>
          <a:xfrm>
            <a:off x="6126480" y="868680"/>
            <a:ext cx="2788560" cy="383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20"/>
          <p:cNvSpPr/>
          <p:nvPr/>
        </p:nvSpPr>
        <p:spPr>
          <a:xfrm>
            <a:off x="6217920" y="868680"/>
            <a:ext cx="2605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f.readline()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9" name="Text 21"/>
          <p:cNvSpPr/>
          <p:nvPr/>
        </p:nvSpPr>
        <p:spPr>
          <a:xfrm>
            <a:off x="6217920" y="13168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alibri"/>
                <a:ea typeface="Calibri"/>
              </a:rPr>
              <a:t>Reads one complete line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Shape 22"/>
          <p:cNvSpPr/>
          <p:nvPr/>
        </p:nvSpPr>
        <p:spPr>
          <a:xfrm>
            <a:off x="6217920" y="1874520"/>
            <a:ext cx="2605680" cy="1554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3"/>
          <p:cNvSpPr/>
          <p:nvPr/>
        </p:nvSpPr>
        <p:spPr>
          <a:xfrm>
            <a:off x="6263640" y="1920240"/>
            <a:ext cx="25142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 = open('data.txt','r')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row1 = fobj.readline()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row2 = fobj.readline()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2" name="Text 24"/>
          <p:cNvSpPr/>
          <p:nvPr/>
        </p:nvSpPr>
        <p:spPr>
          <a:xfrm>
            <a:off x="6217920" y="349308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9488"/>
                </a:solidFill>
                <a:latin typeface="Calibri"/>
                <a:ea typeface="Calibri"/>
              </a:rPr>
              <a:t>Best for: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Text 25"/>
          <p:cNvSpPr/>
          <p:nvPr/>
        </p:nvSpPr>
        <p:spPr>
          <a:xfrm>
            <a:off x="6217920" y="3730680"/>
            <a:ext cx="260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Large files, memory-efficient parsing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4" name="Shape 26"/>
          <p:cNvSpPr/>
          <p:nvPr/>
        </p:nvSpPr>
        <p:spPr>
          <a:xfrm>
            <a:off x="182880" y="4919400"/>
            <a:ext cx="8777880" cy="41112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27"/>
          <p:cNvSpPr/>
          <p:nvPr/>
        </p:nvSpPr>
        <p:spPr>
          <a:xfrm>
            <a:off x="320040" y="4937760"/>
            <a:ext cx="850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4b8a6"/>
                </a:solidFill>
                <a:latin typeface="Calibri"/>
                <a:ea typeface="Calibri"/>
              </a:rPr>
              <a:t>Pythonic loop: </a:t>
            </a:r>
            <a:r>
              <a:rPr b="0" lang="en-US" sz="1200" spc="-1" strike="noStrike">
                <a:solidFill>
                  <a:srgbClr val="fcd34d"/>
                </a:solidFill>
                <a:latin typeface="Consolas"/>
                <a:ea typeface="Consolas"/>
              </a:rPr>
              <a:t>for line in fobj: print(line, end='')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 ← reads one line at a time, memory efficient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Writing Data to Files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78" name="Shape 2"/>
          <p:cNvSpPr/>
          <p:nvPr/>
        </p:nvSpPr>
        <p:spPr>
          <a:xfrm>
            <a:off x="228600" y="868680"/>
            <a:ext cx="416016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9" name="Shape 3"/>
          <p:cNvSpPr/>
          <p:nvPr/>
        </p:nvSpPr>
        <p:spPr>
          <a:xfrm>
            <a:off x="228600" y="868680"/>
            <a:ext cx="4160160" cy="347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"/>
          <p:cNvSpPr/>
          <p:nvPr/>
        </p:nvSpPr>
        <p:spPr>
          <a:xfrm>
            <a:off x="347400" y="8686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write(string)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347400" y="126180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Writes a single string. Numbers must be converted with str() first.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347400" y="1810440"/>
            <a:ext cx="3931560" cy="804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7"/>
          <p:cNvSpPr/>
          <p:nvPr/>
        </p:nvSpPr>
        <p:spPr>
          <a:xfrm>
            <a:off x="438840" y="185616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fobj.write('Hello there!\n')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fobj.write(str(42) + '\n')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4754880" y="868680"/>
            <a:ext cx="416016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Shape 9"/>
          <p:cNvSpPr/>
          <p:nvPr/>
        </p:nvSpPr>
        <p:spPr>
          <a:xfrm>
            <a:off x="4754880" y="868680"/>
            <a:ext cx="4160160" cy="347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0"/>
          <p:cNvSpPr/>
          <p:nvPr/>
        </p:nvSpPr>
        <p:spPr>
          <a:xfrm>
            <a:off x="4873680" y="8686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onsolas"/>
                <a:ea typeface="Consolas"/>
              </a:rPr>
              <a:t>writelines(list)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4873680" y="126180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libri"/>
                <a:ea typeface="Calibri"/>
              </a:rPr>
              <a:t>Writes a list of strings. Note: newlines are NOT added automatically!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4873680" y="1810440"/>
            <a:ext cx="3931560" cy="804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3"/>
          <p:cNvSpPr/>
          <p:nvPr/>
        </p:nvSpPr>
        <p:spPr>
          <a:xfrm>
            <a:off x="4965120" y="1856160"/>
            <a:ext cx="3748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pets=['cat\n','dog\n','bird\n']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fobj.writelines(pets)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228600" y="2907720"/>
            <a:ext cx="8686440" cy="347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5"/>
          <p:cNvSpPr/>
          <p:nvPr/>
        </p:nvSpPr>
        <p:spPr>
          <a:xfrm>
            <a:off x="365760" y="290772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92400e"/>
                </a:solidFill>
                <a:latin typeface="Calibri"/>
                <a:ea typeface="Calibri"/>
              </a:rPr>
              <a:t>⚠   </a:t>
            </a:r>
            <a:r>
              <a:rPr b="1" lang="en-US" sz="1300" spc="-1" strike="noStrike">
                <a:solidFill>
                  <a:srgbClr val="92400e"/>
                </a:solidFill>
                <a:latin typeface="Calibri"/>
                <a:ea typeface="Calibri"/>
              </a:rPr>
              <a:t>Writing non-string types — always convert to str() first!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228600" y="3337560"/>
            <a:ext cx="8686440" cy="1599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Text 17"/>
          <p:cNvSpPr/>
          <p:nvPr/>
        </p:nvSpPr>
        <p:spPr>
          <a:xfrm>
            <a:off x="365760" y="3383280"/>
            <a:ext cx="841212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# Writing complex Python types — must convert to str first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person      = ('Alice', 28, 72000.0)       # tuple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high_scores = {95, 88, 76, 91}            # set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profile     = {'name': 'Bob', 'age': 30}  # dict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fobj.write(str(person)      + '\n')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fobj.write(str(high_scores) + '\n')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fobj.write(str(profile)     + '\n')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File Opening Modes — Complete Reference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96" name="Shape 2"/>
          <p:cNvSpPr/>
          <p:nvPr/>
        </p:nvSpPr>
        <p:spPr>
          <a:xfrm>
            <a:off x="228600" y="868680"/>
            <a:ext cx="65808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3"/>
          <p:cNvSpPr/>
          <p:nvPr/>
        </p:nvSpPr>
        <p:spPr>
          <a:xfrm>
            <a:off x="228600" y="86868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Mode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887040" y="868680"/>
            <a:ext cx="100548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5"/>
          <p:cNvSpPr/>
          <p:nvPr/>
        </p:nvSpPr>
        <p:spPr>
          <a:xfrm>
            <a:off x="887040" y="868680"/>
            <a:ext cx="1005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Type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1892880" y="868680"/>
            <a:ext cx="65808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7"/>
          <p:cNvSpPr/>
          <p:nvPr/>
        </p:nvSpPr>
        <p:spPr>
          <a:xfrm>
            <a:off x="1892880" y="86868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Read?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2551320" y="868680"/>
            <a:ext cx="65808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9"/>
          <p:cNvSpPr/>
          <p:nvPr/>
        </p:nvSpPr>
        <p:spPr>
          <a:xfrm>
            <a:off x="2551320" y="868680"/>
            <a:ext cx="658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Write?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4" name="Shape 10"/>
          <p:cNvSpPr/>
          <p:nvPr/>
        </p:nvSpPr>
        <p:spPr>
          <a:xfrm>
            <a:off x="3209400" y="868680"/>
            <a:ext cx="77688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1"/>
          <p:cNvSpPr/>
          <p:nvPr/>
        </p:nvSpPr>
        <p:spPr>
          <a:xfrm>
            <a:off x="3209400" y="868680"/>
            <a:ext cx="77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Creates?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3986640" y="868680"/>
            <a:ext cx="86832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3"/>
          <p:cNvSpPr/>
          <p:nvPr/>
        </p:nvSpPr>
        <p:spPr>
          <a:xfrm>
            <a:off x="3986640" y="868680"/>
            <a:ext cx="868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Overwrites?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4855320" y="868680"/>
            <a:ext cx="1462680" cy="365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5"/>
          <p:cNvSpPr/>
          <p:nvPr/>
        </p:nvSpPr>
        <p:spPr>
          <a:xfrm>
            <a:off x="4855320" y="868680"/>
            <a:ext cx="1462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Pointer starts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228600" y="123444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7"/>
          <p:cNvSpPr/>
          <p:nvPr/>
        </p:nvSpPr>
        <p:spPr>
          <a:xfrm>
            <a:off x="228600" y="12344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'r'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2" name="Shape 18"/>
          <p:cNvSpPr/>
          <p:nvPr/>
        </p:nvSpPr>
        <p:spPr>
          <a:xfrm>
            <a:off x="887040" y="1234440"/>
            <a:ext cx="10054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9"/>
          <p:cNvSpPr/>
          <p:nvPr/>
        </p:nvSpPr>
        <p:spPr>
          <a:xfrm>
            <a:off x="887040" y="123444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1892880" y="123444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1"/>
          <p:cNvSpPr/>
          <p:nvPr/>
        </p:nvSpPr>
        <p:spPr>
          <a:xfrm>
            <a:off x="1892880" y="12344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6" name="Shape 22"/>
          <p:cNvSpPr/>
          <p:nvPr/>
        </p:nvSpPr>
        <p:spPr>
          <a:xfrm>
            <a:off x="2551320" y="123444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3"/>
          <p:cNvSpPr/>
          <p:nvPr/>
        </p:nvSpPr>
        <p:spPr>
          <a:xfrm>
            <a:off x="2551320" y="12344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3209400" y="1234440"/>
            <a:ext cx="776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5"/>
          <p:cNvSpPr/>
          <p:nvPr/>
        </p:nvSpPr>
        <p:spPr>
          <a:xfrm>
            <a:off x="3209400" y="12344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0" name="Shape 26"/>
          <p:cNvSpPr/>
          <p:nvPr/>
        </p:nvSpPr>
        <p:spPr>
          <a:xfrm>
            <a:off x="3986640" y="1234440"/>
            <a:ext cx="86832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27"/>
          <p:cNvSpPr/>
          <p:nvPr/>
        </p:nvSpPr>
        <p:spPr>
          <a:xfrm>
            <a:off x="3986640" y="123444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2" name="Shape 28"/>
          <p:cNvSpPr/>
          <p:nvPr/>
        </p:nvSpPr>
        <p:spPr>
          <a:xfrm>
            <a:off x="4855320" y="1234440"/>
            <a:ext cx="14626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9"/>
          <p:cNvSpPr/>
          <p:nvPr/>
        </p:nvSpPr>
        <p:spPr>
          <a:xfrm>
            <a:off x="4855320" y="12344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Beginning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Shape 30"/>
          <p:cNvSpPr/>
          <p:nvPr/>
        </p:nvSpPr>
        <p:spPr>
          <a:xfrm>
            <a:off x="228600" y="158184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31"/>
          <p:cNvSpPr/>
          <p:nvPr/>
        </p:nvSpPr>
        <p:spPr>
          <a:xfrm>
            <a:off x="228600" y="15818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'w'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6" name="Shape 32"/>
          <p:cNvSpPr/>
          <p:nvPr/>
        </p:nvSpPr>
        <p:spPr>
          <a:xfrm>
            <a:off x="887040" y="1581840"/>
            <a:ext cx="10054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33"/>
          <p:cNvSpPr/>
          <p:nvPr/>
        </p:nvSpPr>
        <p:spPr>
          <a:xfrm>
            <a:off x="887040" y="158184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8" name="Shape 34"/>
          <p:cNvSpPr/>
          <p:nvPr/>
        </p:nvSpPr>
        <p:spPr>
          <a:xfrm>
            <a:off x="1892880" y="158184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35"/>
          <p:cNvSpPr/>
          <p:nvPr/>
        </p:nvSpPr>
        <p:spPr>
          <a:xfrm>
            <a:off x="1892880" y="15818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0" name="Shape 36"/>
          <p:cNvSpPr/>
          <p:nvPr/>
        </p:nvSpPr>
        <p:spPr>
          <a:xfrm>
            <a:off x="2551320" y="158184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37"/>
          <p:cNvSpPr/>
          <p:nvPr/>
        </p:nvSpPr>
        <p:spPr>
          <a:xfrm>
            <a:off x="2551320" y="15818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2" name="Shape 38"/>
          <p:cNvSpPr/>
          <p:nvPr/>
        </p:nvSpPr>
        <p:spPr>
          <a:xfrm>
            <a:off x="3209400" y="1581840"/>
            <a:ext cx="7768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39"/>
          <p:cNvSpPr/>
          <p:nvPr/>
        </p:nvSpPr>
        <p:spPr>
          <a:xfrm>
            <a:off x="3209400" y="15818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Shape 40"/>
          <p:cNvSpPr/>
          <p:nvPr/>
        </p:nvSpPr>
        <p:spPr>
          <a:xfrm>
            <a:off x="3986640" y="1581840"/>
            <a:ext cx="86832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41"/>
          <p:cNvSpPr/>
          <p:nvPr/>
        </p:nvSpPr>
        <p:spPr>
          <a:xfrm>
            <a:off x="3986640" y="158184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6" name="Shape 42"/>
          <p:cNvSpPr/>
          <p:nvPr/>
        </p:nvSpPr>
        <p:spPr>
          <a:xfrm>
            <a:off x="4855320" y="1581840"/>
            <a:ext cx="14626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43"/>
          <p:cNvSpPr/>
          <p:nvPr/>
        </p:nvSpPr>
        <p:spPr>
          <a:xfrm>
            <a:off x="4855320" y="15818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Beginning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8" name="Shape 44"/>
          <p:cNvSpPr/>
          <p:nvPr/>
        </p:nvSpPr>
        <p:spPr>
          <a:xfrm>
            <a:off x="228600" y="192924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45"/>
          <p:cNvSpPr/>
          <p:nvPr/>
        </p:nvSpPr>
        <p:spPr>
          <a:xfrm>
            <a:off x="228600" y="19292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'a'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40" name="Shape 46"/>
          <p:cNvSpPr/>
          <p:nvPr/>
        </p:nvSpPr>
        <p:spPr>
          <a:xfrm>
            <a:off x="887040" y="1929240"/>
            <a:ext cx="10054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47"/>
          <p:cNvSpPr/>
          <p:nvPr/>
        </p:nvSpPr>
        <p:spPr>
          <a:xfrm>
            <a:off x="887040" y="192924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Shape 48"/>
          <p:cNvSpPr/>
          <p:nvPr/>
        </p:nvSpPr>
        <p:spPr>
          <a:xfrm>
            <a:off x="1892880" y="192924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49"/>
          <p:cNvSpPr/>
          <p:nvPr/>
        </p:nvSpPr>
        <p:spPr>
          <a:xfrm>
            <a:off x="1892880" y="19292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Shape 50"/>
          <p:cNvSpPr/>
          <p:nvPr/>
        </p:nvSpPr>
        <p:spPr>
          <a:xfrm>
            <a:off x="2551320" y="192924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51"/>
          <p:cNvSpPr/>
          <p:nvPr/>
        </p:nvSpPr>
        <p:spPr>
          <a:xfrm>
            <a:off x="2551320" y="192924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Shape 52"/>
          <p:cNvSpPr/>
          <p:nvPr/>
        </p:nvSpPr>
        <p:spPr>
          <a:xfrm>
            <a:off x="3209400" y="1929240"/>
            <a:ext cx="776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53"/>
          <p:cNvSpPr/>
          <p:nvPr/>
        </p:nvSpPr>
        <p:spPr>
          <a:xfrm>
            <a:off x="3209400" y="192924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Shape 54"/>
          <p:cNvSpPr/>
          <p:nvPr/>
        </p:nvSpPr>
        <p:spPr>
          <a:xfrm>
            <a:off x="3986640" y="1929240"/>
            <a:ext cx="86832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55"/>
          <p:cNvSpPr/>
          <p:nvPr/>
        </p:nvSpPr>
        <p:spPr>
          <a:xfrm>
            <a:off x="3986640" y="192924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Shape 56"/>
          <p:cNvSpPr/>
          <p:nvPr/>
        </p:nvSpPr>
        <p:spPr>
          <a:xfrm>
            <a:off x="4855320" y="1929240"/>
            <a:ext cx="14626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57"/>
          <p:cNvSpPr/>
          <p:nvPr/>
        </p:nvSpPr>
        <p:spPr>
          <a:xfrm>
            <a:off x="4855320" y="192924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Shape 58"/>
          <p:cNvSpPr/>
          <p:nvPr/>
        </p:nvSpPr>
        <p:spPr>
          <a:xfrm>
            <a:off x="228600" y="22770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59"/>
          <p:cNvSpPr/>
          <p:nvPr/>
        </p:nvSpPr>
        <p:spPr>
          <a:xfrm>
            <a:off x="228600" y="22770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'r+'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Shape 60"/>
          <p:cNvSpPr/>
          <p:nvPr/>
        </p:nvSpPr>
        <p:spPr>
          <a:xfrm>
            <a:off x="887040" y="2277000"/>
            <a:ext cx="10054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61"/>
          <p:cNvSpPr/>
          <p:nvPr/>
        </p:nvSpPr>
        <p:spPr>
          <a:xfrm>
            <a:off x="887040" y="227700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Shape 62"/>
          <p:cNvSpPr/>
          <p:nvPr/>
        </p:nvSpPr>
        <p:spPr>
          <a:xfrm>
            <a:off x="1892880" y="22770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63"/>
          <p:cNvSpPr/>
          <p:nvPr/>
        </p:nvSpPr>
        <p:spPr>
          <a:xfrm>
            <a:off x="1892880" y="22770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Shape 64"/>
          <p:cNvSpPr/>
          <p:nvPr/>
        </p:nvSpPr>
        <p:spPr>
          <a:xfrm>
            <a:off x="2551320" y="22770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65"/>
          <p:cNvSpPr/>
          <p:nvPr/>
        </p:nvSpPr>
        <p:spPr>
          <a:xfrm>
            <a:off x="2551320" y="22770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Shape 66"/>
          <p:cNvSpPr/>
          <p:nvPr/>
        </p:nvSpPr>
        <p:spPr>
          <a:xfrm>
            <a:off x="3209400" y="2277000"/>
            <a:ext cx="7768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67"/>
          <p:cNvSpPr/>
          <p:nvPr/>
        </p:nvSpPr>
        <p:spPr>
          <a:xfrm>
            <a:off x="3209400" y="227700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Shape 68"/>
          <p:cNvSpPr/>
          <p:nvPr/>
        </p:nvSpPr>
        <p:spPr>
          <a:xfrm>
            <a:off x="3986640" y="2277000"/>
            <a:ext cx="86832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69"/>
          <p:cNvSpPr/>
          <p:nvPr/>
        </p:nvSpPr>
        <p:spPr>
          <a:xfrm>
            <a:off x="3986640" y="227700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70"/>
          <p:cNvSpPr/>
          <p:nvPr/>
        </p:nvSpPr>
        <p:spPr>
          <a:xfrm>
            <a:off x="4855320" y="2277000"/>
            <a:ext cx="14626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71"/>
          <p:cNvSpPr/>
          <p:nvPr/>
        </p:nvSpPr>
        <p:spPr>
          <a:xfrm>
            <a:off x="4855320" y="227700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Beginning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Shape 72"/>
          <p:cNvSpPr/>
          <p:nvPr/>
        </p:nvSpPr>
        <p:spPr>
          <a:xfrm>
            <a:off x="228600" y="262440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73"/>
          <p:cNvSpPr/>
          <p:nvPr/>
        </p:nvSpPr>
        <p:spPr>
          <a:xfrm>
            <a:off x="228600" y="26244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'w+'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8" name="Shape 74"/>
          <p:cNvSpPr/>
          <p:nvPr/>
        </p:nvSpPr>
        <p:spPr>
          <a:xfrm>
            <a:off x="887040" y="2624400"/>
            <a:ext cx="10054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75"/>
          <p:cNvSpPr/>
          <p:nvPr/>
        </p:nvSpPr>
        <p:spPr>
          <a:xfrm>
            <a:off x="887040" y="262440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0" name="Shape 76"/>
          <p:cNvSpPr/>
          <p:nvPr/>
        </p:nvSpPr>
        <p:spPr>
          <a:xfrm>
            <a:off x="1892880" y="262440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77"/>
          <p:cNvSpPr/>
          <p:nvPr/>
        </p:nvSpPr>
        <p:spPr>
          <a:xfrm>
            <a:off x="1892880" y="26244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Shape 78"/>
          <p:cNvSpPr/>
          <p:nvPr/>
        </p:nvSpPr>
        <p:spPr>
          <a:xfrm>
            <a:off x="2551320" y="262440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79"/>
          <p:cNvSpPr/>
          <p:nvPr/>
        </p:nvSpPr>
        <p:spPr>
          <a:xfrm>
            <a:off x="2551320" y="26244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80"/>
          <p:cNvSpPr/>
          <p:nvPr/>
        </p:nvSpPr>
        <p:spPr>
          <a:xfrm>
            <a:off x="3209400" y="2624400"/>
            <a:ext cx="776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81"/>
          <p:cNvSpPr/>
          <p:nvPr/>
        </p:nvSpPr>
        <p:spPr>
          <a:xfrm>
            <a:off x="3209400" y="262440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82"/>
          <p:cNvSpPr/>
          <p:nvPr/>
        </p:nvSpPr>
        <p:spPr>
          <a:xfrm>
            <a:off x="3986640" y="2624400"/>
            <a:ext cx="86832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83"/>
          <p:cNvSpPr/>
          <p:nvPr/>
        </p:nvSpPr>
        <p:spPr>
          <a:xfrm>
            <a:off x="3986640" y="262440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Shape 84"/>
          <p:cNvSpPr/>
          <p:nvPr/>
        </p:nvSpPr>
        <p:spPr>
          <a:xfrm>
            <a:off x="4855320" y="2624400"/>
            <a:ext cx="14626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85"/>
          <p:cNvSpPr/>
          <p:nvPr/>
        </p:nvSpPr>
        <p:spPr>
          <a:xfrm>
            <a:off x="4855320" y="262440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Beginning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0" name="Shape 86"/>
          <p:cNvSpPr/>
          <p:nvPr/>
        </p:nvSpPr>
        <p:spPr>
          <a:xfrm>
            <a:off x="228600" y="29718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87"/>
          <p:cNvSpPr/>
          <p:nvPr/>
        </p:nvSpPr>
        <p:spPr>
          <a:xfrm>
            <a:off x="228600" y="29718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'a+'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2" name="Shape 88"/>
          <p:cNvSpPr/>
          <p:nvPr/>
        </p:nvSpPr>
        <p:spPr>
          <a:xfrm>
            <a:off x="887040" y="2971800"/>
            <a:ext cx="10054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89"/>
          <p:cNvSpPr/>
          <p:nvPr/>
        </p:nvSpPr>
        <p:spPr>
          <a:xfrm>
            <a:off x="887040" y="297180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Shape 90"/>
          <p:cNvSpPr/>
          <p:nvPr/>
        </p:nvSpPr>
        <p:spPr>
          <a:xfrm>
            <a:off x="1892880" y="29718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91"/>
          <p:cNvSpPr/>
          <p:nvPr/>
        </p:nvSpPr>
        <p:spPr>
          <a:xfrm>
            <a:off x="1892880" y="29718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Shape 92"/>
          <p:cNvSpPr/>
          <p:nvPr/>
        </p:nvSpPr>
        <p:spPr>
          <a:xfrm>
            <a:off x="2551320" y="29718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Text 93"/>
          <p:cNvSpPr/>
          <p:nvPr/>
        </p:nvSpPr>
        <p:spPr>
          <a:xfrm>
            <a:off x="2551320" y="29718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8" name="Shape 94"/>
          <p:cNvSpPr/>
          <p:nvPr/>
        </p:nvSpPr>
        <p:spPr>
          <a:xfrm>
            <a:off x="3209400" y="2971800"/>
            <a:ext cx="7768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95"/>
          <p:cNvSpPr/>
          <p:nvPr/>
        </p:nvSpPr>
        <p:spPr>
          <a:xfrm>
            <a:off x="3209400" y="297180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Shape 96"/>
          <p:cNvSpPr/>
          <p:nvPr/>
        </p:nvSpPr>
        <p:spPr>
          <a:xfrm>
            <a:off x="3986640" y="2971800"/>
            <a:ext cx="86832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97"/>
          <p:cNvSpPr/>
          <p:nvPr/>
        </p:nvSpPr>
        <p:spPr>
          <a:xfrm>
            <a:off x="3986640" y="297180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2" name="Shape 98"/>
          <p:cNvSpPr/>
          <p:nvPr/>
        </p:nvSpPr>
        <p:spPr>
          <a:xfrm>
            <a:off x="4855320" y="2971800"/>
            <a:ext cx="14626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99"/>
          <p:cNvSpPr/>
          <p:nvPr/>
        </p:nvSpPr>
        <p:spPr>
          <a:xfrm>
            <a:off x="4855320" y="297180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4" name="Shape 100"/>
          <p:cNvSpPr/>
          <p:nvPr/>
        </p:nvSpPr>
        <p:spPr>
          <a:xfrm>
            <a:off x="228600" y="331920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101"/>
          <p:cNvSpPr/>
          <p:nvPr/>
        </p:nvSpPr>
        <p:spPr>
          <a:xfrm>
            <a:off x="228600" y="33192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'rb'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6" name="Shape 102"/>
          <p:cNvSpPr/>
          <p:nvPr/>
        </p:nvSpPr>
        <p:spPr>
          <a:xfrm>
            <a:off x="887040" y="3319200"/>
            <a:ext cx="10054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03"/>
          <p:cNvSpPr/>
          <p:nvPr/>
        </p:nvSpPr>
        <p:spPr>
          <a:xfrm>
            <a:off x="887040" y="331920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Binary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Shape 104"/>
          <p:cNvSpPr/>
          <p:nvPr/>
        </p:nvSpPr>
        <p:spPr>
          <a:xfrm>
            <a:off x="1892880" y="331920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Text 105"/>
          <p:cNvSpPr/>
          <p:nvPr/>
        </p:nvSpPr>
        <p:spPr>
          <a:xfrm>
            <a:off x="1892880" y="33192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0" name="Shape 106"/>
          <p:cNvSpPr/>
          <p:nvPr/>
        </p:nvSpPr>
        <p:spPr>
          <a:xfrm>
            <a:off x="2551320" y="331920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Text 107"/>
          <p:cNvSpPr/>
          <p:nvPr/>
        </p:nvSpPr>
        <p:spPr>
          <a:xfrm>
            <a:off x="2551320" y="33192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2" name="Shape 108"/>
          <p:cNvSpPr/>
          <p:nvPr/>
        </p:nvSpPr>
        <p:spPr>
          <a:xfrm>
            <a:off x="3209400" y="3319200"/>
            <a:ext cx="776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109"/>
          <p:cNvSpPr/>
          <p:nvPr/>
        </p:nvSpPr>
        <p:spPr>
          <a:xfrm>
            <a:off x="3209400" y="331920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4" name="Shape 110"/>
          <p:cNvSpPr/>
          <p:nvPr/>
        </p:nvSpPr>
        <p:spPr>
          <a:xfrm>
            <a:off x="3986640" y="3319200"/>
            <a:ext cx="86832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111"/>
          <p:cNvSpPr/>
          <p:nvPr/>
        </p:nvSpPr>
        <p:spPr>
          <a:xfrm>
            <a:off x="3986640" y="331920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6" name="Shape 112"/>
          <p:cNvSpPr/>
          <p:nvPr/>
        </p:nvSpPr>
        <p:spPr>
          <a:xfrm>
            <a:off x="4855320" y="3319200"/>
            <a:ext cx="14626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113"/>
          <p:cNvSpPr/>
          <p:nvPr/>
        </p:nvSpPr>
        <p:spPr>
          <a:xfrm>
            <a:off x="4855320" y="331920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Beginning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8" name="Shape 114"/>
          <p:cNvSpPr/>
          <p:nvPr/>
        </p:nvSpPr>
        <p:spPr>
          <a:xfrm>
            <a:off x="228600" y="36666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 115"/>
          <p:cNvSpPr/>
          <p:nvPr/>
        </p:nvSpPr>
        <p:spPr>
          <a:xfrm>
            <a:off x="228600" y="36666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'wb'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10" name="Shape 116"/>
          <p:cNvSpPr/>
          <p:nvPr/>
        </p:nvSpPr>
        <p:spPr>
          <a:xfrm>
            <a:off x="887040" y="3666600"/>
            <a:ext cx="10054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117"/>
          <p:cNvSpPr/>
          <p:nvPr/>
        </p:nvSpPr>
        <p:spPr>
          <a:xfrm>
            <a:off x="887040" y="366660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Binary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2" name="Shape 118"/>
          <p:cNvSpPr/>
          <p:nvPr/>
        </p:nvSpPr>
        <p:spPr>
          <a:xfrm>
            <a:off x="1892880" y="36666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119"/>
          <p:cNvSpPr/>
          <p:nvPr/>
        </p:nvSpPr>
        <p:spPr>
          <a:xfrm>
            <a:off x="1892880" y="36666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Shape 120"/>
          <p:cNvSpPr/>
          <p:nvPr/>
        </p:nvSpPr>
        <p:spPr>
          <a:xfrm>
            <a:off x="2551320" y="3666600"/>
            <a:ext cx="6580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121"/>
          <p:cNvSpPr/>
          <p:nvPr/>
        </p:nvSpPr>
        <p:spPr>
          <a:xfrm>
            <a:off x="2551320" y="366660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6" name="Shape 122"/>
          <p:cNvSpPr/>
          <p:nvPr/>
        </p:nvSpPr>
        <p:spPr>
          <a:xfrm>
            <a:off x="3209400" y="3666600"/>
            <a:ext cx="7768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123"/>
          <p:cNvSpPr/>
          <p:nvPr/>
        </p:nvSpPr>
        <p:spPr>
          <a:xfrm>
            <a:off x="3209400" y="366660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8" name="Shape 124"/>
          <p:cNvSpPr/>
          <p:nvPr/>
        </p:nvSpPr>
        <p:spPr>
          <a:xfrm>
            <a:off x="3986640" y="3666600"/>
            <a:ext cx="86832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125"/>
          <p:cNvSpPr/>
          <p:nvPr/>
        </p:nvSpPr>
        <p:spPr>
          <a:xfrm>
            <a:off x="3986640" y="366660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0" name="Shape 126"/>
          <p:cNvSpPr/>
          <p:nvPr/>
        </p:nvSpPr>
        <p:spPr>
          <a:xfrm>
            <a:off x="4855320" y="3666600"/>
            <a:ext cx="1462680" cy="32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127"/>
          <p:cNvSpPr/>
          <p:nvPr/>
        </p:nvSpPr>
        <p:spPr>
          <a:xfrm>
            <a:off x="4855320" y="366660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Beginning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2" name="Shape 128"/>
          <p:cNvSpPr/>
          <p:nvPr/>
        </p:nvSpPr>
        <p:spPr>
          <a:xfrm>
            <a:off x="228600" y="401436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29"/>
          <p:cNvSpPr/>
          <p:nvPr/>
        </p:nvSpPr>
        <p:spPr>
          <a:xfrm>
            <a:off x="228600" y="401436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2a4a"/>
                </a:solidFill>
                <a:latin typeface="Consolas"/>
                <a:ea typeface="Consolas"/>
              </a:rPr>
              <a:t>'ab'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4" name="Shape 130"/>
          <p:cNvSpPr/>
          <p:nvPr/>
        </p:nvSpPr>
        <p:spPr>
          <a:xfrm>
            <a:off x="887040" y="4014360"/>
            <a:ext cx="10054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Text 131"/>
          <p:cNvSpPr/>
          <p:nvPr/>
        </p:nvSpPr>
        <p:spPr>
          <a:xfrm>
            <a:off x="887040" y="4014360"/>
            <a:ext cx="1005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Binary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Shape 132"/>
          <p:cNvSpPr/>
          <p:nvPr/>
        </p:nvSpPr>
        <p:spPr>
          <a:xfrm>
            <a:off x="1892880" y="401436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133"/>
          <p:cNvSpPr/>
          <p:nvPr/>
        </p:nvSpPr>
        <p:spPr>
          <a:xfrm>
            <a:off x="1892880" y="401436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134"/>
          <p:cNvSpPr/>
          <p:nvPr/>
        </p:nvSpPr>
        <p:spPr>
          <a:xfrm>
            <a:off x="2551320" y="4014360"/>
            <a:ext cx="6580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135"/>
          <p:cNvSpPr/>
          <p:nvPr/>
        </p:nvSpPr>
        <p:spPr>
          <a:xfrm>
            <a:off x="2551320" y="4014360"/>
            <a:ext cx="658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0" name="Shape 136"/>
          <p:cNvSpPr/>
          <p:nvPr/>
        </p:nvSpPr>
        <p:spPr>
          <a:xfrm>
            <a:off x="3209400" y="4014360"/>
            <a:ext cx="7768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137"/>
          <p:cNvSpPr/>
          <p:nvPr/>
        </p:nvSpPr>
        <p:spPr>
          <a:xfrm>
            <a:off x="3209400" y="4014360"/>
            <a:ext cx="7768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6a34a"/>
                </a:solidFill>
                <a:latin typeface="Calibri"/>
                <a:ea typeface="Calibri"/>
              </a:rPr>
              <a:t>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2" name="Shape 138"/>
          <p:cNvSpPr/>
          <p:nvPr/>
        </p:nvSpPr>
        <p:spPr>
          <a:xfrm>
            <a:off x="3986640" y="4014360"/>
            <a:ext cx="86832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139"/>
          <p:cNvSpPr/>
          <p:nvPr/>
        </p:nvSpPr>
        <p:spPr>
          <a:xfrm>
            <a:off x="3986640" y="4014360"/>
            <a:ext cx="868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dc2626"/>
                </a:solidFill>
                <a:latin typeface="Calibri"/>
                <a:ea typeface="Calibri"/>
              </a:rPr>
              <a:t>✗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4" name="Shape 140"/>
          <p:cNvSpPr/>
          <p:nvPr/>
        </p:nvSpPr>
        <p:spPr>
          <a:xfrm>
            <a:off x="4855320" y="4014360"/>
            <a:ext cx="1462680" cy="32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141"/>
          <p:cNvSpPr/>
          <p:nvPr/>
        </p:nvSpPr>
        <p:spPr>
          <a:xfrm>
            <a:off x="4855320" y="4014360"/>
            <a:ext cx="1462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Shape 142"/>
          <p:cNvSpPr/>
          <p:nvPr/>
        </p:nvSpPr>
        <p:spPr>
          <a:xfrm>
            <a:off x="228600" y="4434840"/>
            <a:ext cx="8686440" cy="5025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143"/>
          <p:cNvSpPr/>
          <p:nvPr/>
        </p:nvSpPr>
        <p:spPr>
          <a:xfrm>
            <a:off x="365760" y="4453200"/>
            <a:ext cx="8412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Default = 'r'  |  </a:t>
            </a:r>
            <a:r>
              <a:rPr b="0" lang="en-US" sz="1250" spc="-1" strike="noStrike">
                <a:solidFill>
                  <a:srgbClr val="fcd34d"/>
                </a:solidFill>
                <a:latin typeface="Calibri"/>
                <a:ea typeface="Calibri"/>
              </a:rPr>
              <a:t>'w' overwrites existing files  |  </a:t>
            </a:r>
            <a:r>
              <a:rPr b="0" lang="en-US" sz="1250" spc="-1" strike="noStrike">
                <a:solidFill>
                  <a:srgbClr val="4ade80"/>
                </a:solidFill>
                <a:latin typeface="Calibri"/>
                <a:ea typeface="Calibri"/>
              </a:rPr>
              <a:t>'a' preserves content  |  </a:t>
            </a:r>
            <a:r>
              <a:rPr b="0" lang="en-US" sz="1250" spc="-1" strike="noStrike">
                <a:solidFill>
                  <a:srgbClr val="14b8a6"/>
                </a:solidFill>
                <a:latin typeface="Calibri"/>
                <a:ea typeface="Calibri"/>
              </a:rPr>
              <a:t>binary mode requires b'...' bytes objects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1"/>
          <p:cNvSpPr/>
          <p:nvPr/>
        </p:nvSpPr>
        <p:spPr>
          <a:xfrm>
            <a:off x="274320" y="0"/>
            <a:ext cx="8595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File Modes — Practical Scenarios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40" name="Shape 2"/>
          <p:cNvSpPr/>
          <p:nvPr/>
        </p:nvSpPr>
        <p:spPr>
          <a:xfrm>
            <a:off x="164520" y="868680"/>
            <a:ext cx="2806920" cy="409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Shape 3"/>
          <p:cNvSpPr/>
          <p:nvPr/>
        </p:nvSpPr>
        <p:spPr>
          <a:xfrm>
            <a:off x="164520" y="868680"/>
            <a:ext cx="2806920" cy="383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Text 4"/>
          <p:cNvSpPr/>
          <p:nvPr/>
        </p:nvSpPr>
        <p:spPr>
          <a:xfrm>
            <a:off x="255960" y="8686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'w' — Write Mode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3" name="Shape 5"/>
          <p:cNvSpPr/>
          <p:nvPr/>
        </p:nvSpPr>
        <p:spPr>
          <a:xfrm>
            <a:off x="255960" y="1316880"/>
            <a:ext cx="2633040" cy="2605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6"/>
          <p:cNvSpPr/>
          <p:nvPr/>
        </p:nvSpPr>
        <p:spPr>
          <a:xfrm>
            <a:off x="301680" y="1362600"/>
            <a:ext cx="25416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Create a fresh results file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 = open('results.txt', 'w')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fobj.write('Score: 95\n')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fobj.write('Grade: A\n')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WARNING: if file already exists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it gets completely overwritten!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5" name="Text 7"/>
          <p:cNvSpPr/>
          <p:nvPr/>
        </p:nvSpPr>
        <p:spPr>
          <a:xfrm>
            <a:off x="255960" y="3977640"/>
            <a:ext cx="2633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📌 </a:t>
            </a: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Use for: Reports, snapshots, fresh files each run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6" name="Shape 8"/>
          <p:cNvSpPr/>
          <p:nvPr/>
        </p:nvSpPr>
        <p:spPr>
          <a:xfrm>
            <a:off x="3136320" y="868680"/>
            <a:ext cx="2806920" cy="409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7" name="Shape 9"/>
          <p:cNvSpPr/>
          <p:nvPr/>
        </p:nvSpPr>
        <p:spPr>
          <a:xfrm>
            <a:off x="3136320" y="868680"/>
            <a:ext cx="2806920" cy="383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Text 10"/>
          <p:cNvSpPr/>
          <p:nvPr/>
        </p:nvSpPr>
        <p:spPr>
          <a:xfrm>
            <a:off x="3227760" y="8686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'a' — Append Mode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9" name="Shape 11"/>
          <p:cNvSpPr/>
          <p:nvPr/>
        </p:nvSpPr>
        <p:spPr>
          <a:xfrm>
            <a:off x="3227760" y="1316880"/>
            <a:ext cx="2633040" cy="2605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12"/>
          <p:cNvSpPr/>
          <p:nvPr/>
        </p:nvSpPr>
        <p:spPr>
          <a:xfrm>
            <a:off x="3273480" y="1362600"/>
            <a:ext cx="25416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Add events to a log file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 = open('events.txt', 'a')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fobj.write('User logged in\n')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fobj.close()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Existing content is safe: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Score: 95  &lt;- still there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User logged in  &lt;- added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1" name="Text 13"/>
          <p:cNvSpPr/>
          <p:nvPr/>
        </p:nvSpPr>
        <p:spPr>
          <a:xfrm>
            <a:off x="3227760" y="3977640"/>
            <a:ext cx="2633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📌 </a:t>
            </a: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Use for: Logs, audit trails, growing data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52" name="Shape 14"/>
          <p:cNvSpPr/>
          <p:nvPr/>
        </p:nvSpPr>
        <p:spPr>
          <a:xfrm>
            <a:off x="6108120" y="868680"/>
            <a:ext cx="2806920" cy="409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3" name="Shape 15"/>
          <p:cNvSpPr/>
          <p:nvPr/>
        </p:nvSpPr>
        <p:spPr>
          <a:xfrm>
            <a:off x="6108120" y="868680"/>
            <a:ext cx="2806920" cy="383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Text 16"/>
          <p:cNvSpPr/>
          <p:nvPr/>
        </p:nvSpPr>
        <p:spPr>
          <a:xfrm>
            <a:off x="6199560" y="8686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'rb'/'wb' — Binary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55" name="Shape 17"/>
          <p:cNvSpPr/>
          <p:nvPr/>
        </p:nvSpPr>
        <p:spPr>
          <a:xfrm>
            <a:off x="6199560" y="1316880"/>
            <a:ext cx="2633040" cy="2605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18"/>
          <p:cNvSpPr/>
          <p:nvPr/>
        </p:nvSpPr>
        <p:spPr>
          <a:xfrm>
            <a:off x="6245280" y="1362600"/>
            <a:ext cx="254160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# Write raw bytes to a file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 = open('data.bin', 'wb+')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raw = b'\xff\x86\xaa\x00'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fobj.write(raw)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fobj.seek(0)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result = fobj.read()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ade80"/>
                </a:solidFill>
                <a:latin typeface="Consolas"/>
                <a:ea typeface="Consolas"/>
              </a:rPr>
              <a:t>print(result)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57" name="Text 19"/>
          <p:cNvSpPr/>
          <p:nvPr/>
        </p:nvSpPr>
        <p:spPr>
          <a:xfrm>
            <a:off x="6199560" y="3977640"/>
            <a:ext cx="2633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📌 </a:t>
            </a:r>
            <a:r>
              <a:rPr b="0" lang="en-US" sz="1100" spc="-1" strike="noStrike">
                <a:solidFill>
                  <a:srgbClr val="475569"/>
                </a:solidFill>
                <a:latin typeface="Calibri"/>
                <a:ea typeface="Calibri"/>
              </a:rPr>
              <a:t>Use for: Images, executables, binary data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9" name="Shape 1"/>
          <p:cNvSpPr/>
          <p:nvPr/>
        </p:nvSpPr>
        <p:spPr>
          <a:xfrm>
            <a:off x="0" y="4434840"/>
            <a:ext cx="9143640" cy="708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2"/>
          <p:cNvSpPr/>
          <p:nvPr/>
        </p:nvSpPr>
        <p:spPr>
          <a:xfrm>
            <a:off x="365760" y="228600"/>
            <a:ext cx="84121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Georgia"/>
                <a:ea typeface="Georgia"/>
              </a:rPr>
              <a:t>Part 1 — Key Takeaways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361" name="Shape 3"/>
          <p:cNvSpPr/>
          <p:nvPr/>
        </p:nvSpPr>
        <p:spPr>
          <a:xfrm>
            <a:off x="365760" y="1051560"/>
            <a:ext cx="3977280" cy="895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2" name="Text 4"/>
          <p:cNvSpPr/>
          <p:nvPr/>
        </p:nvSpPr>
        <p:spPr>
          <a:xfrm>
            <a:off x="475560" y="1097280"/>
            <a:ext cx="3757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📁 </a:t>
            </a: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I/O System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3" name="Text 5"/>
          <p:cNvSpPr/>
          <p:nvPr/>
        </p:nvSpPr>
        <p:spPr>
          <a:xfrm>
            <a:off x="475560" y="141732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Python connects to keyboard, files &amp; networks. Data is Text (Unicode) or Binary (raw bytes).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4800600" y="1051560"/>
            <a:ext cx="3977280" cy="895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5" name="Text 7"/>
          <p:cNvSpPr/>
          <p:nvPr/>
        </p:nvSpPr>
        <p:spPr>
          <a:xfrm>
            <a:off x="4910400" y="1097280"/>
            <a:ext cx="3757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🔓 </a:t>
            </a: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open() call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4910400" y="141732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Specify filename + mode. Returns a file object. Default mode is 'r' (read text).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67" name="Shape 9"/>
          <p:cNvSpPr/>
          <p:nvPr/>
        </p:nvSpPr>
        <p:spPr>
          <a:xfrm>
            <a:off x="365760" y="2103120"/>
            <a:ext cx="3977280" cy="895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8" name="Text 10"/>
          <p:cNvSpPr/>
          <p:nvPr/>
        </p:nvSpPr>
        <p:spPr>
          <a:xfrm>
            <a:off x="475560" y="2148840"/>
            <a:ext cx="3757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✍ </a:t>
            </a: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write() / writelines()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475560" y="246888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write() handles one string; writelines() writes a list. Convert numbers with str().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70" name="Shape 12"/>
          <p:cNvSpPr/>
          <p:nvPr/>
        </p:nvSpPr>
        <p:spPr>
          <a:xfrm>
            <a:off x="4800600" y="2103120"/>
            <a:ext cx="3977280" cy="895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1" name="Text 13"/>
          <p:cNvSpPr/>
          <p:nvPr/>
        </p:nvSpPr>
        <p:spPr>
          <a:xfrm>
            <a:off x="4910400" y="2148840"/>
            <a:ext cx="3757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📖 </a:t>
            </a: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read() / readline()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2" name="Text 14"/>
          <p:cNvSpPr/>
          <p:nvPr/>
        </p:nvSpPr>
        <p:spPr>
          <a:xfrm>
            <a:off x="4910400" y="246888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read() returns whole file; readline() gets one line; for line in f is the Pythonic way.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2377440" y="3154680"/>
            <a:ext cx="3977280" cy="895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4" name="Text 16"/>
          <p:cNvSpPr/>
          <p:nvPr/>
        </p:nvSpPr>
        <p:spPr>
          <a:xfrm>
            <a:off x="2487240" y="3200400"/>
            <a:ext cx="3757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🗃 </a:t>
            </a:r>
            <a:r>
              <a:rPr b="1" lang="en-US" sz="1400" spc="-1" strike="noStrike">
                <a:solidFill>
                  <a:srgbClr val="14b8a6"/>
                </a:solidFill>
                <a:latin typeface="Calibri"/>
                <a:ea typeface="Calibri"/>
              </a:rPr>
              <a:t>Opening Modes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5" name="Text 17"/>
          <p:cNvSpPr/>
          <p:nvPr/>
        </p:nvSpPr>
        <p:spPr>
          <a:xfrm>
            <a:off x="2487240" y="3520440"/>
            <a:ext cx="3757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4a3b8"/>
                </a:solidFill>
                <a:latin typeface="Calibri"/>
                <a:ea typeface="Calibri"/>
              </a:rPr>
              <a:t>'w' overwrites, 'a' appends, 'r+' is read+write. Add 'b' suffix for binary files.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376" name="Text 18"/>
          <p:cNvSpPr/>
          <p:nvPr/>
        </p:nvSpPr>
        <p:spPr>
          <a:xfrm>
            <a:off x="365760" y="4462200"/>
            <a:ext cx="84121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Up Next → with keyword  •  Moving within Files  •  Serialization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2026-03-08T03:31:14Z</dcterms:created>
  <dc:creator>PptxGenJS</dc:creator>
  <dc:description/>
  <dc:language>en-IN</dc:language>
  <cp:lastModifiedBy>PptxGenJS</cp:lastModifiedBy>
  <dcterms:modified xsi:type="dcterms:W3CDTF">2026-03-08T03:31:14Z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