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3.xml.rels" ContentType="application/vnd.openxmlformats-package.relationships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30.png" ContentType="image/png"/>
  <Override PartName="/ppt/media/image28.png" ContentType="image/png"/>
  <Override PartName="/ppt/media/image10.png" ContentType="image/png"/>
  <Override PartName="/ppt/media/image29.png" ContentType="image/png"/>
  <Override PartName="/ppt/media/image5.png" ContentType="image/png"/>
  <Override PartName="/ppt/media/image35.png" ContentType="image/png"/>
  <Override PartName="/ppt/media/image11.png" ContentType="image/png"/>
  <Override PartName="/ppt/media/image6.png" ContentType="image/png"/>
  <Override PartName="/ppt/media/image36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2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2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24.xml.rels" ContentType="application/vnd.openxmlformats-package.relationships+xml"/>
  <Override PartName="/ppt/slides/_rels/slide28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</a:t>
            </a:r>
            <a:r>
              <a:rPr b="0" lang="en-IN" sz="2000" spc="-1" strike="noStrike">
                <a:latin typeface="Arial"/>
              </a:rPr>
              <a:t>l</a:t>
            </a:r>
            <a:r>
              <a:rPr b="0" lang="en-IN" sz="2000" spc="-1" strike="noStrike">
                <a:latin typeface="Arial"/>
              </a:rPr>
              <a:t>i</a:t>
            </a:r>
            <a:r>
              <a:rPr b="0" lang="en-IN" sz="2000" spc="-1" strike="noStrike">
                <a:latin typeface="Arial"/>
              </a:rPr>
              <a:t>c</a:t>
            </a:r>
            <a:r>
              <a:rPr b="0" lang="en-IN" sz="2000" spc="-1" strike="noStrike">
                <a:latin typeface="Arial"/>
              </a:rPr>
              <a:t>k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d</a:t>
            </a:r>
            <a:r>
              <a:rPr b="0" lang="en-IN" sz="2000" spc="-1" strike="noStrike">
                <a:latin typeface="Arial"/>
              </a:rPr>
              <a:t>i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h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n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s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f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r</a:t>
            </a:r>
            <a:r>
              <a:rPr b="0" lang="en-IN" sz="2000" spc="-1" strike="noStrike">
                <a:latin typeface="Arial"/>
              </a:rPr>
              <a:t>m</a:t>
            </a:r>
            <a:r>
              <a:rPr b="0" lang="en-IN" sz="2000" spc="-1" strike="noStrike">
                <a:latin typeface="Arial"/>
              </a:rPr>
              <a:t>a</a:t>
            </a:r>
            <a:r>
              <a:rPr b="0" lang="en-IN" sz="2000" spc="-1" strike="noStrike">
                <a:latin typeface="Arial"/>
              </a:rPr>
              <a:t>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0C947CC-4380-4193-B758-2624D567819C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640BC9-B1F2-4407-92D9-61B45CC6934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36B47AD-A233-410C-BE5E-7718D30F349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F40692-A9B0-403A-8151-507298E9C5D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AFD3ABC-0CF4-4DCB-AB92-5B24C1AC9BE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1D08814-F396-4545-BF09-C4BCFC723E4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5FEE865-B355-44CF-AF56-C8966D0BB58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929F2C1-E4A9-4490-95C3-20AE849D5D1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FFCC5C-447C-4F0D-ADF1-6A895578474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256F8EC-F96B-4FDA-804B-FA2D1C85FE8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171C026-092E-45E3-899A-F3A0D2F6D8F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A0E14B9-A096-41AD-AB69-7F171E3226F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ECD1B9A-C7B9-4089-ADB4-F6B84DBBFF4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68F39EE-6E57-4B65-A096-35BD6DE6635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D2FC7C5-E261-4AF6-A735-05C7204FBBF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0EEEED9-C454-4CE9-8287-8BA1439FC80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BE8AA4-4495-4E2E-A4DC-BB8F06AC011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1C9D586-1154-4867-9C7B-3D9900A7A34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EDB657-C26C-4A10-BBBA-30AB3F56250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71513D3-77B4-421E-8966-88E340956D1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23028FE-30FA-4947-BB10-B872EDC0EC3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BC87FCC-A3C6-427A-86F6-5475037B394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E44B0D0-3E2A-4B61-875F-DA74EE9F5B5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AD15A7A-DAC1-4B06-8BF3-CF248F83206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33D454A-E8E7-478C-B0F6-6CD4606523B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A8CD1D-A2EB-4981-B1A2-E8CC673B847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E53B599-18A9-45D4-848E-E58A01448A6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55F72DA-173A-4241-A126-829B1E4F5E4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E58EA2-B50B-4CB8-99CF-3CE484955AD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C24354-ABE2-40E8-8775-8AAB56C6ED1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DFB4FB6-EC80-4FD5-94D5-69DF2F4C609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</a:t>
            </a:r>
            <a:r>
              <a:rPr b="0" lang="en-IN" sz="4400" spc="-1" strike="noStrike">
                <a:latin typeface="Arial"/>
              </a:rPr>
              <a:t>l</a:t>
            </a:r>
            <a:r>
              <a:rPr b="0" lang="en-IN" sz="4400" spc="-1" strike="noStrike">
                <a:latin typeface="Arial"/>
              </a:rPr>
              <a:t>i</a:t>
            </a:r>
            <a:r>
              <a:rPr b="0" lang="en-IN" sz="4400" spc="-1" strike="noStrike">
                <a:latin typeface="Arial"/>
              </a:rPr>
              <a:t>c</a:t>
            </a:r>
            <a:r>
              <a:rPr b="0" lang="en-IN" sz="4400" spc="-1" strike="noStrike">
                <a:latin typeface="Arial"/>
              </a:rPr>
              <a:t>k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o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d</a:t>
            </a:r>
            <a:r>
              <a:rPr b="0" lang="en-IN" sz="4400" spc="-1" strike="noStrike">
                <a:latin typeface="Arial"/>
              </a:rPr>
              <a:t>i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h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i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l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x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f</a:t>
            </a:r>
            <a:r>
              <a:rPr b="0" lang="en-IN" sz="4400" spc="-1" strike="noStrike">
                <a:latin typeface="Arial"/>
              </a:rPr>
              <a:t>o</a:t>
            </a:r>
            <a:r>
              <a:rPr b="0" lang="en-IN" sz="4400" spc="-1" strike="noStrike">
                <a:latin typeface="Arial"/>
              </a:rPr>
              <a:t>r</a:t>
            </a:r>
            <a:r>
              <a:rPr b="0" lang="en-IN" sz="4400" spc="-1" strike="noStrike">
                <a:latin typeface="Arial"/>
              </a:rPr>
              <a:t>m</a:t>
            </a:r>
            <a:r>
              <a:rPr b="0" lang="en-IN" sz="4400" spc="-1" strike="noStrike">
                <a:latin typeface="Arial"/>
              </a:rPr>
              <a:t>a</a:t>
            </a:r>
            <a:r>
              <a:rPr b="0" lang="en-IN" sz="4400" spc="-1" strike="noStrike">
                <a:latin typeface="Arial"/>
              </a:rPr>
              <a:t>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preencoded.png"/>
          <p:cNvPicPr/>
          <p:nvPr/>
        </p:nvPicPr>
        <p:blipFill>
          <a:blip r:embed="rId1"/>
          <a:stretch/>
        </p:blipFill>
        <p:spPr>
          <a:xfrm>
            <a:off x="3840480" y="1188720"/>
            <a:ext cx="1461960" cy="1461960"/>
          </a:xfrm>
          <a:prstGeom prst="rect">
            <a:avLst/>
          </a:prstGeom>
          <a:ln w="0">
            <a:noFill/>
          </a:ln>
        </p:spPr>
      </p:pic>
      <p:sp>
        <p:nvSpPr>
          <p:cNvPr id="45" name="Text 0"/>
          <p:cNvSpPr/>
          <p:nvPr/>
        </p:nvSpPr>
        <p:spPr>
          <a:xfrm>
            <a:off x="457200" y="292608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Arial"/>
                <a:ea typeface="Arial"/>
              </a:rPr>
              <a:t>Python Strings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457200" y="365760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d43b"/>
                </a:solidFill>
                <a:latin typeface="Arial"/>
                <a:ea typeface="Arial"/>
              </a:rPr>
              <a:t>Complete Guide to String Operations &amp; Methods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457200" y="4297680"/>
            <a:ext cx="8228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ccccc"/>
                </a:solidFill>
                <a:latin typeface="Arial"/>
                <a:ea typeface="Arial"/>
              </a:rPr>
              <a:t>Lesson 4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What We'll Cover Today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1051560" y="1097280"/>
            <a:ext cx="70398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What are Strings?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1051560" y="1353240"/>
            <a:ext cx="70398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String Quotes &amp; Escape Sequences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640080" y="157284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1051560" y="1609200"/>
            <a:ext cx="70398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Multi-line Strings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640080" y="182880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1051560" y="1865520"/>
            <a:ext cx="70398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String Indexing (Positive &amp; Negative)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1051560" y="2121480"/>
            <a:ext cx="70398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String Slicing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6" name="Text 18"/>
          <p:cNvSpPr/>
          <p:nvPr/>
        </p:nvSpPr>
        <p:spPr>
          <a:xfrm>
            <a:off x="1051560" y="2377440"/>
            <a:ext cx="70398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String Properties (Immutability)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1051560" y="2633400"/>
            <a:ext cx="70398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String Operations (+, *, in)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8" name="Text 23"/>
          <p:cNvSpPr/>
          <p:nvPr/>
        </p:nvSpPr>
        <p:spPr>
          <a:xfrm>
            <a:off x="640080" y="285300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8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9" name="Text 24"/>
          <p:cNvSpPr/>
          <p:nvPr/>
        </p:nvSpPr>
        <p:spPr>
          <a:xfrm>
            <a:off x="1051560" y="2889360"/>
            <a:ext cx="70398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Built-in Functions (len, min, max)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0" name="Text 27"/>
          <p:cNvSpPr/>
          <p:nvPr/>
        </p:nvSpPr>
        <p:spPr>
          <a:xfrm>
            <a:off x="1051560" y="3145680"/>
            <a:ext cx="70398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String Methods (isalpha, isdigit, etc.)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1" name="Text 29"/>
          <p:cNvSpPr/>
          <p:nvPr/>
        </p:nvSpPr>
        <p:spPr>
          <a:xfrm>
            <a:off x="640080" y="336492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2" name="Text 30"/>
          <p:cNvSpPr/>
          <p:nvPr/>
        </p:nvSpPr>
        <p:spPr>
          <a:xfrm>
            <a:off x="1051560" y="3401640"/>
            <a:ext cx="70398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Search &amp; Replace (find, replace)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3" name="Text 32"/>
          <p:cNvSpPr/>
          <p:nvPr/>
        </p:nvSpPr>
        <p:spPr>
          <a:xfrm>
            <a:off x="640080" y="362088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11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4" name="Text 33"/>
          <p:cNvSpPr/>
          <p:nvPr/>
        </p:nvSpPr>
        <p:spPr>
          <a:xfrm>
            <a:off x="1051560" y="3657600"/>
            <a:ext cx="70398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Trim Methods (strip, lstrip, rstrip)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5" name="Text 35"/>
          <p:cNvSpPr/>
          <p:nvPr/>
        </p:nvSpPr>
        <p:spPr>
          <a:xfrm>
            <a:off x="640080" y="387720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12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6" name="Text 36"/>
          <p:cNvSpPr/>
          <p:nvPr/>
        </p:nvSpPr>
        <p:spPr>
          <a:xfrm>
            <a:off x="1051560" y="3913560"/>
            <a:ext cx="70398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Split &amp; Partition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" name="Text 39"/>
          <p:cNvSpPr/>
          <p:nvPr/>
        </p:nvSpPr>
        <p:spPr>
          <a:xfrm>
            <a:off x="1051560" y="4169520"/>
            <a:ext cx="70398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Case Conversions (upper, lower, etc.)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8" name="Text 41"/>
          <p:cNvSpPr/>
          <p:nvPr/>
        </p:nvSpPr>
        <p:spPr>
          <a:xfrm flipH="1">
            <a:off x="539280" y="3420000"/>
            <a:ext cx="99720" cy="12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14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9" name="Text 42"/>
          <p:cNvSpPr/>
          <p:nvPr/>
        </p:nvSpPr>
        <p:spPr>
          <a:xfrm>
            <a:off x="1051560" y="4425840"/>
            <a:ext cx="70398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Type Conversions (str, int, float, chr, ord, join)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What are Strings?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71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72" name="Shape 1"/>
          <p:cNvSpPr/>
          <p:nvPr/>
        </p:nvSpPr>
        <p:spPr>
          <a:xfrm>
            <a:off x="914400" y="1097280"/>
            <a:ext cx="7314120" cy="63900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2"/>
          <p:cNvSpPr/>
          <p:nvPr/>
        </p:nvSpPr>
        <p:spPr>
          <a:xfrm>
            <a:off x="914400" y="1188720"/>
            <a:ext cx="7314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e67e22"/>
                </a:solidFill>
                <a:latin typeface="Arial"/>
                <a:ea typeface="Arial"/>
              </a:rPr>
              <a:t>String is a collection of Unicode characters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1371600" y="2011680"/>
            <a:ext cx="6399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666"/>
                </a:solidFill>
                <a:latin typeface="Arial"/>
                <a:ea typeface="Arial"/>
              </a:rPr>
              <a:t>Strings can be enclosed in different quote types: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5" name="Shape 4"/>
          <p:cNvSpPr/>
          <p:nvPr/>
        </p:nvSpPr>
        <p:spPr>
          <a:xfrm>
            <a:off x="1371600" y="2468880"/>
            <a:ext cx="6399720" cy="17362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5"/>
          <p:cNvSpPr/>
          <p:nvPr/>
        </p:nvSpPr>
        <p:spPr>
          <a:xfrm>
            <a:off x="1554480" y="2606040"/>
            <a:ext cx="603396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Single quotes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str1 = 'Jai Ganesh'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Double quotes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str2 = "Jai Ganesh"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Triple quotes (multi-line)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str3 = '''Jai Ganesh'''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str4 = """Jai Ganesh"""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Escape Characters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78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79" name="Shape 1"/>
          <p:cNvSpPr/>
          <p:nvPr/>
        </p:nvSpPr>
        <p:spPr>
          <a:xfrm>
            <a:off x="914400" y="1097280"/>
            <a:ext cx="7314120" cy="54756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2"/>
          <p:cNvSpPr/>
          <p:nvPr/>
        </p:nvSpPr>
        <p:spPr>
          <a:xfrm>
            <a:off x="914400" y="118872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74c3c"/>
                </a:solidFill>
                <a:latin typeface="Arial"/>
                <a:ea typeface="Arial"/>
              </a:rPr>
              <a:t>Problem: Quotes inside strings can cause confusion/errors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1371600" y="1920240"/>
            <a:ext cx="6399720" cy="8218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4"/>
          <p:cNvSpPr/>
          <p:nvPr/>
        </p:nvSpPr>
        <p:spPr>
          <a:xfrm>
            <a:off x="1554480" y="2057400"/>
            <a:ext cx="6033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# Problem - SyntaxError!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str1 = 'let's play cricket'  # 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3" name="Shape 5"/>
          <p:cNvSpPr/>
          <p:nvPr/>
        </p:nvSpPr>
        <p:spPr>
          <a:xfrm>
            <a:off x="914400" y="2926080"/>
            <a:ext cx="7314120" cy="54756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6"/>
          <p:cNvSpPr/>
          <p:nvPr/>
        </p:nvSpPr>
        <p:spPr>
          <a:xfrm>
            <a:off x="914400" y="301752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Solution: Use backslash (\) escape or alternate quotes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5" name="Shape 7"/>
          <p:cNvSpPr/>
          <p:nvPr/>
        </p:nvSpPr>
        <p:spPr>
          <a:xfrm>
            <a:off x="1371600" y="3657600"/>
            <a:ext cx="6399720" cy="8218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8"/>
          <p:cNvSpPr/>
          <p:nvPr/>
        </p:nvSpPr>
        <p:spPr>
          <a:xfrm>
            <a:off x="1554480" y="3794760"/>
            <a:ext cx="6033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8c379"/>
                </a:solidFill>
                <a:latin typeface="Courier New"/>
                <a:ea typeface="Courier New"/>
              </a:rPr>
              <a:t># Solution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8c379"/>
                </a:solidFill>
                <a:latin typeface="Courier New"/>
                <a:ea typeface="Courier New"/>
              </a:rPr>
              <a:t>str1 = "let's play cricket"  # Use double quotes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8c379"/>
                </a:solidFill>
                <a:latin typeface="Courier New"/>
                <a:ea typeface="Courier New"/>
              </a:rPr>
              <a:t>str2 = 'let\'s play cricket'  # Or escape with \\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Multi-line Strings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88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89" name="Shape 1"/>
          <p:cNvSpPr/>
          <p:nvPr/>
        </p:nvSpPr>
        <p:spPr>
          <a:xfrm>
            <a:off x="731520" y="1097280"/>
            <a:ext cx="3656520" cy="182772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2"/>
          <p:cNvSpPr/>
          <p:nvPr/>
        </p:nvSpPr>
        <p:spPr>
          <a:xfrm>
            <a:off x="731520" y="118872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Method 1: Backslash (\)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914400" y="1600200"/>
            <a:ext cx="3290760" cy="11876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4"/>
          <p:cNvSpPr/>
          <p:nvPr/>
        </p:nvSpPr>
        <p:spPr>
          <a:xfrm>
            <a:off x="1005840" y="1691640"/>
            <a:ext cx="310788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text = "my name is prashant\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 </a:t>
            </a: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I live in pune\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 </a:t>
            </a: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I have 6 years\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 </a:t>
            </a: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of experience"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3" name="Shape 5"/>
          <p:cNvSpPr/>
          <p:nvPr/>
        </p:nvSpPr>
        <p:spPr>
          <a:xfrm>
            <a:off x="4754880" y="1097280"/>
            <a:ext cx="3656520" cy="182772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6"/>
          <p:cNvSpPr/>
          <p:nvPr/>
        </p:nvSpPr>
        <p:spPr>
          <a:xfrm>
            <a:off x="4754880" y="118872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e67e22"/>
                </a:solidFill>
                <a:latin typeface="Arial"/>
                <a:ea typeface="Arial"/>
              </a:rPr>
              <a:t>Method 2: Triple Quotes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4937760" y="1600200"/>
            <a:ext cx="3290760" cy="11876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8"/>
          <p:cNvSpPr/>
          <p:nvPr/>
        </p:nvSpPr>
        <p:spPr>
          <a:xfrm>
            <a:off x="5029200" y="1691640"/>
            <a:ext cx="310788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text = """my name is prashant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I live in pune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I have 6 years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of experience"""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1371600" y="3200400"/>
            <a:ext cx="6399720" cy="45612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10"/>
          <p:cNvSpPr/>
          <p:nvPr/>
        </p:nvSpPr>
        <p:spPr>
          <a:xfrm>
            <a:off x="1371600" y="3291840"/>
            <a:ext cx="6399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Arial"/>
                <a:ea typeface="Arial"/>
              </a:rPr>
              <a:t>✓ </a:t>
            </a:r>
            <a:r>
              <a:rPr b="1" lang="en-US" sz="1300" spc="-1" strike="noStrike">
                <a:solidFill>
                  <a:srgbClr val="306998"/>
                </a:solidFill>
                <a:latin typeface="Arial"/>
                <a:ea typeface="Arial"/>
              </a:rPr>
              <a:t>Triple quotes preserve formatting naturally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Indexing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00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101" name="Shape 1"/>
          <p:cNvSpPr/>
          <p:nvPr/>
        </p:nvSpPr>
        <p:spPr>
          <a:xfrm>
            <a:off x="914400" y="1005840"/>
            <a:ext cx="7314120" cy="54756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2"/>
          <p:cNvSpPr/>
          <p:nvPr/>
        </p:nvSpPr>
        <p:spPr>
          <a:xfrm>
            <a:off x="914400" y="109728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Indexing allows accessing individual characters by position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3" name="Shape 3"/>
          <p:cNvSpPr/>
          <p:nvPr/>
        </p:nvSpPr>
        <p:spPr>
          <a:xfrm>
            <a:off x="1371600" y="1828800"/>
            <a:ext cx="6399720" cy="4561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4"/>
          <p:cNvSpPr/>
          <p:nvPr/>
        </p:nvSpPr>
        <p:spPr>
          <a:xfrm>
            <a:off x="1554480" y="1920240"/>
            <a:ext cx="6033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5c07b"/>
                </a:solidFill>
                <a:latin typeface="Courier New"/>
                <a:ea typeface="Courier New"/>
              </a:rPr>
              <a:t>str1 = "Jai Ganesh"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914400" y="246888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Positive Indexing (starts from 0):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6" name="Shape 6"/>
          <p:cNvSpPr/>
          <p:nvPr/>
        </p:nvSpPr>
        <p:spPr>
          <a:xfrm>
            <a:off x="914400" y="2788920"/>
            <a:ext cx="6399720" cy="73044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7"/>
          <p:cNvSpPr/>
          <p:nvPr/>
        </p:nvSpPr>
        <p:spPr>
          <a:xfrm>
            <a:off x="1097280" y="288036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8" name="Shape 8"/>
          <p:cNvSpPr/>
          <p:nvPr/>
        </p:nvSpPr>
        <p:spPr>
          <a:xfrm>
            <a:off x="1097280" y="3154680"/>
            <a:ext cx="547560" cy="27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9"/>
          <p:cNvSpPr/>
          <p:nvPr/>
        </p:nvSpPr>
        <p:spPr>
          <a:xfrm>
            <a:off x="1097280" y="3200400"/>
            <a:ext cx="5475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J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0" name="Text 10"/>
          <p:cNvSpPr/>
          <p:nvPr/>
        </p:nvSpPr>
        <p:spPr>
          <a:xfrm>
            <a:off x="1691640" y="288036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Shape 11"/>
          <p:cNvSpPr/>
          <p:nvPr/>
        </p:nvSpPr>
        <p:spPr>
          <a:xfrm>
            <a:off x="1691640" y="3154680"/>
            <a:ext cx="547560" cy="27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12"/>
          <p:cNvSpPr/>
          <p:nvPr/>
        </p:nvSpPr>
        <p:spPr>
          <a:xfrm>
            <a:off x="1691640" y="3200400"/>
            <a:ext cx="5475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3" name="Text 13"/>
          <p:cNvSpPr/>
          <p:nvPr/>
        </p:nvSpPr>
        <p:spPr>
          <a:xfrm>
            <a:off x="2286000" y="288036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4" name="Shape 14"/>
          <p:cNvSpPr/>
          <p:nvPr/>
        </p:nvSpPr>
        <p:spPr>
          <a:xfrm>
            <a:off x="2286000" y="3154680"/>
            <a:ext cx="547560" cy="27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5"/>
          <p:cNvSpPr/>
          <p:nvPr/>
        </p:nvSpPr>
        <p:spPr>
          <a:xfrm>
            <a:off x="2286000" y="3200400"/>
            <a:ext cx="5475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i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6" name="Text 16"/>
          <p:cNvSpPr/>
          <p:nvPr/>
        </p:nvSpPr>
        <p:spPr>
          <a:xfrm>
            <a:off x="2880360" y="288036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7" name="Shape 17"/>
          <p:cNvSpPr/>
          <p:nvPr/>
        </p:nvSpPr>
        <p:spPr>
          <a:xfrm>
            <a:off x="2880360" y="3154680"/>
            <a:ext cx="547560" cy="27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18"/>
          <p:cNvSpPr/>
          <p:nvPr/>
        </p:nvSpPr>
        <p:spPr>
          <a:xfrm>
            <a:off x="2880360" y="3200400"/>
            <a:ext cx="5475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 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9" name="Text 19"/>
          <p:cNvSpPr/>
          <p:nvPr/>
        </p:nvSpPr>
        <p:spPr>
          <a:xfrm>
            <a:off x="3474720" y="288036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0" name="Shape 20"/>
          <p:cNvSpPr/>
          <p:nvPr/>
        </p:nvSpPr>
        <p:spPr>
          <a:xfrm>
            <a:off x="3474720" y="3154680"/>
            <a:ext cx="547560" cy="27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21"/>
          <p:cNvSpPr/>
          <p:nvPr/>
        </p:nvSpPr>
        <p:spPr>
          <a:xfrm>
            <a:off x="3474720" y="3200400"/>
            <a:ext cx="5475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2" name="Text 22"/>
          <p:cNvSpPr/>
          <p:nvPr/>
        </p:nvSpPr>
        <p:spPr>
          <a:xfrm>
            <a:off x="4069080" y="288036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3" name="Shape 23"/>
          <p:cNvSpPr/>
          <p:nvPr/>
        </p:nvSpPr>
        <p:spPr>
          <a:xfrm>
            <a:off x="4069080" y="3154680"/>
            <a:ext cx="547560" cy="27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24"/>
          <p:cNvSpPr/>
          <p:nvPr/>
        </p:nvSpPr>
        <p:spPr>
          <a:xfrm>
            <a:off x="4069080" y="3200400"/>
            <a:ext cx="5475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5" name="Text 25"/>
          <p:cNvSpPr/>
          <p:nvPr/>
        </p:nvSpPr>
        <p:spPr>
          <a:xfrm>
            <a:off x="4663440" y="288036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6" name="Shape 26"/>
          <p:cNvSpPr/>
          <p:nvPr/>
        </p:nvSpPr>
        <p:spPr>
          <a:xfrm>
            <a:off x="4663440" y="3154680"/>
            <a:ext cx="547560" cy="27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7"/>
          <p:cNvSpPr/>
          <p:nvPr/>
        </p:nvSpPr>
        <p:spPr>
          <a:xfrm>
            <a:off x="4663440" y="3200400"/>
            <a:ext cx="5475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8" name="Text 28"/>
          <p:cNvSpPr/>
          <p:nvPr/>
        </p:nvSpPr>
        <p:spPr>
          <a:xfrm>
            <a:off x="5257800" y="288036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7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9" name="Shape 29"/>
          <p:cNvSpPr/>
          <p:nvPr/>
        </p:nvSpPr>
        <p:spPr>
          <a:xfrm>
            <a:off x="5257800" y="3154680"/>
            <a:ext cx="547560" cy="27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30"/>
          <p:cNvSpPr/>
          <p:nvPr/>
        </p:nvSpPr>
        <p:spPr>
          <a:xfrm>
            <a:off x="5257800" y="3200400"/>
            <a:ext cx="5475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1" name="Text 31"/>
          <p:cNvSpPr/>
          <p:nvPr/>
        </p:nvSpPr>
        <p:spPr>
          <a:xfrm>
            <a:off x="5852160" y="288036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8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2" name="Shape 32"/>
          <p:cNvSpPr/>
          <p:nvPr/>
        </p:nvSpPr>
        <p:spPr>
          <a:xfrm>
            <a:off x="5852160" y="3154680"/>
            <a:ext cx="547560" cy="27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33"/>
          <p:cNvSpPr/>
          <p:nvPr/>
        </p:nvSpPr>
        <p:spPr>
          <a:xfrm>
            <a:off x="5852160" y="3200400"/>
            <a:ext cx="5475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4" name="Text 34"/>
          <p:cNvSpPr/>
          <p:nvPr/>
        </p:nvSpPr>
        <p:spPr>
          <a:xfrm>
            <a:off x="6446520" y="288036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Courier New"/>
                <a:ea typeface="Courier New"/>
              </a:rPr>
              <a:t>9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5" name="Shape 35"/>
          <p:cNvSpPr/>
          <p:nvPr/>
        </p:nvSpPr>
        <p:spPr>
          <a:xfrm>
            <a:off x="6446520" y="3154680"/>
            <a:ext cx="547560" cy="27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36"/>
          <p:cNvSpPr/>
          <p:nvPr/>
        </p:nvSpPr>
        <p:spPr>
          <a:xfrm>
            <a:off x="6446520" y="3200400"/>
            <a:ext cx="5475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Courier New"/>
                <a:ea typeface="Courier New"/>
              </a:rPr>
              <a:t>h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7" name="Text 37"/>
          <p:cNvSpPr/>
          <p:nvPr/>
        </p:nvSpPr>
        <p:spPr>
          <a:xfrm>
            <a:off x="914400" y="3657600"/>
            <a:ext cx="4570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74c3c"/>
                </a:solidFill>
                <a:latin typeface="Arial"/>
                <a:ea typeface="Arial"/>
              </a:rPr>
              <a:t>Negative Indexing (starts from -1 for last char):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8" name="Text 38"/>
          <p:cNvSpPr/>
          <p:nvPr/>
        </p:nvSpPr>
        <p:spPr>
          <a:xfrm>
            <a:off x="1097280" y="397764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-10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9" name="Text 39"/>
          <p:cNvSpPr/>
          <p:nvPr/>
        </p:nvSpPr>
        <p:spPr>
          <a:xfrm>
            <a:off x="1691640" y="397764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-9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0" name="Text 40"/>
          <p:cNvSpPr/>
          <p:nvPr/>
        </p:nvSpPr>
        <p:spPr>
          <a:xfrm>
            <a:off x="2286000" y="397764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-8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1" name="Text 41"/>
          <p:cNvSpPr/>
          <p:nvPr/>
        </p:nvSpPr>
        <p:spPr>
          <a:xfrm>
            <a:off x="2880360" y="397764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-7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2" name="Text 42"/>
          <p:cNvSpPr/>
          <p:nvPr/>
        </p:nvSpPr>
        <p:spPr>
          <a:xfrm>
            <a:off x="3474720" y="397764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-6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3" name="Text 43"/>
          <p:cNvSpPr/>
          <p:nvPr/>
        </p:nvSpPr>
        <p:spPr>
          <a:xfrm>
            <a:off x="4069080" y="397764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4" name="Text 44"/>
          <p:cNvSpPr/>
          <p:nvPr/>
        </p:nvSpPr>
        <p:spPr>
          <a:xfrm>
            <a:off x="4663440" y="397764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5" name="Text 45"/>
          <p:cNvSpPr/>
          <p:nvPr/>
        </p:nvSpPr>
        <p:spPr>
          <a:xfrm>
            <a:off x="5257800" y="397764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6" name="Text 46"/>
          <p:cNvSpPr/>
          <p:nvPr/>
        </p:nvSpPr>
        <p:spPr>
          <a:xfrm>
            <a:off x="5852160" y="397764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7" name="Text 47"/>
          <p:cNvSpPr/>
          <p:nvPr/>
        </p:nvSpPr>
        <p:spPr>
          <a:xfrm>
            <a:off x="6446520" y="3977640"/>
            <a:ext cx="5475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-1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Indexing - Examples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49" name="Shape 1"/>
          <p:cNvSpPr/>
          <p:nvPr/>
        </p:nvSpPr>
        <p:spPr>
          <a:xfrm>
            <a:off x="914400" y="1097280"/>
            <a:ext cx="7314120" cy="31993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2"/>
          <p:cNvSpPr/>
          <p:nvPr/>
        </p:nvSpPr>
        <p:spPr>
          <a:xfrm>
            <a:off x="1097280" y="1234440"/>
            <a:ext cx="6948360" cy="29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str1 = "Jai Ganesh"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Print full string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print(str1)      # Jai Ganesh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Positive indexing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print(str1[0])   # J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print(str1[1])   # a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print(str1[2])   # i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print(str1[3])   # (space)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print(str1[4])   # 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print(str1[7])   # 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print(str1[9])   # h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Negative indexing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print(str1[-1])  # h (last character)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print(str1[-2])  # 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print(str1[-10]) # J (first character)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Slicing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52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153" name="Shape 1"/>
          <p:cNvSpPr/>
          <p:nvPr/>
        </p:nvSpPr>
        <p:spPr>
          <a:xfrm>
            <a:off x="914400" y="1005840"/>
            <a:ext cx="7314120" cy="54756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2"/>
          <p:cNvSpPr/>
          <p:nvPr/>
        </p:nvSpPr>
        <p:spPr>
          <a:xfrm>
            <a:off x="914400" y="109728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Slicing extracts a substring (part of string)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1371600" y="1828800"/>
            <a:ext cx="6399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Syntax: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6" name="Shape 4"/>
          <p:cNvSpPr/>
          <p:nvPr/>
        </p:nvSpPr>
        <p:spPr>
          <a:xfrm>
            <a:off x="1828800" y="2194560"/>
            <a:ext cx="5485320" cy="45612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5"/>
          <p:cNvSpPr/>
          <p:nvPr/>
        </p:nvSpPr>
        <p:spPr>
          <a:xfrm>
            <a:off x="1828800" y="2240280"/>
            <a:ext cx="5485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e3a5f"/>
                </a:solidFill>
                <a:latin typeface="Courier New"/>
                <a:ea typeface="Courier New"/>
              </a:rPr>
              <a:t>string[Start : Stop : Step]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8" name="Shape 6"/>
          <p:cNvSpPr/>
          <p:nvPr/>
        </p:nvSpPr>
        <p:spPr>
          <a:xfrm>
            <a:off x="1371600" y="2926080"/>
            <a:ext cx="6399720" cy="45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7"/>
          <p:cNvSpPr/>
          <p:nvPr/>
        </p:nvSpPr>
        <p:spPr>
          <a:xfrm>
            <a:off x="1645920" y="3017520"/>
            <a:ext cx="1370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Start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3200400" y="3017520"/>
            <a:ext cx="4388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Starting index (default: 0)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1" name="Shape 9"/>
          <p:cNvSpPr/>
          <p:nvPr/>
        </p:nvSpPr>
        <p:spPr>
          <a:xfrm>
            <a:off x="1371600" y="3474720"/>
            <a:ext cx="6399720" cy="45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0"/>
          <p:cNvSpPr/>
          <p:nvPr/>
        </p:nvSpPr>
        <p:spPr>
          <a:xfrm>
            <a:off x="1645920" y="3566160"/>
            <a:ext cx="1370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Stop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3" name="Text 11"/>
          <p:cNvSpPr/>
          <p:nvPr/>
        </p:nvSpPr>
        <p:spPr>
          <a:xfrm>
            <a:off x="3200400" y="3566160"/>
            <a:ext cx="4388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Ending index - NOT included (default: len(string))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4" name="Shape 12"/>
          <p:cNvSpPr/>
          <p:nvPr/>
        </p:nvSpPr>
        <p:spPr>
          <a:xfrm>
            <a:off x="1371600" y="4023360"/>
            <a:ext cx="6399720" cy="45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13"/>
          <p:cNvSpPr/>
          <p:nvPr/>
        </p:nvSpPr>
        <p:spPr>
          <a:xfrm>
            <a:off x="1645920" y="4114800"/>
            <a:ext cx="1370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Step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6" name="Text 14"/>
          <p:cNvSpPr/>
          <p:nvPr/>
        </p:nvSpPr>
        <p:spPr>
          <a:xfrm>
            <a:off x="3200400" y="4114800"/>
            <a:ext cx="4388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Interval/increment (default: 1)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Slicing - Examples Part 1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68" name="Shape 1"/>
          <p:cNvSpPr/>
          <p:nvPr/>
        </p:nvSpPr>
        <p:spPr>
          <a:xfrm>
            <a:off x="731520" y="1097280"/>
            <a:ext cx="7679880" cy="32907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2"/>
          <p:cNvSpPr/>
          <p:nvPr/>
        </p:nvSpPr>
        <p:spPr>
          <a:xfrm>
            <a:off x="914400" y="1234440"/>
            <a:ext cx="7314120" cy="30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str1 = "Jai Ganesh"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Basic slicing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print(str1[0:1])     # "J"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print(str1[0:2])     # "Ja"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print(str1[0:3])     # "Jai"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print(str1[0:10])    # "Jai Ganesh"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Default start (0)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print(str1[:3])      # "Jai"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print(str1[:5])      # "Jai G"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Default stop (end)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print(str1[4:])      # "Ganesh"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print(str1[0:])      # "Jai Ganesh"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Slicing - Examples Part 2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71" name="Shape 1"/>
          <p:cNvSpPr/>
          <p:nvPr/>
        </p:nvSpPr>
        <p:spPr>
          <a:xfrm>
            <a:off x="731520" y="1097280"/>
            <a:ext cx="7679880" cy="32907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2"/>
          <p:cNvSpPr/>
          <p:nvPr/>
        </p:nvSpPr>
        <p:spPr>
          <a:xfrm>
            <a:off x="914400" y="1234440"/>
            <a:ext cx="7314120" cy="30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str2 = "Jai Ganesh"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Using step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print(str2[::2])     # "JiGns" (every 2nd char)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print(str2[0:10:2])  # "JiGns"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print(str2[::3])     # "J ns" (every 3rd char)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Reverse string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print(str2[::-1])    # "hsenag iaJ"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Negative indices in slicing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print(str2[-4:-1])   # "nes"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print(str2[-6:])     # "Ganesh"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print(str2[:-7])     # "Jai"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Property: Immutability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74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175" name="Shape 1"/>
          <p:cNvSpPr/>
          <p:nvPr/>
        </p:nvSpPr>
        <p:spPr>
          <a:xfrm>
            <a:off x="914400" y="1097280"/>
            <a:ext cx="7314120" cy="63900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2"/>
          <p:cNvSpPr/>
          <p:nvPr/>
        </p:nvSpPr>
        <p:spPr>
          <a:xfrm>
            <a:off x="914400" y="1188720"/>
            <a:ext cx="7314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e74c3c"/>
                </a:solidFill>
                <a:latin typeface="Arial"/>
                <a:ea typeface="Arial"/>
              </a:rPr>
              <a:t>Once a string is created, it CANNOT be modified</a:t>
            </a:r>
            <a:endParaRPr b="0" lang="en-IN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e74c3c"/>
                </a:solidFill>
                <a:latin typeface="Arial"/>
                <a:ea typeface="Arial"/>
              </a:rPr>
              <a:t>Strings are IMMUTABLE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1371600" y="2011680"/>
            <a:ext cx="6399720" cy="11876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4"/>
          <p:cNvSpPr/>
          <p:nvPr/>
        </p:nvSpPr>
        <p:spPr>
          <a:xfrm>
            <a:off x="1554480" y="2148840"/>
            <a:ext cx="60339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6c75"/>
                </a:solidFill>
                <a:latin typeface="Courier New"/>
                <a:ea typeface="Courier New"/>
              </a:rPr>
              <a:t># Example showing immutability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6c75"/>
                </a:solidFill>
                <a:latin typeface="Courier New"/>
                <a:ea typeface="Courier New"/>
              </a:rPr>
              <a:t>name = "hello"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6c75"/>
                </a:solidFill>
                <a:latin typeface="Courier New"/>
                <a:ea typeface="Courier New"/>
              </a:rPr>
              <a:t># Try to modify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6c75"/>
                </a:solidFill>
                <a:latin typeface="Courier New"/>
                <a:ea typeface="Courier New"/>
              </a:rPr>
              <a:t>name[0] = "H"  # TypeError!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6c75"/>
                </a:solidFill>
                <a:latin typeface="Courier New"/>
                <a:ea typeface="Courier New"/>
              </a:rPr>
              <a:t># Error: 'str' object does not support item assignment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1371600" y="3383280"/>
            <a:ext cx="6399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666"/>
                </a:solidFill>
                <a:latin typeface="Arial"/>
                <a:ea typeface="Arial"/>
              </a:rPr>
              <a:t>Why can't we modify strings?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1371600" y="3703320"/>
            <a:ext cx="6399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Because strings are immutable, they cannot be changed.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Concatenation (+)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82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183" name="Shape 1"/>
          <p:cNvSpPr/>
          <p:nvPr/>
        </p:nvSpPr>
        <p:spPr>
          <a:xfrm>
            <a:off x="914400" y="1097280"/>
            <a:ext cx="7314120" cy="54756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2"/>
          <p:cNvSpPr/>
          <p:nvPr/>
        </p:nvSpPr>
        <p:spPr>
          <a:xfrm>
            <a:off x="914400" y="118872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+ operator combines two or more strings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5" name="Shape 3"/>
          <p:cNvSpPr/>
          <p:nvPr/>
        </p:nvSpPr>
        <p:spPr>
          <a:xfrm>
            <a:off x="1371600" y="1920240"/>
            <a:ext cx="6399720" cy="13705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4"/>
          <p:cNvSpPr/>
          <p:nvPr/>
        </p:nvSpPr>
        <p:spPr>
          <a:xfrm>
            <a:off x="1554480" y="2057400"/>
            <a:ext cx="603396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greeting = "Hello"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name = "world"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message = greeting + " - " + name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print(message)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Output: Hello - world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Repetition (*)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88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189" name="Shape 1"/>
          <p:cNvSpPr/>
          <p:nvPr/>
        </p:nvSpPr>
        <p:spPr>
          <a:xfrm>
            <a:off x="914400" y="1097280"/>
            <a:ext cx="7314120" cy="54756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2"/>
          <p:cNvSpPr/>
          <p:nvPr/>
        </p:nvSpPr>
        <p:spPr>
          <a:xfrm>
            <a:off x="914400" y="118872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e67e22"/>
                </a:solidFill>
                <a:latin typeface="Arial"/>
                <a:ea typeface="Arial"/>
              </a:rPr>
              <a:t>* operator repeats string multiple times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91" name="Shape 3"/>
          <p:cNvSpPr/>
          <p:nvPr/>
        </p:nvSpPr>
        <p:spPr>
          <a:xfrm>
            <a:off x="1371600" y="1920240"/>
            <a:ext cx="6399720" cy="10962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4"/>
          <p:cNvSpPr/>
          <p:nvPr/>
        </p:nvSpPr>
        <p:spPr>
          <a:xfrm>
            <a:off x="1554480" y="2057400"/>
            <a:ext cx="60339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word = "Hi"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repeated_word = word * 3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print(repeated_word)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Output: HiHiHi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Membership Testing (in / not in)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94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195" name="Shape 1"/>
          <p:cNvSpPr/>
          <p:nvPr/>
        </p:nvSpPr>
        <p:spPr>
          <a:xfrm>
            <a:off x="914400" y="1097280"/>
            <a:ext cx="7314120" cy="54756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2"/>
          <p:cNvSpPr/>
          <p:nvPr/>
        </p:nvSpPr>
        <p:spPr>
          <a:xfrm>
            <a:off x="914400" y="118872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Check if substring exists using 'in' and 'not in'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914400" y="1920240"/>
            <a:ext cx="7314120" cy="22849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4"/>
          <p:cNvSpPr/>
          <p:nvPr/>
        </p:nvSpPr>
        <p:spPr>
          <a:xfrm>
            <a:off x="1097280" y="2057400"/>
            <a:ext cx="69483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text = "Python Programming"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print("Python" in text)      # True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print("Java" in text)        # False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print("Python" not in text)  # False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print("Java" not in text)    # True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Built-in String Functions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00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201" name="Shape 1"/>
          <p:cNvSpPr/>
          <p:nvPr/>
        </p:nvSpPr>
        <p:spPr>
          <a:xfrm>
            <a:off x="914400" y="1280160"/>
            <a:ext cx="7314120" cy="100476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2"/>
          <p:cNvSpPr/>
          <p:nvPr/>
        </p:nvSpPr>
        <p:spPr>
          <a:xfrm>
            <a:off x="1188720" y="1417320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Courier New"/>
                <a:ea typeface="Courier New"/>
              </a:rPr>
              <a:t>len()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3200400" y="1417320"/>
            <a:ext cx="47538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Returns the length of string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3200400" y="1737360"/>
            <a:ext cx="4753800" cy="4561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5"/>
          <p:cNvSpPr/>
          <p:nvPr/>
        </p:nvSpPr>
        <p:spPr>
          <a:xfrm>
            <a:off x="3291840" y="1828800"/>
            <a:ext cx="4570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name = "hello"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print(len(name))  # 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6" name="Shape 6"/>
          <p:cNvSpPr/>
          <p:nvPr/>
        </p:nvSpPr>
        <p:spPr>
          <a:xfrm>
            <a:off x="914400" y="2423160"/>
            <a:ext cx="7314120" cy="100476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7"/>
          <p:cNvSpPr/>
          <p:nvPr/>
        </p:nvSpPr>
        <p:spPr>
          <a:xfrm>
            <a:off x="1188720" y="2560320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Courier New"/>
                <a:ea typeface="Courier New"/>
              </a:rPr>
              <a:t>min()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8" name="Text 8"/>
          <p:cNvSpPr/>
          <p:nvPr/>
        </p:nvSpPr>
        <p:spPr>
          <a:xfrm>
            <a:off x="3200400" y="2560320"/>
            <a:ext cx="47538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Returns smallest character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9" name="Shape 9"/>
          <p:cNvSpPr/>
          <p:nvPr/>
        </p:nvSpPr>
        <p:spPr>
          <a:xfrm>
            <a:off x="3200400" y="2880360"/>
            <a:ext cx="4753800" cy="4561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0"/>
          <p:cNvSpPr/>
          <p:nvPr/>
        </p:nvSpPr>
        <p:spPr>
          <a:xfrm>
            <a:off x="3291840" y="2971800"/>
            <a:ext cx="4570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name = "hello"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print(min(name))  # "e"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1" name="Shape 11"/>
          <p:cNvSpPr/>
          <p:nvPr/>
        </p:nvSpPr>
        <p:spPr>
          <a:xfrm>
            <a:off x="914400" y="3566160"/>
            <a:ext cx="7314120" cy="100476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2"/>
          <p:cNvSpPr/>
          <p:nvPr/>
        </p:nvSpPr>
        <p:spPr>
          <a:xfrm>
            <a:off x="1188720" y="3703320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Courier New"/>
                <a:ea typeface="Courier New"/>
              </a:rPr>
              <a:t>max()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13" name="Text 13"/>
          <p:cNvSpPr/>
          <p:nvPr/>
        </p:nvSpPr>
        <p:spPr>
          <a:xfrm>
            <a:off x="3200400" y="3703320"/>
            <a:ext cx="47538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Returns largest character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4" name="Shape 14"/>
          <p:cNvSpPr/>
          <p:nvPr/>
        </p:nvSpPr>
        <p:spPr>
          <a:xfrm>
            <a:off x="3200400" y="4023360"/>
            <a:ext cx="4753800" cy="4561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15"/>
          <p:cNvSpPr/>
          <p:nvPr/>
        </p:nvSpPr>
        <p:spPr>
          <a:xfrm>
            <a:off x="3291840" y="4114800"/>
            <a:ext cx="4570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name = "hello"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print(max(name))  # "o"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Methods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17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218" name="Shape 1"/>
          <p:cNvSpPr/>
          <p:nvPr/>
        </p:nvSpPr>
        <p:spPr>
          <a:xfrm>
            <a:off x="914400" y="1097280"/>
            <a:ext cx="7314120" cy="54756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2"/>
          <p:cNvSpPr/>
          <p:nvPr/>
        </p:nvSpPr>
        <p:spPr>
          <a:xfrm>
            <a:off x="914400" y="118872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e67e22"/>
                </a:solidFill>
                <a:latin typeface="Arial"/>
                <a:ea typeface="Arial"/>
              </a:rPr>
              <a:t>String methods allow accessing and modifying string behavior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20" name="Text 3"/>
          <p:cNvSpPr/>
          <p:nvPr/>
        </p:nvSpPr>
        <p:spPr>
          <a:xfrm>
            <a:off x="1371600" y="1920240"/>
            <a:ext cx="6399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666"/>
                </a:solidFill>
                <a:latin typeface="Arial"/>
                <a:ea typeface="Arial"/>
              </a:rPr>
              <a:t>Methods are called using dot (.) notation: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1" name="Shape 4"/>
          <p:cNvSpPr/>
          <p:nvPr/>
        </p:nvSpPr>
        <p:spPr>
          <a:xfrm>
            <a:off x="1828800" y="2377440"/>
            <a:ext cx="5485320" cy="6390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5"/>
          <p:cNvSpPr/>
          <p:nvPr/>
        </p:nvSpPr>
        <p:spPr>
          <a:xfrm>
            <a:off x="2011680" y="2514600"/>
            <a:ext cx="5119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str1 = "Jai Ganesh"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str1.upper()  # Syntax for calling 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3" name="Text 6"/>
          <p:cNvSpPr/>
          <p:nvPr/>
        </p:nvSpPr>
        <p:spPr>
          <a:xfrm>
            <a:off x="1371600" y="3200400"/>
            <a:ext cx="6399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66666"/>
                </a:solidFill>
                <a:latin typeface="Arial"/>
                <a:ea typeface="Arial"/>
              </a:rPr>
              <a:t>Common categories of string methods: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4" name="Text 7"/>
          <p:cNvSpPr/>
          <p:nvPr/>
        </p:nvSpPr>
        <p:spPr>
          <a:xfrm>
            <a:off x="1828800" y="356616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Content Testing (isalpha, isdigit, etc.)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5" name="Text 8"/>
          <p:cNvSpPr/>
          <p:nvPr/>
        </p:nvSpPr>
        <p:spPr>
          <a:xfrm>
            <a:off x="1828800" y="388620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Search &amp; Replace (find, replace)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6" name="Text 9"/>
          <p:cNvSpPr/>
          <p:nvPr/>
        </p:nvSpPr>
        <p:spPr>
          <a:xfrm>
            <a:off x="1828800" y="420624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Trimming (strip, lstrip, rstrip)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7" name="Text 10"/>
          <p:cNvSpPr/>
          <p:nvPr/>
        </p:nvSpPr>
        <p:spPr>
          <a:xfrm>
            <a:off x="1828800" y="452628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Splitting (split, partition)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8" name="Text 11"/>
          <p:cNvSpPr/>
          <p:nvPr/>
        </p:nvSpPr>
        <p:spPr>
          <a:xfrm>
            <a:off x="1828800" y="484632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Case Conversion (upper, lower, etc.)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String Content Test Methods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30" name="Shape 1"/>
          <p:cNvSpPr/>
          <p:nvPr/>
        </p:nvSpPr>
        <p:spPr>
          <a:xfrm>
            <a:off x="914400" y="1188720"/>
            <a:ext cx="7314120" cy="45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2"/>
          <p:cNvSpPr/>
          <p:nvPr/>
        </p:nvSpPr>
        <p:spPr>
          <a:xfrm>
            <a:off x="1188720" y="1280160"/>
            <a:ext cx="2284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isalpha()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3657600" y="1280160"/>
            <a:ext cx="4388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Checks if all characters are alphabets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3" name="Shape 4"/>
          <p:cNvSpPr/>
          <p:nvPr/>
        </p:nvSpPr>
        <p:spPr>
          <a:xfrm>
            <a:off x="914400" y="1691640"/>
            <a:ext cx="7314120" cy="45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5"/>
          <p:cNvSpPr/>
          <p:nvPr/>
        </p:nvSpPr>
        <p:spPr>
          <a:xfrm>
            <a:off x="1188720" y="1783080"/>
            <a:ext cx="2284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isdigit()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3657600" y="1783080"/>
            <a:ext cx="4388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Checks if all characters are digits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6" name="Shape 7"/>
          <p:cNvSpPr/>
          <p:nvPr/>
        </p:nvSpPr>
        <p:spPr>
          <a:xfrm>
            <a:off x="914400" y="2194560"/>
            <a:ext cx="7314120" cy="45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8"/>
          <p:cNvSpPr/>
          <p:nvPr/>
        </p:nvSpPr>
        <p:spPr>
          <a:xfrm>
            <a:off x="1188720" y="2286000"/>
            <a:ext cx="2284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isalnum()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3657600" y="2286000"/>
            <a:ext cx="4388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Checks if all are alphabets or digits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9" name="Shape 10"/>
          <p:cNvSpPr/>
          <p:nvPr/>
        </p:nvSpPr>
        <p:spPr>
          <a:xfrm>
            <a:off x="914400" y="2697480"/>
            <a:ext cx="7314120" cy="45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11"/>
          <p:cNvSpPr/>
          <p:nvPr/>
        </p:nvSpPr>
        <p:spPr>
          <a:xfrm>
            <a:off x="1188720" y="2788920"/>
            <a:ext cx="2284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islower()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3657600" y="2788920"/>
            <a:ext cx="4388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Checks if all characters are lowercase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2" name="Shape 13"/>
          <p:cNvSpPr/>
          <p:nvPr/>
        </p:nvSpPr>
        <p:spPr>
          <a:xfrm>
            <a:off x="914400" y="3200400"/>
            <a:ext cx="7314120" cy="45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14"/>
          <p:cNvSpPr/>
          <p:nvPr/>
        </p:nvSpPr>
        <p:spPr>
          <a:xfrm>
            <a:off x="1188720" y="3291840"/>
            <a:ext cx="2284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isupper()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4" name="Text 15"/>
          <p:cNvSpPr/>
          <p:nvPr/>
        </p:nvSpPr>
        <p:spPr>
          <a:xfrm>
            <a:off x="3657600" y="3291840"/>
            <a:ext cx="4388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Checks if all characters are uppercase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5" name="Shape 16"/>
          <p:cNvSpPr/>
          <p:nvPr/>
        </p:nvSpPr>
        <p:spPr>
          <a:xfrm>
            <a:off x="914400" y="3703320"/>
            <a:ext cx="7314120" cy="45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17"/>
          <p:cNvSpPr/>
          <p:nvPr/>
        </p:nvSpPr>
        <p:spPr>
          <a:xfrm>
            <a:off x="1188720" y="3794760"/>
            <a:ext cx="2284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startswith()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7" name="Text 18"/>
          <p:cNvSpPr/>
          <p:nvPr/>
        </p:nvSpPr>
        <p:spPr>
          <a:xfrm>
            <a:off x="3657600" y="3794760"/>
            <a:ext cx="4388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Checks if string starts with 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8" name="Shape 19"/>
          <p:cNvSpPr/>
          <p:nvPr/>
        </p:nvSpPr>
        <p:spPr>
          <a:xfrm>
            <a:off x="914400" y="4206240"/>
            <a:ext cx="7314120" cy="45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20"/>
          <p:cNvSpPr/>
          <p:nvPr/>
        </p:nvSpPr>
        <p:spPr>
          <a:xfrm>
            <a:off x="1188720" y="4297680"/>
            <a:ext cx="2284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endswith()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0" name="Text 21"/>
          <p:cNvSpPr/>
          <p:nvPr/>
        </p:nvSpPr>
        <p:spPr>
          <a:xfrm>
            <a:off x="3657600" y="4297680"/>
            <a:ext cx="4388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Checks if string ends with value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Content Test Methods - Examples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52" name="Shape 1"/>
          <p:cNvSpPr/>
          <p:nvPr/>
        </p:nvSpPr>
        <p:spPr>
          <a:xfrm>
            <a:off x="731520" y="1097280"/>
            <a:ext cx="7679880" cy="32907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2"/>
          <p:cNvSpPr/>
          <p:nvPr/>
        </p:nvSpPr>
        <p:spPr>
          <a:xfrm>
            <a:off x="914400" y="1234440"/>
            <a:ext cx="7314120" cy="30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string1 = "Helloworld"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string2 = "12345"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string3 = "Hello123"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string4 = " 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string5 = "hello"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string6 = "HELLO"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string7 = "Hello World"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string8 = "hello_world"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print(string1.isalpha())  # True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print(string2.isdigit())  # True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print(string3.isalnum())  # True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print(string5.islower())  # True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print(string6.isupper())  # True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print(string7.startswith("Hello"))  # True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print(string8.endswith("world"))    # True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Search Method: find()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55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256" name="Shape 1"/>
          <p:cNvSpPr/>
          <p:nvPr/>
        </p:nvSpPr>
        <p:spPr>
          <a:xfrm>
            <a:off x="914400" y="1097280"/>
            <a:ext cx="7314120" cy="63900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2"/>
          <p:cNvSpPr/>
          <p:nvPr/>
        </p:nvSpPr>
        <p:spPr>
          <a:xfrm>
            <a:off x="914400" y="1188720"/>
            <a:ext cx="7314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find() - Returns lowest index of substring,</a:t>
            </a:r>
            <a:endParaRPr b="0" lang="en-IN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or -1 if not found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58" name="Shape 3"/>
          <p:cNvSpPr/>
          <p:nvPr/>
        </p:nvSpPr>
        <p:spPr>
          <a:xfrm>
            <a:off x="1371600" y="2011680"/>
            <a:ext cx="6399720" cy="21934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4"/>
          <p:cNvSpPr/>
          <p:nvPr/>
        </p:nvSpPr>
        <p:spPr>
          <a:xfrm>
            <a:off x="1554480" y="2148840"/>
            <a:ext cx="603396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text = "Hello, welcome to python programming!"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Find substring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index = text.find("python")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print(index)  # 18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Not found returns -1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index = text.find("Java")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print(index)  # -1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Replace Method: replace()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61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262" name="Shape 1"/>
          <p:cNvSpPr/>
          <p:nvPr/>
        </p:nvSpPr>
        <p:spPr>
          <a:xfrm>
            <a:off x="914400" y="1097280"/>
            <a:ext cx="7314120" cy="54756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2"/>
          <p:cNvSpPr/>
          <p:nvPr/>
        </p:nvSpPr>
        <p:spPr>
          <a:xfrm>
            <a:off x="914400" y="118872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replace() - Replaces old substring with new substring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64" name="Shape 3"/>
          <p:cNvSpPr/>
          <p:nvPr/>
        </p:nvSpPr>
        <p:spPr>
          <a:xfrm>
            <a:off x="1371600" y="1920240"/>
            <a:ext cx="6399720" cy="16448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4"/>
          <p:cNvSpPr/>
          <p:nvPr/>
        </p:nvSpPr>
        <p:spPr>
          <a:xfrm>
            <a:off x="1554480" y="2057400"/>
            <a:ext cx="603396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text = "Hello, welcome to Python programming"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new_text = text.replace("Python", "Java")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print(new_text)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Output: Hello, welcome to Java programming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Trim Whitespace Methods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67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268" name="Shape 1"/>
          <p:cNvSpPr/>
          <p:nvPr/>
        </p:nvSpPr>
        <p:spPr>
          <a:xfrm>
            <a:off x="914400" y="1280160"/>
            <a:ext cx="7314120" cy="1360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2"/>
          <p:cNvSpPr/>
          <p:nvPr/>
        </p:nvSpPr>
        <p:spPr>
          <a:xfrm>
            <a:off x="914400" y="1005840"/>
            <a:ext cx="2742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Courier New"/>
                <a:ea typeface="Courier New"/>
              </a:rPr>
              <a:t>lstrip()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70" name="Text 3"/>
          <p:cNvSpPr/>
          <p:nvPr/>
        </p:nvSpPr>
        <p:spPr>
          <a:xfrm>
            <a:off x="3840480" y="1005840"/>
            <a:ext cx="43880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Removes leading (left) whitespaces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1" name="Shape 4"/>
          <p:cNvSpPr/>
          <p:nvPr/>
        </p:nvSpPr>
        <p:spPr>
          <a:xfrm>
            <a:off x="914400" y="1691640"/>
            <a:ext cx="7314120" cy="13608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5"/>
          <p:cNvSpPr/>
          <p:nvPr/>
        </p:nvSpPr>
        <p:spPr>
          <a:xfrm>
            <a:off x="914400" y="1417320"/>
            <a:ext cx="2742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Courier New"/>
                <a:ea typeface="Courier New"/>
              </a:rPr>
              <a:t>rstrip()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73" name="Text 6"/>
          <p:cNvSpPr/>
          <p:nvPr/>
        </p:nvSpPr>
        <p:spPr>
          <a:xfrm>
            <a:off x="3840480" y="1417320"/>
            <a:ext cx="43880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Removes trailing (right) whitespaces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4" name="Shape 7"/>
          <p:cNvSpPr/>
          <p:nvPr/>
        </p:nvSpPr>
        <p:spPr>
          <a:xfrm>
            <a:off x="914400" y="2103120"/>
            <a:ext cx="7314120" cy="13608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8"/>
          <p:cNvSpPr/>
          <p:nvPr/>
        </p:nvSpPr>
        <p:spPr>
          <a:xfrm>
            <a:off x="914400" y="1828800"/>
            <a:ext cx="2742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e67e22"/>
                </a:solidFill>
                <a:latin typeface="Courier New"/>
                <a:ea typeface="Courier New"/>
              </a:rPr>
              <a:t>strip()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76" name="Text 9"/>
          <p:cNvSpPr/>
          <p:nvPr/>
        </p:nvSpPr>
        <p:spPr>
          <a:xfrm>
            <a:off x="3840480" y="1828800"/>
            <a:ext cx="43880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Removes both leading &amp; trailing whitespaces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7" name="Shape 10"/>
          <p:cNvSpPr/>
          <p:nvPr/>
        </p:nvSpPr>
        <p:spPr>
          <a:xfrm>
            <a:off x="1371600" y="2468880"/>
            <a:ext cx="6399720" cy="18277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11"/>
          <p:cNvSpPr/>
          <p:nvPr/>
        </p:nvSpPr>
        <p:spPr>
          <a:xfrm>
            <a:off x="1554480" y="2606040"/>
            <a:ext cx="603396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text = "   Hello, world   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text.lstrip()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print(result)  # "Hello, world   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text.rstrip()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print(result)  # "   Hello, world"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text.strip()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print(result)  # "Hello, world"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Split Method: split()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80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281" name="Shape 1"/>
          <p:cNvSpPr/>
          <p:nvPr/>
        </p:nvSpPr>
        <p:spPr>
          <a:xfrm>
            <a:off x="914400" y="1097280"/>
            <a:ext cx="7314120" cy="54756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2"/>
          <p:cNvSpPr/>
          <p:nvPr/>
        </p:nvSpPr>
        <p:spPr>
          <a:xfrm>
            <a:off x="914400" y="118872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split() - Divides string based on delimiter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83" name="Shape 3"/>
          <p:cNvSpPr/>
          <p:nvPr/>
        </p:nvSpPr>
        <p:spPr>
          <a:xfrm>
            <a:off x="1371600" y="1920240"/>
            <a:ext cx="6399720" cy="22849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4"/>
          <p:cNvSpPr/>
          <p:nvPr/>
        </p:nvSpPr>
        <p:spPr>
          <a:xfrm>
            <a:off x="1554480" y="2057400"/>
            <a:ext cx="60339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str1 = "hello, welcome to india"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Split by spaces (default)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words = str1.split()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print(words)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['hello,', 'welcome', 'to', 'india']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Split by comma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str2 = "apple, banana, cherry"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fruits = str2.split(",")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print(fruits)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['apple', 'banana', 'cherry']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Partition Method: partition()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86" name="Shape 1"/>
          <p:cNvSpPr/>
          <p:nvPr/>
        </p:nvSpPr>
        <p:spPr>
          <a:xfrm>
            <a:off x="914400" y="1097280"/>
            <a:ext cx="7314120" cy="63900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2"/>
          <p:cNvSpPr/>
          <p:nvPr/>
        </p:nvSpPr>
        <p:spPr>
          <a:xfrm>
            <a:off x="914400" y="1188720"/>
            <a:ext cx="7314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partition() - Divides string into 3 parts: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before separator, separator, after separator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8" name="Shape 3"/>
          <p:cNvSpPr/>
          <p:nvPr/>
        </p:nvSpPr>
        <p:spPr>
          <a:xfrm>
            <a:off x="1371600" y="2011680"/>
            <a:ext cx="6399720" cy="21934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4"/>
          <p:cNvSpPr/>
          <p:nvPr/>
        </p:nvSpPr>
        <p:spPr>
          <a:xfrm>
            <a:off x="1554480" y="2148840"/>
            <a:ext cx="603396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str1 = "Who are you?"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str1.partition("are")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print(result)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('Who ', 'are', ' you?')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str2 = "hello my name is prashant"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str2.partition("name")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print(result)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('hello my ', 'name', ' is prashant')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Case Conversion Methods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91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292" name="Shape 1"/>
          <p:cNvSpPr/>
          <p:nvPr/>
        </p:nvSpPr>
        <p:spPr>
          <a:xfrm>
            <a:off x="914400" y="1188720"/>
            <a:ext cx="7314120" cy="63900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2"/>
          <p:cNvSpPr/>
          <p:nvPr/>
        </p:nvSpPr>
        <p:spPr>
          <a:xfrm>
            <a:off x="1188720" y="1261800"/>
            <a:ext cx="20106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Courier New"/>
                <a:ea typeface="Courier New"/>
              </a:rPr>
              <a:t>lower()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4" name="Text 3"/>
          <p:cNvSpPr/>
          <p:nvPr/>
        </p:nvSpPr>
        <p:spPr>
          <a:xfrm>
            <a:off x="3291840" y="1261800"/>
            <a:ext cx="47538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Converts to lowercase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5" name="Text 4"/>
          <p:cNvSpPr/>
          <p:nvPr/>
        </p:nvSpPr>
        <p:spPr>
          <a:xfrm>
            <a:off x="3291840" y="1508760"/>
            <a:ext cx="47538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"JAI GANESH".lower() → "jai ganesh"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6" name="Shape 5"/>
          <p:cNvSpPr/>
          <p:nvPr/>
        </p:nvSpPr>
        <p:spPr>
          <a:xfrm>
            <a:off x="914400" y="1874520"/>
            <a:ext cx="7314120" cy="63900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6"/>
          <p:cNvSpPr/>
          <p:nvPr/>
        </p:nvSpPr>
        <p:spPr>
          <a:xfrm>
            <a:off x="1188720" y="1947600"/>
            <a:ext cx="20106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Courier New"/>
                <a:ea typeface="Courier New"/>
              </a:rPr>
              <a:t>upper()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8" name="Text 7"/>
          <p:cNvSpPr/>
          <p:nvPr/>
        </p:nvSpPr>
        <p:spPr>
          <a:xfrm>
            <a:off x="3291840" y="1947600"/>
            <a:ext cx="47538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Converts to uppercase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9" name="Text 8"/>
          <p:cNvSpPr/>
          <p:nvPr/>
        </p:nvSpPr>
        <p:spPr>
          <a:xfrm>
            <a:off x="3291840" y="2194560"/>
            <a:ext cx="47538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"jai ganesh".upper() → "JAI GANESH"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0" name="Shape 9"/>
          <p:cNvSpPr/>
          <p:nvPr/>
        </p:nvSpPr>
        <p:spPr>
          <a:xfrm>
            <a:off x="914400" y="2560320"/>
            <a:ext cx="7314120" cy="63900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10"/>
          <p:cNvSpPr/>
          <p:nvPr/>
        </p:nvSpPr>
        <p:spPr>
          <a:xfrm>
            <a:off x="1188720" y="2633400"/>
            <a:ext cx="20106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Courier New"/>
                <a:ea typeface="Courier New"/>
              </a:rPr>
              <a:t>capitalize()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2" name="Text 11"/>
          <p:cNvSpPr/>
          <p:nvPr/>
        </p:nvSpPr>
        <p:spPr>
          <a:xfrm>
            <a:off x="3291840" y="2633400"/>
            <a:ext cx="47538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First char uppercase, rest lowercase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3" name="Text 12"/>
          <p:cNvSpPr/>
          <p:nvPr/>
        </p:nvSpPr>
        <p:spPr>
          <a:xfrm>
            <a:off x="3291840" y="2880360"/>
            <a:ext cx="47538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"jai ganesh".capitalize() → "Jai ganesh"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4" name="Shape 13"/>
          <p:cNvSpPr/>
          <p:nvPr/>
        </p:nvSpPr>
        <p:spPr>
          <a:xfrm>
            <a:off x="914400" y="3246120"/>
            <a:ext cx="7314120" cy="63900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14"/>
          <p:cNvSpPr/>
          <p:nvPr/>
        </p:nvSpPr>
        <p:spPr>
          <a:xfrm>
            <a:off x="1188720" y="3319200"/>
            <a:ext cx="20106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Courier New"/>
                <a:ea typeface="Courier New"/>
              </a:rPr>
              <a:t>title()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6" name="Text 15"/>
          <p:cNvSpPr/>
          <p:nvPr/>
        </p:nvSpPr>
        <p:spPr>
          <a:xfrm>
            <a:off x="3291840" y="3319200"/>
            <a:ext cx="47538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First char of each word uppercase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7" name="Text 16"/>
          <p:cNvSpPr/>
          <p:nvPr/>
        </p:nvSpPr>
        <p:spPr>
          <a:xfrm>
            <a:off x="3291840" y="3566160"/>
            <a:ext cx="47538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"jai ganesh".title() → "Jai Ganesh"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8" name="Shape 17"/>
          <p:cNvSpPr/>
          <p:nvPr/>
        </p:nvSpPr>
        <p:spPr>
          <a:xfrm>
            <a:off x="914400" y="3931920"/>
            <a:ext cx="7314120" cy="63900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18"/>
          <p:cNvSpPr/>
          <p:nvPr/>
        </p:nvSpPr>
        <p:spPr>
          <a:xfrm>
            <a:off x="1188720" y="4005000"/>
            <a:ext cx="20106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Courier New"/>
                <a:ea typeface="Courier New"/>
              </a:rPr>
              <a:t>swapcase()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0" name="Text 19"/>
          <p:cNvSpPr/>
          <p:nvPr/>
        </p:nvSpPr>
        <p:spPr>
          <a:xfrm>
            <a:off x="3291840" y="4005000"/>
            <a:ext cx="47538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Swaps uppercase ↔ lowercase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1" name="Text 20"/>
          <p:cNvSpPr/>
          <p:nvPr/>
        </p:nvSpPr>
        <p:spPr>
          <a:xfrm>
            <a:off x="3291840" y="4251960"/>
            <a:ext cx="47538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"JaI gAnEsH".swapcase() → "jAi GaNeSh"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Type Conversion: str()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313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314" name="Shape 1"/>
          <p:cNvSpPr/>
          <p:nvPr/>
        </p:nvSpPr>
        <p:spPr>
          <a:xfrm>
            <a:off x="914400" y="1097280"/>
            <a:ext cx="7314120" cy="54756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2"/>
          <p:cNvSpPr/>
          <p:nvPr/>
        </p:nvSpPr>
        <p:spPr>
          <a:xfrm>
            <a:off x="914400" y="118872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str() - Converts int, float, or complex to string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16" name="Shape 3"/>
          <p:cNvSpPr/>
          <p:nvPr/>
        </p:nvSpPr>
        <p:spPr>
          <a:xfrm>
            <a:off x="1371600" y="1920240"/>
            <a:ext cx="6399720" cy="23763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 4"/>
          <p:cNvSpPr/>
          <p:nvPr/>
        </p:nvSpPr>
        <p:spPr>
          <a:xfrm>
            <a:off x="1554480" y="2057400"/>
            <a:ext cx="6033960" cy="21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a = 10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b = 10.1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c = 10 + 4j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print(type(a))  # &lt;class 'int'&gt;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print(type(b))  # &lt;class 'float'&gt;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print(type(c))  # &lt;class 'complex'&gt;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a = str(a)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b = str(b)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c = str(c)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print(type(a))  # &lt;class 'str'&gt;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print(type(b))  # &lt;class 'str'&gt;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print(type(c))  # &lt;class 'str'&gt;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Type Conversion: int() &amp; float()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319" name="Shape 1"/>
          <p:cNvSpPr/>
          <p:nvPr/>
        </p:nvSpPr>
        <p:spPr>
          <a:xfrm>
            <a:off x="731520" y="1097280"/>
            <a:ext cx="3656520" cy="1360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2"/>
          <p:cNvSpPr/>
          <p:nvPr/>
        </p:nvSpPr>
        <p:spPr>
          <a:xfrm>
            <a:off x="731520" y="822960"/>
            <a:ext cx="3656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int() - String to Integer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1" name="Shape 3"/>
          <p:cNvSpPr/>
          <p:nvPr/>
        </p:nvSpPr>
        <p:spPr>
          <a:xfrm>
            <a:off x="914400" y="1371600"/>
            <a:ext cx="3290760" cy="8218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4"/>
          <p:cNvSpPr/>
          <p:nvPr/>
        </p:nvSpPr>
        <p:spPr>
          <a:xfrm>
            <a:off x="1097280" y="1463040"/>
            <a:ext cx="29250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a = "10"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b = int(a)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print(type(a))  # str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print(type(b))  # int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3" name="Shape 5"/>
          <p:cNvSpPr/>
          <p:nvPr/>
        </p:nvSpPr>
        <p:spPr>
          <a:xfrm>
            <a:off x="4754880" y="1097280"/>
            <a:ext cx="3656520" cy="13608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Text 6"/>
          <p:cNvSpPr/>
          <p:nvPr/>
        </p:nvSpPr>
        <p:spPr>
          <a:xfrm>
            <a:off x="4754880" y="822960"/>
            <a:ext cx="3656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float() - String to Float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5" name="Shape 7"/>
          <p:cNvSpPr/>
          <p:nvPr/>
        </p:nvSpPr>
        <p:spPr>
          <a:xfrm>
            <a:off x="4937760" y="1371600"/>
            <a:ext cx="3290760" cy="8218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8"/>
          <p:cNvSpPr/>
          <p:nvPr/>
        </p:nvSpPr>
        <p:spPr>
          <a:xfrm>
            <a:off x="5120640" y="1463040"/>
            <a:ext cx="29250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a = "10.1"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b = float(a)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print(type(a))  # str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print(type(b))  # float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7" name="Shape 9"/>
          <p:cNvSpPr/>
          <p:nvPr/>
        </p:nvSpPr>
        <p:spPr>
          <a:xfrm>
            <a:off x="1371600" y="2468880"/>
            <a:ext cx="6399720" cy="13608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10"/>
          <p:cNvSpPr/>
          <p:nvPr/>
        </p:nvSpPr>
        <p:spPr>
          <a:xfrm>
            <a:off x="1371600" y="2194560"/>
            <a:ext cx="6399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b59b6"/>
                </a:solidFill>
                <a:latin typeface="Arial"/>
                <a:ea typeface="Arial"/>
              </a:rPr>
              <a:t>complex() - String to Complex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9" name="Shape 11"/>
          <p:cNvSpPr/>
          <p:nvPr/>
        </p:nvSpPr>
        <p:spPr>
          <a:xfrm>
            <a:off x="1828800" y="2743200"/>
            <a:ext cx="5485320" cy="8218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12"/>
          <p:cNvSpPr/>
          <p:nvPr/>
        </p:nvSpPr>
        <p:spPr>
          <a:xfrm>
            <a:off x="2011680" y="2834640"/>
            <a:ext cx="5119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a = "10+1j"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b = complex(a)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print(type(a))  # str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print(type(b))  # complex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chr() and ord() Functions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332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333" name="Shape 1"/>
          <p:cNvSpPr/>
          <p:nvPr/>
        </p:nvSpPr>
        <p:spPr>
          <a:xfrm>
            <a:off x="731520" y="1188720"/>
            <a:ext cx="3656520" cy="155340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Text 2"/>
          <p:cNvSpPr/>
          <p:nvPr/>
        </p:nvSpPr>
        <p:spPr>
          <a:xfrm>
            <a:off x="731520" y="128016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7ae60"/>
                </a:solidFill>
                <a:latin typeface="Courier New"/>
                <a:ea typeface="Courier New"/>
              </a:rPr>
              <a:t>ord()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35" name="Text 3"/>
          <p:cNvSpPr/>
          <p:nvPr/>
        </p:nvSpPr>
        <p:spPr>
          <a:xfrm>
            <a:off x="731520" y="160020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Arial"/>
                <a:ea typeface="Arial"/>
              </a:rPr>
              <a:t>Returns Unicode value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Arial"/>
                <a:ea typeface="Arial"/>
              </a:rPr>
              <a:t>of a character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6" name="Shape 4"/>
          <p:cNvSpPr/>
          <p:nvPr/>
        </p:nvSpPr>
        <p:spPr>
          <a:xfrm>
            <a:off x="914400" y="2103120"/>
            <a:ext cx="3290760" cy="5475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5"/>
          <p:cNvSpPr/>
          <p:nvPr/>
        </p:nvSpPr>
        <p:spPr>
          <a:xfrm>
            <a:off x="1097280" y="219456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unicode = ord("A")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print(unicode)  # 65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8" name="Shape 6"/>
          <p:cNvSpPr/>
          <p:nvPr/>
        </p:nvSpPr>
        <p:spPr>
          <a:xfrm>
            <a:off x="4754880" y="1188720"/>
            <a:ext cx="3656520" cy="155340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Text 7"/>
          <p:cNvSpPr/>
          <p:nvPr/>
        </p:nvSpPr>
        <p:spPr>
          <a:xfrm>
            <a:off x="4754880" y="128016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e67e22"/>
                </a:solidFill>
                <a:latin typeface="Courier New"/>
                <a:ea typeface="Courier New"/>
              </a:rPr>
              <a:t>chr()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40" name="Text 8"/>
          <p:cNvSpPr/>
          <p:nvPr/>
        </p:nvSpPr>
        <p:spPr>
          <a:xfrm>
            <a:off x="4754880" y="160020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Arial"/>
                <a:ea typeface="Arial"/>
              </a:rPr>
              <a:t>Returns character from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Arial"/>
                <a:ea typeface="Arial"/>
              </a:rPr>
              <a:t>Unicode 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1" name="Shape 9"/>
          <p:cNvSpPr/>
          <p:nvPr/>
        </p:nvSpPr>
        <p:spPr>
          <a:xfrm>
            <a:off x="4937760" y="2103120"/>
            <a:ext cx="3290760" cy="5475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Text 10"/>
          <p:cNvSpPr/>
          <p:nvPr/>
        </p:nvSpPr>
        <p:spPr>
          <a:xfrm>
            <a:off x="5120640" y="219456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character = chr(65)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print(character)  # 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3" name="Shape 11"/>
          <p:cNvSpPr/>
          <p:nvPr/>
        </p:nvSpPr>
        <p:spPr>
          <a:xfrm>
            <a:off x="1371600" y="3017520"/>
            <a:ext cx="6399720" cy="12790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Text 12"/>
          <p:cNvSpPr/>
          <p:nvPr/>
        </p:nvSpPr>
        <p:spPr>
          <a:xfrm>
            <a:off x="1554480" y="3108960"/>
            <a:ext cx="603396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More examples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print(ord("a"))   # 97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print(ord("Z"))   # 90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print(chr(97))    # a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print(chr(90))    # Z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print(chr(1234))  # Ӓ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join() Method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346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347" name="Shape 1"/>
          <p:cNvSpPr/>
          <p:nvPr/>
        </p:nvSpPr>
        <p:spPr>
          <a:xfrm>
            <a:off x="914400" y="1097280"/>
            <a:ext cx="7314120" cy="63900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Text 2"/>
          <p:cNvSpPr/>
          <p:nvPr/>
        </p:nvSpPr>
        <p:spPr>
          <a:xfrm>
            <a:off x="914400" y="1188720"/>
            <a:ext cx="7314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join() - Joins elements of iterable (list/tuple)</a:t>
            </a:r>
            <a:endParaRPr b="0" lang="en-IN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into a single string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49" name="Shape 3"/>
          <p:cNvSpPr/>
          <p:nvPr/>
        </p:nvSpPr>
        <p:spPr>
          <a:xfrm>
            <a:off x="1371600" y="2011680"/>
            <a:ext cx="6399720" cy="21934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Text 4"/>
          <p:cNvSpPr/>
          <p:nvPr/>
        </p:nvSpPr>
        <p:spPr>
          <a:xfrm>
            <a:off x="1554480" y="2148840"/>
            <a:ext cx="603396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Join list elements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words = ['my', 'name', 'is', 'prashant']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sentence = " ".join(words)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print(sentence)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Output: my name is prashant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Join with different separator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letters = ['a', 'b', 'c']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"-".join(letters)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print(result)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Output: a-b-c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 0"/>
          <p:cNvSpPr/>
          <p:nvPr/>
        </p:nvSpPr>
        <p:spPr>
          <a:xfrm>
            <a:off x="457200" y="274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Key Takeaways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352" name="Image 0" descr="preencoded.png"/>
          <p:cNvPicPr/>
          <p:nvPr/>
        </p:nvPicPr>
        <p:blipFill>
          <a:blip r:embed="rId1"/>
          <a:stretch/>
        </p:blipFill>
        <p:spPr>
          <a:xfrm>
            <a:off x="777240" y="1024200"/>
            <a:ext cx="227520" cy="227520"/>
          </a:xfrm>
          <a:prstGeom prst="rect">
            <a:avLst/>
          </a:prstGeom>
          <a:ln w="0">
            <a:noFill/>
          </a:ln>
        </p:spPr>
      </p:pic>
      <p:sp>
        <p:nvSpPr>
          <p:cNvPr id="353" name="Text 1"/>
          <p:cNvSpPr/>
          <p:nvPr/>
        </p:nvSpPr>
        <p:spPr>
          <a:xfrm>
            <a:off x="1143000" y="1051560"/>
            <a:ext cx="69483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Strings are immutable collections of Unicode characters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54" name="Image 1" descr="preencoded.png"/>
          <p:cNvPicPr/>
          <p:nvPr/>
        </p:nvPicPr>
        <p:blipFill>
          <a:blip r:embed="rId2"/>
          <a:stretch/>
        </p:blipFill>
        <p:spPr>
          <a:xfrm>
            <a:off x="777240" y="1252800"/>
            <a:ext cx="227520" cy="227520"/>
          </a:xfrm>
          <a:prstGeom prst="rect">
            <a:avLst/>
          </a:prstGeom>
          <a:ln w="0">
            <a:noFill/>
          </a:ln>
        </p:spPr>
      </p:pic>
      <p:sp>
        <p:nvSpPr>
          <p:cNvPr id="355" name="Text 2"/>
          <p:cNvSpPr/>
          <p:nvPr/>
        </p:nvSpPr>
        <p:spPr>
          <a:xfrm>
            <a:off x="1143000" y="1280160"/>
            <a:ext cx="69483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Use single, double, or triple quotes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56" name="Image 2" descr="preencoded.png"/>
          <p:cNvPicPr/>
          <p:nvPr/>
        </p:nvPicPr>
        <p:blipFill>
          <a:blip r:embed="rId3"/>
          <a:stretch/>
        </p:blipFill>
        <p:spPr>
          <a:xfrm>
            <a:off x="777240" y="1481400"/>
            <a:ext cx="227520" cy="227520"/>
          </a:xfrm>
          <a:prstGeom prst="rect">
            <a:avLst/>
          </a:prstGeom>
          <a:ln w="0">
            <a:noFill/>
          </a:ln>
        </p:spPr>
      </p:pic>
      <p:sp>
        <p:nvSpPr>
          <p:cNvPr id="357" name="Text 3"/>
          <p:cNvSpPr/>
          <p:nvPr/>
        </p:nvSpPr>
        <p:spPr>
          <a:xfrm>
            <a:off x="1143000" y="1508760"/>
            <a:ext cx="69483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Escape special characters with backslash (\)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58" name="Image 3" descr="preencoded.png"/>
          <p:cNvPicPr/>
          <p:nvPr/>
        </p:nvPicPr>
        <p:blipFill>
          <a:blip r:embed="rId4"/>
          <a:stretch/>
        </p:blipFill>
        <p:spPr>
          <a:xfrm>
            <a:off x="777240" y="1710000"/>
            <a:ext cx="227520" cy="227520"/>
          </a:xfrm>
          <a:prstGeom prst="rect">
            <a:avLst/>
          </a:prstGeom>
          <a:ln w="0">
            <a:noFill/>
          </a:ln>
        </p:spPr>
      </p:pic>
      <p:sp>
        <p:nvSpPr>
          <p:cNvPr id="359" name="Text 4"/>
          <p:cNvSpPr/>
          <p:nvPr/>
        </p:nvSpPr>
        <p:spPr>
          <a:xfrm>
            <a:off x="1143000" y="1737360"/>
            <a:ext cx="69483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Indexing: positive (0 to n-1) and negative (-1 to -n)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60" name="Image 4" descr="preencoded.png"/>
          <p:cNvPicPr/>
          <p:nvPr/>
        </p:nvPicPr>
        <p:blipFill>
          <a:blip r:embed="rId5"/>
          <a:stretch/>
        </p:blipFill>
        <p:spPr>
          <a:xfrm>
            <a:off x="777240" y="1938600"/>
            <a:ext cx="227520" cy="227520"/>
          </a:xfrm>
          <a:prstGeom prst="rect">
            <a:avLst/>
          </a:prstGeom>
          <a:ln w="0">
            <a:noFill/>
          </a:ln>
        </p:spPr>
      </p:pic>
      <p:sp>
        <p:nvSpPr>
          <p:cNvPr id="361" name="Text 5"/>
          <p:cNvSpPr/>
          <p:nvPr/>
        </p:nvSpPr>
        <p:spPr>
          <a:xfrm>
            <a:off x="1143000" y="1965960"/>
            <a:ext cx="69483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Slicing: string[start:stop:step]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62" name="Image 5" descr="preencoded.png"/>
          <p:cNvPicPr/>
          <p:nvPr/>
        </p:nvPicPr>
        <p:blipFill>
          <a:blip r:embed="rId6"/>
          <a:stretch/>
        </p:blipFill>
        <p:spPr>
          <a:xfrm>
            <a:off x="777240" y="2167200"/>
            <a:ext cx="227520" cy="227520"/>
          </a:xfrm>
          <a:prstGeom prst="rect">
            <a:avLst/>
          </a:prstGeom>
          <a:ln w="0">
            <a:noFill/>
          </a:ln>
        </p:spPr>
      </p:pic>
      <p:sp>
        <p:nvSpPr>
          <p:cNvPr id="363" name="Text 6"/>
          <p:cNvSpPr/>
          <p:nvPr/>
        </p:nvSpPr>
        <p:spPr>
          <a:xfrm>
            <a:off x="1143000" y="2194560"/>
            <a:ext cx="69483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Operations: + (concatenation), * (repetition), in (membership)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64" name="Image 6" descr="preencoded.png"/>
          <p:cNvPicPr/>
          <p:nvPr/>
        </p:nvPicPr>
        <p:blipFill>
          <a:blip r:embed="rId7"/>
          <a:stretch/>
        </p:blipFill>
        <p:spPr>
          <a:xfrm>
            <a:off x="777240" y="2395800"/>
            <a:ext cx="227520" cy="227520"/>
          </a:xfrm>
          <a:prstGeom prst="rect">
            <a:avLst/>
          </a:prstGeom>
          <a:ln w="0">
            <a:noFill/>
          </a:ln>
        </p:spPr>
      </p:pic>
      <p:sp>
        <p:nvSpPr>
          <p:cNvPr id="365" name="Text 7"/>
          <p:cNvSpPr/>
          <p:nvPr/>
        </p:nvSpPr>
        <p:spPr>
          <a:xfrm>
            <a:off x="1143000" y="2423160"/>
            <a:ext cx="69483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Built-in: len(), min(), max()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66" name="Image 7" descr="preencoded.png"/>
          <p:cNvPicPr/>
          <p:nvPr/>
        </p:nvPicPr>
        <p:blipFill>
          <a:blip r:embed="rId8"/>
          <a:stretch/>
        </p:blipFill>
        <p:spPr>
          <a:xfrm>
            <a:off x="777240" y="2624400"/>
            <a:ext cx="227520" cy="227520"/>
          </a:xfrm>
          <a:prstGeom prst="rect">
            <a:avLst/>
          </a:prstGeom>
          <a:ln w="0">
            <a:noFill/>
          </a:ln>
        </p:spPr>
      </p:pic>
      <p:sp>
        <p:nvSpPr>
          <p:cNvPr id="367" name="Text 8"/>
          <p:cNvSpPr/>
          <p:nvPr/>
        </p:nvSpPr>
        <p:spPr>
          <a:xfrm>
            <a:off x="1143000" y="2651760"/>
            <a:ext cx="69483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Content tests: isalpha(), isdigit(), isalnum(), etc.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68" name="Image 8" descr="preencoded.png"/>
          <p:cNvPicPr/>
          <p:nvPr/>
        </p:nvPicPr>
        <p:blipFill>
          <a:blip r:embed="rId9"/>
          <a:stretch/>
        </p:blipFill>
        <p:spPr>
          <a:xfrm>
            <a:off x="777240" y="2853000"/>
            <a:ext cx="227520" cy="227520"/>
          </a:xfrm>
          <a:prstGeom prst="rect">
            <a:avLst/>
          </a:prstGeom>
          <a:ln w="0">
            <a:noFill/>
          </a:ln>
        </p:spPr>
      </p:pic>
      <p:sp>
        <p:nvSpPr>
          <p:cNvPr id="369" name="Text 9"/>
          <p:cNvSpPr/>
          <p:nvPr/>
        </p:nvSpPr>
        <p:spPr>
          <a:xfrm>
            <a:off x="1143000" y="2880360"/>
            <a:ext cx="69483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Search/Replace: find(), replace()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70" name="Image 9" descr="preencoded.png"/>
          <p:cNvPicPr/>
          <p:nvPr/>
        </p:nvPicPr>
        <p:blipFill>
          <a:blip r:embed="rId10"/>
          <a:stretch/>
        </p:blipFill>
        <p:spPr>
          <a:xfrm>
            <a:off x="777240" y="3081600"/>
            <a:ext cx="227520" cy="227520"/>
          </a:xfrm>
          <a:prstGeom prst="rect">
            <a:avLst/>
          </a:prstGeom>
          <a:ln w="0">
            <a:noFill/>
          </a:ln>
        </p:spPr>
      </p:pic>
      <p:sp>
        <p:nvSpPr>
          <p:cNvPr id="371" name="Text 10"/>
          <p:cNvSpPr/>
          <p:nvPr/>
        </p:nvSpPr>
        <p:spPr>
          <a:xfrm>
            <a:off x="1143000" y="3108960"/>
            <a:ext cx="69483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Trim: strip(), lstrip(), rstrip()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72" name="Image 10" descr="preencoded.png"/>
          <p:cNvPicPr/>
          <p:nvPr/>
        </p:nvPicPr>
        <p:blipFill>
          <a:blip r:embed="rId11"/>
          <a:stretch/>
        </p:blipFill>
        <p:spPr>
          <a:xfrm>
            <a:off x="777240" y="3310200"/>
            <a:ext cx="227520" cy="227520"/>
          </a:xfrm>
          <a:prstGeom prst="rect">
            <a:avLst/>
          </a:prstGeom>
          <a:ln w="0">
            <a:noFill/>
          </a:ln>
        </p:spPr>
      </p:pic>
      <p:sp>
        <p:nvSpPr>
          <p:cNvPr id="373" name="Text 11"/>
          <p:cNvSpPr/>
          <p:nvPr/>
        </p:nvSpPr>
        <p:spPr>
          <a:xfrm>
            <a:off x="1143000" y="3337560"/>
            <a:ext cx="69483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Split: split(), partition()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74" name="Image 11" descr="preencoded.png"/>
          <p:cNvPicPr/>
          <p:nvPr/>
        </p:nvPicPr>
        <p:blipFill>
          <a:blip r:embed="rId12"/>
          <a:stretch/>
        </p:blipFill>
        <p:spPr>
          <a:xfrm>
            <a:off x="777240" y="3538800"/>
            <a:ext cx="227520" cy="227520"/>
          </a:xfrm>
          <a:prstGeom prst="rect">
            <a:avLst/>
          </a:prstGeom>
          <a:ln w="0">
            <a:noFill/>
          </a:ln>
        </p:spPr>
      </p:pic>
      <p:sp>
        <p:nvSpPr>
          <p:cNvPr id="375" name="Text 12"/>
          <p:cNvSpPr/>
          <p:nvPr/>
        </p:nvSpPr>
        <p:spPr>
          <a:xfrm>
            <a:off x="1143000" y="3566160"/>
            <a:ext cx="69483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Case: lower(), upper(), capitalize(), title(), swapcase()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76" name="Image 12" descr="preencoded.png"/>
          <p:cNvPicPr/>
          <p:nvPr/>
        </p:nvPicPr>
        <p:blipFill>
          <a:blip r:embed="rId13"/>
          <a:stretch/>
        </p:blipFill>
        <p:spPr>
          <a:xfrm>
            <a:off x="777240" y="3767400"/>
            <a:ext cx="227520" cy="227520"/>
          </a:xfrm>
          <a:prstGeom prst="rect">
            <a:avLst/>
          </a:prstGeom>
          <a:ln w="0">
            <a:noFill/>
          </a:ln>
        </p:spPr>
      </p:pic>
      <p:sp>
        <p:nvSpPr>
          <p:cNvPr id="377" name="Text 13"/>
          <p:cNvSpPr/>
          <p:nvPr/>
        </p:nvSpPr>
        <p:spPr>
          <a:xfrm>
            <a:off x="1143000" y="3794760"/>
            <a:ext cx="69483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Type conversion: str(), int(), float(), complex()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78" name="Image 13" descr="preencoded.png"/>
          <p:cNvPicPr/>
          <p:nvPr/>
        </p:nvPicPr>
        <p:blipFill>
          <a:blip r:embed="rId14"/>
          <a:stretch/>
        </p:blipFill>
        <p:spPr>
          <a:xfrm>
            <a:off x="777240" y="3996000"/>
            <a:ext cx="227520" cy="227520"/>
          </a:xfrm>
          <a:prstGeom prst="rect">
            <a:avLst/>
          </a:prstGeom>
          <a:ln w="0">
            <a:noFill/>
          </a:ln>
        </p:spPr>
      </p:pic>
      <p:sp>
        <p:nvSpPr>
          <p:cNvPr id="379" name="Text 14"/>
          <p:cNvSpPr/>
          <p:nvPr/>
        </p:nvSpPr>
        <p:spPr>
          <a:xfrm>
            <a:off x="1143000" y="4023360"/>
            <a:ext cx="69483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Unicode: ord(), chr()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80" name="Image 14" descr="preencoded.png"/>
          <p:cNvPicPr/>
          <p:nvPr/>
        </p:nvPicPr>
        <p:blipFill>
          <a:blip r:embed="rId15"/>
          <a:stretch/>
        </p:blipFill>
        <p:spPr>
          <a:xfrm>
            <a:off x="777240" y="4224600"/>
            <a:ext cx="227520" cy="227520"/>
          </a:xfrm>
          <a:prstGeom prst="rect">
            <a:avLst/>
          </a:prstGeom>
          <a:ln w="0">
            <a:noFill/>
          </a:ln>
        </p:spPr>
      </p:pic>
      <p:sp>
        <p:nvSpPr>
          <p:cNvPr id="381" name="Text 15"/>
          <p:cNvSpPr/>
          <p:nvPr/>
        </p:nvSpPr>
        <p:spPr>
          <a:xfrm>
            <a:off x="1143000" y="4251960"/>
            <a:ext cx="69483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Join: join() to combine iterable elements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Image 0" descr="preencoded.png"/>
          <p:cNvPicPr/>
          <p:nvPr/>
        </p:nvPicPr>
        <p:blipFill>
          <a:blip r:embed="rId1"/>
          <a:stretch/>
        </p:blipFill>
        <p:spPr>
          <a:xfrm>
            <a:off x="3840480" y="1645920"/>
            <a:ext cx="1461960" cy="1461960"/>
          </a:xfrm>
          <a:prstGeom prst="rect">
            <a:avLst/>
          </a:prstGeom>
          <a:ln w="0">
            <a:noFill/>
          </a:ln>
        </p:spPr>
      </p:pic>
      <p:sp>
        <p:nvSpPr>
          <p:cNvPr id="383" name="Text 0"/>
          <p:cNvSpPr/>
          <p:nvPr/>
        </p:nvSpPr>
        <p:spPr>
          <a:xfrm>
            <a:off x="457200" y="338328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d43b"/>
                </a:solidFill>
                <a:latin typeface="Arial"/>
                <a:ea typeface="Arial"/>
              </a:rPr>
              <a:t>Excellent Work!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84" name="Text 1"/>
          <p:cNvSpPr/>
          <p:nvPr/>
        </p:nvSpPr>
        <p:spPr>
          <a:xfrm>
            <a:off x="457200" y="4023360"/>
            <a:ext cx="8228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You've mastered Python Strings!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85" name="Text 2"/>
          <p:cNvSpPr/>
          <p:nvPr/>
        </p:nvSpPr>
        <p:spPr>
          <a:xfrm>
            <a:off x="457200" y="448056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cccccc"/>
                </a:solidFill>
                <a:latin typeface="Arial"/>
                <a:ea typeface="Arial"/>
              </a:rPr>
              <a:t>Next: Lists, Tuples, Sets &amp; Dictionaries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2026-02-01T11:20:54Z</dcterms:created>
  <dc:creator>Python Training</dc:creator>
  <dc:description/>
  <dc:language>en-IN</dc:language>
  <cp:lastModifiedBy/>
  <dcterms:modified xsi:type="dcterms:W3CDTF">2026-02-01T20:38:40Z</dcterms:modified>
  <cp:revision>6</cp:revision>
  <dc:subject>PptxGenJS Presentation</dc:subject>
  <dc:title>Python Strings - Complete Guide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30</vt:i4>
  </property>
  <property fmtid="{D5CDD505-2E9C-101B-9397-08002B2CF9AE}" pid="3" name="PresentationFormat">
    <vt:lpwstr>On-screen Show (16:9)</vt:lpwstr>
  </property>
  <property fmtid="{D5CDD505-2E9C-101B-9397-08002B2CF9AE}" pid="4" name="Slides">
    <vt:i4>30</vt:i4>
  </property>
</Properties>
</file>