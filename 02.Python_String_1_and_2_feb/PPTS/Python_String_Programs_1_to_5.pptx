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li</a:t>
            </a: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k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o 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v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h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s</a:t>
            </a:r>
            <a:r>
              <a:rPr b="0" lang="en-IN" sz="4400" spc="-1" strike="noStrike">
                <a:latin typeface="Arial"/>
              </a:rPr>
              <a:t>li</a:t>
            </a:r>
            <a:r>
              <a:rPr b="0" lang="en-IN" sz="4400" spc="-1" strike="noStrike">
                <a:latin typeface="Arial"/>
              </a:rPr>
              <a:t>d</a:t>
            </a:r>
            <a:r>
              <a:rPr b="0" lang="en-IN" sz="4400" spc="-1" strike="noStrike">
                <a:latin typeface="Arial"/>
              </a:rPr>
              <a:t>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</a:t>
            </a:r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k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o 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d</a:t>
            </a:r>
            <a:r>
              <a:rPr b="0" lang="en-IN" sz="2000" spc="-1" strike="noStrike">
                <a:latin typeface="Arial"/>
              </a:rPr>
              <a:t>it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h</a:t>
            </a:r>
            <a:r>
              <a:rPr b="0" lang="en-IN" sz="2000" spc="-1" strike="noStrike">
                <a:latin typeface="Arial"/>
              </a:rPr>
              <a:t>e </a:t>
            </a:r>
            <a:r>
              <a:rPr b="0" lang="en-IN" sz="2000" spc="-1" strike="noStrike">
                <a:latin typeface="Arial"/>
              </a:rPr>
              <a:t>n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s </a:t>
            </a:r>
            <a:r>
              <a:rPr b="0" lang="en-IN" sz="2000" spc="-1" strike="noStrike">
                <a:latin typeface="Arial"/>
              </a:rPr>
              <a:t>f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r</a:t>
            </a:r>
            <a:r>
              <a:rPr b="0" lang="en-IN" sz="2000" spc="-1" strike="noStrike">
                <a:latin typeface="Arial"/>
              </a:rPr>
              <a:t>m</a:t>
            </a:r>
            <a:r>
              <a:rPr b="0" lang="en-IN" sz="2000" spc="-1" strike="noStrike">
                <a:latin typeface="Arial"/>
              </a:rPr>
              <a:t>a</a:t>
            </a:r>
            <a:r>
              <a:rPr b="0" lang="en-IN" sz="2000" spc="-1" strike="noStrike">
                <a:latin typeface="Arial"/>
              </a:rPr>
              <a:t>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C6A1D11-0B82-4D41-BE0A-CC0D981FC43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6952A2-DD7B-4735-81DE-BFE9296DC3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60857A-4EC4-49E9-B0C2-6A904A0FF1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4EA750-B701-4FE7-BE38-0087010418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98F97B-18A2-4EFC-8452-0EFF36CA1AB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7E6663-3AA9-4692-A587-AE314BFE021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27A693-65D6-48F9-A536-D9E2A657E9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8DA6F8-89B1-4A62-B795-F2DB874C1B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340A02-E4FC-4748-AE6D-1F072670F1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B619B6-FCAF-4A55-9007-2C10011ABF9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EF0D59-8846-4743-BA5C-557BDADBDB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2E9E5F-2C61-416C-B47B-C705127350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EDA560-A134-41E4-A5BB-5B4F8575674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8DB1AF-D983-45A1-9C97-067D2B8997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E691A5-CC1F-49DD-800E-D51AC0A9ADA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F27979-AC60-4EDF-A95B-1AB2B0440D2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2AC32C-0041-4258-B663-371306C92D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0608C4-5CAE-4A6B-982C-5990F4A423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CB0078-96D8-4EC7-B569-FC91297B94E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7F07C0-1BDD-44E8-A65C-312B2547C85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50ED5D-F248-492C-81DF-953857537E2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77BC4A-974D-46A7-8F16-ABF674140EB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B3A7C3-00BA-43DC-96AD-76DF2FD68A3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li</a:t>
            </a: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k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o 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d</a:t>
            </a:r>
            <a:r>
              <a:rPr b="0" lang="en-IN" sz="4400" spc="-1" strike="noStrike">
                <a:latin typeface="Arial"/>
              </a:rPr>
              <a:t>it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h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ti</a:t>
            </a:r>
            <a:r>
              <a:rPr b="0" lang="en-IN" sz="4400" spc="-1" strike="noStrike">
                <a:latin typeface="Arial"/>
              </a:rPr>
              <a:t>tl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x</a:t>
            </a:r>
            <a:r>
              <a:rPr b="0" lang="en-IN" sz="4400" spc="-1" strike="noStrike">
                <a:latin typeface="Arial"/>
              </a:rPr>
              <a:t>t </a:t>
            </a:r>
            <a:r>
              <a:rPr b="0" lang="en-IN" sz="4400" spc="-1" strike="noStrike">
                <a:latin typeface="Arial"/>
              </a:rPr>
              <a:t>f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r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a</a:t>
            </a:r>
            <a:r>
              <a:rPr b="0" lang="en-IN" sz="4400" spc="-1" strike="noStrike">
                <a:latin typeface="Arial"/>
              </a:rPr>
              <a:t>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Python String Programs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7432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2c39a"/>
                </a:solidFill>
                <a:latin typeface="Arial"/>
                <a:ea typeface="Arial"/>
              </a:rPr>
              <a:t>5 Essential String Manipulation Programs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8404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Learn | Practice | Master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1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457200" y="914400"/>
            <a:ext cx="8228880" cy="136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457200" y="12801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Calculate the Length of a String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914400" y="2103120"/>
            <a:ext cx="7314480" cy="1645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1188720" y="2286000"/>
            <a:ext cx="676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188720" y="2651760"/>
            <a:ext cx="6765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that calculates the length of a given string without using the built-in len() function. The function should iterate through each character and count them.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1 -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914400" y="10972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c3e50"/>
                </a:solidFill>
                <a:latin typeface="Arial"/>
                <a:ea typeface="Arial"/>
              </a:rPr>
              <a:t>Input String: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914400" y="1463040"/>
            <a:ext cx="731448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3"/>
          <p:cNvSpPr/>
          <p:nvPr/>
        </p:nvSpPr>
        <p:spPr>
          <a:xfrm>
            <a:off x="1097280" y="1600200"/>
            <a:ext cx="6948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Courier New"/>
                <a:ea typeface="Courier New"/>
              </a:rPr>
              <a:t>"pythonlearning.org"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914400" y="228600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Character-by-Character Count: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91440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6"/>
          <p:cNvSpPr/>
          <p:nvPr/>
        </p:nvSpPr>
        <p:spPr>
          <a:xfrm>
            <a:off x="91440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131688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8"/>
          <p:cNvSpPr/>
          <p:nvPr/>
        </p:nvSpPr>
        <p:spPr>
          <a:xfrm>
            <a:off x="131688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171900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0"/>
          <p:cNvSpPr/>
          <p:nvPr/>
        </p:nvSpPr>
        <p:spPr>
          <a:xfrm>
            <a:off x="171900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212148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2"/>
          <p:cNvSpPr/>
          <p:nvPr/>
        </p:nvSpPr>
        <p:spPr>
          <a:xfrm>
            <a:off x="212148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h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252360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4"/>
          <p:cNvSpPr/>
          <p:nvPr/>
        </p:nvSpPr>
        <p:spPr>
          <a:xfrm>
            <a:off x="252360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o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292608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6"/>
          <p:cNvSpPr/>
          <p:nvPr/>
        </p:nvSpPr>
        <p:spPr>
          <a:xfrm>
            <a:off x="292608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332856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8"/>
          <p:cNvSpPr/>
          <p:nvPr/>
        </p:nvSpPr>
        <p:spPr>
          <a:xfrm>
            <a:off x="332856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2" name="Shape 19"/>
          <p:cNvSpPr/>
          <p:nvPr/>
        </p:nvSpPr>
        <p:spPr>
          <a:xfrm>
            <a:off x="373068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0"/>
          <p:cNvSpPr/>
          <p:nvPr/>
        </p:nvSpPr>
        <p:spPr>
          <a:xfrm>
            <a:off x="373068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4" name="Shape 21"/>
          <p:cNvSpPr/>
          <p:nvPr/>
        </p:nvSpPr>
        <p:spPr>
          <a:xfrm>
            <a:off x="413316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22"/>
          <p:cNvSpPr/>
          <p:nvPr/>
        </p:nvSpPr>
        <p:spPr>
          <a:xfrm>
            <a:off x="413316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Shape 23"/>
          <p:cNvSpPr/>
          <p:nvPr/>
        </p:nvSpPr>
        <p:spPr>
          <a:xfrm>
            <a:off x="453528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4"/>
          <p:cNvSpPr/>
          <p:nvPr/>
        </p:nvSpPr>
        <p:spPr>
          <a:xfrm>
            <a:off x="453528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Shape 25"/>
          <p:cNvSpPr/>
          <p:nvPr/>
        </p:nvSpPr>
        <p:spPr>
          <a:xfrm>
            <a:off x="493776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26"/>
          <p:cNvSpPr/>
          <p:nvPr/>
        </p:nvSpPr>
        <p:spPr>
          <a:xfrm>
            <a:off x="493776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534024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8"/>
          <p:cNvSpPr/>
          <p:nvPr/>
        </p:nvSpPr>
        <p:spPr>
          <a:xfrm>
            <a:off x="534024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i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Shape 29"/>
          <p:cNvSpPr/>
          <p:nvPr/>
        </p:nvSpPr>
        <p:spPr>
          <a:xfrm>
            <a:off x="574236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30"/>
          <p:cNvSpPr/>
          <p:nvPr/>
        </p:nvSpPr>
        <p:spPr>
          <a:xfrm>
            <a:off x="574236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4" name="Shape 31"/>
          <p:cNvSpPr/>
          <p:nvPr/>
        </p:nvSpPr>
        <p:spPr>
          <a:xfrm>
            <a:off x="614484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32"/>
          <p:cNvSpPr/>
          <p:nvPr/>
        </p:nvSpPr>
        <p:spPr>
          <a:xfrm>
            <a:off x="614484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Shape 33"/>
          <p:cNvSpPr/>
          <p:nvPr/>
        </p:nvSpPr>
        <p:spPr>
          <a:xfrm>
            <a:off x="654696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34"/>
          <p:cNvSpPr/>
          <p:nvPr/>
        </p:nvSpPr>
        <p:spPr>
          <a:xfrm>
            <a:off x="654696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8" name="Shape 35"/>
          <p:cNvSpPr/>
          <p:nvPr/>
        </p:nvSpPr>
        <p:spPr>
          <a:xfrm>
            <a:off x="694944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36"/>
          <p:cNvSpPr/>
          <p:nvPr/>
        </p:nvSpPr>
        <p:spPr>
          <a:xfrm>
            <a:off x="694944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o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Shape 37"/>
          <p:cNvSpPr/>
          <p:nvPr/>
        </p:nvSpPr>
        <p:spPr>
          <a:xfrm>
            <a:off x="735192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8"/>
          <p:cNvSpPr/>
          <p:nvPr/>
        </p:nvSpPr>
        <p:spPr>
          <a:xfrm>
            <a:off x="735192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2" name="Shape 39"/>
          <p:cNvSpPr/>
          <p:nvPr/>
        </p:nvSpPr>
        <p:spPr>
          <a:xfrm>
            <a:off x="7754040" y="2651760"/>
            <a:ext cx="38340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40"/>
          <p:cNvSpPr/>
          <p:nvPr/>
        </p:nvSpPr>
        <p:spPr>
          <a:xfrm>
            <a:off x="7754040" y="2697480"/>
            <a:ext cx="38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4" name="Shape 41"/>
          <p:cNvSpPr/>
          <p:nvPr/>
        </p:nvSpPr>
        <p:spPr>
          <a:xfrm>
            <a:off x="2743200" y="3383280"/>
            <a:ext cx="3656880" cy="913680"/>
          </a:xfrm>
          <a:prstGeom prst="rect">
            <a:avLst/>
          </a:prstGeom>
          <a:solidFill>
            <a:srgbClr val="e67e22"/>
          </a:solidFill>
          <a:ln w="381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42"/>
          <p:cNvSpPr/>
          <p:nvPr/>
        </p:nvSpPr>
        <p:spPr>
          <a:xfrm>
            <a:off x="2743200" y="352044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Counter = 18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1 -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731520" y="1005840"/>
            <a:ext cx="7680240" cy="3108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"/>
          <p:cNvSpPr/>
          <p:nvPr/>
        </p:nvSpPr>
        <p:spPr>
          <a:xfrm>
            <a:off x="914400" y="1143000"/>
            <a:ext cx="73144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to calculate string length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calculate_length(text):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Initialize counter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counter = 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Iterate through each character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character in text: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counter += 1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Return the count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counter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Test the function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calculate_length('pythonlearning.org')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1 -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1828800" y="1645920"/>
            <a:ext cx="5485680" cy="182808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2"/>
          <p:cNvSpPr/>
          <p:nvPr/>
        </p:nvSpPr>
        <p:spPr>
          <a:xfrm>
            <a:off x="2286000" y="192024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2286000" y="2560320"/>
            <a:ext cx="4571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02c39a"/>
                </a:solidFill>
                <a:latin typeface="Courier New"/>
                <a:ea typeface="Courier New"/>
              </a:rPr>
              <a:t>18</a:t>
            </a:r>
            <a:endParaRPr b="0" lang="en-IN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2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457200" y="914400"/>
            <a:ext cx="8228880" cy="136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2"/>
          <p:cNvSpPr/>
          <p:nvPr/>
        </p:nvSpPr>
        <p:spPr>
          <a:xfrm>
            <a:off x="457200" y="12801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Count Character Frequency in a String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914400" y="2103120"/>
            <a:ext cx="7314480" cy="1645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4"/>
          <p:cNvSpPr/>
          <p:nvPr/>
        </p:nvSpPr>
        <p:spPr>
          <a:xfrm>
            <a:off x="1188720" y="2286000"/>
            <a:ext cx="676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1188720" y="2651760"/>
            <a:ext cx="6765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to count the number of occurrences of each character in a string. The function should return a dictionary with characters as keys and their frequencies as values.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2 -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1371600" y="1097280"/>
            <a:ext cx="6400080" cy="456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"/>
          <p:cNvSpPr/>
          <p:nvPr/>
        </p:nvSpPr>
        <p:spPr>
          <a:xfrm>
            <a:off x="1554480" y="1188720"/>
            <a:ext cx="6034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ourier New"/>
                <a:ea typeface="Courier New"/>
              </a:rPr>
              <a:t>Input: "example.com"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3840480" y="1691640"/>
            <a:ext cx="1462320" cy="365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4"/>
          <p:cNvSpPr/>
          <p:nvPr/>
        </p:nvSpPr>
        <p:spPr>
          <a:xfrm>
            <a:off x="1371600" y="22860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Character Frequency Dictionary: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1371600" y="2743200"/>
            <a:ext cx="1188000" cy="547920"/>
          </a:xfrm>
          <a:prstGeom prst="rect">
            <a:avLst/>
          </a:prstGeom>
          <a:solidFill>
            <a:srgbClr val="02c39a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6"/>
          <p:cNvSpPr/>
          <p:nvPr/>
        </p:nvSpPr>
        <p:spPr>
          <a:xfrm>
            <a:off x="1371600" y="283464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'e': 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2651760" y="2743200"/>
            <a:ext cx="1188000" cy="547920"/>
          </a:xfrm>
          <a:prstGeom prst="rect">
            <a:avLst/>
          </a:prstGeom>
          <a:solidFill>
            <a:srgbClr val="00a896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8"/>
          <p:cNvSpPr/>
          <p:nvPr/>
        </p:nvSpPr>
        <p:spPr>
          <a:xfrm>
            <a:off x="2651760" y="283464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'x':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3931920" y="2743200"/>
            <a:ext cx="1188000" cy="547920"/>
          </a:xfrm>
          <a:prstGeom prst="rect">
            <a:avLst/>
          </a:prstGeom>
          <a:solidFill>
            <a:srgbClr val="028090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0"/>
          <p:cNvSpPr/>
          <p:nvPr/>
        </p:nvSpPr>
        <p:spPr>
          <a:xfrm>
            <a:off x="3931920" y="283464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'a':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5212080" y="2743200"/>
            <a:ext cx="1188000" cy="547920"/>
          </a:xfrm>
          <a:prstGeom prst="rect">
            <a:avLst/>
          </a:prstGeom>
          <a:solidFill>
            <a:srgbClr val="02c39a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2"/>
          <p:cNvSpPr/>
          <p:nvPr/>
        </p:nvSpPr>
        <p:spPr>
          <a:xfrm>
            <a:off x="5212080" y="283464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'm': 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6492240" y="2743200"/>
            <a:ext cx="1188000" cy="547920"/>
          </a:xfrm>
          <a:prstGeom prst="rect">
            <a:avLst/>
          </a:prstGeom>
          <a:solidFill>
            <a:srgbClr val="00a896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4"/>
          <p:cNvSpPr/>
          <p:nvPr/>
        </p:nvSpPr>
        <p:spPr>
          <a:xfrm>
            <a:off x="6492240" y="283464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'p':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1371600" y="3474720"/>
            <a:ext cx="1188000" cy="547920"/>
          </a:xfrm>
          <a:prstGeom prst="rect">
            <a:avLst/>
          </a:prstGeom>
          <a:solidFill>
            <a:srgbClr val="028090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6"/>
          <p:cNvSpPr/>
          <p:nvPr/>
        </p:nvSpPr>
        <p:spPr>
          <a:xfrm>
            <a:off x="1371600" y="356616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'l':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6" name="Shape 17"/>
          <p:cNvSpPr/>
          <p:nvPr/>
        </p:nvSpPr>
        <p:spPr>
          <a:xfrm>
            <a:off x="2651760" y="3474720"/>
            <a:ext cx="1188000" cy="547920"/>
          </a:xfrm>
          <a:prstGeom prst="rect">
            <a:avLst/>
          </a:prstGeom>
          <a:solidFill>
            <a:srgbClr val="00a896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8"/>
          <p:cNvSpPr/>
          <p:nvPr/>
        </p:nvSpPr>
        <p:spPr>
          <a:xfrm>
            <a:off x="2651760" y="356616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'.':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8" name="Shape 19"/>
          <p:cNvSpPr/>
          <p:nvPr/>
        </p:nvSpPr>
        <p:spPr>
          <a:xfrm>
            <a:off x="3931920" y="3474720"/>
            <a:ext cx="1188000" cy="547920"/>
          </a:xfrm>
          <a:prstGeom prst="rect">
            <a:avLst/>
          </a:prstGeom>
          <a:solidFill>
            <a:srgbClr val="028090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20"/>
          <p:cNvSpPr/>
          <p:nvPr/>
        </p:nvSpPr>
        <p:spPr>
          <a:xfrm>
            <a:off x="3931920" y="356616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'c':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0" name="Shape 21"/>
          <p:cNvSpPr/>
          <p:nvPr/>
        </p:nvSpPr>
        <p:spPr>
          <a:xfrm>
            <a:off x="5212080" y="3474720"/>
            <a:ext cx="1188000" cy="547920"/>
          </a:xfrm>
          <a:prstGeom prst="rect">
            <a:avLst/>
          </a:prstGeom>
          <a:solidFill>
            <a:srgbClr val="00a896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22"/>
          <p:cNvSpPr/>
          <p:nvPr/>
        </p:nvSpPr>
        <p:spPr>
          <a:xfrm>
            <a:off x="5212080" y="356616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'o': 1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2 -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779400" y="1260000"/>
            <a:ext cx="7680240" cy="3108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2"/>
          <p:cNvSpPr/>
          <p:nvPr/>
        </p:nvSpPr>
        <p:spPr>
          <a:xfrm>
            <a:off x="1800000" y="1800000"/>
            <a:ext cx="503964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count_frequency(text):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Initialize empty dictionary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frequency_dict = {}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Iterate through each character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char in text: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Get existing keys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existing_keys = frequency_dict.keys()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Check if character exists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char in existing_keys: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frequency_dict[char] += 1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frequency_dict[char] = 1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frequency_dict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print(count_frequency('example.com'))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2 -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1371600" y="1371600"/>
            <a:ext cx="6400080" cy="228528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2"/>
          <p:cNvSpPr/>
          <p:nvPr/>
        </p:nvSpPr>
        <p:spPr>
          <a:xfrm>
            <a:off x="1828800" y="164592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1828800" y="2194560"/>
            <a:ext cx="5485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ourier New"/>
                <a:ea typeface="Courier New"/>
              </a:rPr>
              <a:t>{'e': 2, 'x': 1, 'a': 1, 'm': 2,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ourier New"/>
                <a:ea typeface="Courier New"/>
              </a:rPr>
              <a:t>'p': 1, 'l': 1, '.': 1, 'c': 1, 'o': 1}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3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457200" y="914400"/>
            <a:ext cx="8228880" cy="136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2"/>
          <p:cNvSpPr/>
          <p:nvPr/>
        </p:nvSpPr>
        <p:spPr>
          <a:xfrm>
            <a:off x="457200" y="12801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Get First 2 and Last 2 Characters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914400" y="2103120"/>
            <a:ext cx="7314480" cy="1645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4"/>
          <p:cNvSpPr/>
          <p:nvPr/>
        </p:nvSpPr>
        <p:spPr>
          <a:xfrm>
            <a:off x="1188720" y="2286000"/>
            <a:ext cx="676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1188720" y="2651760"/>
            <a:ext cx="6765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to create a new string from the first 2 and last 2 characters of a given string. If the string length is less than 2, return an empty string.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3 -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1371600" y="10972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Original String: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1828800" y="1463040"/>
            <a:ext cx="41076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3"/>
          <p:cNvSpPr/>
          <p:nvPr/>
        </p:nvSpPr>
        <p:spPr>
          <a:xfrm>
            <a:off x="18288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urier New"/>
                <a:ea typeface="Courier New"/>
              </a:rPr>
              <a:t>p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2286000" y="1463040"/>
            <a:ext cx="41076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5"/>
          <p:cNvSpPr/>
          <p:nvPr/>
        </p:nvSpPr>
        <p:spPr>
          <a:xfrm>
            <a:off x="22860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2743200" y="1463040"/>
            <a:ext cx="41076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7"/>
          <p:cNvSpPr/>
          <p:nvPr/>
        </p:nvSpPr>
        <p:spPr>
          <a:xfrm>
            <a:off x="27432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o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3200400" y="1463040"/>
            <a:ext cx="41076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9"/>
          <p:cNvSpPr/>
          <p:nvPr/>
        </p:nvSpPr>
        <p:spPr>
          <a:xfrm>
            <a:off x="32004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3657600" y="1463040"/>
            <a:ext cx="41076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1"/>
          <p:cNvSpPr/>
          <p:nvPr/>
        </p:nvSpPr>
        <p:spPr>
          <a:xfrm>
            <a:off x="36576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4114800" y="1463040"/>
            <a:ext cx="41076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3"/>
          <p:cNvSpPr/>
          <p:nvPr/>
        </p:nvSpPr>
        <p:spPr>
          <a:xfrm>
            <a:off x="41148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a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4572000" y="1463040"/>
            <a:ext cx="41076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5"/>
          <p:cNvSpPr/>
          <p:nvPr/>
        </p:nvSpPr>
        <p:spPr>
          <a:xfrm>
            <a:off x="45720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5029200" y="1463040"/>
            <a:ext cx="41076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7"/>
          <p:cNvSpPr/>
          <p:nvPr/>
        </p:nvSpPr>
        <p:spPr>
          <a:xfrm>
            <a:off x="50292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5486400" y="1463040"/>
            <a:ext cx="41076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9"/>
          <p:cNvSpPr/>
          <p:nvPr/>
        </p:nvSpPr>
        <p:spPr>
          <a:xfrm>
            <a:off x="54864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i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5" name="Shape 20"/>
          <p:cNvSpPr/>
          <p:nvPr/>
        </p:nvSpPr>
        <p:spPr>
          <a:xfrm>
            <a:off x="5943600" y="1463040"/>
            <a:ext cx="41076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1"/>
          <p:cNvSpPr/>
          <p:nvPr/>
        </p:nvSpPr>
        <p:spPr>
          <a:xfrm>
            <a:off x="59436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urier New"/>
                <a:ea typeface="Courier New"/>
              </a:rPr>
              <a:t>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6400800" y="1463040"/>
            <a:ext cx="410760" cy="456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3"/>
          <p:cNvSpPr/>
          <p:nvPr/>
        </p:nvSpPr>
        <p:spPr>
          <a:xfrm>
            <a:off x="6400800" y="150876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urier New"/>
                <a:ea typeface="Courier New"/>
              </a:rPr>
              <a:t>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9" name="Shape 24"/>
          <p:cNvSpPr/>
          <p:nvPr/>
        </p:nvSpPr>
        <p:spPr>
          <a:xfrm>
            <a:off x="1920240" y="2103120"/>
            <a:ext cx="273600" cy="456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25"/>
          <p:cNvSpPr/>
          <p:nvPr/>
        </p:nvSpPr>
        <p:spPr>
          <a:xfrm>
            <a:off x="6217920" y="2103120"/>
            <a:ext cx="273600" cy="456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6"/>
          <p:cNvSpPr/>
          <p:nvPr/>
        </p:nvSpPr>
        <p:spPr>
          <a:xfrm>
            <a:off x="3200400" y="27432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Result: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2" name="Shape 27"/>
          <p:cNvSpPr/>
          <p:nvPr/>
        </p:nvSpPr>
        <p:spPr>
          <a:xfrm>
            <a:off x="2743200" y="3108960"/>
            <a:ext cx="3656880" cy="639360"/>
          </a:xfrm>
          <a:prstGeom prst="rect">
            <a:avLst/>
          </a:prstGeom>
          <a:solidFill>
            <a:srgbClr val="e67e22"/>
          </a:solidFill>
          <a:ln w="381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28"/>
          <p:cNvSpPr/>
          <p:nvPr/>
        </p:nvSpPr>
        <p:spPr>
          <a:xfrm>
            <a:off x="2743200" y="320040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ourier New"/>
                <a:ea typeface="Courier New"/>
              </a:rPr>
              <a:t>"prng"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3 -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731520" y="1005840"/>
            <a:ext cx="7680240" cy="3108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2"/>
          <p:cNvSpPr/>
          <p:nvPr/>
        </p:nvSpPr>
        <p:spPr>
          <a:xfrm>
            <a:off x="914400" y="1143000"/>
            <a:ext cx="73144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to get first and last 2 characters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extract_edges(input_str):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Check if length is less than 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len(input_str) &lt; 2: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''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Return first 2 + last 2 characters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input_str[0:2] + input_str[-2:]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Test the function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print(extract_edges('programming'))  # prng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print(extract_edges('py'))          # pypy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print(extract_edges('x'))           # (empty)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3 -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1828800" y="1645920"/>
            <a:ext cx="5485680" cy="182808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2286000" y="192024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2286000" y="2468880"/>
            <a:ext cx="45712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2c39a"/>
                </a:solidFill>
                <a:latin typeface="Courier New"/>
                <a:ea typeface="Courier New"/>
              </a:rPr>
              <a:t>prng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2c39a"/>
                </a:solidFill>
                <a:latin typeface="Courier New"/>
                <a:ea typeface="Courier New"/>
              </a:rPr>
              <a:t>pypy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4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457200" y="914400"/>
            <a:ext cx="8228880" cy="136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2"/>
          <p:cNvSpPr/>
          <p:nvPr/>
        </p:nvSpPr>
        <p:spPr>
          <a:xfrm>
            <a:off x="457200" y="12801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Replace First Character Occurrences with $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914400" y="2103120"/>
            <a:ext cx="7314480" cy="1645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4"/>
          <p:cNvSpPr/>
          <p:nvPr/>
        </p:nvSpPr>
        <p:spPr>
          <a:xfrm>
            <a:off x="1188720" y="2286000"/>
            <a:ext cx="676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1188720" y="2651760"/>
            <a:ext cx="6765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that replaces all occurrences of the first character with '$', except the first character itself.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4 -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1371600" y="11887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Original: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2286000" y="1554480"/>
            <a:ext cx="547920" cy="547920"/>
          </a:xfrm>
          <a:prstGeom prst="rect">
            <a:avLst/>
          </a:prstGeom>
          <a:solidFill>
            <a:srgbClr val="e67e22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3"/>
          <p:cNvSpPr/>
          <p:nvPr/>
        </p:nvSpPr>
        <p:spPr>
          <a:xfrm>
            <a:off x="228600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1" name="Shape 4"/>
          <p:cNvSpPr/>
          <p:nvPr/>
        </p:nvSpPr>
        <p:spPr>
          <a:xfrm>
            <a:off x="2926080" y="155448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5"/>
          <p:cNvSpPr/>
          <p:nvPr/>
        </p:nvSpPr>
        <p:spPr>
          <a:xfrm>
            <a:off x="292608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3566160" y="155448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7"/>
          <p:cNvSpPr/>
          <p:nvPr/>
        </p:nvSpPr>
        <p:spPr>
          <a:xfrm>
            <a:off x="356616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f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4206240" y="1554480"/>
            <a:ext cx="547920" cy="547920"/>
          </a:xfrm>
          <a:prstGeom prst="rect">
            <a:avLst/>
          </a:prstGeom>
          <a:solidFill>
            <a:srgbClr val="ffcccc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9"/>
          <p:cNvSpPr/>
          <p:nvPr/>
        </p:nvSpPr>
        <p:spPr>
          <a:xfrm>
            <a:off x="420624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7" name="Shape 10"/>
          <p:cNvSpPr/>
          <p:nvPr/>
        </p:nvSpPr>
        <p:spPr>
          <a:xfrm>
            <a:off x="4846320" y="155448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1"/>
          <p:cNvSpPr/>
          <p:nvPr/>
        </p:nvSpPr>
        <p:spPr>
          <a:xfrm>
            <a:off x="484632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5486400" y="155448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3"/>
          <p:cNvSpPr/>
          <p:nvPr/>
        </p:nvSpPr>
        <p:spPr>
          <a:xfrm>
            <a:off x="548640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6126480" y="155448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5"/>
          <p:cNvSpPr/>
          <p:nvPr/>
        </p:nvSpPr>
        <p:spPr>
          <a:xfrm>
            <a:off x="612648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h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3931920" y="2377440"/>
            <a:ext cx="365040" cy="547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7"/>
          <p:cNvSpPr/>
          <p:nvPr/>
        </p:nvSpPr>
        <p:spPr>
          <a:xfrm>
            <a:off x="1371600" y="310896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After Replacement: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2286000" y="3474720"/>
            <a:ext cx="547920" cy="547920"/>
          </a:xfrm>
          <a:prstGeom prst="rect">
            <a:avLst/>
          </a:prstGeom>
          <a:solidFill>
            <a:srgbClr val="e67e22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9"/>
          <p:cNvSpPr/>
          <p:nvPr/>
        </p:nvSpPr>
        <p:spPr>
          <a:xfrm>
            <a:off x="2286000" y="35661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7" name="Shape 20"/>
          <p:cNvSpPr/>
          <p:nvPr/>
        </p:nvSpPr>
        <p:spPr>
          <a:xfrm>
            <a:off x="2926080" y="347472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1"/>
          <p:cNvSpPr/>
          <p:nvPr/>
        </p:nvSpPr>
        <p:spPr>
          <a:xfrm>
            <a:off x="2926080" y="35661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3566160" y="347472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23"/>
          <p:cNvSpPr/>
          <p:nvPr/>
        </p:nvSpPr>
        <p:spPr>
          <a:xfrm>
            <a:off x="3566160" y="35661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f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1" name="Shape 24"/>
          <p:cNvSpPr/>
          <p:nvPr/>
        </p:nvSpPr>
        <p:spPr>
          <a:xfrm>
            <a:off x="4206240" y="347472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5"/>
          <p:cNvSpPr/>
          <p:nvPr/>
        </p:nvSpPr>
        <p:spPr>
          <a:xfrm>
            <a:off x="4206240" y="35661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3" name="Shape 26"/>
          <p:cNvSpPr/>
          <p:nvPr/>
        </p:nvSpPr>
        <p:spPr>
          <a:xfrm>
            <a:off x="4846320" y="347472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27"/>
          <p:cNvSpPr/>
          <p:nvPr/>
        </p:nvSpPr>
        <p:spPr>
          <a:xfrm>
            <a:off x="4846320" y="35661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5" name="Shape 28"/>
          <p:cNvSpPr/>
          <p:nvPr/>
        </p:nvSpPr>
        <p:spPr>
          <a:xfrm>
            <a:off x="5486400" y="3474720"/>
            <a:ext cx="547920" cy="547920"/>
          </a:xfrm>
          <a:prstGeom prst="rect">
            <a:avLst/>
          </a:prstGeom>
          <a:solidFill>
            <a:srgbClr val="02c39a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9"/>
          <p:cNvSpPr/>
          <p:nvPr/>
        </p:nvSpPr>
        <p:spPr>
          <a:xfrm>
            <a:off x="5486400" y="35661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$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7" name="Shape 30"/>
          <p:cNvSpPr/>
          <p:nvPr/>
        </p:nvSpPr>
        <p:spPr>
          <a:xfrm>
            <a:off x="6126480" y="347472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31"/>
          <p:cNvSpPr/>
          <p:nvPr/>
        </p:nvSpPr>
        <p:spPr>
          <a:xfrm>
            <a:off x="6126480" y="35661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h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4 -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731520" y="1005840"/>
            <a:ext cx="7680240" cy="3108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2"/>
          <p:cNvSpPr/>
          <p:nvPr/>
        </p:nvSpPr>
        <p:spPr>
          <a:xfrm>
            <a:off x="914400" y="1143000"/>
            <a:ext cx="73144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to replace first character occurrences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replace_first_char(text):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Get the first character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first_char = text[0]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Replace all occurrences with '$'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modified_text = text.replace(first_char, '$')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Restore the first character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modified_text = first_char + modified_text[1:]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modified_text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Test the function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print(replace_first_char('refresh'))  # refre$h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4 -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1828800" y="1645920"/>
            <a:ext cx="5485680" cy="182808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2"/>
          <p:cNvSpPr/>
          <p:nvPr/>
        </p:nvSpPr>
        <p:spPr>
          <a:xfrm>
            <a:off x="2286000" y="192024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2286000" y="2560320"/>
            <a:ext cx="4571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c39a"/>
                </a:solidFill>
                <a:latin typeface="Courier New"/>
                <a:ea typeface="Courier New"/>
              </a:rPr>
              <a:t>refre$h</a:t>
            </a:r>
            <a:endParaRPr b="0" lang="en-IN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5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27" name="Shape 1"/>
          <p:cNvSpPr/>
          <p:nvPr/>
        </p:nvSpPr>
        <p:spPr>
          <a:xfrm>
            <a:off x="457200" y="914400"/>
            <a:ext cx="8228880" cy="136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2"/>
          <p:cNvSpPr/>
          <p:nvPr/>
        </p:nvSpPr>
        <p:spPr>
          <a:xfrm>
            <a:off x="457200" y="12801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Swap First 2 Characters of Two Strings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914400" y="2103120"/>
            <a:ext cx="7314480" cy="1645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4"/>
          <p:cNvSpPr/>
          <p:nvPr/>
        </p:nvSpPr>
        <p:spPr>
          <a:xfrm>
            <a:off x="1188720" y="2286000"/>
            <a:ext cx="676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1188720" y="2651760"/>
            <a:ext cx="6765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to create a single string from two given strings, separated by a space, where the first two characters of each string are swapped.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5 -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914400" y="118872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String A: "def"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4" name="Shape 2"/>
          <p:cNvSpPr/>
          <p:nvPr/>
        </p:nvSpPr>
        <p:spPr>
          <a:xfrm>
            <a:off x="1828800" y="1554480"/>
            <a:ext cx="547920" cy="547920"/>
          </a:xfrm>
          <a:prstGeom prst="rect">
            <a:avLst/>
          </a:prstGeom>
          <a:solidFill>
            <a:srgbClr val="e67e22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3"/>
          <p:cNvSpPr/>
          <p:nvPr/>
        </p:nvSpPr>
        <p:spPr>
          <a:xfrm>
            <a:off x="182880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d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36" name="Shape 4"/>
          <p:cNvSpPr/>
          <p:nvPr/>
        </p:nvSpPr>
        <p:spPr>
          <a:xfrm>
            <a:off x="2468880" y="1554480"/>
            <a:ext cx="547920" cy="547920"/>
          </a:xfrm>
          <a:prstGeom prst="rect">
            <a:avLst/>
          </a:prstGeom>
          <a:solidFill>
            <a:srgbClr val="e67e22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5"/>
          <p:cNvSpPr/>
          <p:nvPr/>
        </p:nvSpPr>
        <p:spPr>
          <a:xfrm>
            <a:off x="246888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38" name="Shape 6"/>
          <p:cNvSpPr/>
          <p:nvPr/>
        </p:nvSpPr>
        <p:spPr>
          <a:xfrm>
            <a:off x="3108960" y="155448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7"/>
          <p:cNvSpPr/>
          <p:nvPr/>
        </p:nvSpPr>
        <p:spPr>
          <a:xfrm>
            <a:off x="310896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f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0" name="Text 8"/>
          <p:cNvSpPr/>
          <p:nvPr/>
        </p:nvSpPr>
        <p:spPr>
          <a:xfrm>
            <a:off x="5029200" y="118872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String B: "pqr"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5943600" y="1554480"/>
            <a:ext cx="547920" cy="547920"/>
          </a:xfrm>
          <a:prstGeom prst="rect">
            <a:avLst/>
          </a:prstGeom>
          <a:solidFill>
            <a:srgbClr val="9b59b6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0"/>
          <p:cNvSpPr/>
          <p:nvPr/>
        </p:nvSpPr>
        <p:spPr>
          <a:xfrm>
            <a:off x="594360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p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3" name="Shape 11"/>
          <p:cNvSpPr/>
          <p:nvPr/>
        </p:nvSpPr>
        <p:spPr>
          <a:xfrm>
            <a:off x="6583680" y="1554480"/>
            <a:ext cx="547920" cy="547920"/>
          </a:xfrm>
          <a:prstGeom prst="rect">
            <a:avLst/>
          </a:prstGeom>
          <a:solidFill>
            <a:srgbClr val="9b59b6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12"/>
          <p:cNvSpPr/>
          <p:nvPr/>
        </p:nvSpPr>
        <p:spPr>
          <a:xfrm>
            <a:off x="658368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q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5" name="Shape 13"/>
          <p:cNvSpPr/>
          <p:nvPr/>
        </p:nvSpPr>
        <p:spPr>
          <a:xfrm>
            <a:off x="7223760" y="1554480"/>
            <a:ext cx="54792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14"/>
          <p:cNvSpPr/>
          <p:nvPr/>
        </p:nvSpPr>
        <p:spPr>
          <a:xfrm>
            <a:off x="7223760" y="1645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7" name="Shape 15"/>
          <p:cNvSpPr/>
          <p:nvPr/>
        </p:nvSpPr>
        <p:spPr>
          <a:xfrm>
            <a:off x="3474720" y="1737360"/>
            <a:ext cx="91368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16"/>
          <p:cNvSpPr/>
          <p:nvPr/>
        </p:nvSpPr>
        <p:spPr>
          <a:xfrm>
            <a:off x="4389120" y="1737360"/>
            <a:ext cx="913680" cy="273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17"/>
          <p:cNvSpPr/>
          <p:nvPr/>
        </p:nvSpPr>
        <p:spPr>
          <a:xfrm>
            <a:off x="3200400" y="26517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Result: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0" name="Shape 18"/>
          <p:cNvSpPr/>
          <p:nvPr/>
        </p:nvSpPr>
        <p:spPr>
          <a:xfrm>
            <a:off x="2286000" y="3017520"/>
            <a:ext cx="4571280" cy="730800"/>
          </a:xfrm>
          <a:prstGeom prst="rect">
            <a:avLst/>
          </a:prstGeom>
          <a:solidFill>
            <a:srgbClr val="02c39a"/>
          </a:solidFill>
          <a:ln w="381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9"/>
          <p:cNvSpPr/>
          <p:nvPr/>
        </p:nvSpPr>
        <p:spPr>
          <a:xfrm>
            <a:off x="2286000" y="3108960"/>
            <a:ext cx="4571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ourier New"/>
                <a:ea typeface="Courier New"/>
              </a:rPr>
              <a:t>"pqf der"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5 -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53" name="Shape 1"/>
          <p:cNvSpPr/>
          <p:nvPr/>
        </p:nvSpPr>
        <p:spPr>
          <a:xfrm>
            <a:off x="731520" y="1005840"/>
            <a:ext cx="7680240" cy="3108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2"/>
          <p:cNvSpPr/>
          <p:nvPr/>
        </p:nvSpPr>
        <p:spPr>
          <a:xfrm>
            <a:off x="914400" y="1143000"/>
            <a:ext cx="73144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to swap first 2 chars of two strings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swap_first_two(str_a, str_b):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Create new string with first 2 chars swapped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new_str_a = str_b[:2] + str_a[2:]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new_str_b = str_a[:2] + str_b[2:]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Combine with space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new_str_a + ' ' + new_str_b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Test the function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print(swap_first_two('def', 'pqr'))  # pqf derq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5 -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56" name="Shape 1"/>
          <p:cNvSpPr/>
          <p:nvPr/>
        </p:nvSpPr>
        <p:spPr>
          <a:xfrm>
            <a:off x="1828800" y="1645920"/>
            <a:ext cx="5485680" cy="182808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2"/>
          <p:cNvSpPr/>
          <p:nvPr/>
        </p:nvSpPr>
        <p:spPr>
          <a:xfrm>
            <a:off x="2286000" y="192024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2286000" y="2560320"/>
            <a:ext cx="4571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c39a"/>
                </a:solidFill>
                <a:latin typeface="Courier New"/>
                <a:ea typeface="Courier New"/>
              </a:rPr>
              <a:t>pqf derq</a:t>
            </a:r>
            <a:endParaRPr b="0" lang="en-IN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457200" y="137160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Congratulations!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457200" y="22860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2c39a"/>
                </a:solidFill>
                <a:latin typeface="Arial"/>
                <a:ea typeface="Arial"/>
              </a:rPr>
              <a:t>You've completed all 5 Python String Programs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457200" y="3474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cccccc"/>
                </a:solidFill>
                <a:latin typeface="Arial"/>
                <a:ea typeface="Arial"/>
              </a:rPr>
              <a:t>Practice • Code • Excel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2026-02-01T12:05:45Z</dcterms:created>
  <dc:creator>Python Programming</dc:creator>
  <dc:description/>
  <dc:language>en-IN</dc:language>
  <cp:lastModifiedBy/>
  <dcterms:modified xsi:type="dcterms:W3CDTF">2026-02-03T22:10:51Z</dcterms:modified>
  <cp:revision>3</cp:revision>
  <dc:subject>PptxGenJS Presentation</dc:subject>
  <dc:title>Python String Programs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