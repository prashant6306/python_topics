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AFF9856-06D3-42FA-882F-27EA865E9E4E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18673C-1F0C-413E-9D8B-658EB5361C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CE3E00-65ED-4ED7-967B-4158EB361E7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8F598C-23E0-4F01-918F-E0E28C2004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07C32A-DEC0-4B5E-B722-F64FA4138DC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E85613-3355-482A-B0CC-D7CAFE161A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20CD5D-7627-494C-A328-CE24A6FB42B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5B4C33-B276-4C7B-9A4D-761018C4F3F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E754ED-908E-478B-A23E-F2716F6DE37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0BF1E3-B8C5-415A-98F8-75DDFA5A09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6459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Console Input/Output</a:t>
            </a:r>
            <a:endParaRPr b="0" lang="en-IN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in Python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743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d43b"/>
                </a:solidFill>
                <a:latin typeface="Arial"/>
                <a:ea typeface="Arial"/>
              </a:rPr>
              <a:t>print() and input() Functions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657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Python Programming - Lesson 2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What is Console Input/Output?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14400" y="914400"/>
            <a:ext cx="7314840" cy="7311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1097280" y="105156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Console I/O allows programs to interact with users.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Input: Receive data from user  |  Output: Display results to user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1371600" y="1828800"/>
            <a:ext cx="3200040" cy="1371240"/>
          </a:xfrm>
          <a:prstGeom prst="rect">
            <a:avLst/>
          </a:prstGeom>
          <a:solidFill>
            <a:srgbClr val="e8f5e9"/>
          </a:solidFill>
          <a:ln w="381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1371600" y="19659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7ae60"/>
                </a:solidFill>
                <a:latin typeface="Arial"/>
                <a:ea typeface="Arial"/>
              </a:rPr>
              <a:t>📤 </a:t>
            </a:r>
            <a:r>
              <a:rPr b="1" lang="en-US" sz="2000" spc="-1" strike="noStrike">
                <a:solidFill>
                  <a:srgbClr val="27ae60"/>
                </a:solidFill>
                <a:latin typeface="Arial"/>
                <a:ea typeface="Arial"/>
              </a:rPr>
              <a:t>OUTPUT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1554480" y="237744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Display information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to the user using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print() function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4572000" y="1828800"/>
            <a:ext cx="3200040" cy="1371240"/>
          </a:xfrm>
          <a:prstGeom prst="rect">
            <a:avLst/>
          </a:prstGeom>
          <a:solidFill>
            <a:srgbClr val="fff3e0"/>
          </a:solidFill>
          <a:ln w="381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7"/>
          <p:cNvSpPr/>
          <p:nvPr/>
        </p:nvSpPr>
        <p:spPr>
          <a:xfrm>
            <a:off x="4572000" y="196596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e67e22"/>
                </a:solidFill>
                <a:latin typeface="Arial"/>
                <a:ea typeface="Arial"/>
              </a:rPr>
              <a:t>📥 </a:t>
            </a:r>
            <a:r>
              <a:rPr b="1" lang="en-US" sz="2000" spc="-1" strike="noStrike">
                <a:solidFill>
                  <a:srgbClr val="e67e22"/>
                </a:solidFill>
                <a:latin typeface="Arial"/>
                <a:ea typeface="Arial"/>
              </a:rPr>
              <a:t>INPUT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4754880" y="237744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Receive information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from the user using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input() function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1828800" y="33832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Program Flow: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7" name="Shape 10"/>
          <p:cNvSpPr/>
          <p:nvPr/>
        </p:nvSpPr>
        <p:spPr>
          <a:xfrm>
            <a:off x="1828800" y="3749040"/>
            <a:ext cx="1371240" cy="36540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1"/>
          <p:cNvSpPr/>
          <p:nvPr/>
        </p:nvSpPr>
        <p:spPr>
          <a:xfrm>
            <a:off x="1828800" y="3794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INPUT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9" name="Shape 12"/>
          <p:cNvSpPr/>
          <p:nvPr/>
        </p:nvSpPr>
        <p:spPr>
          <a:xfrm>
            <a:off x="3291840" y="3886200"/>
            <a:ext cx="36540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3"/>
          <p:cNvSpPr/>
          <p:nvPr/>
        </p:nvSpPr>
        <p:spPr>
          <a:xfrm>
            <a:off x="3749040" y="3749040"/>
            <a:ext cx="1371240" cy="36540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4"/>
          <p:cNvSpPr/>
          <p:nvPr/>
        </p:nvSpPr>
        <p:spPr>
          <a:xfrm>
            <a:off x="3749040" y="3794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PROCESS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2" name="Shape 15"/>
          <p:cNvSpPr/>
          <p:nvPr/>
        </p:nvSpPr>
        <p:spPr>
          <a:xfrm>
            <a:off x="5212080" y="3886200"/>
            <a:ext cx="365400" cy="13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Shape 16"/>
          <p:cNvSpPr/>
          <p:nvPr/>
        </p:nvSpPr>
        <p:spPr>
          <a:xfrm>
            <a:off x="5669280" y="3749040"/>
            <a:ext cx="1371240" cy="365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7"/>
          <p:cNvSpPr/>
          <p:nvPr/>
        </p:nvSpPr>
        <p:spPr>
          <a:xfrm>
            <a:off x="5669280" y="3794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OUTPUT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print() Function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914400" y="914400"/>
            <a:ext cx="7314840" cy="5482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2"/>
          <p:cNvSpPr/>
          <p:nvPr/>
        </p:nvSpPr>
        <p:spPr>
          <a:xfrm>
            <a:off x="1097280" y="1005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The print() function displays output to the console/screen.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900000" y="1620000"/>
            <a:ext cx="687204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Syntax: print(value1, value2, ..., sep=' ', end='\n')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731520" y="201168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1. Print Simple Text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731520" y="2331720"/>
            <a:ext cx="3840120" cy="5482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6"/>
          <p:cNvSpPr/>
          <p:nvPr/>
        </p:nvSpPr>
        <p:spPr>
          <a:xfrm>
            <a:off x="914400" y="24231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print("Hello, World!")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4663440" y="2560320"/>
            <a:ext cx="273960" cy="109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8"/>
          <p:cNvSpPr/>
          <p:nvPr/>
        </p:nvSpPr>
        <p:spPr>
          <a:xfrm>
            <a:off x="5029200" y="2331720"/>
            <a:ext cx="3382920" cy="5482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9"/>
          <p:cNvSpPr/>
          <p:nvPr/>
        </p:nvSpPr>
        <p:spPr>
          <a:xfrm>
            <a:off x="5212080" y="242316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Hello, World!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731520" y="297180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2. Print Variables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731520" y="3291840"/>
            <a:ext cx="3840120" cy="5482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2"/>
          <p:cNvSpPr/>
          <p:nvPr/>
        </p:nvSpPr>
        <p:spPr>
          <a:xfrm>
            <a:off x="914400" y="33832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"Alice"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25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print("Name:", name, "Age:", age)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4663440" y="3520440"/>
            <a:ext cx="273960" cy="109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14"/>
          <p:cNvSpPr/>
          <p:nvPr/>
        </p:nvSpPr>
        <p:spPr>
          <a:xfrm>
            <a:off x="5029200" y="3291840"/>
            <a:ext cx="3382920" cy="5482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5"/>
          <p:cNvSpPr/>
          <p:nvPr/>
        </p:nvSpPr>
        <p:spPr>
          <a:xfrm>
            <a:off x="5212080" y="33832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Name: Alice Age: 25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731520" y="3931920"/>
            <a:ext cx="768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3. Print with Separator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Shape 17"/>
          <p:cNvSpPr/>
          <p:nvPr/>
        </p:nvSpPr>
        <p:spPr>
          <a:xfrm>
            <a:off x="731520" y="4251960"/>
            <a:ext cx="3840120" cy="5482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18"/>
          <p:cNvSpPr/>
          <p:nvPr/>
        </p:nvSpPr>
        <p:spPr>
          <a:xfrm>
            <a:off x="914400" y="43434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print("Python", "Java", "C++", sep=" | 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Shape 19"/>
          <p:cNvSpPr/>
          <p:nvPr/>
        </p:nvSpPr>
        <p:spPr>
          <a:xfrm>
            <a:off x="4663440" y="4480560"/>
            <a:ext cx="273960" cy="109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20"/>
          <p:cNvSpPr/>
          <p:nvPr/>
        </p:nvSpPr>
        <p:spPr>
          <a:xfrm>
            <a:off x="5029200" y="4251960"/>
            <a:ext cx="3382920" cy="54828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1"/>
          <p:cNvSpPr/>
          <p:nvPr/>
        </p:nvSpPr>
        <p:spPr>
          <a:xfrm>
            <a:off x="5212080" y="434340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Python | Java | C++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input() Function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88" name="Shape 1"/>
          <p:cNvSpPr/>
          <p:nvPr/>
        </p:nvSpPr>
        <p:spPr>
          <a:xfrm>
            <a:off x="914400" y="914400"/>
            <a:ext cx="7314840" cy="5482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"/>
          <p:cNvSpPr/>
          <p:nvPr/>
        </p:nvSpPr>
        <p:spPr>
          <a:xfrm>
            <a:off x="1097280" y="1005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e67e22"/>
                </a:solidFill>
                <a:latin typeface="Arial"/>
                <a:ea typeface="Arial"/>
              </a:rPr>
              <a:t>The input() function reads data from the user as a string.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1371600" y="16459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Syntax: variable = input("prompt message")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731520" y="2103120"/>
            <a:ext cx="384012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5"/>
          <p:cNvSpPr/>
          <p:nvPr/>
        </p:nvSpPr>
        <p:spPr>
          <a:xfrm>
            <a:off x="731520" y="21488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Get User Input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731520" y="2651760"/>
            <a:ext cx="3840120" cy="16455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7"/>
          <p:cNvSpPr/>
          <p:nvPr/>
        </p:nvSpPr>
        <p:spPr>
          <a:xfrm>
            <a:off x="914400" y="2788920"/>
            <a:ext cx="3474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Get user name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input("Enter your name: 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print("Hello,", name)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Get user age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input("Enter your age: 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are", age, "years old")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4754880" y="2103120"/>
            <a:ext cx="347436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9"/>
          <p:cNvSpPr/>
          <p:nvPr/>
        </p:nvSpPr>
        <p:spPr>
          <a:xfrm>
            <a:off x="4754880" y="21488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Execution 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4937760" y="2670120"/>
            <a:ext cx="319680" cy="31968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1"/>
          <p:cNvSpPr/>
          <p:nvPr/>
        </p:nvSpPr>
        <p:spPr>
          <a:xfrm>
            <a:off x="4937760" y="26701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5349240" y="2697480"/>
            <a:ext cx="2834280" cy="27396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3"/>
          <p:cNvSpPr/>
          <p:nvPr/>
        </p:nvSpPr>
        <p:spPr>
          <a:xfrm>
            <a:off x="5394960" y="271584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Program asks: Enter your name: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4937760" y="3008520"/>
            <a:ext cx="319680" cy="31968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5"/>
          <p:cNvSpPr/>
          <p:nvPr/>
        </p:nvSpPr>
        <p:spPr>
          <a:xfrm>
            <a:off x="4937760" y="30085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5349240" y="3035880"/>
            <a:ext cx="2834280" cy="27396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7"/>
          <p:cNvSpPr/>
          <p:nvPr/>
        </p:nvSpPr>
        <p:spPr>
          <a:xfrm>
            <a:off x="5394960" y="305424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User types: Alice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4937760" y="3346560"/>
            <a:ext cx="319680" cy="31968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9"/>
          <p:cNvSpPr/>
          <p:nvPr/>
        </p:nvSpPr>
        <p:spPr>
          <a:xfrm>
            <a:off x="4937760" y="33465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7" name="Shape 20"/>
          <p:cNvSpPr/>
          <p:nvPr/>
        </p:nvSpPr>
        <p:spPr>
          <a:xfrm>
            <a:off x="5349240" y="3374280"/>
            <a:ext cx="2834280" cy="27396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1"/>
          <p:cNvSpPr/>
          <p:nvPr/>
        </p:nvSpPr>
        <p:spPr>
          <a:xfrm>
            <a:off x="5394960" y="339228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Stored in variable: name = 'Alice'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Shape 22"/>
          <p:cNvSpPr/>
          <p:nvPr/>
        </p:nvSpPr>
        <p:spPr>
          <a:xfrm>
            <a:off x="4937760" y="3684960"/>
            <a:ext cx="319680" cy="31968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23"/>
          <p:cNvSpPr/>
          <p:nvPr/>
        </p:nvSpPr>
        <p:spPr>
          <a:xfrm>
            <a:off x="4937760" y="3684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1" name="Shape 24"/>
          <p:cNvSpPr/>
          <p:nvPr/>
        </p:nvSpPr>
        <p:spPr>
          <a:xfrm>
            <a:off x="5349240" y="3712320"/>
            <a:ext cx="2834280" cy="27396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5"/>
          <p:cNvSpPr/>
          <p:nvPr/>
        </p:nvSpPr>
        <p:spPr>
          <a:xfrm>
            <a:off x="5394960" y="373068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Output: Hello, Alice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3" name="Shape 26"/>
          <p:cNvSpPr/>
          <p:nvPr/>
        </p:nvSpPr>
        <p:spPr>
          <a:xfrm>
            <a:off x="1371600" y="4434840"/>
            <a:ext cx="6400440" cy="45684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27"/>
          <p:cNvSpPr/>
          <p:nvPr/>
        </p:nvSpPr>
        <p:spPr>
          <a:xfrm>
            <a:off x="1554480" y="452628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⚠️ </a:t>
            </a: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Important: input() always returns a STRING (text data)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Type Conversion for input()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914400" y="914400"/>
            <a:ext cx="7314840" cy="63972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"/>
          <p:cNvSpPr/>
          <p:nvPr/>
        </p:nvSpPr>
        <p:spPr>
          <a:xfrm>
            <a:off x="1097280" y="100584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Since input() returns a string, we must convert it to the required data type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for mathematical operations or comparisons.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914400" y="1737360"/>
            <a:ext cx="7314840" cy="3196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4"/>
          <p:cNvSpPr/>
          <p:nvPr/>
        </p:nvSpPr>
        <p:spPr>
          <a:xfrm>
            <a:off x="1097280" y="1783080"/>
            <a:ext cx="694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int() - Convert to Integer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914400" y="2103120"/>
            <a:ext cx="7314840" cy="228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6"/>
          <p:cNvSpPr/>
          <p:nvPr/>
        </p:nvSpPr>
        <p:spPr>
          <a:xfrm>
            <a:off x="1097280" y="2148840"/>
            <a:ext cx="69490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int(input("Enter age: "))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1371600" y="2377440"/>
            <a:ext cx="3200040" cy="22824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8"/>
          <p:cNvSpPr/>
          <p:nvPr/>
        </p:nvSpPr>
        <p:spPr>
          <a:xfrm>
            <a:off x="1463040" y="2404800"/>
            <a:ext cx="301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Arial"/>
                <a:ea typeface="Arial"/>
              </a:rPr>
              <a:t>User enters: 25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4663440" y="2468880"/>
            <a:ext cx="22824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Shape 10"/>
          <p:cNvSpPr/>
          <p:nvPr/>
        </p:nvSpPr>
        <p:spPr>
          <a:xfrm>
            <a:off x="5029200" y="2377440"/>
            <a:ext cx="3200040" cy="2282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1"/>
          <p:cNvSpPr/>
          <p:nvPr/>
        </p:nvSpPr>
        <p:spPr>
          <a:xfrm>
            <a:off x="5120640" y="2404800"/>
            <a:ext cx="301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age = 25 (integer)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914400" y="2743200"/>
            <a:ext cx="7314840" cy="31968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3"/>
          <p:cNvSpPr/>
          <p:nvPr/>
        </p:nvSpPr>
        <p:spPr>
          <a:xfrm>
            <a:off x="1097280" y="2788920"/>
            <a:ext cx="694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float() - Convert to Float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914400" y="3108960"/>
            <a:ext cx="7314840" cy="228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5"/>
          <p:cNvSpPr/>
          <p:nvPr/>
        </p:nvSpPr>
        <p:spPr>
          <a:xfrm>
            <a:off x="1097280" y="3154680"/>
            <a:ext cx="69490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price = float(input("Enter price: "))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1371600" y="3383280"/>
            <a:ext cx="3200040" cy="22824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7"/>
          <p:cNvSpPr/>
          <p:nvPr/>
        </p:nvSpPr>
        <p:spPr>
          <a:xfrm>
            <a:off x="1463040" y="3410640"/>
            <a:ext cx="301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Arial"/>
                <a:ea typeface="Arial"/>
              </a:rPr>
              <a:t>User enters: 19.99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3" name="Shape 18"/>
          <p:cNvSpPr/>
          <p:nvPr/>
        </p:nvSpPr>
        <p:spPr>
          <a:xfrm>
            <a:off x="4663440" y="3474720"/>
            <a:ext cx="22824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9"/>
          <p:cNvSpPr/>
          <p:nvPr/>
        </p:nvSpPr>
        <p:spPr>
          <a:xfrm>
            <a:off x="5029200" y="3383280"/>
            <a:ext cx="3200040" cy="2282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0"/>
          <p:cNvSpPr/>
          <p:nvPr/>
        </p:nvSpPr>
        <p:spPr>
          <a:xfrm>
            <a:off x="5120640" y="3410640"/>
            <a:ext cx="301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price = 19.99 (float)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6" name="Shape 21"/>
          <p:cNvSpPr/>
          <p:nvPr/>
        </p:nvSpPr>
        <p:spPr>
          <a:xfrm>
            <a:off x="914400" y="3749040"/>
            <a:ext cx="7314840" cy="31968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22"/>
          <p:cNvSpPr/>
          <p:nvPr/>
        </p:nvSpPr>
        <p:spPr>
          <a:xfrm>
            <a:off x="1097280" y="3794760"/>
            <a:ext cx="6949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str() - Keep as String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8" name="Shape 23"/>
          <p:cNvSpPr/>
          <p:nvPr/>
        </p:nvSpPr>
        <p:spPr>
          <a:xfrm>
            <a:off x="914400" y="4114800"/>
            <a:ext cx="7314840" cy="228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24"/>
          <p:cNvSpPr/>
          <p:nvPr/>
        </p:nvSpPr>
        <p:spPr>
          <a:xfrm>
            <a:off x="1097280" y="4160520"/>
            <a:ext cx="69490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str(input("Enter name: "))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0" name="Shape 25"/>
          <p:cNvSpPr/>
          <p:nvPr/>
        </p:nvSpPr>
        <p:spPr>
          <a:xfrm>
            <a:off x="1371600" y="4389120"/>
            <a:ext cx="3200040" cy="22824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26"/>
          <p:cNvSpPr/>
          <p:nvPr/>
        </p:nvSpPr>
        <p:spPr>
          <a:xfrm>
            <a:off x="1463040" y="4416480"/>
            <a:ext cx="301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Arial"/>
                <a:ea typeface="Arial"/>
              </a:rPr>
              <a:t>User enters: Alice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2" name="Shape 27"/>
          <p:cNvSpPr/>
          <p:nvPr/>
        </p:nvSpPr>
        <p:spPr>
          <a:xfrm>
            <a:off x="4663440" y="4480560"/>
            <a:ext cx="22824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28"/>
          <p:cNvSpPr/>
          <p:nvPr/>
        </p:nvSpPr>
        <p:spPr>
          <a:xfrm>
            <a:off x="5029200" y="4389120"/>
            <a:ext cx="3200040" cy="22824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29"/>
          <p:cNvSpPr/>
          <p:nvPr/>
        </p:nvSpPr>
        <p:spPr>
          <a:xfrm>
            <a:off x="5120640" y="4416480"/>
            <a:ext cx="3017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name = "Alice" (string)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Complete Example: Calculator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914400" y="914400"/>
            <a:ext cx="7314840" cy="45684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2"/>
          <p:cNvSpPr/>
          <p:nvPr/>
        </p:nvSpPr>
        <p:spPr>
          <a:xfrm>
            <a:off x="914400" y="10058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Simple program that takes two numbers and adds them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731520" y="1554480"/>
            <a:ext cx="3840120" cy="4568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4"/>
          <p:cNvSpPr/>
          <p:nvPr/>
        </p:nvSpPr>
        <p:spPr>
          <a:xfrm>
            <a:off x="731520" y="160020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Python Code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731520" y="2103120"/>
            <a:ext cx="3840120" cy="22856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6"/>
          <p:cNvSpPr/>
          <p:nvPr/>
        </p:nvSpPr>
        <p:spPr>
          <a:xfrm>
            <a:off x="914400" y="2240280"/>
            <a:ext cx="34743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Simple Calculator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print("=== Calculator ===")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Get first number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num1 = float(input("Enter first number: "))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Get second number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num2 = float(input("Enter second number: "))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Calculate sum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total = num1 + num2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# Display result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print("Sum:", total)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4754880" y="1554480"/>
            <a:ext cx="347436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8"/>
          <p:cNvSpPr/>
          <p:nvPr/>
        </p:nvSpPr>
        <p:spPr>
          <a:xfrm>
            <a:off x="4754880" y="16002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Sample Output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4754880" y="2103120"/>
            <a:ext cx="3474360" cy="228564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0"/>
          <p:cNvSpPr/>
          <p:nvPr/>
        </p:nvSpPr>
        <p:spPr>
          <a:xfrm>
            <a:off x="4937760" y="2286000"/>
            <a:ext cx="31086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urier New"/>
                <a:ea typeface="Courier New"/>
              </a:rPr>
              <a:t>=== Calculator ===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urier New"/>
                <a:ea typeface="Courier New"/>
              </a:rPr>
              <a:t>Enter first number: 10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urier New"/>
                <a:ea typeface="Courier New"/>
              </a:rPr>
              <a:t>Enter second number: 20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ff00"/>
                </a:solidFill>
                <a:latin typeface="Courier New"/>
                <a:ea typeface="Courier New"/>
              </a:rPr>
              <a:t>Sum: 30.0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Formatted Output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914400" y="914400"/>
            <a:ext cx="7314840" cy="54828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2"/>
          <p:cNvSpPr/>
          <p:nvPr/>
        </p:nvSpPr>
        <p:spPr>
          <a:xfrm>
            <a:off x="1097280" y="1005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06998"/>
                </a:solidFill>
                <a:latin typeface="Arial"/>
                <a:ea typeface="Arial"/>
              </a:rPr>
              <a:t>Python provides multiple ways to format output for better presentation.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914400" y="16459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7ae60"/>
                </a:solidFill>
                <a:latin typeface="Arial"/>
                <a:ea typeface="Arial"/>
              </a:rPr>
              <a:t>1. String Concatenation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914400" y="1965960"/>
            <a:ext cx="4114440" cy="639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5"/>
          <p:cNvSpPr/>
          <p:nvPr/>
        </p:nvSpPr>
        <p:spPr>
          <a:xfrm>
            <a:off x="1097280" y="205740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"Alice"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25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print("Name: " + name + ", Age: " + str(age))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5120640" y="2240280"/>
            <a:ext cx="273960" cy="109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Shape 7"/>
          <p:cNvSpPr/>
          <p:nvPr/>
        </p:nvSpPr>
        <p:spPr>
          <a:xfrm>
            <a:off x="5486400" y="1965960"/>
            <a:ext cx="2742840" cy="6397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8"/>
          <p:cNvSpPr/>
          <p:nvPr/>
        </p:nvSpPr>
        <p:spPr>
          <a:xfrm>
            <a:off x="5669280" y="21488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Name: Alice, Age: 25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914400" y="26974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2. format() Method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914400" y="3017520"/>
            <a:ext cx="4114440" cy="639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1"/>
          <p:cNvSpPr/>
          <p:nvPr/>
        </p:nvSpPr>
        <p:spPr>
          <a:xfrm>
            <a:off x="1097280" y="310896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"Bob"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30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print("Name: {}, Age: {}".format(name, age))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8" name="Shape 12"/>
          <p:cNvSpPr/>
          <p:nvPr/>
        </p:nvSpPr>
        <p:spPr>
          <a:xfrm>
            <a:off x="5120640" y="3291840"/>
            <a:ext cx="273960" cy="109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Shape 13"/>
          <p:cNvSpPr/>
          <p:nvPr/>
        </p:nvSpPr>
        <p:spPr>
          <a:xfrm>
            <a:off x="5486400" y="3017520"/>
            <a:ext cx="2742840" cy="6397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4"/>
          <p:cNvSpPr/>
          <p:nvPr/>
        </p:nvSpPr>
        <p:spPr>
          <a:xfrm>
            <a:off x="5669280" y="3200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Name: Bob, Age: 30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914400" y="37490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b59b6"/>
                </a:solidFill>
                <a:latin typeface="Arial"/>
                <a:ea typeface="Arial"/>
              </a:rPr>
              <a:t>3. f-strings (Recommended)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2" name="Shape 16"/>
          <p:cNvSpPr/>
          <p:nvPr/>
        </p:nvSpPr>
        <p:spPr>
          <a:xfrm>
            <a:off x="914400" y="4069080"/>
            <a:ext cx="4114440" cy="639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7"/>
          <p:cNvSpPr/>
          <p:nvPr/>
        </p:nvSpPr>
        <p:spPr>
          <a:xfrm>
            <a:off x="1097280" y="4160520"/>
            <a:ext cx="374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name = "Charlie"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35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print(f"Name: {name}, Age: {age}")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4" name="Shape 18"/>
          <p:cNvSpPr/>
          <p:nvPr/>
        </p:nvSpPr>
        <p:spPr>
          <a:xfrm>
            <a:off x="5120640" y="4343400"/>
            <a:ext cx="273960" cy="109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Shape 19"/>
          <p:cNvSpPr/>
          <p:nvPr/>
        </p:nvSpPr>
        <p:spPr>
          <a:xfrm>
            <a:off x="5486400" y="4069080"/>
            <a:ext cx="2742840" cy="63972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20"/>
          <p:cNvSpPr/>
          <p:nvPr/>
        </p:nvSpPr>
        <p:spPr>
          <a:xfrm>
            <a:off x="5669280" y="42519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Name: Charlie, Age: 35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Common Mistakes to Avoid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731520" y="914400"/>
            <a:ext cx="7680600" cy="2739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914400" y="96012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❌ </a:t>
            </a: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Forgetting Type Conversion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731520" y="1234440"/>
            <a:ext cx="3657240" cy="54828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4"/>
          <p:cNvSpPr/>
          <p:nvPr/>
        </p:nvSpPr>
        <p:spPr>
          <a:xfrm>
            <a:off x="914400" y="13258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= input("Enter age: ")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if age &gt; 18:  # Error!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4572000" y="1234440"/>
            <a:ext cx="3840120" cy="5482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6"/>
          <p:cNvSpPr/>
          <p:nvPr/>
        </p:nvSpPr>
        <p:spPr>
          <a:xfrm>
            <a:off x="4754880" y="13258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= int(input("Enter age: "))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if age &gt; 18:  # Correct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914400" y="18288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input() returns string, must convert to int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731520" y="2148840"/>
            <a:ext cx="7680600" cy="2739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9"/>
          <p:cNvSpPr/>
          <p:nvPr/>
        </p:nvSpPr>
        <p:spPr>
          <a:xfrm>
            <a:off x="914400" y="219456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❌ </a:t>
            </a: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String Concatenation with Numbers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731520" y="2468880"/>
            <a:ext cx="3657240" cy="54828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1"/>
          <p:cNvSpPr/>
          <p:nvPr/>
        </p:nvSpPr>
        <p:spPr>
          <a:xfrm>
            <a:off x="914400" y="256032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= 25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print("Age: " + age)  # Error!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9" name="Shape 12"/>
          <p:cNvSpPr/>
          <p:nvPr/>
        </p:nvSpPr>
        <p:spPr>
          <a:xfrm>
            <a:off x="4572000" y="2468880"/>
            <a:ext cx="3840120" cy="5482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3"/>
          <p:cNvSpPr/>
          <p:nvPr/>
        </p:nvSpPr>
        <p:spPr>
          <a:xfrm>
            <a:off x="4754880" y="25603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= 25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print("Age:", age)  # OR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print("Age: " + str(age))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914400" y="306324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Cannot concatenate string + integer directly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731520" y="3383280"/>
            <a:ext cx="7680600" cy="2739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6"/>
          <p:cNvSpPr/>
          <p:nvPr/>
        </p:nvSpPr>
        <p:spPr>
          <a:xfrm>
            <a:off x="914400" y="342900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❌ </a:t>
            </a: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Missing Quotes in print()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731520" y="3703320"/>
            <a:ext cx="3657240" cy="54828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18"/>
          <p:cNvSpPr/>
          <p:nvPr/>
        </p:nvSpPr>
        <p:spPr>
          <a:xfrm>
            <a:off x="914400" y="37947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print(Hello)  # Error!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4572000" y="3703320"/>
            <a:ext cx="3840120" cy="5482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0"/>
          <p:cNvSpPr/>
          <p:nvPr/>
        </p:nvSpPr>
        <p:spPr>
          <a:xfrm>
            <a:off x="4754880" y="379476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print("Hello")  # Correct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914400" y="4297680"/>
            <a:ext cx="7314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Text must be enclosed in quotes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Summary: Console I/O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1097280" y="12528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2"/>
          <p:cNvSpPr/>
          <p:nvPr/>
        </p:nvSpPr>
        <p:spPr>
          <a:xfrm>
            <a:off x="1097280" y="12528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1554480" y="12801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print() - Displays output to the console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Shape 4"/>
          <p:cNvSpPr/>
          <p:nvPr/>
        </p:nvSpPr>
        <p:spPr>
          <a:xfrm>
            <a:off x="1097280" y="16002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5"/>
          <p:cNvSpPr/>
          <p:nvPr/>
        </p:nvSpPr>
        <p:spPr>
          <a:xfrm>
            <a:off x="1097280" y="1600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1554480" y="16275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input() - Receives input from the user (returns string)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6" name="Shape 7"/>
          <p:cNvSpPr/>
          <p:nvPr/>
        </p:nvSpPr>
        <p:spPr>
          <a:xfrm>
            <a:off x="1097280" y="19476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8"/>
          <p:cNvSpPr/>
          <p:nvPr/>
        </p:nvSpPr>
        <p:spPr>
          <a:xfrm>
            <a:off x="1097280" y="19476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8" name="Text 9"/>
          <p:cNvSpPr/>
          <p:nvPr/>
        </p:nvSpPr>
        <p:spPr>
          <a:xfrm>
            <a:off x="1554480" y="19749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Always convert input() to correct data type (int, float, etc.)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Shape 10"/>
          <p:cNvSpPr/>
          <p:nvPr/>
        </p:nvSpPr>
        <p:spPr>
          <a:xfrm>
            <a:off x="1097280" y="22950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1"/>
          <p:cNvSpPr/>
          <p:nvPr/>
        </p:nvSpPr>
        <p:spPr>
          <a:xfrm>
            <a:off x="1097280" y="22950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1" name="Text 12"/>
          <p:cNvSpPr/>
          <p:nvPr/>
        </p:nvSpPr>
        <p:spPr>
          <a:xfrm>
            <a:off x="1554480" y="23227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Use f-strings for formatted output: f'Hello {name}'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2" name="Shape 13"/>
          <p:cNvSpPr/>
          <p:nvPr/>
        </p:nvSpPr>
        <p:spPr>
          <a:xfrm>
            <a:off x="1097280" y="26427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4"/>
          <p:cNvSpPr/>
          <p:nvPr/>
        </p:nvSpPr>
        <p:spPr>
          <a:xfrm>
            <a:off x="1097280" y="26427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4" name="Text 15"/>
          <p:cNvSpPr/>
          <p:nvPr/>
        </p:nvSpPr>
        <p:spPr>
          <a:xfrm>
            <a:off x="1554480" y="2670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Multiple values in print() separated by commas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5" name="Shape 16"/>
          <p:cNvSpPr/>
          <p:nvPr/>
        </p:nvSpPr>
        <p:spPr>
          <a:xfrm>
            <a:off x="1097280" y="29901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7"/>
          <p:cNvSpPr/>
          <p:nvPr/>
        </p:nvSpPr>
        <p:spPr>
          <a:xfrm>
            <a:off x="1097280" y="2990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6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17" name="Text 18"/>
          <p:cNvSpPr/>
          <p:nvPr/>
        </p:nvSpPr>
        <p:spPr>
          <a:xfrm>
            <a:off x="1554480" y="3017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sep and end parameters customize print() behavior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8" name="Shape 19"/>
          <p:cNvSpPr/>
          <p:nvPr/>
        </p:nvSpPr>
        <p:spPr>
          <a:xfrm>
            <a:off x="1097280" y="33375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0"/>
          <p:cNvSpPr/>
          <p:nvPr/>
        </p:nvSpPr>
        <p:spPr>
          <a:xfrm>
            <a:off x="1097280" y="33375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7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0" name="Text 21"/>
          <p:cNvSpPr/>
          <p:nvPr/>
        </p:nvSpPr>
        <p:spPr>
          <a:xfrm>
            <a:off x="1554480" y="33649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Type conversion: int(), float(), str()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1" name="Shape 22"/>
          <p:cNvSpPr/>
          <p:nvPr/>
        </p:nvSpPr>
        <p:spPr>
          <a:xfrm>
            <a:off x="1097280" y="36849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3"/>
          <p:cNvSpPr/>
          <p:nvPr/>
        </p:nvSpPr>
        <p:spPr>
          <a:xfrm>
            <a:off x="1097280" y="3684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8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3" name="Text 24"/>
          <p:cNvSpPr/>
          <p:nvPr/>
        </p:nvSpPr>
        <p:spPr>
          <a:xfrm>
            <a:off x="1554480" y="37123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Test your programs with different inputs!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4" name="Text 25"/>
          <p:cNvSpPr/>
          <p:nvPr/>
        </p:nvSpPr>
        <p:spPr>
          <a:xfrm>
            <a:off x="457200" y="411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d43b"/>
                </a:solidFill>
                <a:latin typeface="Arial"/>
                <a:ea typeface="Arial"/>
              </a:rPr>
              <a:t>Practice with input() and print() to master Console I/O! 💻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2026-02-03T04:31:21Z</dcterms:created>
  <dc:creator>Python Training Series</dc:creator>
  <dc:description/>
  <dc:language>en-IN</dc:language>
  <cp:lastModifiedBy/>
  <dcterms:modified xsi:type="dcterms:W3CDTF">2026-02-03T22:12:08Z</dcterms:modified>
  <cp:revision>2</cp:revision>
  <dc:subject>PptxGenJS Presentation</dc:subject>
  <dc:title>Python Console Input/Output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